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www.foxnews.com/health/three-women-share-secrets-better-health-longevity"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920240"/>
            <a:ext cx="10911535" cy="1280160"/>
          </a:xfrm>
          <a:prstGeom prst="rect">
            <a:avLst/>
          </a:prstGeom>
          <a:noFill/>
          <a:ln/>
        </p:spPr>
        <p:txBody>
          <a:bodyPr wrap="square" rtlCol="0" anchor="ctr"/>
          <a:lstStyle/>
          <a:p>
            <a:pPr indent="0" marL="0">
              <a:lnSpc>
                <a:spcPct val="100000"/>
              </a:lnSpc>
              <a:buNone/>
            </a:pPr>
            <a:r>
              <a:rPr lang="en-US" sz="4600" b="1" dirty="0">
                <a:solidFill>
                  <a:srgbClr val="FFFFFF"/>
                </a:solidFill>
                <a:latin typeface="Georgia" pitchFamily="34" charset="0"/>
                <a:ea typeface="Georgia" pitchFamily="34" charset="-122"/>
                <a:cs typeface="Georgia" pitchFamily="34" charset="-120"/>
              </a:rPr>
              <a:t>The Longevity Communications Campaign</a:t>
            </a:r>
            <a:endParaRPr lang="en-US" sz="4600" dirty="0"/>
          </a:p>
        </p:txBody>
      </p:sp>
      <p:sp>
        <p:nvSpPr>
          <p:cNvPr id="5" name="Text 3"/>
          <p:cNvSpPr/>
          <p:nvPr/>
        </p:nvSpPr>
        <p:spPr>
          <a:xfrm>
            <a:off x="640080" y="3383280"/>
            <a:ext cx="9601200" cy="1097280"/>
          </a:xfrm>
          <a:prstGeom prst="rect">
            <a:avLst/>
          </a:prstGeom>
          <a:noFill/>
          <a:ln/>
        </p:spPr>
        <p:txBody>
          <a:bodyPr wrap="square" rtlCol="0" anchor="ctr"/>
          <a:lstStyle/>
          <a:p>
            <a:pPr indent="0" marL="0">
              <a:lnSpc>
                <a:spcPct val="115000"/>
              </a:lnSpc>
              <a:buNone/>
            </a:pPr>
            <a:r>
              <a:rPr lang="en-US" sz="1600" dirty="0">
                <a:solidFill>
                  <a:srgbClr val="C9D3DD"/>
                </a:solidFill>
                <a:latin typeface="Calibri" pitchFamily="34" charset="0"/>
                <a:ea typeface="Calibri" pitchFamily="34" charset="-122"/>
                <a:cs typeface="Calibri" pitchFamily="34" charset="-120"/>
              </a:rPr>
              <a:t>A phased, multi-wave PR program to establish eTeacher as the leader in accessible longevity education — building cumulative impact across 17 placements, four narrative waves, and a defined outlet strategy.</a:t>
            </a:r>
            <a:endParaRPr lang="en-US" sz="16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Georgia" pitchFamily="34" charset="0"/>
                <a:ea typeface="Georgia" pitchFamily="34" charset="-122"/>
                <a:cs typeface="Georg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Georgia" pitchFamily="34" charset="0"/>
                <a:ea typeface="Georgia" pitchFamily="34" charset="-122"/>
                <a:cs typeface="Georg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8A5A0F"/>
                </a:solidFill>
                <a:latin typeface="Georgia" pitchFamily="34" charset="0"/>
                <a:ea typeface="Georgia" pitchFamily="34" charset="-122"/>
                <a:cs typeface="Georg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Georgia" pitchFamily="34" charset="0"/>
                <a:ea typeface="Georgia" pitchFamily="34" charset="-122"/>
                <a:cs typeface="Georg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1</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eTeacher Enters the Longevity Market</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Six angled stories, one message: Israel's leading EdTech group is bringing science-backed longevity to every American household.</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0C2A43"/>
                </a:solidFill>
                <a:latin typeface="Calibri" pitchFamily="34" charset="0"/>
                <a:ea typeface="Calibri" pitchFamily="34" charset="-122"/>
                <a:cs typeface="Calibri" pitchFamily="34" charset="-120"/>
              </a:rPr>
              <a:t>ARTICLE 1.1  ·  </a:t>
            </a:r>
            <a:pPr indent="0" marL="0">
              <a:buNone/>
            </a:pPr>
            <a:r>
              <a:rPr lang="en-US" sz="1100" b="1" spc="200" kern="0" dirty="0">
                <a:solidFill>
                  <a:srgbClr val="5C6672"/>
                </a:solidFill>
                <a:latin typeface="Calibri" pitchFamily="34" charset="0"/>
                <a:ea typeface="Calibri" pitchFamily="34" charset="-122"/>
                <a:cs typeface="Calibri" pitchFamily="34" charset="-120"/>
              </a:rPr>
              <a:t>THE FLAGSHIP ANNOUNCEMENT</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PR Newswire (national wire) + Forbes / Bloomberg pickup</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eTeacher Group, Israel's Leading EdTech Company, Enters the $8 Trillion Longevity Market with Longevity Life Academy</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After 25 years and 400,000+ courses delivered across nearly 200 countries, eTeacher launches its fifth online school — bringing live, personalized longevity education to American homes.</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global longevity market with the launch of Longevity Life Academy (LLA), its fifth proprietary online school. The move brings eTeacher's proven model — live, teacher-led instruction paired with AI — into a market UBS projects will reach $8 trillion by 2030.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For 25 years, eTeacher Group has delivered more than 400,000 courses to students in nearly 200 countries, with roughly 70% of its learners in the United States. Its flagship longevity program, “The Longevity Blueprint,” is an 18-week live course that turns the science of healthy aging into a personalized protocol each student can actually live by — taught in small groups of 8–15 by leading longevity instructors.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Every student receives an Abbott Lingo continuous glucose monitor, shipped to their home and included with enrollment, so learning is grounded in their own real-time body data alongside sleep and heart-rate metrics.</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Longevity is the next great human question — how we live longer, better — and it was important to us to answer it the eTeacher way: with meaningful, personalized learning, live experts, and AI that keeps people engaged. We believe we can bring the world of longevity into every household in the United States, and raise healthspan globally.”</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Voice-matched to his TheMarker quotes (“age of AI,” “meaningful, personalized learning”). For CEO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0C2A43"/>
                </a:solidFill>
                <a:latin typeface="Calibri" pitchFamily="34" charset="0"/>
                <a:ea typeface="Calibri" pitchFamily="34" charset="-122"/>
                <a:cs typeface="Calibri" pitchFamily="34" charset="-120"/>
              </a:rPr>
              <a:t>ARTICLE 1.2  ·  </a:t>
            </a:r>
            <a:pPr indent="0" marL="0">
              <a:buNone/>
            </a:pPr>
            <a:r>
              <a:rPr lang="en-US" sz="1100" b="1" spc="200" kern="0" dirty="0">
                <a:solidFill>
                  <a:srgbClr val="5C6672"/>
                </a:solidFill>
                <a:latin typeface="Calibri" pitchFamily="34" charset="0"/>
                <a:ea typeface="Calibri" pitchFamily="34" charset="-122"/>
                <a:cs typeface="Calibri" pitchFamily="34" charset="-120"/>
              </a:rPr>
              <a:t>THE EDTECH TRADE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EdSurge / EdTech Magazine / TechCrunch</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From Ancient Languages to Healthspan: How eTeacher's Live-Learning Model Is Reinventing Longevity Education</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company that taught Biblical Hebrew and French to hundreds of thousands is applying its small-class, AI-assisted method to a brand-new subject: living longer.</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eTeacher Group built its reputation on a simple idea — real teachers, live, in small classes, supported by AI micro-learning that keeps students engaged between sessions. Now it is applying that same methodology to longevity through Longevity Life Academy.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eTeacher's model pairs a weekly live “anchor” session with an expert and short daily AI practice — what the company calls a “gym for the brain.” In longevity, that means an instructor-led session each week plus guided daily experiments tied to a student's own glucose, sleep, and movement data.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academy runs on eTeacher's purpose-built learning platform and small-cohort structure, with courses in partnership tradition alongside the Hebrew University of Jerusalem and other institutions across the group.</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 keeping motivation and learning high so that at every session you can take a meaningful step forward. Longevity is a practice, not a lecture, and that is exactly where our model wins.”</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“gym for the brain” line from TheMarker, extended for longevity context.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0C2A43"/>
                </a:solidFill>
                <a:latin typeface="Calibri" pitchFamily="34" charset="0"/>
                <a:ea typeface="Calibri" pitchFamily="34" charset="-122"/>
                <a:cs typeface="Calibri" pitchFamily="34" charset="-120"/>
              </a:rPr>
              <a:t>ARTICLE 1.3  ·  </a:t>
            </a:r>
            <a:pPr indent="0" marL="0">
              <a:buNone/>
            </a:pPr>
            <a:r>
              <a:rPr lang="en-US" sz="1100" b="1" spc="200" kern="0" dirty="0">
                <a:solidFill>
                  <a:srgbClr val="5C6672"/>
                </a:solidFill>
                <a:latin typeface="Calibri" pitchFamily="34" charset="0"/>
                <a:ea typeface="Calibri" pitchFamily="34" charset="-122"/>
                <a:cs typeface="Calibri" pitchFamily="34" charset="-120"/>
              </a:rPr>
              <a:t>THE BUSINESS / MARKET-ENTRY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Bloomberg / Business Insider / CNBC</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An Israeli EdTech Veteran Bets on Longevity — the Fastest-Growing Category in Consumer Health</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eTeacher Group is positioning Longevity Life Academy between costly concierge clinics and unverified online advice, targeting mainstream American consumers.</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longevity economy is booming — UBS values it at $5.3 trillion in 2023, rising toward $8 trillion by 2030 — yet most offerings sit at two extremes: expensive concierge clinics or unvetted social-media advice. eTeacher Group is aiming squarely at the underserved middle with affordable, rigorous, live education.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With roughly 70% of its customers already in the United States, eTeacher enters longevity with an existing American footprint, a proven billing and retention engine, and 25 years of operating small live cohorts at global scale.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Longevity Blueprint starts at $289/month and includes all 18 live sessions, the learning platform, and the Abbott Lingo CGM device with shipping.</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“Israel is well known in cyber and technology, but in edtech we can be at center stage. My vision is to make eTeacher the Wiz of the education world — and longevity is where that vision meets the largest consumer opportunity of our time. We are focused on impact and results, from me as CEO down to the last employee.”</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“Wiz of edtech” + “from me as CEO down to the last employee” lines.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0C2A43"/>
                </a:solidFill>
                <a:latin typeface="Calibri" pitchFamily="34" charset="0"/>
                <a:ea typeface="Calibri" pitchFamily="34" charset="-122"/>
                <a:cs typeface="Calibri" pitchFamily="34" charset="-120"/>
              </a:rPr>
              <a:t>ARTICLE 1.4  ·  </a:t>
            </a:r>
            <a:pPr indent="0" marL="0">
              <a:buNone/>
            </a:pPr>
            <a:r>
              <a:rPr lang="en-US" sz="1100" b="1" spc="200" kern="0" dirty="0">
                <a:solidFill>
                  <a:srgbClr val="5C6672"/>
                </a:solidFill>
                <a:latin typeface="Calibri" pitchFamily="34" charset="0"/>
                <a:ea typeface="Calibri" pitchFamily="34" charset="-122"/>
                <a:cs typeface="Calibri" pitchFamily="34" charset="-120"/>
              </a:rPr>
              <a:t>THE HEALTH &amp; LONGEVITY VERTICAL</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Longevity.Technology / Fierce Healthcare / MedCity News</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Longevity Life Academy Puts a Continuous Glucose Monitor in Every Student's Hands</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eTeacher's new school makes personal biomarker data — not generic advice — the core of its 18-week curriculum.</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Longevity Life Academy is built on a Medicine 3.0 premise: your protocol should come from your own biology, not a generic checklist. Every student receives an Abbott Lingo continuous glucose monitor plus full app access, arriving before the CGM module in week five.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Across six pillars — Nutrition, Sleep, Exercise &amp; Movement, Supplements &amp; Wearables, Stress Management, and a personal Longevity Protocol — students learn to read their own glucose, HRV, and sleep data as a live feedback loop, culminating in a written blueprint tested against their body over 18 weeks.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company says wearable integration will expand significantly as its longevity courses evolve over the coming year.</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“Generic health advice ends where personal data begins. We give every student their own glucose monitor and wearable data because longevity has to be measured, owned, and adjusted to each person's biology. That is what it means to keep the mind and body active and vital — and to make this accessible to everyone, not just a privileged few.”</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Voice-matched (“active and vital,” “accessible... not just a privileged few”).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0C2A43"/>
                </a:solidFill>
                <a:latin typeface="Calibri" pitchFamily="34" charset="0"/>
                <a:ea typeface="Calibri" pitchFamily="34" charset="-122"/>
                <a:cs typeface="Calibri" pitchFamily="34" charset="-120"/>
              </a:rPr>
              <a:t>ARTICLE 1.5  ·  </a:t>
            </a:r>
            <a:pPr indent="0" marL="0">
              <a:buNone/>
            </a:pPr>
            <a:r>
              <a:rPr lang="en-US" sz="1100" b="1" spc="200" kern="0" dirty="0">
                <a:solidFill>
                  <a:srgbClr val="5C6672"/>
                </a:solidFill>
                <a:latin typeface="Calibri" pitchFamily="34" charset="0"/>
                <a:ea typeface="Calibri" pitchFamily="34" charset="-122"/>
                <a:cs typeface="Calibri" pitchFamily="34" charset="-120"/>
              </a:rPr>
              <a:t>THE ISRAEL / INNOVATION-NATION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TheMarker / Calcalist / Globes / Times of Israel</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אחרי 25 שנה: eTeacher הישראלית נכנסת לשוק הלונג'ביטי — Israel's eTeacher Takes Its Live-Learning Model into Longevity</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company behind five global online schools brings Israeli EdTech to the world's fastest-growing wellness market.</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Building on its TheMarker feature earlier this year, eTeacher Group is extending its “Wiz of edtech” ambition into longevity — a category where its live-teacher-plus-AI model is uniquely suited to a practice that demands persistence.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company already serves more than 10,000 learners a year across five schools, from ancient languages to French culture, and now longevity, with courses developed in the group's academic-partnership tradition.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eTeacher frames longevity education as a natural extension of its mission to keep the adult mind “active and vital” in an age of cognitive atrophy.</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“Our aspiration is to be the leading platform for meaningful, personalized learning for adults — to keep the mind active and vital in a world where technology may cause cognitive atrophy. Longevity is the most human expression of that mission: content with meaning that touches the heart and the human core of each person.”</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aspiration/cognitive-atrophy lines from TheMarker.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0C2A43"/>
                </a:solidFill>
                <a:latin typeface="Calibri" pitchFamily="34" charset="0"/>
                <a:ea typeface="Calibri" pitchFamily="34" charset="-122"/>
                <a:cs typeface="Calibri" pitchFamily="34" charset="-120"/>
              </a:rPr>
              <a:t>ARTICLE 1.6  ·  </a:t>
            </a:r>
            <a:pPr indent="0" marL="0">
              <a:buNone/>
            </a:pPr>
            <a:r>
              <a:rPr lang="en-US" sz="1100" b="1" spc="200" kern="0" dirty="0">
                <a:solidFill>
                  <a:srgbClr val="5C6672"/>
                </a:solidFill>
                <a:latin typeface="Calibri" pitchFamily="34" charset="0"/>
                <a:ea typeface="Calibri" pitchFamily="34" charset="-122"/>
                <a:cs typeface="Calibri" pitchFamily="34" charset="-120"/>
              </a:rPr>
              <a:t>THE CONSUMER / LIFESTYLE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Well+Good / mindbodygreen / Today / People</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You Don't Need a $2 Million Budget to Live Longer — Just 18 Weeks and Your Own Data</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Longevity Life Academy wants to make the science of healthy aging as approachable as a weekly class — glucose monitor included.</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Longevity has a reputation for being expensive and intimidating. Longevity Life Academy is built to be the opposite: a live, 18-week course in small groups, with an instructor who knows your name and a glucose monitor shipped to your door.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Students don't memorize facts about glucose or sleep — they watch them move in their own bodies, then build a personal protocol across nutrition, movement, sleep, stress, and supplements that they keep for life.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It's the eTeacher way, refined over decades and adapted for longevity.</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“Everybody is talking about longevity — it is the new normal and the future of wellness. It was important to us to simplify and democratize this difficult practice, so anyone, no matter their background, can both understand it and feel the urge to start their own longevity routine.”</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Voice-matched to his “meaning/access” themes; incorporates user's brief.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2</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Julie Gibson Clark Joins Longevity Life Academy</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Seven angled stories leveraging Julie's existing press: the single mom who out-aged the billionaires now teaches for eTeacher.</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2.1  ·  </a:t>
            </a:r>
            <a:pPr indent="0" marL="0">
              <a:buNone/>
            </a:pPr>
            <a:r>
              <a:rPr lang="en-US" sz="1100" b="1" spc="200" kern="0" dirty="0">
                <a:solidFill>
                  <a:srgbClr val="5C6672"/>
                </a:solidFill>
                <a:latin typeface="Calibri" pitchFamily="34" charset="0"/>
                <a:ea typeface="Calibri" pitchFamily="34" charset="-122"/>
                <a:cs typeface="Calibri" pitchFamily="34" charset="-120"/>
              </a:rPr>
              <a:t>THE SIGNING ANNOUNCEMENT</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PR Newswire + Fortune Well / Forbes</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World's #2-Ranked Longevity Icon Julie Gibson Clark Joins eTeacher's Longevity Life Academy</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Phoenix single mom who out-aged Bryan Johnson on roughly $150 a month joins the live faculty of eTeacher's 18-week Longevity Blueprint.</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eTeacher Group today announced that Julie Gibson Clark — who held the #2 spot on the Rejuvenation Olympics leaderboard for over a year, ahead of Bryan Johnson — has joined the live faculty of Longevity Life Academy.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Gibson Clark, 56, is a corporate recruiter and former structural engineer whose DunedinPACE score of 0.665 means she ages roughly 65 days for every 100 — about 34% slower than average — achieved on a routine costing around $150 a month, versus the ~$2 million a year spent by better-funded biohackers.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At LLA she will teach live cohorts inside The Longevity Blueprint, guiding students as they build personalized protocols from their own CGM and wearable data.</a:t>
            </a:r>
            <a:endParaRPr lang="en-US" sz="1150" dirty="0"/>
          </a:p>
        </p:txBody>
      </p:sp>
      <p:sp>
        <p:nvSpPr>
          <p:cNvPr id="8" name="Shape 6"/>
          <p:cNvSpPr/>
          <p:nvPr/>
        </p:nvSpPr>
        <p:spPr>
          <a:xfrm>
            <a:off x="6903720" y="2377440"/>
            <a:ext cx="4647895" cy="1691640"/>
          </a:xfrm>
          <a:prstGeom prst="roundRect">
            <a:avLst>
              <a:gd name="adj" fmla="val 3243"/>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868680"/>
          </a:xfrm>
          <a:prstGeom prst="rect">
            <a:avLst/>
          </a:prstGeom>
          <a:noFill/>
          <a:ln/>
        </p:spPr>
        <p:txBody>
          <a:bodyPr wrap="square" rtlCol="0" anchor="t"/>
          <a:lstStyle/>
          <a:p>
            <a:pPr indent="0" marL="0">
              <a:lnSpc>
                <a:spcPct val="110000"/>
              </a:lnSpc>
              <a:buNone/>
            </a:pPr>
            <a:r>
              <a:rPr lang="en-US" sz="1050" i="1" dirty="0">
                <a:solidFill>
                  <a:srgbClr val="FFFFFF"/>
                </a:solidFill>
                <a:latin typeface="Calibri" pitchFamily="34" charset="0"/>
                <a:ea typeface="Calibri" pitchFamily="34" charset="-122"/>
                <a:cs typeface="Calibri" pitchFamily="34" charset="-120"/>
              </a:rPr>
              <a:t>“Julie is the perfect embodiment of what Longevity Life Academy stands for. She proved that world-class longevity isn't about spending millions — it is about consistent, science-backed habits anyone can learn. That is exactly why we built this school. I want to welcome Julie and all our new longevity instructors, and congratulate our team and incoming students on the semester ahead.”</a:t>
            </a:r>
            <a:endParaRPr lang="en-US" sz="1050" dirty="0"/>
          </a:p>
        </p:txBody>
      </p:sp>
      <p:sp>
        <p:nvSpPr>
          <p:cNvPr id="11" name="Text 9"/>
          <p:cNvSpPr/>
          <p:nvPr/>
        </p:nvSpPr>
        <p:spPr>
          <a:xfrm>
            <a:off x="7132320" y="3703320"/>
            <a:ext cx="4190695" cy="292608"/>
          </a:xfrm>
          <a:prstGeom prst="rect">
            <a:avLst/>
          </a:prstGeom>
          <a:noFill/>
          <a:ln/>
        </p:spPr>
        <p:txBody>
          <a:bodyPr wrap="square" rtlCol="0" anchor="ctr"/>
          <a:lstStyle/>
          <a:p>
            <a:pPr indent="0" marL="0">
              <a:buNone/>
            </a:pPr>
            <a:endParaRPr lang="en-US" sz="750" dirty="0"/>
          </a:p>
        </p:txBody>
      </p:sp>
      <p:sp>
        <p:nvSpPr>
          <p:cNvPr id="12" name="Shape 10"/>
          <p:cNvSpPr/>
          <p:nvPr/>
        </p:nvSpPr>
        <p:spPr>
          <a:xfrm>
            <a:off x="6903720" y="4206240"/>
            <a:ext cx="4647895" cy="1691640"/>
          </a:xfrm>
          <a:prstGeom prst="roundRect">
            <a:avLst>
              <a:gd name="adj" fmla="val 3243"/>
            </a:avLst>
          </a:prstGeom>
          <a:solidFill>
            <a:srgbClr val="FFFFFF"/>
          </a:solidFill>
          <a:ln w="19050">
            <a:solidFill>
              <a:srgbClr val="C08A2E"/>
            </a:solidFill>
            <a:prstDash val="solid"/>
          </a:ln>
        </p:spPr>
      </p:sp>
      <p:sp>
        <p:nvSpPr>
          <p:cNvPr id="13" name="Text 11"/>
          <p:cNvSpPr/>
          <p:nvPr/>
        </p:nvSpPr>
        <p:spPr>
          <a:xfrm>
            <a:off x="7132320" y="43434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4" name="Text 12"/>
          <p:cNvSpPr/>
          <p:nvPr/>
        </p:nvSpPr>
        <p:spPr>
          <a:xfrm>
            <a:off x="7132320" y="4617720"/>
            <a:ext cx="4190695" cy="868680"/>
          </a:xfrm>
          <a:prstGeom prst="rect">
            <a:avLst/>
          </a:prstGeom>
          <a:noFill/>
          <a:ln/>
        </p:spPr>
        <p:txBody>
          <a:bodyPr wrap="square" rtlCol="0" anchor="t"/>
          <a:lstStyle/>
          <a:p>
            <a:pPr indent="0" marL="0">
              <a:lnSpc>
                <a:spcPct val="110000"/>
              </a:lnSpc>
              <a:buNone/>
            </a:pPr>
            <a:r>
              <a:rPr lang="en-US" sz="1050" i="1" dirty="0">
                <a:solidFill>
                  <a:srgbClr val="1A1F26"/>
                </a:solidFill>
                <a:latin typeface="Calibri" pitchFamily="34" charset="0"/>
                <a:ea typeface="Calibri" pitchFamily="34" charset="-122"/>
                <a:cs typeface="Calibri" pitchFamily="34" charset="-120"/>
              </a:rPr>
              <a:t>“What I love about Longevity Life Academy is that it's built on teaching, not selling. My whole approach is that a habit has to become as routine as brushing your teeth — and getting to teach that live, to real people who want to change their lives, is a dream.”</a:t>
            </a:r>
            <a:endParaRPr lang="en-US" sz="1050" dirty="0"/>
          </a:p>
        </p:txBody>
      </p:sp>
      <p:sp>
        <p:nvSpPr>
          <p:cNvPr id="15" name="Text 13"/>
          <p:cNvSpPr/>
          <p:nvPr/>
        </p:nvSpPr>
        <p:spPr>
          <a:xfrm>
            <a:off x="7132320" y="553212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Built from her verbatim “brushing your teeth” line. For approval.</a:t>
            </a:r>
            <a:endParaRPr lang="en-US" sz="750" dirty="0"/>
          </a:p>
        </p:txBody>
      </p:sp>
      <p:sp>
        <p:nvSpPr>
          <p:cNvPr id="16" name="Text 1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2.2  ·  </a:t>
            </a:r>
            <a:pPr indent="0" marL="0">
              <a:buNone/>
            </a:pPr>
            <a:r>
              <a:rPr lang="en-US" sz="1100" b="1" spc="200" kern="0" dirty="0">
                <a:solidFill>
                  <a:srgbClr val="5C6672"/>
                </a:solidFill>
                <a:latin typeface="Calibri" pitchFamily="34" charset="0"/>
                <a:ea typeface="Calibri" pitchFamily="34" charset="-122"/>
                <a:cs typeface="Calibri" pitchFamily="34" charset="-120"/>
              </a:rPr>
              <a:t>THE 'BEAT THE BILLIONAIRE'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Business Insider / CNBC Make It</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She Out-Aged a Man Spending $2 Million a Year — Now She's Teaching How for $289 a Month</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Julie Gibson Clark's budget longevity story made headlines worldwide. Her next chapter: an online classroom.</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Julie Gibson Clark became a global story because she achieved elite results without an elite budget — ranking second worldwide on roughly $150 a month while Bryan Johnson spent about $2 million a year.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Now that accessible philosophy has an institution behind it. As a Longevity Life Academy instructor, Gibson Clark brings her real-world, low-cost, high-consistency approach to eTeacher's live cohorts.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Longevity Blueprint starts at $289/month, includes a continuous glucose monitor, and is taught in small live groups.</a:t>
            </a:r>
            <a:endParaRPr lang="en-US" sz="1150" dirty="0"/>
          </a:p>
        </p:txBody>
      </p:sp>
      <p:sp>
        <p:nvSpPr>
          <p:cNvPr id="8" name="Shape 6"/>
          <p:cNvSpPr/>
          <p:nvPr/>
        </p:nvSpPr>
        <p:spPr>
          <a:xfrm>
            <a:off x="6903720" y="2377440"/>
            <a:ext cx="4647895" cy="1691640"/>
          </a:xfrm>
          <a:prstGeom prst="roundRect">
            <a:avLst>
              <a:gd name="adj" fmla="val 3243"/>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868680"/>
          </a:xfrm>
          <a:prstGeom prst="rect">
            <a:avLst/>
          </a:prstGeom>
          <a:noFill/>
          <a:ln/>
        </p:spPr>
        <p:txBody>
          <a:bodyPr wrap="square" rtlCol="0" anchor="t"/>
          <a:lstStyle/>
          <a:p>
            <a:pPr indent="0" marL="0">
              <a:lnSpc>
                <a:spcPct val="110000"/>
              </a:lnSpc>
              <a:buNone/>
            </a:pPr>
            <a:r>
              <a:rPr lang="en-US" sz="1050" i="1" dirty="0">
                <a:solidFill>
                  <a:srgbClr val="FFFFFF"/>
                </a:solidFill>
                <a:latin typeface="Calibri" pitchFamily="34" charset="0"/>
                <a:ea typeface="Calibri" pitchFamily="34" charset="-122"/>
                <a:cs typeface="Calibri" pitchFamily="34" charset="-120"/>
              </a:rPr>
              <a:t>“We are focused on impact and results — and Julie's results speak for themselves. She makes the case, better than anyone, that longevity can belong to every household.”</a:t>
            </a:r>
            <a:endParaRPr lang="en-US" sz="1050" dirty="0"/>
          </a:p>
        </p:txBody>
      </p:sp>
      <p:sp>
        <p:nvSpPr>
          <p:cNvPr id="11" name="Text 9"/>
          <p:cNvSpPr/>
          <p:nvPr/>
        </p:nvSpPr>
        <p:spPr>
          <a:xfrm>
            <a:off x="7132320" y="370332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Voice-matched (results/impact). For approval.</a:t>
            </a:r>
            <a:endParaRPr lang="en-US" sz="750" dirty="0"/>
          </a:p>
        </p:txBody>
      </p:sp>
      <p:sp>
        <p:nvSpPr>
          <p:cNvPr id="12" name="Shape 10"/>
          <p:cNvSpPr/>
          <p:nvPr/>
        </p:nvSpPr>
        <p:spPr>
          <a:xfrm>
            <a:off x="6903720" y="4206240"/>
            <a:ext cx="4647895" cy="1691640"/>
          </a:xfrm>
          <a:prstGeom prst="roundRect">
            <a:avLst>
              <a:gd name="adj" fmla="val 3243"/>
            </a:avLst>
          </a:prstGeom>
          <a:solidFill>
            <a:srgbClr val="FFFFFF"/>
          </a:solidFill>
          <a:ln w="19050">
            <a:solidFill>
              <a:srgbClr val="C08A2E"/>
            </a:solidFill>
            <a:prstDash val="solid"/>
          </a:ln>
        </p:spPr>
      </p:sp>
      <p:sp>
        <p:nvSpPr>
          <p:cNvPr id="13" name="Text 11"/>
          <p:cNvSpPr/>
          <p:nvPr/>
        </p:nvSpPr>
        <p:spPr>
          <a:xfrm>
            <a:off x="7132320" y="43434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4" name="Text 12"/>
          <p:cNvSpPr/>
          <p:nvPr/>
        </p:nvSpPr>
        <p:spPr>
          <a:xfrm>
            <a:off x="7132320" y="4617720"/>
            <a:ext cx="4190695" cy="868680"/>
          </a:xfrm>
          <a:prstGeom prst="rect">
            <a:avLst/>
          </a:prstGeom>
          <a:noFill/>
          <a:ln/>
        </p:spPr>
        <p:txBody>
          <a:bodyPr wrap="square" rtlCol="0" anchor="t"/>
          <a:lstStyle/>
          <a:p>
            <a:pPr indent="0" marL="0">
              <a:lnSpc>
                <a:spcPct val="110000"/>
              </a:lnSpc>
              <a:buNone/>
            </a:pPr>
            <a:r>
              <a:rPr lang="en-US" sz="1050" i="1" dirty="0">
                <a:solidFill>
                  <a:srgbClr val="1A1F26"/>
                </a:solidFill>
                <a:latin typeface="Calibri" pitchFamily="34" charset="0"/>
                <a:ea typeface="Calibri" pitchFamily="34" charset="-122"/>
                <a:cs typeface="Calibri" pitchFamily="34" charset="-120"/>
              </a:rPr>
              <a:t>“You need to determine your why, your intentions, and what resources you have. This is the rest of your life — it's not a 10-week program for a beach body. That's what I want to teach.”</a:t>
            </a:r>
            <a:endParaRPr lang="en-US" sz="1050" dirty="0"/>
          </a:p>
        </p:txBody>
      </p:sp>
      <p:sp>
        <p:nvSpPr>
          <p:cNvPr id="15" name="Text 13"/>
          <p:cNvSpPr/>
          <p:nvPr/>
        </p:nvSpPr>
        <p:spPr>
          <a:xfrm>
            <a:off x="7132320" y="553212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Verbatim from Business Insider/Yahoo. For approval.</a:t>
            </a:r>
            <a:endParaRPr lang="en-US" sz="750" dirty="0"/>
          </a:p>
        </p:txBody>
      </p:sp>
      <p:sp>
        <p:nvSpPr>
          <p:cNvPr id="16" name="Text 1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2.3  ·  </a:t>
            </a:r>
            <a:pPr indent="0" marL="0">
              <a:buNone/>
            </a:pPr>
            <a:r>
              <a:rPr lang="en-US" sz="1100" b="1" spc="200" kern="0" dirty="0">
                <a:solidFill>
                  <a:srgbClr val="5C6672"/>
                </a:solidFill>
                <a:latin typeface="Calibri" pitchFamily="34" charset="0"/>
                <a:ea typeface="Calibri" pitchFamily="34" charset="-122"/>
                <a:cs typeface="Calibri" pitchFamily="34" charset="-120"/>
              </a:rPr>
              <a:t>THE HUMAN / 'WHY'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Today / People / Yahoo Life</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“My Why Is My Son”: The Mom Who Reversed Her Aging Is Now Teaching America</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Julie Gibson Clark's motivation was never a leaderboard — it was being there for her son. Now she's helping others find their own why.</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Before she was a longevity icon, Julie Gibson Clark was a single mom who wanted more healthy years with her son. That personal “why” became the foundation of a routine that placed her among the slowest-aging people on the planet.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At Longevity Life Academy, that same philosophy — start with your why, build one sustainable habit at a time — anchors her live teaching.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It's a message that fits eTeacher's belief that learning sticks when it's personal and meaningful.</a:t>
            </a:r>
            <a:endParaRPr lang="en-US" sz="1150" dirty="0"/>
          </a:p>
        </p:txBody>
      </p:sp>
      <p:sp>
        <p:nvSpPr>
          <p:cNvPr id="8" name="Shape 6"/>
          <p:cNvSpPr/>
          <p:nvPr/>
        </p:nvSpPr>
        <p:spPr>
          <a:xfrm>
            <a:off x="6903720" y="2377440"/>
            <a:ext cx="4647895" cy="1691640"/>
          </a:xfrm>
          <a:prstGeom prst="roundRect">
            <a:avLst>
              <a:gd name="adj" fmla="val 3243"/>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868680"/>
          </a:xfrm>
          <a:prstGeom prst="rect">
            <a:avLst/>
          </a:prstGeom>
          <a:noFill/>
          <a:ln/>
        </p:spPr>
        <p:txBody>
          <a:bodyPr wrap="square" rtlCol="0" anchor="t"/>
          <a:lstStyle/>
          <a:p>
            <a:pPr indent="0" marL="0">
              <a:lnSpc>
                <a:spcPct val="110000"/>
              </a:lnSpc>
              <a:buNone/>
            </a:pPr>
            <a:r>
              <a:rPr lang="en-US" sz="1050" i="1" dirty="0">
                <a:solidFill>
                  <a:srgbClr val="FFFFFF"/>
                </a:solidFill>
                <a:latin typeface="Calibri" pitchFamily="34" charset="0"/>
                <a:ea typeface="Calibri" pitchFamily="34" charset="-122"/>
                <a:cs typeface="Calibri" pitchFamily="34" charset="-120"/>
              </a:rPr>
              <a:t>“When the teacher creates a personal connection, there are no real barriers — learning happens naturally. Julie creates that connection instantly, and that is why students will stay engaged.”</a:t>
            </a:r>
            <a:endParaRPr lang="en-US" sz="1050" dirty="0"/>
          </a:p>
        </p:txBody>
      </p:sp>
      <p:sp>
        <p:nvSpPr>
          <p:cNvPr id="11" name="Text 9"/>
          <p:cNvSpPr/>
          <p:nvPr/>
        </p:nvSpPr>
        <p:spPr>
          <a:xfrm>
            <a:off x="7132320" y="370332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“no real barriers” line from TheMarker. For approval.</a:t>
            </a:r>
            <a:endParaRPr lang="en-US" sz="750" dirty="0"/>
          </a:p>
        </p:txBody>
      </p:sp>
      <p:sp>
        <p:nvSpPr>
          <p:cNvPr id="12" name="Shape 10"/>
          <p:cNvSpPr/>
          <p:nvPr/>
        </p:nvSpPr>
        <p:spPr>
          <a:xfrm>
            <a:off x="6903720" y="4206240"/>
            <a:ext cx="4647895" cy="1691640"/>
          </a:xfrm>
          <a:prstGeom prst="roundRect">
            <a:avLst>
              <a:gd name="adj" fmla="val 3243"/>
            </a:avLst>
          </a:prstGeom>
          <a:solidFill>
            <a:srgbClr val="FFFFFF"/>
          </a:solidFill>
          <a:ln w="19050">
            <a:solidFill>
              <a:srgbClr val="C08A2E"/>
            </a:solidFill>
            <a:prstDash val="solid"/>
          </a:ln>
        </p:spPr>
      </p:sp>
      <p:sp>
        <p:nvSpPr>
          <p:cNvPr id="13" name="Text 11"/>
          <p:cNvSpPr/>
          <p:nvPr/>
        </p:nvSpPr>
        <p:spPr>
          <a:xfrm>
            <a:off x="7132320" y="43434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4" name="Text 12"/>
          <p:cNvSpPr/>
          <p:nvPr/>
        </p:nvSpPr>
        <p:spPr>
          <a:xfrm>
            <a:off x="7132320" y="4617720"/>
            <a:ext cx="4190695" cy="868680"/>
          </a:xfrm>
          <a:prstGeom prst="rect">
            <a:avLst/>
          </a:prstGeom>
          <a:noFill/>
          <a:ln/>
        </p:spPr>
        <p:txBody>
          <a:bodyPr wrap="square" rtlCol="0" anchor="t"/>
          <a:lstStyle/>
          <a:p>
            <a:pPr indent="0" marL="0">
              <a:lnSpc>
                <a:spcPct val="110000"/>
              </a:lnSpc>
              <a:buNone/>
            </a:pPr>
            <a:r>
              <a:rPr lang="en-US" sz="1050" i="1" dirty="0">
                <a:solidFill>
                  <a:srgbClr val="1A1F26"/>
                </a:solidFill>
                <a:latin typeface="Calibri" pitchFamily="34" charset="0"/>
                <a:ea typeface="Calibri" pitchFamily="34" charset="-122"/>
                <a:cs typeface="Calibri" pitchFamily="34" charset="-120"/>
              </a:rPr>
              <a:t>“I want to be here for my son — when he gets married and has kids, I want the energy to help in any way I can. My goal in speaking with people has always been to help everyone get a little bit healthier. Teaching live is the best way I've found to do that.”</a:t>
            </a:r>
            <a:endParaRPr lang="en-US" sz="1050" dirty="0"/>
          </a:p>
        </p:txBody>
      </p:sp>
      <p:sp>
        <p:nvSpPr>
          <p:cNvPr id="15" name="Text 13"/>
          <p:cNvSpPr/>
          <p:nvPr/>
        </p:nvSpPr>
        <p:spPr>
          <a:xfrm>
            <a:off x="7132320" y="553212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Verbatim NOVOS + media quotes, lightly joined. For approval.</a:t>
            </a:r>
            <a:endParaRPr lang="en-US" sz="750" dirty="0"/>
          </a:p>
        </p:txBody>
      </p:sp>
      <p:sp>
        <p:nvSpPr>
          <p:cNvPr id="16" name="Text 1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2.4  ·  </a:t>
            </a:r>
            <a:pPr indent="0" marL="0">
              <a:buNone/>
            </a:pPr>
            <a:r>
              <a:rPr lang="en-US" sz="1100" b="1" spc="200" kern="0" dirty="0">
                <a:solidFill>
                  <a:srgbClr val="5C6672"/>
                </a:solidFill>
                <a:latin typeface="Calibri" pitchFamily="34" charset="0"/>
                <a:ea typeface="Calibri" pitchFamily="34" charset="-122"/>
                <a:cs typeface="Calibri" pitchFamily="34" charset="-120"/>
              </a:rPr>
              <a:t>THE WOMEN'S HEALTH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Well+Good / Women's Health / mindbodygreen</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A 56-Year-Old Recruiter Is Redefining What Aging Looks Like for Women — in a Live Classroom</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Julie Gibson Clark joins Longevity Life Academy to teach strength, protein, and VO2 max as the foundations of a longer life.</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Much of the longevity conversation centers on men with big budgets. Julie Gibson Clark rewrote that narrative — a 56-year-old woman focused on strength training, protein, VO2 max, and sleep.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As an LLA instructor she'll bring that evidence-based, women-forward approach into live sessions, tied to each student's own biomarker data.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Her curriculum-aligned focus areas map directly onto LLA's six pillars, from Exercise &amp; Movement to Stress Management.</a:t>
            </a:r>
            <a:endParaRPr lang="en-US" sz="1150" dirty="0"/>
          </a:p>
        </p:txBody>
      </p:sp>
      <p:sp>
        <p:nvSpPr>
          <p:cNvPr id="8" name="Shape 6"/>
          <p:cNvSpPr/>
          <p:nvPr/>
        </p:nvSpPr>
        <p:spPr>
          <a:xfrm>
            <a:off x="6903720" y="2377440"/>
            <a:ext cx="4647895" cy="3108960"/>
          </a:xfrm>
          <a:prstGeom prst="roundRect">
            <a:avLst>
              <a:gd name="adj" fmla="val 1765"/>
            </a:avLst>
          </a:prstGeom>
          <a:solidFill>
            <a:srgbClr val="FFFFFF"/>
          </a:solidFill>
          <a:ln w="19050">
            <a:solidFill>
              <a:srgbClr val="C08A2E"/>
            </a:solidFill>
            <a:prstDash val="solid"/>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I want all the years I have to be filled with mobility, vibrance, and vitality — and that starts with strength, protein, and sleep.”</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Verbatim Fox News motto + focus areas.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2.5  ·  </a:t>
            </a:r>
            <a:pPr indent="0" marL="0">
              <a:buNone/>
            </a:pPr>
            <a:r>
              <a:rPr lang="en-US" sz="1100" b="1" spc="200" kern="0" dirty="0">
                <a:solidFill>
                  <a:srgbClr val="5C6672"/>
                </a:solidFill>
                <a:latin typeface="Calibri" pitchFamily="34" charset="0"/>
                <a:ea typeface="Calibri" pitchFamily="34" charset="-122"/>
                <a:cs typeface="Calibri" pitchFamily="34" charset="-120"/>
              </a:rPr>
              <a:t>THE 'LONGEVITY FOR THE REST OF US' OP-ED / FEATURE</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Fast Company / TIME / The Atlantic (contributed)</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Longevity Has a Class Problem. This Partnership Wants to Fix It.</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An accessible-longevity advocate and a 25-year education company are betting that healthspan can be democratized.</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promise of longevity science risks becoming a privilege of the wealthy. The partnership between Julie Gibson Clark and eTeacher's Longevity Life Academy is a deliberate bet against that outcome.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By pairing a relatable, low-cost practitioner with a proven live-education platform and an included glucose monitor, LLA aims to make personalized longevity available to mainstream American families.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thesis is simple: if millions can learn a language online in small live classes, millions can learn to extend their healthspan the same way.</a:t>
            </a:r>
            <a:endParaRPr lang="en-US" sz="1150" dirty="0"/>
          </a:p>
        </p:txBody>
      </p:sp>
      <p:sp>
        <p:nvSpPr>
          <p:cNvPr id="8" name="Shape 6"/>
          <p:cNvSpPr/>
          <p:nvPr/>
        </p:nvSpPr>
        <p:spPr>
          <a:xfrm>
            <a:off x="6903720" y="2377440"/>
            <a:ext cx="4647895" cy="1691640"/>
          </a:xfrm>
          <a:prstGeom prst="roundRect">
            <a:avLst>
              <a:gd name="adj" fmla="val 3243"/>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868680"/>
          </a:xfrm>
          <a:prstGeom prst="rect">
            <a:avLst/>
          </a:prstGeom>
          <a:noFill/>
          <a:ln/>
        </p:spPr>
        <p:txBody>
          <a:bodyPr wrap="square" rtlCol="0" anchor="t"/>
          <a:lstStyle/>
          <a:p>
            <a:pPr indent="0" marL="0">
              <a:lnSpc>
                <a:spcPct val="110000"/>
              </a:lnSpc>
              <a:buNone/>
            </a:pPr>
            <a:r>
              <a:rPr lang="en-US" sz="1050" i="1" dirty="0">
                <a:solidFill>
                  <a:srgbClr val="FFFFFF"/>
                </a:solidFill>
                <a:latin typeface="Calibri" pitchFamily="34" charset="0"/>
                <a:ea typeface="Calibri" pitchFamily="34" charset="-122"/>
                <a:cs typeface="Calibri" pitchFamily="34" charset="-120"/>
              </a:rPr>
              <a:t>“We want to make accessible content with meaning that touches the human core of each person. Longevity, taught live and personalized, is the purest form of that mission.”</a:t>
            </a:r>
            <a:endParaRPr lang="en-US" sz="1050" dirty="0"/>
          </a:p>
        </p:txBody>
      </p:sp>
      <p:sp>
        <p:nvSpPr>
          <p:cNvPr id="11" name="Text 9"/>
          <p:cNvSpPr/>
          <p:nvPr/>
        </p:nvSpPr>
        <p:spPr>
          <a:xfrm>
            <a:off x="7132320" y="370332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“human core” line. For approval.</a:t>
            </a:r>
            <a:endParaRPr lang="en-US" sz="750" dirty="0"/>
          </a:p>
        </p:txBody>
      </p:sp>
      <p:sp>
        <p:nvSpPr>
          <p:cNvPr id="12" name="Shape 10"/>
          <p:cNvSpPr/>
          <p:nvPr/>
        </p:nvSpPr>
        <p:spPr>
          <a:xfrm>
            <a:off x="6903720" y="4206240"/>
            <a:ext cx="4647895" cy="1691640"/>
          </a:xfrm>
          <a:prstGeom prst="roundRect">
            <a:avLst>
              <a:gd name="adj" fmla="val 3243"/>
            </a:avLst>
          </a:prstGeom>
          <a:solidFill>
            <a:srgbClr val="FFFFFF"/>
          </a:solidFill>
          <a:ln w="19050">
            <a:solidFill>
              <a:srgbClr val="C08A2E"/>
            </a:solidFill>
            <a:prstDash val="solid"/>
          </a:ln>
        </p:spPr>
      </p:sp>
      <p:sp>
        <p:nvSpPr>
          <p:cNvPr id="13" name="Text 11"/>
          <p:cNvSpPr/>
          <p:nvPr/>
        </p:nvSpPr>
        <p:spPr>
          <a:xfrm>
            <a:off x="7132320" y="43434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4" name="Text 12"/>
          <p:cNvSpPr/>
          <p:nvPr/>
        </p:nvSpPr>
        <p:spPr>
          <a:xfrm>
            <a:off x="7132320" y="4617720"/>
            <a:ext cx="4190695" cy="868680"/>
          </a:xfrm>
          <a:prstGeom prst="rect">
            <a:avLst/>
          </a:prstGeom>
          <a:noFill/>
          <a:ln/>
        </p:spPr>
        <p:txBody>
          <a:bodyPr wrap="square" rtlCol="0" anchor="t"/>
          <a:lstStyle/>
          <a:p>
            <a:pPr indent="0" marL="0">
              <a:lnSpc>
                <a:spcPct val="110000"/>
              </a:lnSpc>
              <a:buNone/>
            </a:pPr>
            <a:r>
              <a:rPr lang="en-US" sz="1050" i="1" dirty="0">
                <a:solidFill>
                  <a:srgbClr val="1A1F26"/>
                </a:solidFill>
                <a:latin typeface="Calibri" pitchFamily="34" charset="0"/>
                <a:ea typeface="Calibri" pitchFamily="34" charset="-122"/>
                <a:cs typeface="Calibri" pitchFamily="34" charset="-120"/>
              </a:rPr>
              <a:t>“I don't want to add one more thing to people's lives — I want to simplify. It really comes down to sleep, food, movement, and connection.”</a:t>
            </a:r>
            <a:endParaRPr lang="en-US" sz="1050" dirty="0"/>
          </a:p>
        </p:txBody>
      </p:sp>
      <p:sp>
        <p:nvSpPr>
          <p:cNvPr id="15" name="Text 13"/>
          <p:cNvSpPr/>
          <p:nvPr/>
        </p:nvSpPr>
        <p:spPr>
          <a:xfrm>
            <a:off x="7132320" y="553212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Verbatim from her 2026 interview. For approval.</a:t>
            </a:r>
            <a:endParaRPr lang="en-US" sz="750" dirty="0"/>
          </a:p>
        </p:txBody>
      </p:sp>
      <p:sp>
        <p:nvSpPr>
          <p:cNvPr id="16" name="Text 1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2.6  ·  </a:t>
            </a:r>
            <a:pPr indent="0" marL="0">
              <a:buNone/>
            </a:pPr>
            <a:r>
              <a:rPr lang="en-US" sz="1100" b="1" spc="200" kern="0" dirty="0">
                <a:solidFill>
                  <a:srgbClr val="5C6672"/>
                </a:solidFill>
                <a:latin typeface="Calibri" pitchFamily="34" charset="0"/>
                <a:ea typeface="Calibri" pitchFamily="34" charset="-122"/>
                <a:cs typeface="Calibri" pitchFamily="34" charset="-120"/>
              </a:rPr>
              <a:t>THE BROADCAST / TV SEGMENT</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Fox News Health / Good Morning America / local network AM shows</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Meet the Single Mom Teaching America How to Age Slower — Live, Every Week</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A ready-made morning-show segment: budget biohacking, a glucose monitor demo, and a relatable star.</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Julie Gibson Clark's story is tailor-made for broadcast: a Phoenix single mom, a global leaderboard, a $150-a-month routine, and now a live teaching role.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Segment hooks include a live CGM demonstration, a “myth vs. reality” on longevity costs, and Julie's simple daily rituals viewers can start immediately.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eTeacher can offer both Julie and a company spokesperson for interviews.</a:t>
            </a:r>
            <a:endParaRPr lang="en-US" sz="1150" dirty="0"/>
          </a:p>
        </p:txBody>
      </p:sp>
      <p:sp>
        <p:nvSpPr>
          <p:cNvPr id="8" name="Shape 6"/>
          <p:cNvSpPr/>
          <p:nvPr/>
        </p:nvSpPr>
        <p:spPr>
          <a:xfrm>
            <a:off x="6903720" y="2377440"/>
            <a:ext cx="4647895" cy="3108960"/>
          </a:xfrm>
          <a:prstGeom prst="roundRect">
            <a:avLst>
              <a:gd name="adj" fmla="val 1765"/>
            </a:avLst>
          </a:prstGeom>
          <a:solidFill>
            <a:srgbClr val="FFFFFF"/>
          </a:solidFill>
          <a:ln w="19050">
            <a:solidFill>
              <a:srgbClr val="C08A2E"/>
            </a:solidFill>
            <a:prstDash val="solid"/>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Anyone can start today.”</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Verbatim from The Sun.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C08A2E"/>
                </a:solidFill>
                <a:latin typeface="Calibri" pitchFamily="34" charset="0"/>
                <a:ea typeface="Calibri" pitchFamily="34" charset="-122"/>
                <a:cs typeface="Calibri" pitchFamily="34" charset="-120"/>
              </a:rPr>
              <a:t>ARTICLE 2.7  ·  </a:t>
            </a:r>
            <a:pPr indent="0" marL="0">
              <a:buNone/>
            </a:pPr>
            <a:r>
              <a:rPr lang="en-US" sz="1100" b="1" spc="200" kern="0" dirty="0">
                <a:solidFill>
                  <a:srgbClr val="5C6672"/>
                </a:solidFill>
                <a:latin typeface="Calibri" pitchFamily="34" charset="0"/>
                <a:ea typeface="Calibri" pitchFamily="34" charset="-122"/>
                <a:cs typeface="Calibri" pitchFamily="34" charset="-120"/>
              </a:rPr>
              <a:t>THE PODCAST / LONG-FORM CIRCUIT</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Longevity &amp; wellness podcasts (e.g., existing shows she's appeared on)</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From the Rejuvenation Olympics to the Classroom: Julie Gibson Clark's Next Chapter</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A long-form narrative for the audiences already following Julie — now with an institutional home at eTeacher.</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Julie Gibson Clark has already built a loyal audience across podcasts and YouTube. This wave reintroduces her to those audiences in a new role: LLA instructor.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long-form angle lets her tell the full arc — heavy-metal-poisoning wake-up call, budget routine, #2 ranking, and now teaching — while naturally introducing eTeacher and the Longevity Blueprint.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Ideal for driving qualified enrollments from an already longevity-curious audience.</a:t>
            </a:r>
            <a:endParaRPr lang="en-US" sz="1150" dirty="0"/>
          </a:p>
        </p:txBody>
      </p:sp>
      <p:sp>
        <p:nvSpPr>
          <p:cNvPr id="8" name="Shape 6"/>
          <p:cNvSpPr/>
          <p:nvPr/>
        </p:nvSpPr>
        <p:spPr>
          <a:xfrm>
            <a:off x="6903720" y="2377440"/>
            <a:ext cx="4647895" cy="3108960"/>
          </a:xfrm>
          <a:prstGeom prst="roundRect">
            <a:avLst>
              <a:gd name="adj" fmla="val 1765"/>
            </a:avLst>
          </a:prstGeom>
          <a:solidFill>
            <a:srgbClr val="FFFFFF"/>
          </a:solidFill>
          <a:ln w="19050">
            <a:solidFill>
              <a:srgbClr val="C08A2E"/>
            </a:solidFill>
            <a:prstDash val="solid"/>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00" kern="0" dirty="0">
                <a:solidFill>
                  <a:srgbClr val="6E4A12"/>
                </a:solidFill>
                <a:latin typeface="Calibri" pitchFamily="34" charset="0"/>
                <a:ea typeface="Calibri" pitchFamily="34" charset="-122"/>
                <a:cs typeface="Calibri" pitchFamily="34" charset="-120"/>
              </a:rPr>
              <a:t>JULIE GIBSON CLARK, INSTRUCTOR</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1A1F26"/>
                </a:solidFill>
                <a:latin typeface="Calibri" pitchFamily="34" charset="0"/>
                <a:ea typeface="Calibri" pitchFamily="34" charset="-122"/>
                <a:cs typeface="Calibri" pitchFamily="34" charset="-120"/>
              </a:rPr>
              <a:t>“I'm no longer chasing a leaderboard. What excites me now is helping real people build something sustainable — that's what Longevity Life Academy is for.”</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5C6672"/>
                </a:solidFill>
                <a:latin typeface="Calibri" pitchFamily="34" charset="0"/>
                <a:ea typeface="Calibri" pitchFamily="34" charset="-122"/>
                <a:cs typeface="Calibri" pitchFamily="34" charset="-120"/>
              </a:rPr>
              <a:t>Voice-matched to her documented shift toward teaching.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3</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The Longevity Hub App Launch</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eTeacher's longevity practice, in your pocket: AI tutor, bite-size daily rituals, tracking, and lifestyle — the 'gym for the brain' applied to healthspan.</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12395C"/>
                </a:solidFill>
                <a:latin typeface="Calibri" pitchFamily="34" charset="0"/>
                <a:ea typeface="Calibri" pitchFamily="34" charset="-122"/>
                <a:cs typeface="Calibri" pitchFamily="34" charset="-120"/>
              </a:rPr>
              <a:t>ARTICLE 3.1  ·  </a:t>
            </a:r>
            <a:pPr indent="0" marL="0">
              <a:buNone/>
            </a:pPr>
            <a:r>
              <a:rPr lang="en-US" sz="1100" b="1" spc="200" kern="0" dirty="0">
                <a:solidFill>
                  <a:srgbClr val="5C6672"/>
                </a:solidFill>
                <a:latin typeface="Calibri" pitchFamily="34" charset="0"/>
                <a:ea typeface="Calibri" pitchFamily="34" charset="-122"/>
                <a:cs typeface="Calibri" pitchFamily="34" charset="-120"/>
              </a:rPr>
              <a:t>THE PRODUCT LAUNCH</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TechCrunch / The Verge / PR Newswire</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eTeacher Launches the Longevity Hub: An AI Tutor and Daily Ritual Engine for Healthspan</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new app turns the 18-week Longevity Blueprint into simple, trackable daily rituals — powered by an AI longevity tutor.</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eTeacher Group today launched the Longevity Hub, a companion app that extends Longevity Life Academy beyond the weekly live class. The Hub delivers a personalized longevity practice as bite-size daily rituals, integrated tracking, and lifestyle guidance.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At its center is an AI longevity tutor — the same “gym for the brain” model eTeacher pioneered in language learning — that checks in daily, adapts to each user's data, and keeps them engaged between live sessions.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Hub connects to CGM, sleep, and wearable data, turning each user's biology into a personalized feedback loop.</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“In the age of AI, the professor should be available 24/7 with reliable tools that connect learning to your everyday life. The Longevity Hub is that professor for healthspan — a quarter-hour of light practice with your coffee that keeps your longevity routine alive between classes.”</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“professor available 24/7” + “quarter-hour with your coffee” lines from TheMarker.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12395C"/>
                </a:solidFill>
                <a:latin typeface="Calibri" pitchFamily="34" charset="0"/>
                <a:ea typeface="Calibri" pitchFamily="34" charset="-122"/>
                <a:cs typeface="Calibri" pitchFamily="34" charset="-120"/>
              </a:rPr>
              <a:t>ARTICLE 3.2  ·  </a:t>
            </a:r>
            <a:pPr indent="0" marL="0">
              <a:buNone/>
            </a:pPr>
            <a:r>
              <a:rPr lang="en-US" sz="1100" b="1" spc="200" kern="0" dirty="0">
                <a:solidFill>
                  <a:srgbClr val="5C6672"/>
                </a:solidFill>
                <a:latin typeface="Calibri" pitchFamily="34" charset="0"/>
                <a:ea typeface="Calibri" pitchFamily="34" charset="-122"/>
                <a:cs typeface="Calibri" pitchFamily="34" charset="-120"/>
              </a:rPr>
              <a:t>THE 'HABIT / BEHAVIOR-CHANGE' STORY</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Fast Company / mindbodygreen / Wired</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Longevity Fails Without Consistency. eTeacher's New App Attacks the Persistence Problem.</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Longevity Hub breaks healthspan into daily micro-rituals — because the science only works if you actually stick with it.</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The hardest part of longevity isn't knowing what to do — it's doing it every day. eTeacher's Longevity Hub is designed around that persistence problem, converting the Longevity Blueprint into small, daily, trackable actions.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Using the company's proven micro-learning approach, the AI tutor nudges users with relevant, personalized prompts, celebrates streaks, and re-engages those who drift.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It reflects eTeacher's core belief that engagement, not information, is the real bottleneck in adult learning.</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“Excessive self-guided content leads to dropout — in language learning and in longevity alike. Our answer is the same: a gym for the brain and body that keeps motivation high, so persistence stops being the hard part.”</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Voice-matched to verbatim dropout/“gym for the brain” lines.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237744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WAVE 4</a:t>
            </a:r>
            <a:endParaRPr lang="en-US" sz="1600" dirty="0"/>
          </a:p>
        </p:txBody>
      </p:sp>
      <p:sp>
        <p:nvSpPr>
          <p:cNvPr id="4" name="Text 2"/>
          <p:cNvSpPr/>
          <p:nvPr/>
        </p:nvSpPr>
        <p:spPr>
          <a:xfrm>
            <a:off x="640080" y="288036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Six New Longevity Courses</a:t>
            </a:r>
            <a:endParaRPr lang="en-US" sz="3400" dirty="0"/>
          </a:p>
        </p:txBody>
      </p:sp>
      <p:sp>
        <p:nvSpPr>
          <p:cNvPr id="5" name="Text 3"/>
          <p:cNvSpPr/>
          <p:nvPr/>
        </p:nvSpPr>
        <p:spPr>
          <a:xfrm>
            <a:off x="640080" y="3977640"/>
            <a:ext cx="10058400" cy="91440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Following the Q2 launch of Longevity Life Academy, eTeacher expands the curriculum into a full longevity college.</a:t>
            </a:r>
            <a:endParaRPr lang="en-US" sz="1500" dirty="0"/>
          </a:p>
        </p:txBody>
      </p:sp>
      <p:sp>
        <p:nvSpPr>
          <p:cNvPr id="6" name="Text 4"/>
          <p:cNvSpPr/>
          <p:nvPr/>
        </p:nvSpPr>
        <p:spPr>
          <a:xfrm>
            <a:off x="640080" y="502920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6E4A12"/>
                </a:solidFill>
                <a:latin typeface="Calibri" pitchFamily="34" charset="0"/>
                <a:ea typeface="Calibri" pitchFamily="34" charset="-122"/>
                <a:cs typeface="Calibri" pitchFamily="34" charset="-120"/>
              </a:rPr>
              <a:t>ARTICLE 4.1  ·  </a:t>
            </a:r>
            <a:pPr indent="0" marL="0">
              <a:buNone/>
            </a:pPr>
            <a:r>
              <a:rPr lang="en-US" sz="1100" b="1" spc="200" kern="0" dirty="0">
                <a:solidFill>
                  <a:srgbClr val="5C6672"/>
                </a:solidFill>
                <a:latin typeface="Calibri" pitchFamily="34" charset="0"/>
                <a:ea typeface="Calibri" pitchFamily="34" charset="-122"/>
                <a:cs typeface="Calibri" pitchFamily="34" charset="-120"/>
              </a:rPr>
              <a:t>THE EXPANSION ANNOUNCEMENT</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PR Newswire + EdSurge / Longevity.Technology</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eTeacher to Launch Six New Longevity Courses Following Its Q2 Longevity Life Academy Debut</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expansion turns a single flagship course into a full longevity curriculum — from metabolic health to brain training.</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Building on the Q2 launch of The Longevity Blueprint, eTeacher Group today announced six new Longevity Life Academy courses rolling out over the coming year: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 Emotional Resilience &amp; Stress  • Metabolic Mastery  • Activities &amp; Movement: Athlete-Level Performance  • Longevity Blueprint 2 (the continuation course)  • Biomarkers &amp; Advanced Wearables  • Longevity Brain — train your brain like you train your body (with social health &amp; relationships).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Each course keeps the LLA format: live, small-group, instructor-led sessions with AI support and personal-data integration — and wearable technology deepens across the catalog.</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“This is only the beginning. As our courses evolve over the coming year, we'll add more expert instructors, more wearable technology, and more of the personalized, live teaching that has defined eTeacher for 25 years. Longevity is not one course — it is a lifelong practice, and we are building the school for it.”</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Voice-matched to his growth/evolution themes.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84048"/>
            <a:ext cx="7772400" cy="274320"/>
          </a:xfrm>
          <a:prstGeom prst="rect">
            <a:avLst/>
          </a:prstGeom>
          <a:noFill/>
          <a:ln/>
        </p:spPr>
        <p:txBody>
          <a:bodyPr wrap="square" rtlCol="0" anchor="ctr"/>
          <a:lstStyle/>
          <a:p>
            <a:pPr indent="0" marL="0">
              <a:buNone/>
            </a:pPr>
            <a:r>
              <a:rPr lang="en-US" sz="1100" b="1" spc="200" kern="0" dirty="0">
                <a:solidFill>
                  <a:srgbClr val="6E4A12"/>
                </a:solidFill>
                <a:latin typeface="Calibri" pitchFamily="34" charset="0"/>
                <a:ea typeface="Calibri" pitchFamily="34" charset="-122"/>
                <a:cs typeface="Calibri" pitchFamily="34" charset="-120"/>
              </a:rPr>
              <a:t>ARTICLE 4.2  ·  </a:t>
            </a:r>
            <a:pPr indent="0" marL="0">
              <a:buNone/>
            </a:pPr>
            <a:r>
              <a:rPr lang="en-US" sz="1100" b="1" spc="200" kern="0" dirty="0">
                <a:solidFill>
                  <a:srgbClr val="5C6672"/>
                </a:solidFill>
                <a:latin typeface="Calibri" pitchFamily="34" charset="0"/>
                <a:ea typeface="Calibri" pitchFamily="34" charset="-122"/>
                <a:cs typeface="Calibri" pitchFamily="34" charset="-120"/>
              </a:rPr>
              <a:t>THE 'LONGEVITY BRAIN' FEATURE</a:t>
            </a:r>
            <a:endParaRPr lang="en-US" sz="1100" dirty="0"/>
          </a:p>
        </p:txBody>
      </p:sp>
      <p:sp>
        <p:nvSpPr>
          <p:cNvPr id="3" name="Text 1"/>
          <p:cNvSpPr/>
          <p:nvPr/>
        </p:nvSpPr>
        <p:spPr>
          <a:xfrm>
            <a:off x="6522415" y="384048"/>
            <a:ext cx="5029200" cy="274320"/>
          </a:xfrm>
          <a:prstGeom prst="rect">
            <a:avLst/>
          </a:prstGeom>
          <a:noFill/>
          <a:ln/>
        </p:spPr>
        <p:txBody>
          <a:bodyPr wrap="square" rtlCol="0" anchor="ctr"/>
          <a:lstStyle/>
          <a:p>
            <a:pPr algn="r" indent="0" marL="0">
              <a:buNone/>
            </a:pPr>
            <a:r>
              <a:rPr lang="en-US" sz="1000" dirty="0">
                <a:solidFill>
                  <a:srgbClr val="9AA4AF"/>
                </a:solidFill>
                <a:latin typeface="Calibri" pitchFamily="34" charset="0"/>
                <a:ea typeface="Calibri" pitchFamily="34" charset="-122"/>
                <a:cs typeface="Calibri" pitchFamily="34" charset="-120"/>
              </a:rPr>
              <a:t>TARGET: </a:t>
            </a:r>
            <a:pPr algn="r" indent="0" marL="0">
              <a:buNone/>
            </a:pPr>
            <a:r>
              <a:rPr lang="en-US" sz="1000" b="1" dirty="0">
                <a:solidFill>
                  <a:srgbClr val="5C6672"/>
                </a:solidFill>
                <a:latin typeface="Calibri" pitchFamily="34" charset="0"/>
                <a:ea typeface="Calibri" pitchFamily="34" charset="-122"/>
                <a:cs typeface="Calibri" pitchFamily="34" charset="-120"/>
              </a:rPr>
              <a:t>Well+Good / Psychology-forward outlets / mindbodygreen</a:t>
            </a:r>
            <a:endParaRPr lang="en-US" sz="1000" dirty="0"/>
          </a:p>
        </p:txBody>
      </p:sp>
      <p:sp>
        <p:nvSpPr>
          <p:cNvPr id="4" name="Text 2"/>
          <p:cNvSpPr/>
          <p:nvPr/>
        </p:nvSpPr>
        <p:spPr>
          <a:xfrm>
            <a:off x="640080" y="777240"/>
            <a:ext cx="10911535" cy="868680"/>
          </a:xfrm>
          <a:prstGeom prst="rect">
            <a:avLst/>
          </a:prstGeom>
          <a:noFill/>
          <a:ln/>
        </p:spPr>
        <p:txBody>
          <a:bodyPr wrap="square" rtlCol="0" anchor="ctr"/>
          <a:lstStyle/>
          <a:p>
            <a:pPr indent="0" marL="0">
              <a:lnSpc>
                <a:spcPct val="98000"/>
              </a:lnSpc>
              <a:buNone/>
            </a:pPr>
            <a:r>
              <a:rPr lang="en-US" sz="2100" b="1" dirty="0">
                <a:solidFill>
                  <a:srgbClr val="0C2A43"/>
                </a:solidFill>
                <a:latin typeface="Georgia" pitchFamily="34" charset="0"/>
                <a:ea typeface="Georgia" pitchFamily="34" charset="-122"/>
                <a:cs typeface="Georgia" pitchFamily="34" charset="-120"/>
              </a:rPr>
              <a:t>“Train Your Brain Like You Train Your Body”: eTeacher Adds Cognitive &amp; Social Longevity to Its Curriculum</a:t>
            </a:r>
            <a:endParaRPr lang="en-US" sz="2100" dirty="0"/>
          </a:p>
        </p:txBody>
      </p:sp>
      <p:sp>
        <p:nvSpPr>
          <p:cNvPr id="5" name="Text 3"/>
          <p:cNvSpPr/>
          <p:nvPr/>
        </p:nvSpPr>
        <p:spPr>
          <a:xfrm>
            <a:off x="640080" y="1664208"/>
            <a:ext cx="10911535" cy="502920"/>
          </a:xfrm>
          <a:prstGeom prst="rect">
            <a:avLst/>
          </a:prstGeom>
          <a:noFill/>
          <a:ln/>
        </p:spPr>
        <p:txBody>
          <a:bodyPr wrap="square" rtlCol="0" anchor="ctr"/>
          <a:lstStyle/>
          <a:p>
            <a:pPr indent="0" marL="0">
              <a:lnSpc>
                <a:spcPct val="110000"/>
              </a:lnSpc>
              <a:buNone/>
            </a:pPr>
            <a:r>
              <a:rPr lang="en-US" sz="1300" i="1" dirty="0">
                <a:solidFill>
                  <a:srgbClr val="5C6672"/>
                </a:solidFill>
                <a:latin typeface="Calibri" pitchFamily="34" charset="0"/>
                <a:ea typeface="Calibri" pitchFamily="34" charset="-122"/>
                <a:cs typeface="Calibri" pitchFamily="34" charset="-120"/>
              </a:rPr>
              <a:t>The new Longevity Brain course treats memory, focus, emotional health, and relationships as trainable longevity levers.</a:t>
            </a:r>
            <a:endParaRPr lang="en-US" sz="1300" dirty="0"/>
          </a:p>
        </p:txBody>
      </p:sp>
      <p:sp>
        <p:nvSpPr>
          <p:cNvPr id="6" name="Shape 4"/>
          <p:cNvSpPr/>
          <p:nvPr/>
        </p:nvSpPr>
        <p:spPr>
          <a:xfrm>
            <a:off x="640080" y="2240280"/>
            <a:ext cx="10911535" cy="0"/>
          </a:xfrm>
          <a:prstGeom prst="line">
            <a:avLst/>
          </a:prstGeom>
          <a:noFill/>
          <a:ln w="12700">
            <a:solidFill>
              <a:srgbClr val="D9DDE2"/>
            </a:solidFill>
            <a:prstDash val="solid"/>
          </a:ln>
        </p:spPr>
      </p:sp>
      <p:sp>
        <p:nvSpPr>
          <p:cNvPr id="7" name="Text 5"/>
          <p:cNvSpPr/>
          <p:nvPr/>
        </p:nvSpPr>
        <p:spPr>
          <a:xfrm>
            <a:off x="640080" y="2377440"/>
            <a:ext cx="5943600" cy="3291840"/>
          </a:xfrm>
          <a:prstGeom prst="rect">
            <a:avLst/>
          </a:prstGeom>
          <a:noFill/>
          <a:ln/>
        </p:spPr>
        <p:txBody>
          <a:bodyPr wrap="square" rtlCol="0" anchor="t"/>
          <a:lstStyle/>
          <a:p>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Among the six new courses, Longevity Brain stands out as the most distinctly eTeacher: a program that treats cognitive and social health as core longevity practices, not afterthoughts.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Covering memory, focus, emotional resilience, and the science of relationships and social connection, it directly answers eTeacher's founding concern — keeping the adult mind active in an age of cognitive atrophy.
</a:t>
            </a:r>
            <a:pPr indent="0" marL="0">
              <a:lnSpc>
                <a:spcPct val="112000"/>
              </a:lnSpc>
              <a:buNone/>
            </a:pPr>
            <a:r>
              <a:rPr lang="en-US" sz="1150" dirty="0">
                <a:solidFill>
                  <a:srgbClr val="1A1F26"/>
                </a:solidFill>
                <a:latin typeface="Calibri" pitchFamily="34" charset="0"/>
                <a:ea typeface="Calibri" pitchFamily="34" charset="-122"/>
                <a:cs typeface="Calibri" pitchFamily="34" charset="-120"/>
              </a:rPr>
              <a:t>It is, in effect, the longevity expression of the company's original mission.</a:t>
            </a:r>
            <a:endParaRPr lang="en-US" sz="1150" dirty="0"/>
          </a:p>
        </p:txBody>
      </p:sp>
      <p:sp>
        <p:nvSpPr>
          <p:cNvPr id="8" name="Shape 6"/>
          <p:cNvSpPr/>
          <p:nvPr/>
        </p:nvSpPr>
        <p:spPr>
          <a:xfrm>
            <a:off x="6903720" y="2377440"/>
            <a:ext cx="4647895" cy="3108960"/>
          </a:xfrm>
          <a:prstGeom prst="roundRect">
            <a:avLst>
              <a:gd name="adj" fmla="val 1765"/>
            </a:avLst>
          </a:prstGeom>
          <a:solidFill>
            <a:srgbClr val="0C2A43"/>
          </a:solidFill>
          <a:ln/>
        </p:spPr>
      </p:sp>
      <p:sp>
        <p:nvSpPr>
          <p:cNvPr id="9" name="Text 7"/>
          <p:cNvSpPr/>
          <p:nvPr/>
        </p:nvSpPr>
        <p:spPr>
          <a:xfrm>
            <a:off x="7132320" y="2514600"/>
            <a:ext cx="4190695" cy="256032"/>
          </a:xfrm>
          <a:prstGeom prst="rect">
            <a:avLst/>
          </a:prstGeom>
          <a:noFill/>
          <a:ln/>
        </p:spPr>
        <p:txBody>
          <a:bodyPr wrap="square" rtlCol="0" anchor="ctr"/>
          <a:lstStyle/>
          <a:p>
            <a:pPr indent="0" marL="0">
              <a:buNone/>
            </a:pPr>
            <a:r>
              <a:rPr lang="en-US" sz="1000" b="1" spc="150" kern="0" dirty="0">
                <a:solidFill>
                  <a:srgbClr val="C08A2E"/>
                </a:solidFill>
                <a:latin typeface="Calibri" pitchFamily="34" charset="0"/>
                <a:ea typeface="Calibri" pitchFamily="34" charset="-122"/>
                <a:cs typeface="Calibri" pitchFamily="34" charset="-120"/>
              </a:rPr>
              <a:t>HAREL TAYEB, CEO</a:t>
            </a:r>
            <a:endParaRPr lang="en-US" sz="1000" dirty="0"/>
          </a:p>
        </p:txBody>
      </p:sp>
      <p:sp>
        <p:nvSpPr>
          <p:cNvPr id="10" name="Text 8"/>
          <p:cNvSpPr/>
          <p:nvPr/>
        </p:nvSpPr>
        <p:spPr>
          <a:xfrm>
            <a:off x="7132320" y="2788920"/>
            <a:ext cx="4190695" cy="2286000"/>
          </a:xfrm>
          <a:prstGeom prst="rect">
            <a:avLst/>
          </a:prstGeom>
          <a:noFill/>
          <a:ln/>
        </p:spPr>
        <p:txBody>
          <a:bodyPr wrap="square" rtlCol="0" anchor="t"/>
          <a:lstStyle/>
          <a:p>
            <a:pPr indent="0" marL="0">
              <a:lnSpc>
                <a:spcPct val="110000"/>
              </a:lnSpc>
              <a:buNone/>
            </a:pPr>
            <a:r>
              <a:rPr lang="en-US" sz="1200" i="1" dirty="0">
                <a:solidFill>
                  <a:srgbClr val="FFFFFF"/>
                </a:solidFill>
                <a:latin typeface="Calibri" pitchFamily="34" charset="0"/>
                <a:ea typeface="Calibri" pitchFamily="34" charset="-122"/>
                <a:cs typeface="Calibri" pitchFamily="34" charset="-120"/>
              </a:rPr>
              <a:t>“We built eTeacher to keep the mind active and vital in a world where technology may cause cognitive atrophy. Longevity Brain makes that explicit — you can train your brain like you train your body, and social connection is one of the strongest longevity levers we have.”</a:t>
            </a:r>
            <a:endParaRPr lang="en-US" sz="1200" dirty="0"/>
          </a:p>
        </p:txBody>
      </p:sp>
      <p:sp>
        <p:nvSpPr>
          <p:cNvPr id="11" name="Text 9"/>
          <p:cNvSpPr/>
          <p:nvPr/>
        </p:nvSpPr>
        <p:spPr>
          <a:xfrm>
            <a:off x="7132320" y="5120640"/>
            <a:ext cx="4190695" cy="292608"/>
          </a:xfrm>
          <a:prstGeom prst="rect">
            <a:avLst/>
          </a:prstGeom>
          <a:noFill/>
          <a:ln/>
        </p:spPr>
        <p:txBody>
          <a:bodyPr wrap="square" rtlCol="0" anchor="ctr"/>
          <a:lstStyle/>
          <a:p>
            <a:pPr indent="0" marL="0">
              <a:buNone/>
            </a:pPr>
            <a:r>
              <a:rPr lang="en-US" sz="750" i="1" dirty="0">
                <a:solidFill>
                  <a:srgbClr val="9AA4AF"/>
                </a:solidFill>
                <a:latin typeface="Calibri" pitchFamily="34" charset="0"/>
                <a:ea typeface="Calibri" pitchFamily="34" charset="-122"/>
                <a:cs typeface="Calibri" pitchFamily="34" charset="-120"/>
              </a:rPr>
              <a:t>Verbatim “active and vital / cognitive atrophy” lines from TheMarker. For approval.</a:t>
            </a:r>
            <a:endParaRPr lang="en-US" sz="750" dirty="0"/>
          </a:p>
        </p:txBody>
      </p:sp>
      <p:sp>
        <p:nvSpPr>
          <p:cNvPr id="12" name="Text 1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2468880"/>
            <a:ext cx="10911535" cy="457200"/>
          </a:xfrm>
          <a:prstGeom prst="rect">
            <a:avLst/>
          </a:prstGeom>
          <a:noFill/>
          <a:ln/>
        </p:spPr>
        <p:txBody>
          <a:bodyPr wrap="square" rtlCol="0" anchor="ctr"/>
          <a:lstStyle/>
          <a:p>
            <a:pPr indent="0" marL="0">
              <a:buNone/>
            </a:pPr>
            <a:r>
              <a:rPr lang="en-US" sz="1600" b="1" spc="300" kern="0" dirty="0">
                <a:solidFill>
                  <a:srgbClr val="C08A2E"/>
                </a:solidFill>
                <a:latin typeface="Calibri" pitchFamily="34" charset="0"/>
                <a:ea typeface="Calibri" pitchFamily="34" charset="-122"/>
                <a:cs typeface="Calibri" pitchFamily="34" charset="-120"/>
              </a:rPr>
              <a:t>THE OUTLET ENGINE</a:t>
            </a:r>
            <a:endParaRPr lang="en-US" sz="1600" dirty="0"/>
          </a:p>
        </p:txBody>
      </p:sp>
      <p:sp>
        <p:nvSpPr>
          <p:cNvPr id="4" name="Text 2"/>
          <p:cNvSpPr/>
          <p:nvPr/>
        </p:nvSpPr>
        <p:spPr>
          <a:xfrm>
            <a:off x="640080" y="2971800"/>
            <a:ext cx="10911535" cy="91440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How we actually get listed</a:t>
            </a:r>
            <a:endParaRPr lang="en-US" sz="3400" dirty="0"/>
          </a:p>
        </p:txBody>
      </p:sp>
      <p:sp>
        <p:nvSpPr>
          <p:cNvPr id="5" name="Text 3"/>
          <p:cNvSpPr/>
          <p:nvPr/>
        </p:nvSpPr>
        <p:spPr>
          <a:xfrm>
            <a:off x="640080" y="4023360"/>
            <a:ext cx="10058400" cy="822960"/>
          </a:xfrm>
          <a:prstGeom prst="rect">
            <a:avLst/>
          </a:prstGeom>
          <a:noFill/>
          <a:ln/>
        </p:spPr>
        <p:txBody>
          <a:bodyPr wrap="square" rtlCol="0" anchor="ctr"/>
          <a:lstStyle/>
          <a:p>
            <a:pPr indent="0" marL="0">
              <a:lnSpc>
                <a:spcPct val="120000"/>
              </a:lnSpc>
              <a:buNone/>
            </a:pPr>
            <a:r>
              <a:rPr lang="en-US" sz="1500" dirty="0">
                <a:solidFill>
                  <a:srgbClr val="C9D3DD"/>
                </a:solidFill>
                <a:latin typeface="Calibri" pitchFamily="34" charset="0"/>
                <a:ea typeface="Calibri" pitchFamily="34" charset="-122"/>
                <a:cs typeface="Calibri" pitchFamily="34" charset="-120"/>
              </a:rPr>
              <a:t>The mechanics behind every placement: the process, realistic probabilities, reach, and timeframes — so you know exactly what to expect and when.</a:t>
            </a:r>
            <a:endParaRPr lang="en-US" sz="1500" dirty="0"/>
          </a:p>
        </p:txBody>
      </p:sp>
      <p:sp>
        <p:nvSpPr>
          <p:cNvPr id="6" name="Text 4"/>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The placement process, step by step</a:t>
            </a:r>
            <a:endParaRPr lang="en-US" sz="2600" dirty="0"/>
          </a:p>
        </p:txBody>
      </p:sp>
      <p:sp>
        <p:nvSpPr>
          <p:cNvPr id="4" name="Shape 2"/>
          <p:cNvSpPr/>
          <p:nvPr/>
        </p:nvSpPr>
        <p:spPr>
          <a:xfrm>
            <a:off x="640080" y="1828800"/>
            <a:ext cx="2036003" cy="3566160"/>
          </a:xfrm>
          <a:prstGeom prst="roundRect">
            <a:avLst>
              <a:gd name="adj" fmla="val 2695"/>
            </a:avLst>
          </a:prstGeom>
          <a:solidFill>
            <a:srgbClr val="FFFFFF"/>
          </a:solidFill>
          <a:ln w="12700">
            <a:solidFill>
              <a:srgbClr val="D9DDE2"/>
            </a:solidFill>
            <a:prstDash val="solid"/>
          </a:ln>
        </p:spPr>
      </p:sp>
      <p:sp>
        <p:nvSpPr>
          <p:cNvPr id="5" name="Shape 3"/>
          <p:cNvSpPr/>
          <p:nvPr/>
        </p:nvSpPr>
        <p:spPr>
          <a:xfrm>
            <a:off x="640080" y="1828800"/>
            <a:ext cx="2036003" cy="640080"/>
          </a:xfrm>
          <a:prstGeom prst="roundRect">
            <a:avLst>
              <a:gd name="adj" fmla="val 8571"/>
            </a:avLst>
          </a:prstGeom>
          <a:solidFill>
            <a:srgbClr val="0C2A43"/>
          </a:solidFill>
          <a:ln/>
        </p:spPr>
      </p:sp>
      <p:sp>
        <p:nvSpPr>
          <p:cNvPr id="6" name="Text 4"/>
          <p:cNvSpPr/>
          <p:nvPr/>
        </p:nvSpPr>
        <p:spPr>
          <a:xfrm>
            <a:off x="640080"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01</a:t>
            </a:r>
            <a:endParaRPr lang="en-US" sz="2000" dirty="0"/>
          </a:p>
        </p:txBody>
      </p:sp>
      <p:sp>
        <p:nvSpPr>
          <p:cNvPr id="7" name="Text 5"/>
          <p:cNvSpPr/>
          <p:nvPr/>
        </p:nvSpPr>
        <p:spPr>
          <a:xfrm>
            <a:off x="749808"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Wire distribution</a:t>
            </a:r>
            <a:endParaRPr lang="en-US" sz="1250" dirty="0"/>
          </a:p>
        </p:txBody>
      </p:sp>
      <p:sp>
        <p:nvSpPr>
          <p:cNvPr id="8" name="Text 6"/>
          <p:cNvSpPr/>
          <p:nvPr/>
        </p:nvSpPr>
        <p:spPr>
          <a:xfrm>
            <a:off x="777240"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Issue each wave over a paid national newswire (PR Newswire). Guarantees a citable, indexed “official” source and hundreds of automatic syndications.</a:t>
            </a:r>
            <a:endParaRPr lang="en-US" sz="1000" dirty="0"/>
          </a:p>
        </p:txBody>
      </p:sp>
      <p:sp>
        <p:nvSpPr>
          <p:cNvPr id="9" name="Text 7"/>
          <p:cNvSpPr/>
          <p:nvPr/>
        </p:nvSpPr>
        <p:spPr>
          <a:xfrm>
            <a:off x="2657795"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2858963" y="1828800"/>
            <a:ext cx="2036003" cy="356616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1828800"/>
            <a:ext cx="2036003" cy="640080"/>
          </a:xfrm>
          <a:prstGeom prst="roundRect">
            <a:avLst>
              <a:gd name="adj" fmla="val 8571"/>
            </a:avLst>
          </a:prstGeom>
          <a:solidFill>
            <a:srgbClr val="0C2A43"/>
          </a:solidFill>
          <a:ln/>
        </p:spPr>
      </p:sp>
      <p:sp>
        <p:nvSpPr>
          <p:cNvPr id="12" name="Text 10"/>
          <p:cNvSpPr/>
          <p:nvPr/>
        </p:nvSpPr>
        <p:spPr>
          <a:xfrm>
            <a:off x="2858963"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02</a:t>
            </a:r>
            <a:endParaRPr lang="en-US" sz="2000" dirty="0"/>
          </a:p>
        </p:txBody>
      </p:sp>
      <p:sp>
        <p:nvSpPr>
          <p:cNvPr id="13" name="Text 11"/>
          <p:cNvSpPr/>
          <p:nvPr/>
        </p:nvSpPr>
        <p:spPr>
          <a:xfrm>
            <a:off x="2968691"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Embargo &amp; exclusive</a:t>
            </a:r>
            <a:endParaRPr lang="en-US" sz="1250" dirty="0"/>
          </a:p>
        </p:txBody>
      </p:sp>
      <p:sp>
        <p:nvSpPr>
          <p:cNvPr id="14" name="Text 12"/>
          <p:cNvSpPr/>
          <p:nvPr/>
        </p:nvSpPr>
        <p:spPr>
          <a:xfrm>
            <a:off x="2996123"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Offer one Tier-1 outlet a 24–48h exclusive before the wire. Anchors premium coverage and gives reporters a reason to move fast.</a:t>
            </a:r>
            <a:endParaRPr lang="en-US" sz="1000" dirty="0"/>
          </a:p>
        </p:txBody>
      </p:sp>
      <p:sp>
        <p:nvSpPr>
          <p:cNvPr id="15" name="Text 13"/>
          <p:cNvSpPr/>
          <p:nvPr/>
        </p:nvSpPr>
        <p:spPr>
          <a:xfrm>
            <a:off x="4876678"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5077846" y="1828800"/>
            <a:ext cx="2036003" cy="3566160"/>
          </a:xfrm>
          <a:prstGeom prst="roundRect">
            <a:avLst>
              <a:gd name="adj" fmla="val 2695"/>
            </a:avLst>
          </a:prstGeom>
          <a:solidFill>
            <a:srgbClr val="FFFFFF"/>
          </a:solidFill>
          <a:ln w="12700">
            <a:solidFill>
              <a:srgbClr val="D9DDE2"/>
            </a:solidFill>
            <a:prstDash val="solid"/>
          </a:ln>
        </p:spPr>
      </p:sp>
      <p:sp>
        <p:nvSpPr>
          <p:cNvPr id="17" name="Shape 15"/>
          <p:cNvSpPr/>
          <p:nvPr/>
        </p:nvSpPr>
        <p:spPr>
          <a:xfrm>
            <a:off x="5077846" y="1828800"/>
            <a:ext cx="2036003" cy="640080"/>
          </a:xfrm>
          <a:prstGeom prst="roundRect">
            <a:avLst>
              <a:gd name="adj" fmla="val 8571"/>
            </a:avLst>
          </a:prstGeom>
          <a:solidFill>
            <a:srgbClr val="0C2A43"/>
          </a:solidFill>
          <a:ln/>
        </p:spPr>
      </p:sp>
      <p:sp>
        <p:nvSpPr>
          <p:cNvPr id="18" name="Text 16"/>
          <p:cNvSpPr/>
          <p:nvPr/>
        </p:nvSpPr>
        <p:spPr>
          <a:xfrm>
            <a:off x="5077846"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03</a:t>
            </a:r>
            <a:endParaRPr lang="en-US" sz="2000" dirty="0"/>
          </a:p>
        </p:txBody>
      </p:sp>
      <p:sp>
        <p:nvSpPr>
          <p:cNvPr id="19" name="Text 17"/>
          <p:cNvSpPr/>
          <p:nvPr/>
        </p:nvSpPr>
        <p:spPr>
          <a:xfrm>
            <a:off x="5187574"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Direct pitching</a:t>
            </a:r>
            <a:endParaRPr lang="en-US" sz="1250" dirty="0"/>
          </a:p>
        </p:txBody>
      </p:sp>
      <p:sp>
        <p:nvSpPr>
          <p:cNvPr id="20" name="Text 18"/>
          <p:cNvSpPr/>
          <p:nvPr/>
        </p:nvSpPr>
        <p:spPr>
          <a:xfrm>
            <a:off x="5215006"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Personalized pitches to a targeted journalist list per wave — corporate angle to business/EdTech, Julie angle to consumer/health.</a:t>
            </a:r>
            <a:endParaRPr lang="en-US" sz="1000" dirty="0"/>
          </a:p>
        </p:txBody>
      </p:sp>
      <p:sp>
        <p:nvSpPr>
          <p:cNvPr id="21" name="Text 19"/>
          <p:cNvSpPr/>
          <p:nvPr/>
        </p:nvSpPr>
        <p:spPr>
          <a:xfrm>
            <a:off x="7095561"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2" name="Shape 20"/>
          <p:cNvSpPr/>
          <p:nvPr/>
        </p:nvSpPr>
        <p:spPr>
          <a:xfrm>
            <a:off x="7296729" y="1828800"/>
            <a:ext cx="2036003" cy="3566160"/>
          </a:xfrm>
          <a:prstGeom prst="roundRect">
            <a:avLst>
              <a:gd name="adj" fmla="val 2695"/>
            </a:avLst>
          </a:prstGeom>
          <a:solidFill>
            <a:srgbClr val="FFFFFF"/>
          </a:solidFill>
          <a:ln w="12700">
            <a:solidFill>
              <a:srgbClr val="D9DDE2"/>
            </a:solidFill>
            <a:prstDash val="solid"/>
          </a:ln>
        </p:spPr>
      </p:sp>
      <p:sp>
        <p:nvSpPr>
          <p:cNvPr id="23" name="Shape 21"/>
          <p:cNvSpPr/>
          <p:nvPr/>
        </p:nvSpPr>
        <p:spPr>
          <a:xfrm>
            <a:off x="7296729" y="1828800"/>
            <a:ext cx="2036003" cy="640080"/>
          </a:xfrm>
          <a:prstGeom prst="roundRect">
            <a:avLst>
              <a:gd name="adj" fmla="val 8571"/>
            </a:avLst>
          </a:prstGeom>
          <a:solidFill>
            <a:srgbClr val="0C2A43"/>
          </a:solidFill>
          <a:ln/>
        </p:spPr>
      </p:sp>
      <p:sp>
        <p:nvSpPr>
          <p:cNvPr id="24" name="Text 22"/>
          <p:cNvSpPr/>
          <p:nvPr/>
        </p:nvSpPr>
        <p:spPr>
          <a:xfrm>
            <a:off x="7296729"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04</a:t>
            </a:r>
            <a:endParaRPr lang="en-US" sz="2000" dirty="0"/>
          </a:p>
        </p:txBody>
      </p:sp>
      <p:sp>
        <p:nvSpPr>
          <p:cNvPr id="25" name="Text 23"/>
          <p:cNvSpPr/>
          <p:nvPr/>
        </p:nvSpPr>
        <p:spPr>
          <a:xfrm>
            <a:off x="7406457"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Broadcast &amp; podcast</a:t>
            </a:r>
            <a:endParaRPr lang="en-US" sz="1250" dirty="0"/>
          </a:p>
        </p:txBody>
      </p:sp>
      <p:sp>
        <p:nvSpPr>
          <p:cNvPr id="26" name="Text 24"/>
          <p:cNvSpPr/>
          <p:nvPr/>
        </p:nvSpPr>
        <p:spPr>
          <a:xfrm>
            <a:off x="7433889"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Book Julie and a spokesperson for TV segments and long-form shows where she already has audience traction.</a:t>
            </a:r>
            <a:endParaRPr lang="en-US" sz="1000" dirty="0"/>
          </a:p>
        </p:txBody>
      </p:sp>
      <p:sp>
        <p:nvSpPr>
          <p:cNvPr id="27" name="Text 25"/>
          <p:cNvSpPr/>
          <p:nvPr/>
        </p:nvSpPr>
        <p:spPr>
          <a:xfrm>
            <a:off x="9314444" y="3200400"/>
            <a:ext cx="219456" cy="365760"/>
          </a:xfrm>
          <a:prstGeom prst="rect">
            <a:avLst/>
          </a:prstGeom>
          <a:noFill/>
          <a:ln/>
        </p:spPr>
        <p:txBody>
          <a:bodyPr wrap="square" rtlCol="0" anchor="ctr"/>
          <a:lstStyle/>
          <a:p>
            <a:pPr algn="ctr" indent="0" marL="0">
              <a:buNone/>
            </a:pPr>
            <a:r>
              <a:rPr lang="en-US" sz="1600" b="1" dirty="0">
                <a:solidFill>
                  <a:srgbClr val="C08A2E"/>
                </a:solidFill>
                <a:latin typeface="Calibri" pitchFamily="34" charset="0"/>
                <a:ea typeface="Calibri" pitchFamily="34" charset="-122"/>
                <a:cs typeface="Calibri" pitchFamily="34" charset="-120"/>
              </a:rPr>
              <a:t>→</a:t>
            </a:r>
            <a:endParaRPr lang="en-US" sz="1600" dirty="0"/>
          </a:p>
        </p:txBody>
      </p:sp>
      <p:sp>
        <p:nvSpPr>
          <p:cNvPr id="28" name="Shape 26"/>
          <p:cNvSpPr/>
          <p:nvPr/>
        </p:nvSpPr>
        <p:spPr>
          <a:xfrm>
            <a:off x="9515612" y="1828800"/>
            <a:ext cx="2036003" cy="3566160"/>
          </a:xfrm>
          <a:prstGeom prst="roundRect">
            <a:avLst>
              <a:gd name="adj" fmla="val 2695"/>
            </a:avLst>
          </a:prstGeom>
          <a:solidFill>
            <a:srgbClr val="FFFFFF"/>
          </a:solidFill>
          <a:ln w="12700">
            <a:solidFill>
              <a:srgbClr val="D9DDE2"/>
            </a:solidFill>
            <a:prstDash val="solid"/>
          </a:ln>
        </p:spPr>
      </p:sp>
      <p:sp>
        <p:nvSpPr>
          <p:cNvPr id="29" name="Shape 27"/>
          <p:cNvSpPr/>
          <p:nvPr/>
        </p:nvSpPr>
        <p:spPr>
          <a:xfrm>
            <a:off x="9515612" y="1828800"/>
            <a:ext cx="2036003" cy="640080"/>
          </a:xfrm>
          <a:prstGeom prst="roundRect">
            <a:avLst>
              <a:gd name="adj" fmla="val 8571"/>
            </a:avLst>
          </a:prstGeom>
          <a:solidFill>
            <a:srgbClr val="0C2A43"/>
          </a:solidFill>
          <a:ln/>
        </p:spPr>
      </p:sp>
      <p:sp>
        <p:nvSpPr>
          <p:cNvPr id="30" name="Text 28"/>
          <p:cNvSpPr/>
          <p:nvPr/>
        </p:nvSpPr>
        <p:spPr>
          <a:xfrm>
            <a:off x="9515612" y="1828800"/>
            <a:ext cx="2036003" cy="640080"/>
          </a:xfrm>
          <a:prstGeom prst="rect">
            <a:avLst/>
          </a:prstGeom>
          <a:noFill/>
          <a:ln/>
        </p:spPr>
        <p:txBody>
          <a:bodyPr wrap="square" rtlCol="0" anchor="ctr"/>
          <a:lstStyle/>
          <a:p>
            <a:pPr algn="ctr" indent="0" marL="0">
              <a:buNone/>
            </a:pPr>
            <a:r>
              <a:rPr lang="en-US" sz="2000" b="1" dirty="0">
                <a:solidFill>
                  <a:srgbClr val="C08A2E"/>
                </a:solidFill>
                <a:latin typeface="Georgia" pitchFamily="34" charset="0"/>
                <a:ea typeface="Georgia" pitchFamily="34" charset="-122"/>
                <a:cs typeface="Georgia" pitchFamily="34" charset="-120"/>
              </a:rPr>
              <a:t>05</a:t>
            </a:r>
            <a:endParaRPr lang="en-US" sz="2000" dirty="0"/>
          </a:p>
        </p:txBody>
      </p:sp>
      <p:sp>
        <p:nvSpPr>
          <p:cNvPr id="31" name="Text 29"/>
          <p:cNvSpPr/>
          <p:nvPr/>
        </p:nvSpPr>
        <p:spPr>
          <a:xfrm>
            <a:off x="9625340" y="2606040"/>
            <a:ext cx="1816547" cy="640080"/>
          </a:xfrm>
          <a:prstGeom prst="rect">
            <a:avLst/>
          </a:prstGeom>
          <a:noFill/>
          <a:ln/>
        </p:spPr>
        <p:txBody>
          <a:bodyPr wrap="square" rtlCol="0" anchor="ctr"/>
          <a:lstStyle/>
          <a:p>
            <a:pPr algn="ctr" indent="0" marL="0">
              <a:lnSpc>
                <a:spcPct val="95000"/>
              </a:lnSpc>
              <a:buNone/>
            </a:pPr>
            <a:r>
              <a:rPr lang="en-US" sz="1250" b="1" dirty="0">
                <a:solidFill>
                  <a:srgbClr val="0C2A43"/>
                </a:solidFill>
                <a:latin typeface="Georgia" pitchFamily="34" charset="0"/>
                <a:ea typeface="Georgia" pitchFamily="34" charset="-122"/>
                <a:cs typeface="Georgia" pitchFamily="34" charset="-120"/>
              </a:rPr>
              <a:t>Amplify &amp; repurpose</a:t>
            </a:r>
            <a:endParaRPr lang="en-US" sz="1250" dirty="0"/>
          </a:p>
        </p:txBody>
      </p:sp>
      <p:sp>
        <p:nvSpPr>
          <p:cNvPr id="32" name="Text 30"/>
          <p:cNvSpPr/>
          <p:nvPr/>
        </p:nvSpPr>
        <p:spPr>
          <a:xfrm>
            <a:off x="9652772" y="3291840"/>
            <a:ext cx="1761683" cy="2011680"/>
          </a:xfrm>
          <a:prstGeom prst="rect">
            <a:avLst/>
          </a:prstGeom>
          <a:noFill/>
          <a:ln/>
        </p:spPr>
        <p:txBody>
          <a:bodyPr wrap="square" rtlCol="0" anchor="t"/>
          <a:lstStyle/>
          <a:p>
            <a:pPr indent="0" marL="0">
              <a:lnSpc>
                <a:spcPct val="112000"/>
              </a:lnSpc>
              <a:buNone/>
            </a:pPr>
            <a:r>
              <a:rPr lang="en-US" sz="1000" dirty="0">
                <a:solidFill>
                  <a:srgbClr val="1A1F26"/>
                </a:solidFill>
                <a:latin typeface="Calibri" pitchFamily="34" charset="0"/>
                <a:ea typeface="Calibri" pitchFamily="34" charset="-122"/>
                <a:cs typeface="Calibri" pitchFamily="34" charset="-120"/>
              </a:rPr>
              <a:t>Owned channels, LinkedIn thought-leadership, and paid amplification of earned hits to extend reach and feed the next wave.</a:t>
            </a:r>
            <a:endParaRPr lang="en-US" sz="1000" dirty="0"/>
          </a:p>
        </p:txBody>
      </p:sp>
      <p:sp>
        <p:nvSpPr>
          <p:cNvPr id="33" name="Text 31"/>
          <p:cNvSpPr/>
          <p:nvPr/>
        </p:nvSpPr>
        <p:spPr>
          <a:xfrm>
            <a:off x="640080" y="5532120"/>
            <a:ext cx="10911535" cy="548640"/>
          </a:xfrm>
          <a:prstGeom prst="rect">
            <a:avLst/>
          </a:prstGeom>
          <a:noFill/>
          <a:ln/>
        </p:spPr>
        <p:txBody>
          <a:bodyPr wrap="square" rtlCol="0" anchor="ctr"/>
          <a:lstStyle/>
          <a:p>
            <a:pPr indent="0" marL="0">
              <a:lnSpc>
                <a:spcPct val="110000"/>
              </a:lnSpc>
              <a:buNone/>
            </a:pPr>
            <a:r>
              <a:rPr lang="en-US" sz="1150" i="1" dirty="0">
                <a:solidFill>
                  <a:srgbClr val="5C6672"/>
                </a:solidFill>
                <a:latin typeface="Calibri" pitchFamily="34" charset="0"/>
                <a:ea typeface="Calibri" pitchFamily="34" charset="-122"/>
                <a:cs typeface="Calibri" pitchFamily="34" charset="-120"/>
              </a:rPr>
              <a:t>Timeframe: each wave runs on a ~2-week cycle — wire + exclusive day 1, direct pitching days 1–5, broadcast/podcast days 3–10, amplification days 5–14. Waves are spaced 3–4 weeks apart to compound coverage.</a:t>
            </a:r>
            <a:endParaRPr lang="en-US" sz="115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Target outlets: reach, realistic odds, and timing</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971800"/>
                <a:gridCol w="2194560"/>
                <a:gridCol w="2651760"/>
                <a:gridCol w="1645920"/>
                <a:gridCol w="1444752"/>
              </a:tblGrid>
              <a:tr h="41148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Tier / Outlet</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Reach</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How we get in</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Realistic odds</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Timeframe</a:t>
                      </a:r>
                      <a:endParaRPr lang="en-US" sz="11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Newswire (PR Newswire)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Guaranteed 100s of syndications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Paid distribution — we control it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100% (paid)</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Day 1 of each wave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5836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Business (Forbes, Bloomberg, CNBC)</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Millions; category authority</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Exclusive + expert-source pitch; strong data hook</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(20–35%)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Tier 1 EdTech (EdSurge, TechCrunch)</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Industry decision-makers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Novel-angle pitch; founder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(35–50%)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Health/Longevity (Longevity.Tech, Fierce)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Qualified vertical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CGM/data differentiator; instructor access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(40–55%)</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1–2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Consumer (Well+Good, Today, People)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Mass reach; enrollment driver</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human-interest hook; visuals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Good w/ Julie (40–60%)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1–3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A1F26"/>
                          </a:solidFill>
                          <a:latin typeface="Calibri" pitchFamily="34" charset="0"/>
                          <a:ea typeface="Calibri" pitchFamily="34" charset="-122"/>
                          <a:cs typeface="Calibri" pitchFamily="34" charset="-120"/>
                        </a:rPr>
                        <a:t>Broadcast (Fox Health, GMA, local AM)</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Live mass audience</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Julie + CGM demo segment</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Moderate (25–40%)</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000" dirty="0">
                          <a:solidFill>
                            <a:srgbClr val="1A1F26"/>
                          </a:solidFill>
                          <a:latin typeface="Calibri" pitchFamily="34" charset="0"/>
                          <a:ea typeface="Calibri" pitchFamily="34" charset="-122"/>
                          <a:cs typeface="Calibri" pitchFamily="34" charset="-120"/>
                        </a:rPr>
                        <a:t>2–4 weeks</a:t>
                      </a:r>
                      <a:endParaRPr lang="en-US" sz="1000" dirty="0">
                        <a:latin typeface="Calibri" charset="0"/>
                        <a:ea typeface="Calibri" charset="0"/>
                        <a:cs typeface="Calibri" charset="0"/>
                      </a:endParaRPr>
                    </a:p>
                  </a:txBody>
                  <a:tcPr marL="76200" marR="762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bl>
          </a:graphicData>
        </a:graphic>
      </p:graphicFrame>
      <p:sp>
        <p:nvSpPr>
          <p:cNvPr id="5" name="Text 2"/>
          <p:cNvSpPr/>
          <p:nvPr/>
        </p:nvSpPr>
        <p:spPr>
          <a:xfrm>
            <a:off x="640080" y="5806440"/>
            <a:ext cx="10911535" cy="457200"/>
          </a:xfrm>
          <a:prstGeom prst="rect">
            <a:avLst/>
          </a:prstGeom>
          <a:noFill/>
          <a:ln/>
        </p:spPr>
        <p:txBody>
          <a:bodyPr wrap="square" rtlCol="0" anchor="ctr"/>
          <a:lstStyle/>
          <a:p>
            <a:pPr indent="0" marL="0">
              <a:lnSpc>
                <a:spcPct val="110000"/>
              </a:lnSpc>
              <a:buNone/>
            </a:pPr>
            <a:r>
              <a:rPr lang="en-US" sz="1000" i="1" dirty="0">
                <a:solidFill>
                  <a:srgbClr val="5C6672"/>
                </a:solidFill>
                <a:latin typeface="Calibri" pitchFamily="34" charset="0"/>
                <a:ea typeface="Calibri" pitchFamily="34" charset="-122"/>
                <a:cs typeface="Calibri" pitchFamily="34" charset="-120"/>
              </a:rPr>
              <a:t>Odds reflect industry-typical earned-media hit rates for a well-resourced campaign with a strong hook and named spokespeople; they are estimates, not guarantees. Paid wire distribution is the only guaranteed placement.</a:t>
            </a:r>
            <a:endParaRPr lang="en-US" sz="1000" dirty="0"/>
          </a:p>
        </p:txBody>
      </p:sp>
      <p:sp>
        <p:nvSpPr>
          <p:cNvPr id="6" name="Text 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OUTLET ENGINE</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We are not starting from zero</a:t>
            </a:r>
            <a:endParaRPr lang="en-US" sz="2600" dirty="0"/>
          </a:p>
        </p:txBody>
      </p:sp>
      <p:sp>
        <p:nvSpPr>
          <p:cNvPr id="4" name="Text 2"/>
          <p:cNvSpPr/>
          <p:nvPr/>
        </p:nvSpPr>
        <p:spPr>
          <a:xfrm>
            <a:off x="640080" y="1554480"/>
            <a:ext cx="10911535" cy="64008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eTeacher already has a credible, indexed press trail. Reporters and databases will find a consistent corporate history — which materially raises our odds on every new pitch.</a:t>
            </a:r>
            <a:endParaRPr lang="en-US" sz="1400" dirty="0"/>
          </a:p>
        </p:txBody>
      </p:sp>
      <p:sp>
        <p:nvSpPr>
          <p:cNvPr id="5" name="Shape 3"/>
          <p:cNvSpPr/>
          <p:nvPr/>
        </p:nvSpPr>
        <p:spPr>
          <a:xfrm>
            <a:off x="640080" y="2331720"/>
            <a:ext cx="10911535" cy="749808"/>
          </a:xfrm>
          <a:prstGeom prst="roundRect">
            <a:avLst>
              <a:gd name="adj" fmla="val 6098"/>
            </a:avLst>
          </a:prstGeom>
          <a:solidFill>
            <a:srgbClr val="FFFFFF"/>
          </a:solidFill>
          <a:ln w="12700">
            <a:solidFill>
              <a:srgbClr val="D9DDE2"/>
            </a:solidFill>
            <a:prstDash val="solid"/>
          </a:ln>
        </p:spPr>
      </p:sp>
      <p:sp>
        <p:nvSpPr>
          <p:cNvPr id="6" name="Text 4"/>
          <p:cNvSpPr/>
          <p:nvPr/>
        </p:nvSpPr>
        <p:spPr>
          <a:xfrm>
            <a:off x="868680" y="2386584"/>
            <a:ext cx="3108960" cy="640080"/>
          </a:xfrm>
          <a:prstGeom prst="rect">
            <a:avLst/>
          </a:prstGeom>
          <a:noFill/>
          <a:ln/>
        </p:spPr>
        <p:txBody>
          <a:bodyPr wrap="square" rtlCol="0" anchor="ctr"/>
          <a:lstStyle/>
          <a:p>
            <a:pPr indent="0" marL="0">
              <a:buNone/>
            </a:pPr>
            <a:r>
              <a:rPr lang="en-US" sz="1300" b="1" dirty="0">
                <a:solidFill>
                  <a:srgbClr val="0C2A43"/>
                </a:solidFill>
                <a:latin typeface="Georgia" pitchFamily="34" charset="0"/>
                <a:ea typeface="Georgia" pitchFamily="34" charset="-122"/>
                <a:cs typeface="Georgia" pitchFamily="34" charset="-120"/>
              </a:rPr>
              <a:t>TheMarker (Haaretz)</a:t>
            </a:r>
            <a:endParaRPr lang="en-US" sz="1300" dirty="0"/>
          </a:p>
        </p:txBody>
      </p:sp>
      <p:sp>
        <p:nvSpPr>
          <p:cNvPr id="7" name="Text 5"/>
          <p:cNvSpPr/>
          <p:nvPr/>
        </p:nvSpPr>
        <p:spPr>
          <a:xfrm>
            <a:off x="4023360" y="238658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Feb 2026</a:t>
            </a:r>
            <a:endParaRPr lang="en-US" sz="1200" dirty="0"/>
          </a:p>
        </p:txBody>
      </p:sp>
      <p:sp>
        <p:nvSpPr>
          <p:cNvPr id="8" name="Text 6"/>
          <p:cNvSpPr/>
          <p:nvPr/>
        </p:nvSpPr>
        <p:spPr>
          <a:xfrm>
            <a:off x="5303520" y="238658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Major sponsored feature on eTeacher's vision, AI model, and CEO Harel Tayeb.</a:t>
            </a:r>
            <a:endParaRPr lang="en-US" sz="1150" dirty="0"/>
          </a:p>
        </p:txBody>
      </p:sp>
      <p:sp>
        <p:nvSpPr>
          <p:cNvPr id="9" name="Shape 7"/>
          <p:cNvSpPr/>
          <p:nvPr/>
        </p:nvSpPr>
        <p:spPr>
          <a:xfrm>
            <a:off x="640080" y="3200400"/>
            <a:ext cx="10911535" cy="749808"/>
          </a:xfrm>
          <a:prstGeom prst="roundRect">
            <a:avLst>
              <a:gd name="adj" fmla="val 6098"/>
            </a:avLst>
          </a:prstGeom>
          <a:solidFill>
            <a:srgbClr val="FFFFFF"/>
          </a:solidFill>
          <a:ln w="12700">
            <a:solidFill>
              <a:srgbClr val="D9DDE2"/>
            </a:solidFill>
            <a:prstDash val="solid"/>
          </a:ln>
        </p:spPr>
      </p:sp>
      <p:sp>
        <p:nvSpPr>
          <p:cNvPr id="10" name="Text 8"/>
          <p:cNvSpPr/>
          <p:nvPr/>
        </p:nvSpPr>
        <p:spPr>
          <a:xfrm>
            <a:off x="868680" y="3255264"/>
            <a:ext cx="3108960" cy="640080"/>
          </a:xfrm>
          <a:prstGeom prst="rect">
            <a:avLst/>
          </a:prstGeom>
          <a:noFill/>
          <a:ln/>
        </p:spPr>
        <p:txBody>
          <a:bodyPr wrap="square" rtlCol="0" anchor="ctr"/>
          <a:lstStyle/>
          <a:p>
            <a:pPr indent="0" marL="0">
              <a:buNone/>
            </a:pPr>
            <a:r>
              <a:rPr lang="en-US" sz="1300" b="1" dirty="0">
                <a:solidFill>
                  <a:srgbClr val="0C2A43"/>
                </a:solidFill>
                <a:latin typeface="Georgia" pitchFamily="34" charset="0"/>
                <a:ea typeface="Georgia" pitchFamily="34" charset="-122"/>
                <a:cs typeface="Georgia" pitchFamily="34" charset="-120"/>
              </a:rPr>
              <a:t>GlobeNewswire</a:t>
            </a:r>
            <a:endParaRPr lang="en-US" sz="1300" dirty="0"/>
          </a:p>
        </p:txBody>
      </p:sp>
      <p:sp>
        <p:nvSpPr>
          <p:cNvPr id="11" name="Text 9"/>
          <p:cNvSpPr/>
          <p:nvPr/>
        </p:nvSpPr>
        <p:spPr>
          <a:xfrm>
            <a:off x="4023360" y="325526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Oct 2020</a:t>
            </a:r>
            <a:endParaRPr lang="en-US" sz="1200" dirty="0"/>
          </a:p>
        </p:txBody>
      </p:sp>
      <p:sp>
        <p:nvSpPr>
          <p:cNvPr id="12" name="Text 10"/>
          <p:cNvSpPr/>
          <p:nvPr/>
        </p:nvSpPr>
        <p:spPr>
          <a:xfrm>
            <a:off x="5303520" y="325526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strengthens partnership with Nuvei; launch of Langaroo.com.</a:t>
            </a:r>
            <a:endParaRPr lang="en-US" sz="1150" dirty="0"/>
          </a:p>
        </p:txBody>
      </p:sp>
      <p:sp>
        <p:nvSpPr>
          <p:cNvPr id="13" name="Shape 11"/>
          <p:cNvSpPr/>
          <p:nvPr/>
        </p:nvSpPr>
        <p:spPr>
          <a:xfrm>
            <a:off x="640080" y="4069080"/>
            <a:ext cx="10911535" cy="749808"/>
          </a:xfrm>
          <a:prstGeom prst="roundRect">
            <a:avLst>
              <a:gd name="adj" fmla="val 6098"/>
            </a:avLst>
          </a:prstGeom>
          <a:solidFill>
            <a:srgbClr val="FFFFFF"/>
          </a:solidFill>
          <a:ln w="12700">
            <a:solidFill>
              <a:srgbClr val="D9DDE2"/>
            </a:solidFill>
            <a:prstDash val="solid"/>
          </a:ln>
        </p:spPr>
      </p:sp>
      <p:sp>
        <p:nvSpPr>
          <p:cNvPr id="14" name="Text 12"/>
          <p:cNvSpPr/>
          <p:nvPr/>
        </p:nvSpPr>
        <p:spPr>
          <a:xfrm>
            <a:off x="868680" y="4123944"/>
            <a:ext cx="3108960" cy="640080"/>
          </a:xfrm>
          <a:prstGeom prst="rect">
            <a:avLst/>
          </a:prstGeom>
          <a:noFill/>
          <a:ln/>
        </p:spPr>
        <p:txBody>
          <a:bodyPr wrap="square" rtlCol="0" anchor="ctr"/>
          <a:lstStyle/>
          <a:p>
            <a:pPr indent="0" marL="0">
              <a:buNone/>
            </a:pPr>
            <a:r>
              <a:rPr lang="en-US" sz="1300" b="1" dirty="0">
                <a:solidFill>
                  <a:srgbClr val="0C2A43"/>
                </a:solidFill>
                <a:latin typeface="Georgia" pitchFamily="34" charset="0"/>
                <a:ea typeface="Georgia" pitchFamily="34" charset="-122"/>
                <a:cs typeface="Georgia" pitchFamily="34" charset="-120"/>
              </a:rPr>
              <a:t>PRWeb / PR Newswire</a:t>
            </a:r>
            <a:endParaRPr lang="en-US" sz="1300" dirty="0"/>
          </a:p>
        </p:txBody>
      </p:sp>
      <p:sp>
        <p:nvSpPr>
          <p:cNvPr id="15" name="Text 13"/>
          <p:cNvSpPr/>
          <p:nvPr/>
        </p:nvSpPr>
        <p:spPr>
          <a:xfrm>
            <a:off x="4023360" y="412394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Mar 2017</a:t>
            </a:r>
            <a:endParaRPr lang="en-US" sz="1200" dirty="0"/>
          </a:p>
        </p:txBody>
      </p:sp>
      <p:sp>
        <p:nvSpPr>
          <p:cNvPr id="16" name="Text 14"/>
          <p:cNvSpPr/>
          <p:nvPr/>
        </p:nvSpPr>
        <p:spPr>
          <a:xfrm>
            <a:off x="5303520" y="412394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eTeacher Group selects FrontGate Media as its North America agency.</a:t>
            </a:r>
            <a:endParaRPr lang="en-US" sz="1150" dirty="0"/>
          </a:p>
        </p:txBody>
      </p:sp>
      <p:sp>
        <p:nvSpPr>
          <p:cNvPr id="17" name="Shape 15"/>
          <p:cNvSpPr/>
          <p:nvPr/>
        </p:nvSpPr>
        <p:spPr>
          <a:xfrm>
            <a:off x="640080" y="4937760"/>
            <a:ext cx="10911535" cy="749808"/>
          </a:xfrm>
          <a:prstGeom prst="roundRect">
            <a:avLst>
              <a:gd name="adj" fmla="val 6098"/>
            </a:avLst>
          </a:prstGeom>
          <a:solidFill>
            <a:srgbClr val="FFFFFF"/>
          </a:solidFill>
          <a:ln w="12700">
            <a:solidFill>
              <a:srgbClr val="D9DDE2"/>
            </a:solidFill>
            <a:prstDash val="solid"/>
          </a:ln>
        </p:spPr>
      </p:sp>
      <p:sp>
        <p:nvSpPr>
          <p:cNvPr id="18" name="Text 16"/>
          <p:cNvSpPr/>
          <p:nvPr/>
        </p:nvSpPr>
        <p:spPr>
          <a:xfrm>
            <a:off x="868680" y="4992624"/>
            <a:ext cx="3108960" cy="640080"/>
          </a:xfrm>
          <a:prstGeom prst="rect">
            <a:avLst/>
          </a:prstGeom>
          <a:noFill/>
          <a:ln/>
        </p:spPr>
        <p:txBody>
          <a:bodyPr wrap="square" rtlCol="0" anchor="ctr"/>
          <a:lstStyle/>
          <a:p>
            <a:pPr indent="0" marL="0">
              <a:buNone/>
            </a:pPr>
            <a:r>
              <a:rPr lang="en-US" sz="1300" b="1" dirty="0">
                <a:solidFill>
                  <a:srgbClr val="0C2A43"/>
                </a:solidFill>
                <a:latin typeface="Georgia" pitchFamily="34" charset="0"/>
                <a:ea typeface="Georgia" pitchFamily="34" charset="-122"/>
                <a:cs typeface="Georgia" pitchFamily="34" charset="-120"/>
              </a:rPr>
              <a:t>LinkedIn thought-leadership</a:t>
            </a:r>
            <a:endParaRPr lang="en-US" sz="1300" dirty="0"/>
          </a:p>
        </p:txBody>
      </p:sp>
      <p:sp>
        <p:nvSpPr>
          <p:cNvPr id="19" name="Text 17"/>
          <p:cNvSpPr/>
          <p:nvPr/>
        </p:nvSpPr>
        <p:spPr>
          <a:xfrm>
            <a:off x="4023360" y="4992624"/>
            <a:ext cx="1188720" cy="640080"/>
          </a:xfrm>
          <a:prstGeom prst="rect">
            <a:avLst/>
          </a:prstGeom>
          <a:noFill/>
          <a:ln/>
        </p:spPr>
        <p:txBody>
          <a:bodyPr wrap="square" rtlCol="0" anchor="ctr"/>
          <a:lstStyle/>
          <a:p>
            <a:pPr indent="0" marL="0">
              <a:buNone/>
            </a:pPr>
            <a:r>
              <a:rPr lang="en-US" sz="1200" b="1" dirty="0">
                <a:solidFill>
                  <a:srgbClr val="C08A2E"/>
                </a:solidFill>
                <a:latin typeface="Calibri" pitchFamily="34" charset="0"/>
                <a:ea typeface="Calibri" pitchFamily="34" charset="-122"/>
                <a:cs typeface="Calibri" pitchFamily="34" charset="-120"/>
              </a:rPr>
              <a:t>2025–26</a:t>
            </a:r>
            <a:endParaRPr lang="en-US" sz="1200" dirty="0"/>
          </a:p>
        </p:txBody>
      </p:sp>
      <p:sp>
        <p:nvSpPr>
          <p:cNvPr id="20" name="Text 18"/>
          <p:cNvSpPr/>
          <p:nvPr/>
        </p:nvSpPr>
        <p:spPr>
          <a:xfrm>
            <a:off x="5303520" y="4992624"/>
            <a:ext cx="6019495" cy="640080"/>
          </a:xfrm>
          <a:prstGeom prst="rect">
            <a:avLst/>
          </a:prstGeom>
          <a:noFill/>
          <a:ln/>
        </p:spPr>
        <p:txBody>
          <a:bodyPr wrap="square" rtlCol="0" anchor="ctr"/>
          <a:lstStyle/>
          <a:p>
            <a:pPr indent="0" marL="0">
              <a:lnSpc>
                <a:spcPct val="105000"/>
              </a:lnSpc>
              <a:buNone/>
            </a:pPr>
            <a:r>
              <a:rPr lang="en-US" sz="1150" dirty="0">
                <a:solidFill>
                  <a:srgbClr val="1A1F26"/>
                </a:solidFill>
                <a:latin typeface="Calibri" pitchFamily="34" charset="0"/>
                <a:ea typeface="Calibri" pitchFamily="34" charset="-122"/>
                <a:cs typeface="Calibri" pitchFamily="34" charset="-120"/>
              </a:rPr>
              <a:t>IAC Summit, “AI for All,” NYC EdTech at Columbia University.</a:t>
            </a:r>
            <a:endParaRPr lang="en-US" sz="1150" dirty="0"/>
          </a:p>
        </p:txBody>
      </p:sp>
      <p:sp>
        <p:nvSpPr>
          <p:cNvPr id="21" name="Text 1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22" name="Text 2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EXECUTION</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Georgia" pitchFamily="34" charset="0"/>
                <a:ea typeface="Georgia" pitchFamily="34" charset="-122"/>
                <a:cs typeface="Georgia" pitchFamily="34" charset="-120"/>
              </a:rPr>
              <a:t>The 90-day rollout calendar</a:t>
            </a:r>
            <a:endParaRPr lang="en-US" sz="2600" dirty="0"/>
          </a:p>
        </p:txBody>
      </p:sp>
      <p:sp>
        <p:nvSpPr>
          <p:cNvPr id="4" name="Shape 2"/>
          <p:cNvSpPr/>
          <p:nvPr/>
        </p:nvSpPr>
        <p:spPr>
          <a:xfrm>
            <a:off x="822960" y="2423160"/>
            <a:ext cx="10545775" cy="0"/>
          </a:xfrm>
          <a:prstGeom prst="line">
            <a:avLst/>
          </a:prstGeom>
          <a:noFill/>
          <a:ln w="25400">
            <a:solidFill>
              <a:srgbClr val="D9DDE2"/>
            </a:solidFill>
            <a:prstDash val="solid"/>
          </a:ln>
        </p:spPr>
      </p:sp>
      <p:sp>
        <p:nvSpPr>
          <p:cNvPr id="5" name="Shape 3"/>
          <p:cNvSpPr/>
          <p:nvPr/>
        </p:nvSpPr>
        <p:spPr>
          <a:xfrm>
            <a:off x="1825714" y="2313432"/>
            <a:ext cx="219456" cy="219456"/>
          </a:xfrm>
          <a:prstGeom prst="ellipse">
            <a:avLst/>
          </a:prstGeom>
          <a:solidFill>
            <a:srgbClr val="0C2A43"/>
          </a:solidFill>
          <a:ln/>
        </p:spPr>
      </p:sp>
      <p:sp>
        <p:nvSpPr>
          <p:cNvPr id="6" name="Text 4"/>
          <p:cNvSpPr/>
          <p:nvPr/>
        </p:nvSpPr>
        <p:spPr>
          <a:xfrm>
            <a:off x="640080"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1–2</a:t>
            </a:r>
            <a:endParaRPr lang="en-US" sz="1100" dirty="0"/>
          </a:p>
        </p:txBody>
      </p:sp>
      <p:sp>
        <p:nvSpPr>
          <p:cNvPr id="7" name="Shape 5"/>
          <p:cNvSpPr/>
          <p:nvPr/>
        </p:nvSpPr>
        <p:spPr>
          <a:xfrm>
            <a:off x="640080" y="2788920"/>
            <a:ext cx="2590724" cy="2651760"/>
          </a:xfrm>
          <a:prstGeom prst="roundRect">
            <a:avLst>
              <a:gd name="adj" fmla="val 2118"/>
            </a:avLst>
          </a:prstGeom>
          <a:solidFill>
            <a:srgbClr val="FFFFFF"/>
          </a:solidFill>
          <a:ln w="12700">
            <a:solidFill>
              <a:srgbClr val="D9DDE2"/>
            </a:solidFill>
            <a:prstDash val="solid"/>
          </a:ln>
        </p:spPr>
      </p:sp>
      <p:sp>
        <p:nvSpPr>
          <p:cNvPr id="8" name="Shape 6"/>
          <p:cNvSpPr/>
          <p:nvPr/>
        </p:nvSpPr>
        <p:spPr>
          <a:xfrm>
            <a:off x="640080" y="2788920"/>
            <a:ext cx="2590724" cy="54864"/>
          </a:xfrm>
          <a:prstGeom prst="rect">
            <a:avLst/>
          </a:prstGeom>
          <a:solidFill>
            <a:srgbClr val="0C2A43"/>
          </a:solidFill>
          <a:ln/>
        </p:spPr>
      </p:sp>
      <p:sp>
        <p:nvSpPr>
          <p:cNvPr id="9" name="Text 7"/>
          <p:cNvSpPr/>
          <p:nvPr/>
        </p:nvSpPr>
        <p:spPr>
          <a:xfrm>
            <a:off x="777240" y="2971800"/>
            <a:ext cx="2316404" cy="320040"/>
          </a:xfrm>
          <a:prstGeom prst="rect">
            <a:avLst/>
          </a:prstGeom>
          <a:noFill/>
          <a:ln/>
        </p:spPr>
        <p:txBody>
          <a:bodyPr wrap="square" rtlCol="0" anchor="ctr"/>
          <a:lstStyle/>
          <a:p>
            <a:pPr algn="ctr" indent="0" marL="0">
              <a:buNone/>
            </a:pPr>
            <a:r>
              <a:rPr lang="en-US" sz="1500" b="1" dirty="0">
                <a:solidFill>
                  <a:srgbClr val="0C2A43"/>
                </a:solidFill>
                <a:latin typeface="Georgia" pitchFamily="34" charset="0"/>
                <a:ea typeface="Georgia" pitchFamily="34" charset="-122"/>
                <a:cs typeface="Georgia" pitchFamily="34" charset="-120"/>
              </a:rPr>
              <a:t>Wave 1</a:t>
            </a:r>
            <a:endParaRPr lang="en-US" sz="1500" dirty="0"/>
          </a:p>
        </p:txBody>
      </p:sp>
      <p:sp>
        <p:nvSpPr>
          <p:cNvPr id="10" name="Text 8"/>
          <p:cNvSpPr/>
          <p:nvPr/>
        </p:nvSpPr>
        <p:spPr>
          <a:xfrm>
            <a:off x="777240"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Georgia" pitchFamily="34" charset="0"/>
                <a:ea typeface="Georgia" pitchFamily="34" charset="-122"/>
                <a:cs typeface="Georgia" pitchFamily="34" charset="-120"/>
              </a:rPr>
              <a:t>Market entry</a:t>
            </a:r>
            <a:endParaRPr lang="en-US" sz="1300" dirty="0"/>
          </a:p>
        </p:txBody>
      </p:sp>
      <p:sp>
        <p:nvSpPr>
          <p:cNvPr id="11" name="Text 9"/>
          <p:cNvSpPr/>
          <p:nvPr/>
        </p:nvSpPr>
        <p:spPr>
          <a:xfrm>
            <a:off x="777240"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eTeacher enters the longevity market. Establish the corporate story and dateline.</a:t>
            </a:r>
            <a:endParaRPr lang="en-US" sz="1050" dirty="0"/>
          </a:p>
        </p:txBody>
      </p:sp>
      <p:sp>
        <p:nvSpPr>
          <p:cNvPr id="12" name="Shape 10"/>
          <p:cNvSpPr/>
          <p:nvPr/>
        </p:nvSpPr>
        <p:spPr>
          <a:xfrm>
            <a:off x="4599318" y="2313432"/>
            <a:ext cx="219456" cy="219456"/>
          </a:xfrm>
          <a:prstGeom prst="ellipse">
            <a:avLst/>
          </a:prstGeom>
          <a:solidFill>
            <a:srgbClr val="C08A2E"/>
          </a:solidFill>
          <a:ln/>
        </p:spPr>
      </p:sp>
      <p:sp>
        <p:nvSpPr>
          <p:cNvPr id="13" name="Text 11"/>
          <p:cNvSpPr/>
          <p:nvPr/>
        </p:nvSpPr>
        <p:spPr>
          <a:xfrm>
            <a:off x="3413684"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5–6</a:t>
            </a:r>
            <a:endParaRPr lang="en-US" sz="1100" dirty="0"/>
          </a:p>
        </p:txBody>
      </p:sp>
      <p:sp>
        <p:nvSpPr>
          <p:cNvPr id="14" name="Shape 12"/>
          <p:cNvSpPr/>
          <p:nvPr/>
        </p:nvSpPr>
        <p:spPr>
          <a:xfrm>
            <a:off x="3413684" y="2788920"/>
            <a:ext cx="2590724" cy="2651760"/>
          </a:xfrm>
          <a:prstGeom prst="roundRect">
            <a:avLst>
              <a:gd name="adj" fmla="val 2118"/>
            </a:avLst>
          </a:prstGeom>
          <a:solidFill>
            <a:srgbClr val="FFFFFF"/>
          </a:solidFill>
          <a:ln w="12700">
            <a:solidFill>
              <a:srgbClr val="D9DDE2"/>
            </a:solidFill>
            <a:prstDash val="solid"/>
          </a:ln>
        </p:spPr>
      </p:sp>
      <p:sp>
        <p:nvSpPr>
          <p:cNvPr id="15" name="Shape 13"/>
          <p:cNvSpPr/>
          <p:nvPr/>
        </p:nvSpPr>
        <p:spPr>
          <a:xfrm>
            <a:off x="3413684" y="2788920"/>
            <a:ext cx="2590724" cy="54864"/>
          </a:xfrm>
          <a:prstGeom prst="rect">
            <a:avLst/>
          </a:prstGeom>
          <a:solidFill>
            <a:srgbClr val="C08A2E"/>
          </a:solidFill>
          <a:ln/>
        </p:spPr>
      </p:sp>
      <p:sp>
        <p:nvSpPr>
          <p:cNvPr id="16" name="Text 14"/>
          <p:cNvSpPr/>
          <p:nvPr/>
        </p:nvSpPr>
        <p:spPr>
          <a:xfrm>
            <a:off x="3550844" y="2971800"/>
            <a:ext cx="2316404" cy="320040"/>
          </a:xfrm>
          <a:prstGeom prst="rect">
            <a:avLst/>
          </a:prstGeom>
          <a:noFill/>
          <a:ln/>
        </p:spPr>
        <p:txBody>
          <a:bodyPr wrap="square" rtlCol="0" anchor="ctr"/>
          <a:lstStyle/>
          <a:p>
            <a:pPr algn="ctr" indent="0" marL="0">
              <a:buNone/>
            </a:pPr>
            <a:r>
              <a:rPr lang="en-US" sz="1500" b="1" dirty="0">
                <a:solidFill>
                  <a:srgbClr val="C08A2E"/>
                </a:solidFill>
                <a:latin typeface="Georgia" pitchFamily="34" charset="0"/>
                <a:ea typeface="Georgia" pitchFamily="34" charset="-122"/>
                <a:cs typeface="Georgia" pitchFamily="34" charset="-120"/>
              </a:rPr>
              <a:t>Wave 2</a:t>
            </a:r>
            <a:endParaRPr lang="en-US" sz="1500" dirty="0"/>
          </a:p>
        </p:txBody>
      </p:sp>
      <p:sp>
        <p:nvSpPr>
          <p:cNvPr id="17" name="Text 15"/>
          <p:cNvSpPr/>
          <p:nvPr/>
        </p:nvSpPr>
        <p:spPr>
          <a:xfrm>
            <a:off x="3550844"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Georgia" pitchFamily="34" charset="0"/>
                <a:ea typeface="Georgia" pitchFamily="34" charset="-122"/>
                <a:cs typeface="Georgia" pitchFamily="34" charset="-120"/>
              </a:rPr>
              <a:t>Julie joins</a:t>
            </a:r>
            <a:endParaRPr lang="en-US" sz="1300" dirty="0"/>
          </a:p>
        </p:txBody>
      </p:sp>
      <p:sp>
        <p:nvSpPr>
          <p:cNvPr id="18" name="Text 16"/>
          <p:cNvSpPr/>
          <p:nvPr/>
        </p:nvSpPr>
        <p:spPr>
          <a:xfrm>
            <a:off x="3550844"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Signing announcement + human-interest surge. Peak consumer reach.</a:t>
            </a:r>
            <a:endParaRPr lang="en-US" sz="1050" dirty="0"/>
          </a:p>
        </p:txBody>
      </p:sp>
      <p:sp>
        <p:nvSpPr>
          <p:cNvPr id="19" name="Shape 17"/>
          <p:cNvSpPr/>
          <p:nvPr/>
        </p:nvSpPr>
        <p:spPr>
          <a:xfrm>
            <a:off x="7372922" y="2313432"/>
            <a:ext cx="219456" cy="219456"/>
          </a:xfrm>
          <a:prstGeom prst="ellipse">
            <a:avLst/>
          </a:prstGeom>
          <a:solidFill>
            <a:srgbClr val="12395C"/>
          </a:solidFill>
          <a:ln/>
        </p:spPr>
      </p:sp>
      <p:sp>
        <p:nvSpPr>
          <p:cNvPr id="20" name="Text 18"/>
          <p:cNvSpPr/>
          <p:nvPr/>
        </p:nvSpPr>
        <p:spPr>
          <a:xfrm>
            <a:off x="6187288"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9–10</a:t>
            </a:r>
            <a:endParaRPr lang="en-US" sz="1100" dirty="0"/>
          </a:p>
        </p:txBody>
      </p:sp>
      <p:sp>
        <p:nvSpPr>
          <p:cNvPr id="21" name="Shape 19"/>
          <p:cNvSpPr/>
          <p:nvPr/>
        </p:nvSpPr>
        <p:spPr>
          <a:xfrm>
            <a:off x="6187288" y="2788920"/>
            <a:ext cx="2590724" cy="2651760"/>
          </a:xfrm>
          <a:prstGeom prst="roundRect">
            <a:avLst>
              <a:gd name="adj" fmla="val 2118"/>
            </a:avLst>
          </a:prstGeom>
          <a:solidFill>
            <a:srgbClr val="FFFFFF"/>
          </a:solidFill>
          <a:ln w="12700">
            <a:solidFill>
              <a:srgbClr val="D9DDE2"/>
            </a:solidFill>
            <a:prstDash val="solid"/>
          </a:ln>
        </p:spPr>
      </p:sp>
      <p:sp>
        <p:nvSpPr>
          <p:cNvPr id="22" name="Shape 20"/>
          <p:cNvSpPr/>
          <p:nvPr/>
        </p:nvSpPr>
        <p:spPr>
          <a:xfrm>
            <a:off x="6187288" y="2788920"/>
            <a:ext cx="2590724" cy="54864"/>
          </a:xfrm>
          <a:prstGeom prst="rect">
            <a:avLst/>
          </a:prstGeom>
          <a:solidFill>
            <a:srgbClr val="12395C"/>
          </a:solidFill>
          <a:ln/>
        </p:spPr>
      </p:sp>
      <p:sp>
        <p:nvSpPr>
          <p:cNvPr id="23" name="Text 21"/>
          <p:cNvSpPr/>
          <p:nvPr/>
        </p:nvSpPr>
        <p:spPr>
          <a:xfrm>
            <a:off x="6324448" y="2971800"/>
            <a:ext cx="2316404" cy="320040"/>
          </a:xfrm>
          <a:prstGeom prst="rect">
            <a:avLst/>
          </a:prstGeom>
          <a:noFill/>
          <a:ln/>
        </p:spPr>
        <p:txBody>
          <a:bodyPr wrap="square" rtlCol="0" anchor="ctr"/>
          <a:lstStyle/>
          <a:p>
            <a:pPr algn="ctr" indent="0" marL="0">
              <a:buNone/>
            </a:pPr>
            <a:r>
              <a:rPr lang="en-US" sz="1500" b="1" dirty="0">
                <a:solidFill>
                  <a:srgbClr val="12395C"/>
                </a:solidFill>
                <a:latin typeface="Georgia" pitchFamily="34" charset="0"/>
                <a:ea typeface="Georgia" pitchFamily="34" charset="-122"/>
                <a:cs typeface="Georgia" pitchFamily="34" charset="-120"/>
              </a:rPr>
              <a:t>Wave 3</a:t>
            </a:r>
            <a:endParaRPr lang="en-US" sz="1500" dirty="0"/>
          </a:p>
        </p:txBody>
      </p:sp>
      <p:sp>
        <p:nvSpPr>
          <p:cNvPr id="24" name="Text 22"/>
          <p:cNvSpPr/>
          <p:nvPr/>
        </p:nvSpPr>
        <p:spPr>
          <a:xfrm>
            <a:off x="6324448"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Georgia" pitchFamily="34" charset="0"/>
                <a:ea typeface="Georgia" pitchFamily="34" charset="-122"/>
                <a:cs typeface="Georgia" pitchFamily="34" charset="-120"/>
              </a:rPr>
              <a:t>Hub app</a:t>
            </a:r>
            <a:endParaRPr lang="en-US" sz="1300" dirty="0"/>
          </a:p>
        </p:txBody>
      </p:sp>
      <p:sp>
        <p:nvSpPr>
          <p:cNvPr id="25" name="Text 23"/>
          <p:cNvSpPr/>
          <p:nvPr/>
        </p:nvSpPr>
        <p:spPr>
          <a:xfrm>
            <a:off x="6324448"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Product story reinforces innovation and AI credibility.</a:t>
            </a:r>
            <a:endParaRPr lang="en-US" sz="1050" dirty="0"/>
          </a:p>
        </p:txBody>
      </p:sp>
      <p:sp>
        <p:nvSpPr>
          <p:cNvPr id="26" name="Shape 24"/>
          <p:cNvSpPr/>
          <p:nvPr/>
        </p:nvSpPr>
        <p:spPr>
          <a:xfrm>
            <a:off x="10146525" y="2313432"/>
            <a:ext cx="219456" cy="219456"/>
          </a:xfrm>
          <a:prstGeom prst="ellipse">
            <a:avLst/>
          </a:prstGeom>
          <a:solidFill>
            <a:srgbClr val="6E4A12"/>
          </a:solidFill>
          <a:ln/>
        </p:spPr>
      </p:sp>
      <p:sp>
        <p:nvSpPr>
          <p:cNvPr id="27" name="Text 25"/>
          <p:cNvSpPr/>
          <p:nvPr/>
        </p:nvSpPr>
        <p:spPr>
          <a:xfrm>
            <a:off x="8960891" y="1965960"/>
            <a:ext cx="2590724" cy="320040"/>
          </a:xfrm>
          <a:prstGeom prst="rect">
            <a:avLst/>
          </a:prstGeom>
          <a:noFill/>
          <a:ln/>
        </p:spPr>
        <p:txBody>
          <a:bodyPr wrap="square" rtlCol="0" anchor="ctr"/>
          <a:lstStyle/>
          <a:p>
            <a:pPr algn="ctr" indent="0" marL="0">
              <a:buNone/>
            </a:pPr>
            <a:r>
              <a:rPr lang="en-US" sz="1100" b="1" spc="100" kern="0" dirty="0">
                <a:solidFill>
                  <a:srgbClr val="5C6672"/>
                </a:solidFill>
                <a:latin typeface="Calibri" pitchFamily="34" charset="0"/>
                <a:ea typeface="Calibri" pitchFamily="34" charset="-122"/>
                <a:cs typeface="Calibri" pitchFamily="34" charset="-120"/>
              </a:rPr>
              <a:t>WEEKS 12–13</a:t>
            </a:r>
            <a:endParaRPr lang="en-US" sz="1100" dirty="0"/>
          </a:p>
        </p:txBody>
      </p:sp>
      <p:sp>
        <p:nvSpPr>
          <p:cNvPr id="28" name="Shape 26"/>
          <p:cNvSpPr/>
          <p:nvPr/>
        </p:nvSpPr>
        <p:spPr>
          <a:xfrm>
            <a:off x="8960891" y="2788920"/>
            <a:ext cx="2590724" cy="2651760"/>
          </a:xfrm>
          <a:prstGeom prst="roundRect">
            <a:avLst>
              <a:gd name="adj" fmla="val 2118"/>
            </a:avLst>
          </a:prstGeom>
          <a:solidFill>
            <a:srgbClr val="FFFFFF"/>
          </a:solidFill>
          <a:ln w="12700">
            <a:solidFill>
              <a:srgbClr val="D9DDE2"/>
            </a:solidFill>
            <a:prstDash val="solid"/>
          </a:ln>
        </p:spPr>
      </p:sp>
      <p:sp>
        <p:nvSpPr>
          <p:cNvPr id="29" name="Shape 27"/>
          <p:cNvSpPr/>
          <p:nvPr/>
        </p:nvSpPr>
        <p:spPr>
          <a:xfrm>
            <a:off x="8960891" y="2788920"/>
            <a:ext cx="2590724" cy="54864"/>
          </a:xfrm>
          <a:prstGeom prst="rect">
            <a:avLst/>
          </a:prstGeom>
          <a:solidFill>
            <a:srgbClr val="6E4A12"/>
          </a:solidFill>
          <a:ln/>
        </p:spPr>
      </p:sp>
      <p:sp>
        <p:nvSpPr>
          <p:cNvPr id="30" name="Text 28"/>
          <p:cNvSpPr/>
          <p:nvPr/>
        </p:nvSpPr>
        <p:spPr>
          <a:xfrm>
            <a:off x="9098051" y="2971800"/>
            <a:ext cx="2316404" cy="320040"/>
          </a:xfrm>
          <a:prstGeom prst="rect">
            <a:avLst/>
          </a:prstGeom>
          <a:noFill/>
          <a:ln/>
        </p:spPr>
        <p:txBody>
          <a:bodyPr wrap="square" rtlCol="0" anchor="ctr"/>
          <a:lstStyle/>
          <a:p>
            <a:pPr algn="ctr" indent="0" marL="0">
              <a:buNone/>
            </a:pPr>
            <a:r>
              <a:rPr lang="en-US" sz="1500" b="1" dirty="0">
                <a:solidFill>
                  <a:srgbClr val="6E4A12"/>
                </a:solidFill>
                <a:latin typeface="Georgia" pitchFamily="34" charset="0"/>
                <a:ea typeface="Georgia" pitchFamily="34" charset="-122"/>
                <a:cs typeface="Georgia" pitchFamily="34" charset="-120"/>
              </a:rPr>
              <a:t>Wave 4</a:t>
            </a:r>
            <a:endParaRPr lang="en-US" sz="1500" dirty="0"/>
          </a:p>
        </p:txBody>
      </p:sp>
      <p:sp>
        <p:nvSpPr>
          <p:cNvPr id="31" name="Text 29"/>
          <p:cNvSpPr/>
          <p:nvPr/>
        </p:nvSpPr>
        <p:spPr>
          <a:xfrm>
            <a:off x="9098051" y="3291840"/>
            <a:ext cx="2316404" cy="320040"/>
          </a:xfrm>
          <a:prstGeom prst="rect">
            <a:avLst/>
          </a:prstGeom>
          <a:noFill/>
          <a:ln/>
        </p:spPr>
        <p:txBody>
          <a:bodyPr wrap="square" rtlCol="0" anchor="ctr"/>
          <a:lstStyle/>
          <a:p>
            <a:pPr algn="ctr" indent="0" marL="0">
              <a:buNone/>
            </a:pPr>
            <a:r>
              <a:rPr lang="en-US" sz="1300" b="1" dirty="0">
                <a:solidFill>
                  <a:srgbClr val="0C2A43"/>
                </a:solidFill>
                <a:latin typeface="Georgia" pitchFamily="34" charset="0"/>
                <a:ea typeface="Georgia" pitchFamily="34" charset="-122"/>
                <a:cs typeface="Georgia" pitchFamily="34" charset="-120"/>
              </a:rPr>
              <a:t>6 courses</a:t>
            </a:r>
            <a:endParaRPr lang="en-US" sz="1300" dirty="0"/>
          </a:p>
        </p:txBody>
      </p:sp>
      <p:sp>
        <p:nvSpPr>
          <p:cNvPr id="32" name="Text 30"/>
          <p:cNvSpPr/>
          <p:nvPr/>
        </p:nvSpPr>
        <p:spPr>
          <a:xfrm>
            <a:off x="9098051" y="3703320"/>
            <a:ext cx="2316404" cy="1645920"/>
          </a:xfrm>
          <a:prstGeom prst="rect">
            <a:avLst/>
          </a:prstGeom>
          <a:noFill/>
          <a:ln/>
        </p:spPr>
        <p:txBody>
          <a:bodyPr wrap="square" rtlCol="0" anchor="t"/>
          <a:lstStyle/>
          <a:p>
            <a:pPr algn="ctr" indent="0" marL="0">
              <a:lnSpc>
                <a:spcPct val="115000"/>
              </a:lnSpc>
              <a:buNone/>
            </a:pPr>
            <a:r>
              <a:rPr lang="en-US" sz="1050" dirty="0">
                <a:solidFill>
                  <a:srgbClr val="1A1F26"/>
                </a:solidFill>
                <a:latin typeface="Calibri" pitchFamily="34" charset="0"/>
                <a:ea typeface="Calibri" pitchFamily="34" charset="-122"/>
                <a:cs typeface="Calibri" pitchFamily="34" charset="-120"/>
              </a:rPr>
              <a:t>Expansion proves momentum — eTeacher is building a longevity college.</a:t>
            </a:r>
            <a:endParaRPr lang="en-US" sz="1050" dirty="0"/>
          </a:p>
        </p:txBody>
      </p:sp>
      <p:sp>
        <p:nvSpPr>
          <p:cNvPr id="33" name="Shape 31"/>
          <p:cNvSpPr/>
          <p:nvPr/>
        </p:nvSpPr>
        <p:spPr>
          <a:xfrm>
            <a:off x="640080" y="5486400"/>
            <a:ext cx="10911535" cy="594360"/>
          </a:xfrm>
          <a:prstGeom prst="rect">
            <a:avLst/>
          </a:prstGeom>
          <a:solidFill>
            <a:srgbClr val="F2E9D8"/>
          </a:solidFill>
          <a:ln/>
        </p:spPr>
      </p:sp>
      <p:sp>
        <p:nvSpPr>
          <p:cNvPr id="34" name="Text 32"/>
          <p:cNvSpPr/>
          <p:nvPr/>
        </p:nvSpPr>
        <p:spPr>
          <a:xfrm>
            <a:off x="868680" y="5486400"/>
            <a:ext cx="10454335" cy="594360"/>
          </a:xfrm>
          <a:prstGeom prst="rect">
            <a:avLst/>
          </a:prstGeom>
          <a:noFill/>
          <a:ln/>
        </p:spPr>
        <p:txBody>
          <a:bodyPr wrap="square" rtlCol="0" anchor="ctr"/>
          <a:lstStyle/>
          <a:p>
            <a:pPr indent="0" marL="0">
              <a:lnSpc>
                <a:spcPct val="110000"/>
              </a:lnSpc>
              <a:buNone/>
            </a:pPr>
            <a:r>
              <a:rPr lang="en-US" sz="1200" b="1" dirty="0">
                <a:solidFill>
                  <a:srgbClr val="0C2A43"/>
                </a:solidFill>
                <a:latin typeface="Calibri" pitchFamily="34" charset="0"/>
                <a:ea typeface="Calibri" pitchFamily="34" charset="-122"/>
                <a:cs typeface="Calibri" pitchFamily="34" charset="-120"/>
              </a:rPr>
              <a:t>The compounding effect:  </a:t>
            </a:r>
            <a:pPr indent="0" marL="0">
              <a:lnSpc>
                <a:spcPct val="110000"/>
              </a:lnSpc>
              <a:buNone/>
            </a:pPr>
            <a:r>
              <a:rPr lang="en-US" sz="1200" dirty="0">
                <a:solidFill>
                  <a:srgbClr val="1A1F26"/>
                </a:solidFill>
                <a:latin typeface="Calibri" pitchFamily="34" charset="0"/>
                <a:ea typeface="Calibri" pitchFamily="34" charset="-122"/>
                <a:cs typeface="Calibri" pitchFamily="34" charset="-120"/>
              </a:rPr>
              <a:t>spacing waves 3–4 weeks apart lets each earn coverage before the next begins — building a rising, self-reinforcing narrative rather than a single spike.</a:t>
            </a:r>
            <a:endParaRPr lang="en-US" sz="1200" dirty="0"/>
          </a:p>
        </p:txBody>
      </p:sp>
      <p:sp>
        <p:nvSpPr>
          <p:cNvPr id="35" name="Text 33"/>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all are voice-matched to your published language and flagged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two facts before the wire: the AI tutor / Longevity Hub positioning, and the exact “countries” figure (site shows 197; we use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Replace the placeholder press contact (press@eteachergroup.com) with the live PR contact + phone.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Wave 1 wire date sets the 90-day rollout in motion.</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2026-07-07T05:50:05Z</dcterms:created>
  <dcterms:modified xsi:type="dcterms:W3CDTF">2026-07-07T05:50:05Z</dcterms:modified>
</cp:coreProperties>
</file>