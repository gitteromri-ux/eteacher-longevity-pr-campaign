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920240"/>
            <a:ext cx="10911535" cy="128016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The Longevity Communications Campaign</a:t>
            </a:r>
            <a:endParaRPr lang="en-US" sz="4600" dirty="0"/>
          </a:p>
        </p:txBody>
      </p:sp>
      <p:sp>
        <p:nvSpPr>
          <p:cNvPr id="5" name="Text 3"/>
          <p:cNvSpPr/>
          <p:nvPr/>
        </p:nvSpPr>
        <p:spPr>
          <a:xfrm>
            <a:off x="640080" y="3383280"/>
            <a:ext cx="9601200" cy="1097280"/>
          </a:xfrm>
          <a:prstGeom prst="rect">
            <a:avLst/>
          </a:prstGeom>
          <a:noFill/>
          <a:ln/>
        </p:spPr>
        <p:txBody>
          <a:bodyPr wrap="square" rtlCol="0" anchor="ctr"/>
          <a:lstStyle/>
          <a:p>
            <a:pPr indent="0" marL="0">
              <a:lnSpc>
                <a:spcPct val="115000"/>
              </a:lnSpc>
              <a:buNone/>
            </a:pPr>
            <a:r>
              <a:rPr lang="en-US" sz="1600" dirty="0">
                <a:solidFill>
                  <a:srgbClr val="C9D3DD"/>
                </a:solidFill>
                <a:latin typeface="Calibri" pitchFamily="34" charset="0"/>
                <a:ea typeface="Calibri" pitchFamily="34" charset="-122"/>
                <a:cs typeface="Calibri" pitchFamily="34" charset="-120"/>
              </a:rPr>
              <a:t>A phased, multi-wave PR program to establish eTeacher as the leader in accessible longevity education — building cumulative impact across 17 placements, four narrative waves, and a defined outlet strategy.</a:t>
            </a:r>
            <a:endParaRPr lang="en-US" sz="16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1</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eTeacher Enters the Longevity Market</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Six genuinely distinct stories, one message: Israel's leading EdTech group is bringing live, science-backed longevity education to American households.</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From Biblical Hebrew to Healthspan: eTeacher Applies Its Live-Plus-AI Method to Longevity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An Israeli EdTech Veteran Bets on Longevity — Targeting the Gap Between $2M Clinics and Free Advice</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After 25 Years, Israel's eTeacher Takes Its Live-Learning Model Into Longevity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for Every Household: A Live Class, Small Groups, and a Glucose Monitor at Your Door</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2</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Julie Gibson Clark Joins Longevity Life Academy</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Seven distinct stories leveraging Julie's existing press: the single mom who out-aged the billionaires now teaches live for eTeacher.</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THE WOMAN WHO OUT-AGED BRYAN JOHNSON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“Julie proves that world-class longevity isn't about spending millions — it is about consistent habits anyone can learn,” added eTeacher CEO Harel Tayeb. Gibson Clark begins teaching with the current enrollment cohort.</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“Julie proves that world-class longevity isn't about spending millions — it is about consistent habits anyone can learn.”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Voice-matched to Harel's results/impact themes (TheMarker Q2). One new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She Out-Aged a Man Spending $2 Million a Year — on About $12 a Day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adding that her cohorts are enrolling now.</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are focused on impact and results, and Julie's results speak for themselves.”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Adapts Harel's verbatim results/impact language from TheMarker Q2. One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“My Why Is My Son”: The Mom Who Slowed Her Aging Is Now Teaching America</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added CEO Harel Tayeb, noting that her first cohorts are now enrolling.</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“When the teacher creates a personal connection, there are no real barriers.”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fragment from TheMarker Labels (1 Feb 2026), Q5.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What a 0.665 DunedinPACE Score Actually Proves — and Why Julie Gibson Clark Is Teaching It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Has a Class Problem. This Partnership Is Built to Fix It.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want to make accessible content with meaning that will touch the heart and the human core of each person.”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from TheMarker Labels (1 Feb 2026), Q9.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One Habit at a Time: What Julie Gibson Clark Will Teach Inside the Longevity Blueprint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Meet the Single Mom Teaching America How to Age Slower — Live, Every Week</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3</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Longevity Hub App (Roadmap)</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eTeacher's longevity practice, coming to your pocket: a planned AI tutor, bite-size daily rituals, tracking, and lifestyle guidance — the 'gym for the brain' applied to healthspan.</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Fails Without Consistency. eTeacher's Planned App Attacks the Persistence Problem With AI.</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4</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Six New Longevity Courses (Roadmap)</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Following the Q2 launch of Longevity Life Academy, eTeacher plans to expand the curriculum into a full longevity college.</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“Train Your Brain Like You Train Your Body”: Inside eTeacher's Planned Longevity Learning Journey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46888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THE OUTLET ENGINE</a:t>
            </a:r>
            <a:endParaRPr lang="en-US" sz="1600" dirty="0"/>
          </a:p>
        </p:txBody>
      </p:sp>
      <p:sp>
        <p:nvSpPr>
          <p:cNvPr id="4" name="Text 2"/>
          <p:cNvSpPr/>
          <p:nvPr/>
        </p:nvSpPr>
        <p:spPr>
          <a:xfrm>
            <a:off x="640080" y="297180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How we actually get listed</a:t>
            </a:r>
            <a:endParaRPr lang="en-US" sz="3400" dirty="0"/>
          </a:p>
        </p:txBody>
      </p:sp>
      <p:sp>
        <p:nvSpPr>
          <p:cNvPr id="5" name="Text 3"/>
          <p:cNvSpPr/>
          <p:nvPr/>
        </p:nvSpPr>
        <p:spPr>
          <a:xfrm>
            <a:off x="640080" y="4023360"/>
            <a:ext cx="10058400" cy="82296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The mechanics behind every placement: the process, realistic probabilities, reach, and timeframes — so you know exactly what to expect and when.</a:t>
            </a:r>
            <a:endParaRPr lang="en-US" sz="1500" dirty="0"/>
          </a:p>
        </p:txBody>
      </p:sp>
      <p:sp>
        <p:nvSpPr>
          <p:cNvPr id="6" name="Text 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placement process, step by step</a:t>
            </a:r>
            <a:endParaRPr lang="en-US" sz="2600" dirty="0"/>
          </a:p>
        </p:txBody>
      </p:sp>
      <p:sp>
        <p:nvSpPr>
          <p:cNvPr id="4" name="Shape 2"/>
          <p:cNvSpPr/>
          <p:nvPr/>
        </p:nvSpPr>
        <p:spPr>
          <a:xfrm>
            <a:off x="640080" y="1828800"/>
            <a:ext cx="2036003" cy="3566160"/>
          </a:xfrm>
          <a:prstGeom prst="roundRect">
            <a:avLst>
              <a:gd name="adj" fmla="val 2695"/>
            </a:avLst>
          </a:prstGeom>
          <a:solidFill>
            <a:srgbClr val="FFFFFF"/>
          </a:solidFill>
          <a:ln w="12700">
            <a:solidFill>
              <a:srgbClr val="D9DDE2"/>
            </a:solidFill>
            <a:prstDash val="solid"/>
          </a:ln>
        </p:spPr>
      </p:sp>
      <p:sp>
        <p:nvSpPr>
          <p:cNvPr id="5" name="Shape 3"/>
          <p:cNvSpPr/>
          <p:nvPr/>
        </p:nvSpPr>
        <p:spPr>
          <a:xfrm>
            <a:off x="640080" y="1828800"/>
            <a:ext cx="2036003" cy="640080"/>
          </a:xfrm>
          <a:prstGeom prst="roundRect">
            <a:avLst>
              <a:gd name="adj" fmla="val 8571"/>
            </a:avLst>
          </a:prstGeom>
          <a:solidFill>
            <a:srgbClr val="0C2A43"/>
          </a:solidFill>
          <a:ln/>
        </p:spPr>
      </p:sp>
      <p:sp>
        <p:nvSpPr>
          <p:cNvPr id="6" name="Text 4"/>
          <p:cNvSpPr/>
          <p:nvPr/>
        </p:nvSpPr>
        <p:spPr>
          <a:xfrm>
            <a:off x="640080"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01</a:t>
            </a:r>
            <a:endParaRPr lang="en-US" sz="2000" dirty="0"/>
          </a:p>
        </p:txBody>
      </p:sp>
      <p:sp>
        <p:nvSpPr>
          <p:cNvPr id="7" name="Text 5"/>
          <p:cNvSpPr/>
          <p:nvPr/>
        </p:nvSpPr>
        <p:spPr>
          <a:xfrm>
            <a:off x="749808"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Wire distribution</a:t>
            </a:r>
            <a:endParaRPr lang="en-US" sz="1250" dirty="0"/>
          </a:p>
        </p:txBody>
      </p:sp>
      <p:sp>
        <p:nvSpPr>
          <p:cNvPr id="8" name="Text 6"/>
          <p:cNvSpPr/>
          <p:nvPr/>
        </p:nvSpPr>
        <p:spPr>
          <a:xfrm>
            <a:off x="777240"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Issue each wave over a paid national newswire (PR Newswire). Guarantees a citable, indexed “official” source and hundreds of automatic syndications.</a:t>
            </a:r>
            <a:endParaRPr lang="en-US" sz="1000" dirty="0"/>
          </a:p>
        </p:txBody>
      </p:sp>
      <p:sp>
        <p:nvSpPr>
          <p:cNvPr id="9" name="Text 7"/>
          <p:cNvSpPr/>
          <p:nvPr/>
        </p:nvSpPr>
        <p:spPr>
          <a:xfrm>
            <a:off x="2657795"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58963" y="1828800"/>
            <a:ext cx="2036003" cy="35661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1828800"/>
            <a:ext cx="2036003" cy="640080"/>
          </a:xfrm>
          <a:prstGeom prst="roundRect">
            <a:avLst>
              <a:gd name="adj" fmla="val 8571"/>
            </a:avLst>
          </a:prstGeom>
          <a:solidFill>
            <a:srgbClr val="0C2A43"/>
          </a:solidFill>
          <a:ln/>
        </p:spPr>
      </p:sp>
      <p:sp>
        <p:nvSpPr>
          <p:cNvPr id="12" name="Text 10"/>
          <p:cNvSpPr/>
          <p:nvPr/>
        </p:nvSpPr>
        <p:spPr>
          <a:xfrm>
            <a:off x="2858963"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02</a:t>
            </a:r>
            <a:endParaRPr lang="en-US" sz="2000" dirty="0"/>
          </a:p>
        </p:txBody>
      </p:sp>
      <p:sp>
        <p:nvSpPr>
          <p:cNvPr id="13" name="Text 11"/>
          <p:cNvSpPr/>
          <p:nvPr/>
        </p:nvSpPr>
        <p:spPr>
          <a:xfrm>
            <a:off x="2968691"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Embargo &amp; exclusive</a:t>
            </a:r>
            <a:endParaRPr lang="en-US" sz="1250" dirty="0"/>
          </a:p>
        </p:txBody>
      </p:sp>
      <p:sp>
        <p:nvSpPr>
          <p:cNvPr id="14" name="Text 12"/>
          <p:cNvSpPr/>
          <p:nvPr/>
        </p:nvSpPr>
        <p:spPr>
          <a:xfrm>
            <a:off x="2996123"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Offer one Tier-1 outlet a 24–48h exclusive before the wire. Anchors premium coverage and gives reporters a reason to move fast.</a:t>
            </a:r>
            <a:endParaRPr lang="en-US" sz="1000" dirty="0"/>
          </a:p>
        </p:txBody>
      </p:sp>
      <p:sp>
        <p:nvSpPr>
          <p:cNvPr id="15" name="Text 13"/>
          <p:cNvSpPr/>
          <p:nvPr/>
        </p:nvSpPr>
        <p:spPr>
          <a:xfrm>
            <a:off x="4876678"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77846" y="1828800"/>
            <a:ext cx="2036003" cy="3566160"/>
          </a:xfrm>
          <a:prstGeom prst="roundRect">
            <a:avLst>
              <a:gd name="adj" fmla="val 2695"/>
            </a:avLst>
          </a:prstGeom>
          <a:solidFill>
            <a:srgbClr val="FFFFFF"/>
          </a:solidFill>
          <a:ln w="12700">
            <a:solidFill>
              <a:srgbClr val="D9DDE2"/>
            </a:solidFill>
            <a:prstDash val="solid"/>
          </a:ln>
        </p:spPr>
      </p:sp>
      <p:sp>
        <p:nvSpPr>
          <p:cNvPr id="17" name="Shape 15"/>
          <p:cNvSpPr/>
          <p:nvPr/>
        </p:nvSpPr>
        <p:spPr>
          <a:xfrm>
            <a:off x="5077846" y="1828800"/>
            <a:ext cx="2036003" cy="640080"/>
          </a:xfrm>
          <a:prstGeom prst="roundRect">
            <a:avLst>
              <a:gd name="adj" fmla="val 8571"/>
            </a:avLst>
          </a:prstGeom>
          <a:solidFill>
            <a:srgbClr val="0C2A43"/>
          </a:solidFill>
          <a:ln/>
        </p:spPr>
      </p:sp>
      <p:sp>
        <p:nvSpPr>
          <p:cNvPr id="18" name="Text 16"/>
          <p:cNvSpPr/>
          <p:nvPr/>
        </p:nvSpPr>
        <p:spPr>
          <a:xfrm>
            <a:off x="5077846"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03</a:t>
            </a:r>
            <a:endParaRPr lang="en-US" sz="2000" dirty="0"/>
          </a:p>
        </p:txBody>
      </p:sp>
      <p:sp>
        <p:nvSpPr>
          <p:cNvPr id="19" name="Text 17"/>
          <p:cNvSpPr/>
          <p:nvPr/>
        </p:nvSpPr>
        <p:spPr>
          <a:xfrm>
            <a:off x="5187574"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Direct pitching</a:t>
            </a:r>
            <a:endParaRPr lang="en-US" sz="1250" dirty="0"/>
          </a:p>
        </p:txBody>
      </p:sp>
      <p:sp>
        <p:nvSpPr>
          <p:cNvPr id="20" name="Text 18"/>
          <p:cNvSpPr/>
          <p:nvPr/>
        </p:nvSpPr>
        <p:spPr>
          <a:xfrm>
            <a:off x="5215006"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Personalized pitches to a targeted journalist list per wave — corporate angle to business/EdTech, Julie angle to consumer/health.</a:t>
            </a:r>
            <a:endParaRPr lang="en-US" sz="1000" dirty="0"/>
          </a:p>
        </p:txBody>
      </p:sp>
      <p:sp>
        <p:nvSpPr>
          <p:cNvPr id="21" name="Text 19"/>
          <p:cNvSpPr/>
          <p:nvPr/>
        </p:nvSpPr>
        <p:spPr>
          <a:xfrm>
            <a:off x="7095561"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96729" y="1828800"/>
            <a:ext cx="2036003" cy="3566160"/>
          </a:xfrm>
          <a:prstGeom prst="roundRect">
            <a:avLst>
              <a:gd name="adj" fmla="val 2695"/>
            </a:avLst>
          </a:prstGeom>
          <a:solidFill>
            <a:srgbClr val="FFFFFF"/>
          </a:solidFill>
          <a:ln w="12700">
            <a:solidFill>
              <a:srgbClr val="D9DDE2"/>
            </a:solidFill>
            <a:prstDash val="solid"/>
          </a:ln>
        </p:spPr>
      </p:sp>
      <p:sp>
        <p:nvSpPr>
          <p:cNvPr id="23" name="Shape 21"/>
          <p:cNvSpPr/>
          <p:nvPr/>
        </p:nvSpPr>
        <p:spPr>
          <a:xfrm>
            <a:off x="7296729" y="1828800"/>
            <a:ext cx="2036003" cy="640080"/>
          </a:xfrm>
          <a:prstGeom prst="roundRect">
            <a:avLst>
              <a:gd name="adj" fmla="val 8571"/>
            </a:avLst>
          </a:prstGeom>
          <a:solidFill>
            <a:srgbClr val="0C2A43"/>
          </a:solidFill>
          <a:ln/>
        </p:spPr>
      </p:sp>
      <p:sp>
        <p:nvSpPr>
          <p:cNvPr id="24" name="Text 22"/>
          <p:cNvSpPr/>
          <p:nvPr/>
        </p:nvSpPr>
        <p:spPr>
          <a:xfrm>
            <a:off x="7296729"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04</a:t>
            </a:r>
            <a:endParaRPr lang="en-US" sz="2000" dirty="0"/>
          </a:p>
        </p:txBody>
      </p:sp>
      <p:sp>
        <p:nvSpPr>
          <p:cNvPr id="25" name="Text 23"/>
          <p:cNvSpPr/>
          <p:nvPr/>
        </p:nvSpPr>
        <p:spPr>
          <a:xfrm>
            <a:off x="7406457"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Broadcast &amp; podcast</a:t>
            </a:r>
            <a:endParaRPr lang="en-US" sz="1250" dirty="0"/>
          </a:p>
        </p:txBody>
      </p:sp>
      <p:sp>
        <p:nvSpPr>
          <p:cNvPr id="26" name="Text 24"/>
          <p:cNvSpPr/>
          <p:nvPr/>
        </p:nvSpPr>
        <p:spPr>
          <a:xfrm>
            <a:off x="7433889"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Book Julie and a spokesperson for TV segments and long-form shows where she already has audience traction.</a:t>
            </a:r>
            <a:endParaRPr lang="en-US" sz="1000" dirty="0"/>
          </a:p>
        </p:txBody>
      </p:sp>
      <p:sp>
        <p:nvSpPr>
          <p:cNvPr id="27" name="Text 25"/>
          <p:cNvSpPr/>
          <p:nvPr/>
        </p:nvSpPr>
        <p:spPr>
          <a:xfrm>
            <a:off x="9314444"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15612" y="1828800"/>
            <a:ext cx="2036003" cy="3566160"/>
          </a:xfrm>
          <a:prstGeom prst="roundRect">
            <a:avLst>
              <a:gd name="adj" fmla="val 2695"/>
            </a:avLst>
          </a:prstGeom>
          <a:solidFill>
            <a:srgbClr val="FFFFFF"/>
          </a:solidFill>
          <a:ln w="12700">
            <a:solidFill>
              <a:srgbClr val="D9DDE2"/>
            </a:solidFill>
            <a:prstDash val="solid"/>
          </a:ln>
        </p:spPr>
      </p:sp>
      <p:sp>
        <p:nvSpPr>
          <p:cNvPr id="29" name="Shape 27"/>
          <p:cNvSpPr/>
          <p:nvPr/>
        </p:nvSpPr>
        <p:spPr>
          <a:xfrm>
            <a:off x="9515612" y="1828800"/>
            <a:ext cx="2036003" cy="640080"/>
          </a:xfrm>
          <a:prstGeom prst="roundRect">
            <a:avLst>
              <a:gd name="adj" fmla="val 8571"/>
            </a:avLst>
          </a:prstGeom>
          <a:solidFill>
            <a:srgbClr val="0C2A43"/>
          </a:solidFill>
          <a:ln/>
        </p:spPr>
      </p:sp>
      <p:sp>
        <p:nvSpPr>
          <p:cNvPr id="30" name="Text 28"/>
          <p:cNvSpPr/>
          <p:nvPr/>
        </p:nvSpPr>
        <p:spPr>
          <a:xfrm>
            <a:off x="9515612"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05</a:t>
            </a:r>
            <a:endParaRPr lang="en-US" sz="2000" dirty="0"/>
          </a:p>
        </p:txBody>
      </p:sp>
      <p:sp>
        <p:nvSpPr>
          <p:cNvPr id="31" name="Text 29"/>
          <p:cNvSpPr/>
          <p:nvPr/>
        </p:nvSpPr>
        <p:spPr>
          <a:xfrm>
            <a:off x="9625340"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Amplify &amp; repurpose</a:t>
            </a:r>
            <a:endParaRPr lang="en-US" sz="1250" dirty="0"/>
          </a:p>
        </p:txBody>
      </p:sp>
      <p:sp>
        <p:nvSpPr>
          <p:cNvPr id="32" name="Text 30"/>
          <p:cNvSpPr/>
          <p:nvPr/>
        </p:nvSpPr>
        <p:spPr>
          <a:xfrm>
            <a:off x="9652772"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Owned channels, LinkedIn thought-leadership, and paid amplification of earned hits to extend reach and feed the next wave.</a:t>
            </a:r>
            <a:endParaRPr lang="en-US" sz="1000" dirty="0"/>
          </a:p>
        </p:txBody>
      </p:sp>
      <p:sp>
        <p:nvSpPr>
          <p:cNvPr id="33" name="Text 31"/>
          <p:cNvSpPr/>
          <p:nvPr/>
        </p:nvSpPr>
        <p:spPr>
          <a:xfrm>
            <a:off x="640080" y="5532120"/>
            <a:ext cx="10911535" cy="548640"/>
          </a:xfrm>
          <a:prstGeom prst="rect">
            <a:avLst/>
          </a:prstGeom>
          <a:noFill/>
          <a:ln/>
        </p:spPr>
        <p:txBody>
          <a:bodyPr wrap="square" rtlCol="0" anchor="ctr"/>
          <a:lstStyle/>
          <a:p>
            <a:pPr indent="0" marL="0">
              <a:lnSpc>
                <a:spcPct val="110000"/>
              </a:lnSpc>
              <a:buNone/>
            </a:pPr>
            <a:r>
              <a:rPr lang="en-US" sz="1150" i="1" dirty="0">
                <a:solidFill>
                  <a:srgbClr val="5C6672"/>
                </a:solidFill>
                <a:latin typeface="Calibri" pitchFamily="34" charset="0"/>
                <a:ea typeface="Calibri" pitchFamily="34" charset="-122"/>
                <a:cs typeface="Calibri" pitchFamily="34" charset="-120"/>
              </a:rPr>
              <a:t>Timeframe: each wave runs on a ~2-week cycle — wire + exclusive day 1, direct pitching days 1–5, broadcast/podcast days 3–10, amplification days 5–14. Waves are spaced 3–4 weeks apart to compound coverage.</a:t>
            </a:r>
            <a:endParaRPr lang="en-US" sz="11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Target outlets: reach, realistic odds, and timing</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971800"/>
                <a:gridCol w="2194560"/>
                <a:gridCol w="2651760"/>
                <a:gridCol w="1645920"/>
                <a:gridCol w="1444752"/>
              </a:tblGrid>
              <a:tr h="41148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Tier / Outlet</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Reach</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How we get in</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Realistic odds</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Timeframe</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Newswire (PR Newswire)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Guaranteed 100s of syndications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Paid distribution — we control it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100% (paid)</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Day 1 of each wave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Business (Forbes, Bloomberg, CNBC)</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Millions; category authority</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Exclusive + expert-source pitch; strong data hook</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(20–35%)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EdTech (EdSurge, TechCrunch)</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Industry decision-makers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Novel-angle pitch; founder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(35–50%)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Health/Longevity (Longevity.Tech, Fierce)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Qualified vertical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CGM/data differentiator; instructor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(40–55%)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Consumer (Well+Good, Today, People)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Mass reach; enrollment driver</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human-interest hook; visuals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w/ Julie (40–60%)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Broadcast (Fox Health, GMA, local AM)</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Live mass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 CGM demo segment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(25–40%)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2–4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bl>
          </a:graphicData>
        </a:graphic>
      </p:graphicFrame>
      <p:sp>
        <p:nvSpPr>
          <p:cNvPr id="5" name="Text 2"/>
          <p:cNvSpPr/>
          <p:nvPr/>
        </p:nvSpPr>
        <p:spPr>
          <a:xfrm>
            <a:off x="640080" y="5806440"/>
            <a:ext cx="10911535" cy="457200"/>
          </a:xfrm>
          <a:prstGeom prst="rect">
            <a:avLst/>
          </a:prstGeom>
          <a:noFill/>
          <a:ln/>
        </p:spPr>
        <p:txBody>
          <a:bodyPr wrap="square" rtlCol="0" anchor="ctr"/>
          <a:lstStyle/>
          <a:p>
            <a:pPr indent="0" marL="0">
              <a:lnSpc>
                <a:spcPct val="110000"/>
              </a:lnSpc>
              <a:buNone/>
            </a:pPr>
            <a:r>
              <a:rPr lang="en-US" sz="1000" i="1" dirty="0">
                <a:solidFill>
                  <a:srgbClr val="5C6672"/>
                </a:solidFill>
                <a:latin typeface="Calibri" pitchFamily="34" charset="0"/>
                <a:ea typeface="Calibri" pitchFamily="34" charset="-122"/>
                <a:cs typeface="Calibri" pitchFamily="34" charset="-120"/>
              </a:rPr>
              <a:t>Odds reflect industry-typical earned-media hit rates for a well-resourced campaign with a strong hook and named spokespeople; they are estimates, not guarantees. Paid wire distribution is the only guaranteed placement.</a:t>
            </a:r>
            <a:endParaRPr lang="en-US" sz="1000" dirty="0"/>
          </a:p>
        </p:txBody>
      </p:sp>
      <p:sp>
        <p:nvSpPr>
          <p:cNvPr id="6" name="Text 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We are not starting from zero</a:t>
            </a:r>
            <a:endParaRPr lang="en-US" sz="2600" dirty="0"/>
          </a:p>
        </p:txBody>
      </p:sp>
      <p:sp>
        <p:nvSpPr>
          <p:cNvPr id="4" name="Text 2"/>
          <p:cNvSpPr/>
          <p:nvPr/>
        </p:nvSpPr>
        <p:spPr>
          <a:xfrm>
            <a:off x="640080" y="1554480"/>
            <a:ext cx="10911535" cy="64008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eTeacher already has a credible, indexed press trail. Reporters and databases will find a consistent corporate history — which materially raises our odds on every new pitch.</a:t>
            </a:r>
            <a:endParaRPr lang="en-US" sz="1400" dirty="0"/>
          </a:p>
        </p:txBody>
      </p:sp>
      <p:sp>
        <p:nvSpPr>
          <p:cNvPr id="5" name="Shape 3"/>
          <p:cNvSpPr/>
          <p:nvPr/>
        </p:nvSpPr>
        <p:spPr>
          <a:xfrm>
            <a:off x="640080" y="2331720"/>
            <a:ext cx="10911535" cy="749808"/>
          </a:xfrm>
          <a:prstGeom prst="roundRect">
            <a:avLst>
              <a:gd name="adj" fmla="val 6098"/>
            </a:avLst>
          </a:prstGeom>
          <a:solidFill>
            <a:srgbClr val="FFFFFF"/>
          </a:solidFill>
          <a:ln w="12700">
            <a:solidFill>
              <a:srgbClr val="D9DDE2"/>
            </a:solidFill>
            <a:prstDash val="solid"/>
          </a:ln>
        </p:spPr>
      </p:sp>
      <p:sp>
        <p:nvSpPr>
          <p:cNvPr id="6" name="Text 4"/>
          <p:cNvSpPr/>
          <p:nvPr/>
        </p:nvSpPr>
        <p:spPr>
          <a:xfrm>
            <a:off x="868680" y="238658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TheMarker (Haaretz)</a:t>
            </a:r>
            <a:endParaRPr lang="en-US" sz="1300" dirty="0"/>
          </a:p>
        </p:txBody>
      </p:sp>
      <p:sp>
        <p:nvSpPr>
          <p:cNvPr id="7" name="Text 5"/>
          <p:cNvSpPr/>
          <p:nvPr/>
        </p:nvSpPr>
        <p:spPr>
          <a:xfrm>
            <a:off x="4023360" y="238658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Feb 2026</a:t>
            </a:r>
            <a:endParaRPr lang="en-US" sz="1200" dirty="0"/>
          </a:p>
        </p:txBody>
      </p:sp>
      <p:sp>
        <p:nvSpPr>
          <p:cNvPr id="8" name="Text 6"/>
          <p:cNvSpPr/>
          <p:nvPr/>
        </p:nvSpPr>
        <p:spPr>
          <a:xfrm>
            <a:off x="5303520" y="238658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Major sponsored feature on eTeacher's vision, AI model, and CEO Harel Tayeb.</a:t>
            </a:r>
            <a:endParaRPr lang="en-US" sz="1150" dirty="0"/>
          </a:p>
        </p:txBody>
      </p:sp>
      <p:sp>
        <p:nvSpPr>
          <p:cNvPr id="9" name="Shape 7"/>
          <p:cNvSpPr/>
          <p:nvPr/>
        </p:nvSpPr>
        <p:spPr>
          <a:xfrm>
            <a:off x="640080" y="3200400"/>
            <a:ext cx="10911535" cy="749808"/>
          </a:xfrm>
          <a:prstGeom prst="roundRect">
            <a:avLst>
              <a:gd name="adj" fmla="val 6098"/>
            </a:avLst>
          </a:prstGeom>
          <a:solidFill>
            <a:srgbClr val="FFFFFF"/>
          </a:solidFill>
          <a:ln w="12700">
            <a:solidFill>
              <a:srgbClr val="D9DDE2"/>
            </a:solidFill>
            <a:prstDash val="solid"/>
          </a:ln>
        </p:spPr>
      </p:sp>
      <p:sp>
        <p:nvSpPr>
          <p:cNvPr id="10" name="Text 8"/>
          <p:cNvSpPr/>
          <p:nvPr/>
        </p:nvSpPr>
        <p:spPr>
          <a:xfrm>
            <a:off x="868680" y="325526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LinkedIn thought-leadership</a:t>
            </a:r>
            <a:endParaRPr lang="en-US" sz="1300" dirty="0"/>
          </a:p>
        </p:txBody>
      </p:sp>
      <p:sp>
        <p:nvSpPr>
          <p:cNvPr id="11" name="Text 9"/>
          <p:cNvSpPr/>
          <p:nvPr/>
        </p:nvSpPr>
        <p:spPr>
          <a:xfrm>
            <a:off x="4023360" y="325526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2025–26</a:t>
            </a:r>
            <a:endParaRPr lang="en-US" sz="1200" dirty="0"/>
          </a:p>
        </p:txBody>
      </p:sp>
      <p:sp>
        <p:nvSpPr>
          <p:cNvPr id="12" name="Text 10"/>
          <p:cNvSpPr/>
          <p:nvPr/>
        </p:nvSpPr>
        <p:spPr>
          <a:xfrm>
            <a:off x="5303520" y="325526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IAC Summit, “AI for All,” NYC EdTech at Columbia University.</a:t>
            </a:r>
            <a:endParaRPr lang="en-US" sz="1150" dirty="0"/>
          </a:p>
        </p:txBody>
      </p:sp>
      <p:sp>
        <p:nvSpPr>
          <p:cNvPr id="13" name="Shape 11"/>
          <p:cNvSpPr/>
          <p:nvPr/>
        </p:nvSpPr>
        <p:spPr>
          <a:xfrm>
            <a:off x="640080" y="4069080"/>
            <a:ext cx="10911535" cy="749808"/>
          </a:xfrm>
          <a:prstGeom prst="roundRect">
            <a:avLst>
              <a:gd name="adj" fmla="val 6098"/>
            </a:avLst>
          </a:prstGeom>
          <a:solidFill>
            <a:srgbClr val="FFFFFF"/>
          </a:solidFill>
          <a:ln w="12700">
            <a:solidFill>
              <a:srgbClr val="D9DDE2"/>
            </a:solidFill>
            <a:prstDash val="solid"/>
          </a:ln>
        </p:spPr>
      </p:sp>
      <p:sp>
        <p:nvSpPr>
          <p:cNvPr id="14" name="Text 12"/>
          <p:cNvSpPr/>
          <p:nvPr/>
        </p:nvSpPr>
        <p:spPr>
          <a:xfrm>
            <a:off x="868680" y="412394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GlobeNewswire</a:t>
            </a:r>
            <a:endParaRPr lang="en-US" sz="1300" dirty="0"/>
          </a:p>
        </p:txBody>
      </p:sp>
      <p:sp>
        <p:nvSpPr>
          <p:cNvPr id="15" name="Text 13"/>
          <p:cNvSpPr/>
          <p:nvPr/>
        </p:nvSpPr>
        <p:spPr>
          <a:xfrm>
            <a:off x="4023360" y="412394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Oct 2020</a:t>
            </a:r>
            <a:endParaRPr lang="en-US" sz="1200" dirty="0"/>
          </a:p>
        </p:txBody>
      </p:sp>
      <p:sp>
        <p:nvSpPr>
          <p:cNvPr id="16" name="Text 14"/>
          <p:cNvSpPr/>
          <p:nvPr/>
        </p:nvSpPr>
        <p:spPr>
          <a:xfrm>
            <a:off x="5303520" y="412394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strengthens partnership with Nuvei; launch of Langaroo.com.</a:t>
            </a:r>
            <a:endParaRPr lang="en-US" sz="1150" dirty="0"/>
          </a:p>
        </p:txBody>
      </p:sp>
      <p:sp>
        <p:nvSpPr>
          <p:cNvPr id="17" name="Shape 15"/>
          <p:cNvSpPr/>
          <p:nvPr/>
        </p:nvSpPr>
        <p:spPr>
          <a:xfrm>
            <a:off x="640080" y="4937760"/>
            <a:ext cx="10911535" cy="749808"/>
          </a:xfrm>
          <a:prstGeom prst="roundRect">
            <a:avLst>
              <a:gd name="adj" fmla="val 6098"/>
            </a:avLst>
          </a:prstGeom>
          <a:solidFill>
            <a:srgbClr val="FFFFFF"/>
          </a:solidFill>
          <a:ln w="12700">
            <a:solidFill>
              <a:srgbClr val="D9DDE2"/>
            </a:solidFill>
            <a:prstDash val="solid"/>
          </a:ln>
        </p:spPr>
      </p:sp>
      <p:sp>
        <p:nvSpPr>
          <p:cNvPr id="18" name="Text 16"/>
          <p:cNvSpPr/>
          <p:nvPr/>
        </p:nvSpPr>
        <p:spPr>
          <a:xfrm>
            <a:off x="868680" y="499262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PRWeb / PR Newswire</a:t>
            </a:r>
            <a:endParaRPr lang="en-US" sz="1300" dirty="0"/>
          </a:p>
        </p:txBody>
      </p:sp>
      <p:sp>
        <p:nvSpPr>
          <p:cNvPr id="19" name="Text 17"/>
          <p:cNvSpPr/>
          <p:nvPr/>
        </p:nvSpPr>
        <p:spPr>
          <a:xfrm>
            <a:off x="4023360" y="499262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Mar 2017</a:t>
            </a:r>
            <a:endParaRPr lang="en-US" sz="1200" dirty="0"/>
          </a:p>
        </p:txBody>
      </p:sp>
      <p:sp>
        <p:nvSpPr>
          <p:cNvPr id="20" name="Text 18"/>
          <p:cNvSpPr/>
          <p:nvPr/>
        </p:nvSpPr>
        <p:spPr>
          <a:xfrm>
            <a:off x="5303520" y="499262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Group selects FrontGate Media as its North America agency.</a:t>
            </a:r>
            <a:endParaRPr lang="en-US" sz="1150" dirty="0"/>
          </a:p>
        </p:txBody>
      </p:sp>
      <p:sp>
        <p:nvSpPr>
          <p:cNvPr id="21" name="Text 1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22" name="Text 2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EXECUTION</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8-week rollout calendar</a:t>
            </a:r>
            <a:endParaRPr lang="en-US" sz="2600" dirty="0"/>
          </a:p>
        </p:txBody>
      </p:sp>
      <p:sp>
        <p:nvSpPr>
          <p:cNvPr id="4" name="Shape 2"/>
          <p:cNvSpPr/>
          <p:nvPr/>
        </p:nvSpPr>
        <p:spPr>
          <a:xfrm>
            <a:off x="822960" y="2423160"/>
            <a:ext cx="10545775" cy="0"/>
          </a:xfrm>
          <a:prstGeom prst="line">
            <a:avLst/>
          </a:prstGeom>
          <a:noFill/>
          <a:ln w="25400">
            <a:solidFill>
              <a:srgbClr val="D9DDE2"/>
            </a:solidFill>
            <a:prstDash val="solid"/>
          </a:ln>
        </p:spPr>
      </p:sp>
      <p:sp>
        <p:nvSpPr>
          <p:cNvPr id="5" name="Shape 3"/>
          <p:cNvSpPr/>
          <p:nvPr/>
        </p:nvSpPr>
        <p:spPr>
          <a:xfrm>
            <a:off x="1825714" y="2313432"/>
            <a:ext cx="219456" cy="219456"/>
          </a:xfrm>
          <a:prstGeom prst="ellipse">
            <a:avLst/>
          </a:prstGeom>
          <a:solidFill>
            <a:srgbClr val="0C2A43"/>
          </a:solidFill>
          <a:ln/>
        </p:spPr>
      </p:sp>
      <p:sp>
        <p:nvSpPr>
          <p:cNvPr id="6" name="Text 4"/>
          <p:cNvSpPr/>
          <p:nvPr/>
        </p:nvSpPr>
        <p:spPr>
          <a:xfrm>
            <a:off x="640080"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MON JUL 13</a:t>
            </a:r>
            <a:endParaRPr lang="en-US" sz="1100" dirty="0"/>
          </a:p>
        </p:txBody>
      </p:sp>
      <p:sp>
        <p:nvSpPr>
          <p:cNvPr id="7" name="Shape 5"/>
          <p:cNvSpPr/>
          <p:nvPr/>
        </p:nvSpPr>
        <p:spPr>
          <a:xfrm>
            <a:off x="640080" y="2788920"/>
            <a:ext cx="2590724" cy="2651760"/>
          </a:xfrm>
          <a:prstGeom prst="roundRect">
            <a:avLst>
              <a:gd name="adj" fmla="val 2118"/>
            </a:avLst>
          </a:prstGeom>
          <a:solidFill>
            <a:srgbClr val="FFFFFF"/>
          </a:solidFill>
          <a:ln w="12700">
            <a:solidFill>
              <a:srgbClr val="D9DDE2"/>
            </a:solidFill>
            <a:prstDash val="solid"/>
          </a:ln>
        </p:spPr>
      </p:sp>
      <p:sp>
        <p:nvSpPr>
          <p:cNvPr id="8" name="Shape 6"/>
          <p:cNvSpPr/>
          <p:nvPr/>
        </p:nvSpPr>
        <p:spPr>
          <a:xfrm>
            <a:off x="640080" y="2788920"/>
            <a:ext cx="2590724" cy="54864"/>
          </a:xfrm>
          <a:prstGeom prst="rect">
            <a:avLst/>
          </a:prstGeom>
          <a:solidFill>
            <a:srgbClr val="0C2A43"/>
          </a:solidFill>
          <a:ln/>
        </p:spPr>
      </p:sp>
      <p:sp>
        <p:nvSpPr>
          <p:cNvPr id="9" name="Text 7"/>
          <p:cNvSpPr/>
          <p:nvPr/>
        </p:nvSpPr>
        <p:spPr>
          <a:xfrm>
            <a:off x="777240" y="2971800"/>
            <a:ext cx="2316404" cy="32004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Wave 1</a:t>
            </a:r>
            <a:endParaRPr lang="en-US" sz="1500" dirty="0"/>
          </a:p>
        </p:txBody>
      </p:sp>
      <p:sp>
        <p:nvSpPr>
          <p:cNvPr id="10" name="Text 8"/>
          <p:cNvSpPr/>
          <p:nvPr/>
        </p:nvSpPr>
        <p:spPr>
          <a:xfrm>
            <a:off x="777240"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Market entry</a:t>
            </a:r>
            <a:endParaRPr lang="en-US" sz="1300" dirty="0"/>
          </a:p>
        </p:txBody>
      </p:sp>
      <p:sp>
        <p:nvSpPr>
          <p:cNvPr id="11" name="Text 9"/>
          <p:cNvSpPr/>
          <p:nvPr/>
        </p:nvSpPr>
        <p:spPr>
          <a:xfrm>
            <a:off x="777240"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eTeacher enters the longevity market. Establish the corporate story and dateline.</a:t>
            </a:r>
            <a:endParaRPr lang="en-US" sz="1050" dirty="0"/>
          </a:p>
        </p:txBody>
      </p:sp>
      <p:sp>
        <p:nvSpPr>
          <p:cNvPr id="12" name="Shape 10"/>
          <p:cNvSpPr/>
          <p:nvPr/>
        </p:nvSpPr>
        <p:spPr>
          <a:xfrm>
            <a:off x="4599318" y="2313432"/>
            <a:ext cx="219456" cy="219456"/>
          </a:xfrm>
          <a:prstGeom prst="ellipse">
            <a:avLst/>
          </a:prstGeom>
          <a:solidFill>
            <a:srgbClr val="C08A2E"/>
          </a:solidFill>
          <a:ln/>
        </p:spPr>
      </p:sp>
      <p:sp>
        <p:nvSpPr>
          <p:cNvPr id="13" name="Text 11"/>
          <p:cNvSpPr/>
          <p:nvPr/>
        </p:nvSpPr>
        <p:spPr>
          <a:xfrm>
            <a:off x="3413684"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THU JUL 30</a:t>
            </a:r>
            <a:endParaRPr lang="en-US" sz="1100" dirty="0"/>
          </a:p>
        </p:txBody>
      </p:sp>
      <p:sp>
        <p:nvSpPr>
          <p:cNvPr id="14" name="Shape 12"/>
          <p:cNvSpPr/>
          <p:nvPr/>
        </p:nvSpPr>
        <p:spPr>
          <a:xfrm>
            <a:off x="3413684" y="2788920"/>
            <a:ext cx="2590724" cy="2651760"/>
          </a:xfrm>
          <a:prstGeom prst="roundRect">
            <a:avLst>
              <a:gd name="adj" fmla="val 2118"/>
            </a:avLst>
          </a:prstGeom>
          <a:solidFill>
            <a:srgbClr val="FFFFFF"/>
          </a:solidFill>
          <a:ln w="12700">
            <a:solidFill>
              <a:srgbClr val="D9DDE2"/>
            </a:solidFill>
            <a:prstDash val="solid"/>
          </a:ln>
        </p:spPr>
      </p:sp>
      <p:sp>
        <p:nvSpPr>
          <p:cNvPr id="15" name="Shape 13"/>
          <p:cNvSpPr/>
          <p:nvPr/>
        </p:nvSpPr>
        <p:spPr>
          <a:xfrm>
            <a:off x="3413684" y="2788920"/>
            <a:ext cx="2590724" cy="54864"/>
          </a:xfrm>
          <a:prstGeom prst="rect">
            <a:avLst/>
          </a:prstGeom>
          <a:solidFill>
            <a:srgbClr val="C08A2E"/>
          </a:solidFill>
          <a:ln/>
        </p:spPr>
      </p:sp>
      <p:sp>
        <p:nvSpPr>
          <p:cNvPr id="16" name="Text 14"/>
          <p:cNvSpPr/>
          <p:nvPr/>
        </p:nvSpPr>
        <p:spPr>
          <a:xfrm>
            <a:off x="3550844" y="2971800"/>
            <a:ext cx="2316404" cy="320040"/>
          </a:xfrm>
          <a:prstGeom prst="rect">
            <a:avLst/>
          </a:prstGeom>
          <a:noFill/>
          <a:ln/>
        </p:spPr>
        <p:txBody>
          <a:bodyPr wrap="square" rtlCol="0" anchor="ctr"/>
          <a:lstStyle/>
          <a:p>
            <a:pPr algn="ctr" indent="0" marL="0">
              <a:buNone/>
            </a:pPr>
            <a:r>
              <a:rPr lang="en-US" sz="1500" b="1" dirty="0">
                <a:solidFill>
                  <a:srgbClr val="C08A2E"/>
                </a:solidFill>
                <a:latin typeface="Cambria" pitchFamily="34" charset="0"/>
                <a:ea typeface="Cambria" pitchFamily="34" charset="-122"/>
                <a:cs typeface="Cambria" pitchFamily="34" charset="-120"/>
              </a:rPr>
              <a:t>Wave 2</a:t>
            </a:r>
            <a:endParaRPr lang="en-US" sz="1500" dirty="0"/>
          </a:p>
        </p:txBody>
      </p:sp>
      <p:sp>
        <p:nvSpPr>
          <p:cNvPr id="17" name="Text 15"/>
          <p:cNvSpPr/>
          <p:nvPr/>
        </p:nvSpPr>
        <p:spPr>
          <a:xfrm>
            <a:off x="3550844"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Julie joins</a:t>
            </a:r>
            <a:endParaRPr lang="en-US" sz="1300" dirty="0"/>
          </a:p>
        </p:txBody>
      </p:sp>
      <p:sp>
        <p:nvSpPr>
          <p:cNvPr id="18" name="Text 16"/>
          <p:cNvSpPr/>
          <p:nvPr/>
        </p:nvSpPr>
        <p:spPr>
          <a:xfrm>
            <a:off x="3550844"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Signing announcement + human-interest surge. Peak consumer reach.</a:t>
            </a:r>
            <a:endParaRPr lang="en-US" sz="1050" dirty="0"/>
          </a:p>
        </p:txBody>
      </p:sp>
      <p:sp>
        <p:nvSpPr>
          <p:cNvPr id="19" name="Shape 17"/>
          <p:cNvSpPr/>
          <p:nvPr/>
        </p:nvSpPr>
        <p:spPr>
          <a:xfrm>
            <a:off x="7372922" y="2313432"/>
            <a:ext cx="219456" cy="219456"/>
          </a:xfrm>
          <a:prstGeom prst="ellipse">
            <a:avLst/>
          </a:prstGeom>
          <a:solidFill>
            <a:srgbClr val="12395C"/>
          </a:solidFill>
          <a:ln/>
        </p:spPr>
      </p:sp>
      <p:sp>
        <p:nvSpPr>
          <p:cNvPr id="20" name="Text 18"/>
          <p:cNvSpPr/>
          <p:nvPr/>
        </p:nvSpPr>
        <p:spPr>
          <a:xfrm>
            <a:off x="6187288"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MON AUG 17</a:t>
            </a:r>
            <a:endParaRPr lang="en-US" sz="1100" dirty="0"/>
          </a:p>
        </p:txBody>
      </p:sp>
      <p:sp>
        <p:nvSpPr>
          <p:cNvPr id="21" name="Shape 19"/>
          <p:cNvSpPr/>
          <p:nvPr/>
        </p:nvSpPr>
        <p:spPr>
          <a:xfrm>
            <a:off x="6187288" y="2788920"/>
            <a:ext cx="2590724" cy="2651760"/>
          </a:xfrm>
          <a:prstGeom prst="roundRect">
            <a:avLst>
              <a:gd name="adj" fmla="val 2118"/>
            </a:avLst>
          </a:prstGeom>
          <a:solidFill>
            <a:srgbClr val="FFFFFF"/>
          </a:solidFill>
          <a:ln w="12700">
            <a:solidFill>
              <a:srgbClr val="D9DDE2"/>
            </a:solidFill>
            <a:prstDash val="solid"/>
          </a:ln>
        </p:spPr>
      </p:sp>
      <p:sp>
        <p:nvSpPr>
          <p:cNvPr id="22" name="Shape 20"/>
          <p:cNvSpPr/>
          <p:nvPr/>
        </p:nvSpPr>
        <p:spPr>
          <a:xfrm>
            <a:off x="6187288" y="2788920"/>
            <a:ext cx="2590724" cy="54864"/>
          </a:xfrm>
          <a:prstGeom prst="rect">
            <a:avLst/>
          </a:prstGeom>
          <a:solidFill>
            <a:srgbClr val="12395C"/>
          </a:solidFill>
          <a:ln/>
        </p:spPr>
      </p:sp>
      <p:sp>
        <p:nvSpPr>
          <p:cNvPr id="23" name="Text 21"/>
          <p:cNvSpPr/>
          <p:nvPr/>
        </p:nvSpPr>
        <p:spPr>
          <a:xfrm>
            <a:off x="6324448" y="2971800"/>
            <a:ext cx="2316404" cy="32004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Wave 3</a:t>
            </a:r>
            <a:endParaRPr lang="en-US" sz="1500" dirty="0"/>
          </a:p>
        </p:txBody>
      </p:sp>
      <p:sp>
        <p:nvSpPr>
          <p:cNvPr id="24" name="Text 22"/>
          <p:cNvSpPr/>
          <p:nvPr/>
        </p:nvSpPr>
        <p:spPr>
          <a:xfrm>
            <a:off x="6324448"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Hub app</a:t>
            </a:r>
            <a:endParaRPr lang="en-US" sz="1300" dirty="0"/>
          </a:p>
        </p:txBody>
      </p:sp>
      <p:sp>
        <p:nvSpPr>
          <p:cNvPr id="25" name="Text 23"/>
          <p:cNvSpPr/>
          <p:nvPr/>
        </p:nvSpPr>
        <p:spPr>
          <a:xfrm>
            <a:off x="6324448"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Product story reinforces innovation and AI credibility.</a:t>
            </a:r>
            <a:endParaRPr lang="en-US" sz="1050" dirty="0"/>
          </a:p>
        </p:txBody>
      </p:sp>
      <p:sp>
        <p:nvSpPr>
          <p:cNvPr id="26" name="Shape 24"/>
          <p:cNvSpPr/>
          <p:nvPr/>
        </p:nvSpPr>
        <p:spPr>
          <a:xfrm>
            <a:off x="10146525" y="2313432"/>
            <a:ext cx="219456" cy="219456"/>
          </a:xfrm>
          <a:prstGeom prst="ellipse">
            <a:avLst/>
          </a:prstGeom>
          <a:solidFill>
            <a:srgbClr val="6E4A12"/>
          </a:solidFill>
          <a:ln/>
        </p:spPr>
      </p:sp>
      <p:sp>
        <p:nvSpPr>
          <p:cNvPr id="27" name="Text 25"/>
          <p:cNvSpPr/>
          <p:nvPr/>
        </p:nvSpPr>
        <p:spPr>
          <a:xfrm>
            <a:off x="8960891"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THU SEP 3</a:t>
            </a:r>
            <a:endParaRPr lang="en-US" sz="1100" dirty="0"/>
          </a:p>
        </p:txBody>
      </p:sp>
      <p:sp>
        <p:nvSpPr>
          <p:cNvPr id="28" name="Shape 26"/>
          <p:cNvSpPr/>
          <p:nvPr/>
        </p:nvSpPr>
        <p:spPr>
          <a:xfrm>
            <a:off x="8960891" y="2788920"/>
            <a:ext cx="2590724" cy="2651760"/>
          </a:xfrm>
          <a:prstGeom prst="roundRect">
            <a:avLst>
              <a:gd name="adj" fmla="val 2118"/>
            </a:avLst>
          </a:prstGeom>
          <a:solidFill>
            <a:srgbClr val="FFFFFF"/>
          </a:solidFill>
          <a:ln w="12700">
            <a:solidFill>
              <a:srgbClr val="D9DDE2"/>
            </a:solidFill>
            <a:prstDash val="solid"/>
          </a:ln>
        </p:spPr>
      </p:sp>
      <p:sp>
        <p:nvSpPr>
          <p:cNvPr id="29" name="Shape 27"/>
          <p:cNvSpPr/>
          <p:nvPr/>
        </p:nvSpPr>
        <p:spPr>
          <a:xfrm>
            <a:off x="8960891" y="2788920"/>
            <a:ext cx="2590724" cy="54864"/>
          </a:xfrm>
          <a:prstGeom prst="rect">
            <a:avLst/>
          </a:prstGeom>
          <a:solidFill>
            <a:srgbClr val="6E4A12"/>
          </a:solidFill>
          <a:ln/>
        </p:spPr>
      </p:sp>
      <p:sp>
        <p:nvSpPr>
          <p:cNvPr id="30" name="Text 28"/>
          <p:cNvSpPr/>
          <p:nvPr/>
        </p:nvSpPr>
        <p:spPr>
          <a:xfrm>
            <a:off x="9098051" y="2971800"/>
            <a:ext cx="2316404" cy="32004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Wave 4</a:t>
            </a:r>
            <a:endParaRPr lang="en-US" sz="1500" dirty="0"/>
          </a:p>
        </p:txBody>
      </p:sp>
      <p:sp>
        <p:nvSpPr>
          <p:cNvPr id="31" name="Text 29"/>
          <p:cNvSpPr/>
          <p:nvPr/>
        </p:nvSpPr>
        <p:spPr>
          <a:xfrm>
            <a:off x="9098051"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6 courses</a:t>
            </a:r>
            <a:endParaRPr lang="en-US" sz="1300" dirty="0"/>
          </a:p>
        </p:txBody>
      </p:sp>
      <p:sp>
        <p:nvSpPr>
          <p:cNvPr id="32" name="Text 30"/>
          <p:cNvSpPr/>
          <p:nvPr/>
        </p:nvSpPr>
        <p:spPr>
          <a:xfrm>
            <a:off x="9098051"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Expansion proves momentum — eTeacher is building a longevity college.</a:t>
            </a:r>
            <a:endParaRPr lang="en-US" sz="1050" dirty="0"/>
          </a:p>
        </p:txBody>
      </p:sp>
      <p:sp>
        <p:nvSpPr>
          <p:cNvPr id="33" name="Shape 31"/>
          <p:cNvSpPr/>
          <p:nvPr/>
        </p:nvSpPr>
        <p:spPr>
          <a:xfrm>
            <a:off x="640080" y="5486400"/>
            <a:ext cx="10911535" cy="594360"/>
          </a:xfrm>
          <a:prstGeom prst="rect">
            <a:avLst/>
          </a:prstGeom>
          <a:solidFill>
            <a:srgbClr val="F2E9D8"/>
          </a:solidFill>
          <a:ln/>
        </p:spPr>
      </p:sp>
      <p:sp>
        <p:nvSpPr>
          <p:cNvPr id="34" name="Text 32"/>
          <p:cNvSpPr/>
          <p:nvPr/>
        </p:nvSpPr>
        <p:spPr>
          <a:xfrm>
            <a:off x="868680" y="5486400"/>
            <a:ext cx="10454335" cy="59436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Why ~2.5 weeks apart:  </a:t>
            </a:r>
            <a:pPr indent="0" marL="0">
              <a:lnSpc>
                <a:spcPct val="110000"/>
              </a:lnSpc>
              <a:buNone/>
            </a:pPr>
            <a:r>
              <a:rPr lang="en-US" sz="1200" dirty="0">
                <a:solidFill>
                  <a:srgbClr val="1A1F26"/>
                </a:solidFill>
                <a:latin typeface="Calibri" pitchFamily="34" charset="0"/>
                <a:ea typeface="Calibri" pitchFamily="34" charset="-122"/>
                <a:cs typeface="Calibri" pitchFamily="34" charset="-120"/>
              </a:rPr>
              <a:t>tight enough to go live Monday and wrap by early September, spaced enough that each wave earns its coverage before the next — a rising narrative, not a single spike.</a:t>
            </a:r>
            <a:endParaRPr lang="en-US" sz="12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2026-07-07T07:29:09Z</dcterms:created>
  <dcterms:modified xsi:type="dcterms:W3CDTF">2026-07-07T07:29:09Z</dcterms:modified>
</cp:coreProperties>
</file>