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hyperlink" Target="https://www.entrepreneur.com/leadership/this-is-the-8-trillion-opportunity-vcs-and-founders-cant/502671" TargetMode="External"/><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hyperlink" Target="https://www.themarker.com/labels/educatio/2026-02-01/ty-article-labels/0000019b-ff11-d39f-a5bf-ffb521690000" TargetMode="External"/><Relationship Id="rId2" Type="http://schemas.openxmlformats.org/officeDocument/2006/relationships/hyperlink" Target="https://www.yahoo.com/lifestyle/56-old-recruiter-sets-aside-160243368.html" TargetMode="External"/><Relationship Id="rId3" Type="http://schemas.openxmlformats.org/officeDocument/2006/relationships/hyperlink" Target="https://novoslabs.com/blog/novos-customer-stories/julie-gibson-clark-longevity-journey/" TargetMode="External"/><Relationship Id="rId4" Type="http://schemas.openxmlformats.org/officeDocument/2006/relationships/hyperlink" Target="https://www.foxnews.com/health/three-women-share-secrets-better-health-longevity" TargetMode="External"/><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hyperlink" Target="https://www.buzzstream.com/blog/haro-alternatives/" TargetMode="External"/><Relationship Id="rId2" Type="http://schemas.openxmlformats.org/officeDocument/2006/relationships/hyperlink" Target="https://www.prezly.com/academy/the-best-haro-alternatives" TargetMode="External"/><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hyperlink" Target="https://pressonify.ai/blog/press-release-distribution-pricing-comparison-2026" TargetMode="External"/><Relationship Id="rId2" Type="http://schemas.openxmlformats.org/officeDocument/2006/relationships/hyperlink" Target="https://www.prezly.com/academy/ein-presswire-vs-pr-newswire" TargetMode="External"/><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hyperlink" Target="https://www.themarker.com/labels/educatio/2026-02-01/ty-article-labels/0000019b-ff11-d39f-a5bf-ffb521690000" TargetMode="External"/><Relationship Id="rId2" Type="http://schemas.openxmlformats.org/officeDocument/2006/relationships/hyperlink" Target="https://www.globenewswire.com/news-release/2020/10/14/2108072/0/en/eTeacher-Group-strengthens-partnership-with-Nuvei-with-launch-of-Langaroo-com.html" TargetMode="External"/><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C2A43"/>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C08A2E"/>
          </a:solidFill>
          <a:ln/>
        </p:spPr>
      </p:sp>
      <p:sp>
        <p:nvSpPr>
          <p:cNvPr id="3" name="Text 1"/>
          <p:cNvSpPr/>
          <p:nvPr/>
        </p:nvSpPr>
        <p:spPr>
          <a:xfrm>
            <a:off x="640080" y="1371600"/>
            <a:ext cx="10911535" cy="365760"/>
          </a:xfrm>
          <a:prstGeom prst="rect">
            <a:avLst/>
          </a:prstGeom>
          <a:noFill/>
          <a:ln/>
        </p:spPr>
        <p:txBody>
          <a:bodyPr wrap="square" rtlCol="0" anchor="ctr"/>
          <a:lstStyle/>
          <a:p>
            <a:pPr indent="0" marL="0">
              <a:buNone/>
            </a:pPr>
            <a:r>
              <a:rPr lang="en-US" sz="1400" b="1" spc="300" kern="0" dirty="0">
                <a:solidFill>
                  <a:srgbClr val="C08A2E"/>
                </a:solidFill>
                <a:latin typeface="Calibri" pitchFamily="34" charset="0"/>
                <a:ea typeface="Calibri" pitchFamily="34" charset="-122"/>
                <a:cs typeface="Calibri" pitchFamily="34" charset="-120"/>
              </a:rPr>
              <a:t>ETEACHER GROUP  ·  LONGEVITY LIFE ACADEMY</a:t>
            </a:r>
            <a:endParaRPr lang="en-US" sz="1400" dirty="0"/>
          </a:p>
        </p:txBody>
      </p:sp>
      <p:sp>
        <p:nvSpPr>
          <p:cNvPr id="4" name="Text 2"/>
          <p:cNvSpPr/>
          <p:nvPr/>
        </p:nvSpPr>
        <p:spPr>
          <a:xfrm>
            <a:off x="640080" y="1874520"/>
            <a:ext cx="10911535" cy="1463040"/>
          </a:xfrm>
          <a:prstGeom prst="rect">
            <a:avLst/>
          </a:prstGeom>
          <a:noFill/>
          <a:ln/>
        </p:spPr>
        <p:txBody>
          <a:bodyPr wrap="square" rtlCol="0" anchor="ctr"/>
          <a:lstStyle/>
          <a:p>
            <a:pPr indent="0" marL="0">
              <a:lnSpc>
                <a:spcPct val="100000"/>
              </a:lnSpc>
              <a:buNone/>
            </a:pPr>
            <a:r>
              <a:rPr lang="en-US" sz="4600" b="1" dirty="0">
                <a:solidFill>
                  <a:srgbClr val="FFFFFF"/>
                </a:solidFill>
                <a:latin typeface="Cambria" pitchFamily="34" charset="0"/>
                <a:ea typeface="Cambria" pitchFamily="34" charset="-122"/>
                <a:cs typeface="Cambria" pitchFamily="34" charset="-120"/>
              </a:rPr>
              <a:t>eTeacher Launches Longevity Life Academy</a:t>
            </a:r>
            <a:endParaRPr lang="en-US" sz="4600" dirty="0"/>
          </a:p>
        </p:txBody>
      </p:sp>
      <p:sp>
        <p:nvSpPr>
          <p:cNvPr id="5" name="Text 3"/>
          <p:cNvSpPr/>
          <p:nvPr/>
        </p:nvSpPr>
        <p:spPr>
          <a:xfrm>
            <a:off x="640080" y="3611880"/>
            <a:ext cx="9875520" cy="1097280"/>
          </a:xfrm>
          <a:prstGeom prst="rect">
            <a:avLst/>
          </a:prstGeom>
          <a:noFill/>
          <a:ln/>
        </p:spPr>
        <p:txBody>
          <a:bodyPr wrap="square" rtlCol="0" anchor="ctr"/>
          <a:lstStyle/>
          <a:p>
            <a:pPr indent="0" marL="0">
              <a:lnSpc>
                <a:spcPct val="115000"/>
              </a:lnSpc>
              <a:buNone/>
            </a:pPr>
            <a:r>
              <a:rPr lang="en-US" sz="1700" dirty="0">
                <a:solidFill>
                  <a:srgbClr val="C9D3DD"/>
                </a:solidFill>
                <a:latin typeface="Calibri" pitchFamily="34" charset="0"/>
                <a:ea typeface="Calibri" pitchFamily="34" charset="-122"/>
                <a:cs typeface="Calibri" pitchFamily="34" charset="-120"/>
              </a:rPr>
              <a:t>The PR launch campaign for Israel's leading EdTech group — four chapters, 17 stories, one clear message: accessible, science-backed longevity education is here.</a:t>
            </a:r>
            <a:endParaRPr lang="en-US" sz="1700" dirty="0"/>
          </a:p>
        </p:txBody>
      </p:sp>
      <p:sp>
        <p:nvSpPr>
          <p:cNvPr id="6" name="Text 4"/>
          <p:cNvSpPr/>
          <p:nvPr/>
        </p:nvSpPr>
        <p:spPr>
          <a:xfrm>
            <a:off x="640080" y="5029200"/>
            <a:ext cx="9144000" cy="320040"/>
          </a:xfrm>
          <a:prstGeom prst="rect">
            <a:avLst/>
          </a:prstGeom>
          <a:noFill/>
          <a:ln/>
        </p:spPr>
        <p:txBody>
          <a:bodyPr wrap="square"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Prepared for: </a:t>
            </a:r>
            <a:pPr indent="0" marL="0">
              <a:buNone/>
            </a:pPr>
            <a:r>
              <a:rPr lang="en-US" sz="1300" dirty="0">
                <a:solidFill>
                  <a:srgbClr val="C9D3DD"/>
                </a:solidFill>
                <a:latin typeface="Calibri" pitchFamily="34" charset="0"/>
                <a:ea typeface="Calibri" pitchFamily="34" charset="-122"/>
                <a:cs typeface="Calibri" pitchFamily="34" charset="-120"/>
              </a:rPr>
              <a:t>Harel Tayeb, CEO, eTeacher Group</a:t>
            </a:r>
            <a:endParaRPr lang="en-US" sz="1300" dirty="0"/>
          </a:p>
        </p:txBody>
      </p:sp>
      <p:sp>
        <p:nvSpPr>
          <p:cNvPr id="7" name="Text 5"/>
          <p:cNvSpPr/>
          <p:nvPr/>
        </p:nvSpPr>
        <p:spPr>
          <a:xfrm>
            <a:off x="640080" y="5943600"/>
            <a:ext cx="10911535" cy="365760"/>
          </a:xfrm>
          <a:prstGeom prst="rect">
            <a:avLst/>
          </a:prstGeom>
          <a:noFill/>
          <a:ln/>
        </p:spPr>
        <p:txBody>
          <a:bodyPr wrap="square" rtlCol="0" anchor="ctr"/>
          <a:lstStyle/>
          <a:p>
            <a:pPr indent="0" marL="0">
              <a:buNone/>
            </a:pPr>
            <a:r>
              <a:rPr lang="en-US" sz="1100" i="1" dirty="0">
                <a:solidFill>
                  <a:srgbClr val="9AA4AF"/>
                </a:solidFill>
                <a:latin typeface="Calibri" pitchFamily="34" charset="0"/>
                <a:ea typeface="Calibri" pitchFamily="34" charset="-122"/>
                <a:cs typeface="Calibri" pitchFamily="34" charset="-120"/>
              </a:rPr>
              <a:t>Every quote in this deck is either verbatim from published sources or written in the speaker's documented voice and flagged for your approval.</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457200"/>
            <a:ext cx="10911535" cy="274320"/>
          </a:xfrm>
          <a:prstGeom prst="rect">
            <a:avLst/>
          </a:prstGeom>
          <a:noFill/>
          <a:ln/>
        </p:spPr>
        <p:txBody>
          <a:bodyPr wrap="square" rtlCol="0" anchor="ctr"/>
          <a:lstStyle/>
          <a:p>
            <a:pPr indent="0" marL="0">
              <a:buNone/>
            </a:pPr>
            <a:r>
              <a:rPr lang="en-US" sz="1200" b="1" spc="300" kern="0" dirty="0">
                <a:solidFill>
                  <a:srgbClr val="C08A2E"/>
                </a:solidFill>
                <a:latin typeface="Calibri" pitchFamily="34" charset="0"/>
                <a:ea typeface="Calibri" pitchFamily="34" charset="-122"/>
                <a:cs typeface="Calibri" pitchFamily="34" charset="-120"/>
              </a:rPr>
              <a:t>THE STRATEGY</a:t>
            </a:r>
            <a:endParaRPr lang="en-US" sz="1200" dirty="0"/>
          </a:p>
        </p:txBody>
      </p:sp>
      <p:sp>
        <p:nvSpPr>
          <p:cNvPr id="3" name="Text 1"/>
          <p:cNvSpPr/>
          <p:nvPr/>
        </p:nvSpPr>
        <p:spPr>
          <a:xfrm>
            <a:off x="640080" y="749808"/>
            <a:ext cx="10911535" cy="822960"/>
          </a:xfrm>
          <a:prstGeom prst="rect">
            <a:avLst/>
          </a:prstGeom>
          <a:noFill/>
          <a:ln/>
        </p:spPr>
        <p:txBody>
          <a:bodyPr wrap="square" rtlCol="0" anchor="ctr"/>
          <a:lstStyle/>
          <a:p>
            <a:pPr indent="0" marL="0">
              <a:lnSpc>
                <a:spcPct val="100000"/>
              </a:lnSpc>
              <a:buNone/>
            </a:pPr>
            <a:r>
              <a:rPr lang="en-US" sz="2600" b="1" dirty="0">
                <a:solidFill>
                  <a:srgbClr val="0C2A43"/>
                </a:solidFill>
                <a:latin typeface="Cambria" pitchFamily="34" charset="0"/>
                <a:ea typeface="Cambria" pitchFamily="34" charset="-122"/>
                <a:cs typeface="Cambria" pitchFamily="34" charset="-120"/>
              </a:rPr>
              <a:t>Why we release in waves, not all at once</a:t>
            </a:r>
            <a:endParaRPr lang="en-US" sz="2600" dirty="0"/>
          </a:p>
        </p:txBody>
      </p:sp>
      <p:sp>
        <p:nvSpPr>
          <p:cNvPr id="4" name="Text 2"/>
          <p:cNvSpPr/>
          <p:nvPr/>
        </p:nvSpPr>
        <p:spPr>
          <a:xfrm>
            <a:off x="640080" y="1600200"/>
            <a:ext cx="10911535" cy="731520"/>
          </a:xfrm>
          <a:prstGeom prst="rect">
            <a:avLst/>
          </a:prstGeom>
          <a:noFill/>
          <a:ln/>
        </p:spPr>
        <p:txBody>
          <a:bodyPr wrap="square" rtlCol="0" anchor="ctr"/>
          <a:lstStyle/>
          <a:p>
            <a:pPr indent="0" marL="0">
              <a:lnSpc>
                <a:spcPct val="120000"/>
              </a:lnSpc>
              <a:buNone/>
            </a:pPr>
            <a:r>
              <a:rPr lang="en-US" sz="1400" dirty="0">
                <a:solidFill>
                  <a:srgbClr val="1A1F26"/>
                </a:solidFill>
                <a:latin typeface="Calibri" pitchFamily="34" charset="0"/>
                <a:ea typeface="Calibri" pitchFamily="34" charset="-122"/>
                <a:cs typeface="Calibri" pitchFamily="34" charset="-120"/>
              </a:rPr>
              <a:t>A single press release creates a spike. A sequenced campaign creates a narrative — each wave references the last, compounding search results, journalist familiarity, and public perception until eTeacher owns the category conversation.</a:t>
            </a:r>
            <a:endParaRPr lang="en-US" sz="1400" dirty="0"/>
          </a:p>
        </p:txBody>
      </p:sp>
      <p:sp>
        <p:nvSpPr>
          <p:cNvPr id="5" name="Shape 3"/>
          <p:cNvSpPr/>
          <p:nvPr/>
        </p:nvSpPr>
        <p:spPr>
          <a:xfrm>
            <a:off x="640080" y="2514600"/>
            <a:ext cx="2590724" cy="2468880"/>
          </a:xfrm>
          <a:prstGeom prst="roundRect">
            <a:avLst>
              <a:gd name="adj" fmla="val 2963"/>
            </a:avLst>
          </a:prstGeom>
          <a:solidFill>
            <a:srgbClr val="FFFFFF"/>
          </a:solidFill>
          <a:ln w="12700">
            <a:solidFill>
              <a:srgbClr val="D9DDE2"/>
            </a:solidFill>
            <a:prstDash val="solid"/>
          </a:ln>
        </p:spPr>
      </p:sp>
      <p:sp>
        <p:nvSpPr>
          <p:cNvPr id="6" name="Shape 4"/>
          <p:cNvSpPr/>
          <p:nvPr/>
        </p:nvSpPr>
        <p:spPr>
          <a:xfrm>
            <a:off x="640080" y="2514600"/>
            <a:ext cx="2590724" cy="457200"/>
          </a:xfrm>
          <a:prstGeom prst="roundRect">
            <a:avLst>
              <a:gd name="adj" fmla="val 16000"/>
            </a:avLst>
          </a:prstGeom>
          <a:solidFill>
            <a:srgbClr val="0C2A43"/>
          </a:solidFill>
          <a:ln/>
        </p:spPr>
      </p:sp>
      <p:sp>
        <p:nvSpPr>
          <p:cNvPr id="7" name="Text 5"/>
          <p:cNvSpPr/>
          <p:nvPr/>
        </p:nvSpPr>
        <p:spPr>
          <a:xfrm>
            <a:off x="640080" y="2514600"/>
            <a:ext cx="2590724" cy="457200"/>
          </a:xfrm>
          <a:prstGeom prst="rect">
            <a:avLst/>
          </a:prstGeom>
          <a:noFill/>
          <a:ln/>
        </p:spPr>
        <p:txBody>
          <a:bodyPr wrap="square" rtlCol="0" anchor="ctr"/>
          <a:lstStyle/>
          <a:p>
            <a:pPr algn="ctr" indent="0" marL="0">
              <a:buNone/>
            </a:pPr>
            <a:r>
              <a:rPr lang="en-US" sz="1300" b="1" spc="200" kern="0" dirty="0">
                <a:solidFill>
                  <a:srgbClr val="FFFFFF"/>
                </a:solidFill>
                <a:latin typeface="Calibri" pitchFamily="34" charset="0"/>
                <a:ea typeface="Calibri" pitchFamily="34" charset="-122"/>
                <a:cs typeface="Calibri" pitchFamily="34" charset="-120"/>
              </a:rPr>
              <a:t>WAVE 1</a:t>
            </a:r>
            <a:endParaRPr lang="en-US" sz="1300" dirty="0"/>
          </a:p>
        </p:txBody>
      </p:sp>
      <p:sp>
        <p:nvSpPr>
          <p:cNvPr id="8" name="Text 6"/>
          <p:cNvSpPr/>
          <p:nvPr/>
        </p:nvSpPr>
        <p:spPr>
          <a:xfrm>
            <a:off x="777240" y="3108960"/>
            <a:ext cx="2316404" cy="365760"/>
          </a:xfrm>
          <a:prstGeom prst="rect">
            <a:avLst/>
          </a:prstGeom>
          <a:noFill/>
          <a:ln/>
        </p:spPr>
        <p:txBody>
          <a:bodyPr wrap="square" rtlCol="0" anchor="ctr"/>
          <a:lstStyle/>
          <a:p>
            <a:pPr algn="ctr" indent="0" marL="0">
              <a:buNone/>
            </a:pPr>
            <a:r>
              <a:rPr lang="en-US" sz="1500" b="1" dirty="0">
                <a:solidFill>
                  <a:srgbClr val="0C2A43"/>
                </a:solidFill>
                <a:latin typeface="Cambria" pitchFamily="34" charset="0"/>
                <a:ea typeface="Cambria" pitchFamily="34" charset="-122"/>
                <a:cs typeface="Cambria" pitchFamily="34" charset="-120"/>
              </a:rPr>
              <a:t>Market Entry</a:t>
            </a:r>
            <a:endParaRPr lang="en-US" sz="1500" dirty="0"/>
          </a:p>
        </p:txBody>
      </p:sp>
      <p:sp>
        <p:nvSpPr>
          <p:cNvPr id="9" name="Text 7"/>
          <p:cNvSpPr/>
          <p:nvPr/>
        </p:nvSpPr>
        <p:spPr>
          <a:xfrm>
            <a:off x="777240" y="3520440"/>
            <a:ext cx="2316404" cy="914400"/>
          </a:xfrm>
          <a:prstGeom prst="rect">
            <a:avLst/>
          </a:prstGeom>
          <a:noFill/>
          <a:ln/>
        </p:spPr>
        <p:txBody>
          <a:bodyPr wrap="square" rtlCol="0" anchor="ctr"/>
          <a:lstStyle/>
          <a:p>
            <a:pPr algn="ctr" indent="0" marL="0">
              <a:lnSpc>
                <a:spcPct val="110000"/>
              </a:lnSpc>
              <a:buNone/>
            </a:pPr>
            <a:r>
              <a:rPr lang="en-US" sz="1200" dirty="0">
                <a:solidFill>
                  <a:srgbClr val="1A1F26"/>
                </a:solidFill>
                <a:latin typeface="Calibri" pitchFamily="34" charset="0"/>
                <a:ea typeface="Calibri" pitchFamily="34" charset="-122"/>
                <a:cs typeface="Calibri" pitchFamily="34" charset="-120"/>
              </a:rPr>
              <a:t>eTeacher enters the $8T longevity market</a:t>
            </a:r>
            <a:endParaRPr lang="en-US" sz="1200" dirty="0"/>
          </a:p>
        </p:txBody>
      </p:sp>
      <p:sp>
        <p:nvSpPr>
          <p:cNvPr id="10" name="Text 8"/>
          <p:cNvSpPr/>
          <p:nvPr/>
        </p:nvSpPr>
        <p:spPr>
          <a:xfrm>
            <a:off x="777240" y="4526280"/>
            <a:ext cx="2316404" cy="320040"/>
          </a:xfrm>
          <a:prstGeom prst="rect">
            <a:avLst/>
          </a:prstGeom>
          <a:noFill/>
          <a:ln/>
        </p:spPr>
        <p:txBody>
          <a:bodyPr wrap="square" rtlCol="0" anchor="ctr"/>
          <a:lstStyle/>
          <a:p>
            <a:pPr algn="ctr" indent="0" marL="0">
              <a:buNone/>
            </a:pPr>
            <a:r>
              <a:rPr lang="en-US" sz="1200" b="1" dirty="0">
                <a:solidFill>
                  <a:srgbClr val="5C6672"/>
                </a:solidFill>
                <a:latin typeface="Calibri" pitchFamily="34" charset="0"/>
                <a:ea typeface="Calibri" pitchFamily="34" charset="-122"/>
                <a:cs typeface="Calibri" pitchFamily="34" charset="-120"/>
              </a:rPr>
              <a:t>6 articles</a:t>
            </a:r>
            <a:endParaRPr lang="en-US" sz="1200" dirty="0"/>
          </a:p>
        </p:txBody>
      </p:sp>
      <p:sp>
        <p:nvSpPr>
          <p:cNvPr id="11" name="Shape 9"/>
          <p:cNvSpPr/>
          <p:nvPr/>
        </p:nvSpPr>
        <p:spPr>
          <a:xfrm>
            <a:off x="3413684" y="2514600"/>
            <a:ext cx="2590724" cy="2468880"/>
          </a:xfrm>
          <a:prstGeom prst="roundRect">
            <a:avLst>
              <a:gd name="adj" fmla="val 2963"/>
            </a:avLst>
          </a:prstGeom>
          <a:solidFill>
            <a:srgbClr val="FFFFFF"/>
          </a:solidFill>
          <a:ln w="12700">
            <a:solidFill>
              <a:srgbClr val="D9DDE2"/>
            </a:solidFill>
            <a:prstDash val="solid"/>
          </a:ln>
        </p:spPr>
      </p:sp>
      <p:sp>
        <p:nvSpPr>
          <p:cNvPr id="12" name="Shape 10"/>
          <p:cNvSpPr/>
          <p:nvPr/>
        </p:nvSpPr>
        <p:spPr>
          <a:xfrm>
            <a:off x="3413684" y="2514600"/>
            <a:ext cx="2590724" cy="457200"/>
          </a:xfrm>
          <a:prstGeom prst="roundRect">
            <a:avLst>
              <a:gd name="adj" fmla="val 16000"/>
            </a:avLst>
          </a:prstGeom>
          <a:solidFill>
            <a:srgbClr val="12395C"/>
          </a:solidFill>
          <a:ln/>
        </p:spPr>
      </p:sp>
      <p:sp>
        <p:nvSpPr>
          <p:cNvPr id="13" name="Text 11"/>
          <p:cNvSpPr/>
          <p:nvPr/>
        </p:nvSpPr>
        <p:spPr>
          <a:xfrm>
            <a:off x="3413684" y="2514600"/>
            <a:ext cx="2590724" cy="457200"/>
          </a:xfrm>
          <a:prstGeom prst="rect">
            <a:avLst/>
          </a:prstGeom>
          <a:noFill/>
          <a:ln/>
        </p:spPr>
        <p:txBody>
          <a:bodyPr wrap="square" rtlCol="0" anchor="ctr"/>
          <a:lstStyle/>
          <a:p>
            <a:pPr algn="ctr" indent="0" marL="0">
              <a:buNone/>
            </a:pPr>
            <a:r>
              <a:rPr lang="en-US" sz="1300" b="1" spc="200" kern="0" dirty="0">
                <a:solidFill>
                  <a:srgbClr val="FFFFFF"/>
                </a:solidFill>
                <a:latin typeface="Calibri" pitchFamily="34" charset="0"/>
                <a:ea typeface="Calibri" pitchFamily="34" charset="-122"/>
                <a:cs typeface="Calibri" pitchFamily="34" charset="-120"/>
              </a:rPr>
              <a:t>WAVE 2</a:t>
            </a:r>
            <a:endParaRPr lang="en-US" sz="1300" dirty="0"/>
          </a:p>
        </p:txBody>
      </p:sp>
      <p:sp>
        <p:nvSpPr>
          <p:cNvPr id="14" name="Text 12"/>
          <p:cNvSpPr/>
          <p:nvPr/>
        </p:nvSpPr>
        <p:spPr>
          <a:xfrm>
            <a:off x="3550844" y="3108960"/>
            <a:ext cx="2316404" cy="365760"/>
          </a:xfrm>
          <a:prstGeom prst="rect">
            <a:avLst/>
          </a:prstGeom>
          <a:noFill/>
          <a:ln/>
        </p:spPr>
        <p:txBody>
          <a:bodyPr wrap="square" rtlCol="0" anchor="ctr"/>
          <a:lstStyle/>
          <a:p>
            <a:pPr algn="ctr" indent="0" marL="0">
              <a:buNone/>
            </a:pPr>
            <a:r>
              <a:rPr lang="en-US" sz="1500" b="1" dirty="0">
                <a:solidFill>
                  <a:srgbClr val="12395C"/>
                </a:solidFill>
                <a:latin typeface="Cambria" pitchFamily="34" charset="0"/>
                <a:ea typeface="Cambria" pitchFamily="34" charset="-122"/>
                <a:cs typeface="Cambria" pitchFamily="34" charset="-120"/>
              </a:rPr>
              <a:t>Star Power</a:t>
            </a:r>
            <a:endParaRPr lang="en-US" sz="1500" dirty="0"/>
          </a:p>
        </p:txBody>
      </p:sp>
      <p:sp>
        <p:nvSpPr>
          <p:cNvPr id="15" name="Text 13"/>
          <p:cNvSpPr/>
          <p:nvPr/>
        </p:nvSpPr>
        <p:spPr>
          <a:xfrm>
            <a:off x="3550844" y="3520440"/>
            <a:ext cx="2316404" cy="914400"/>
          </a:xfrm>
          <a:prstGeom prst="rect">
            <a:avLst/>
          </a:prstGeom>
          <a:noFill/>
          <a:ln/>
        </p:spPr>
        <p:txBody>
          <a:bodyPr wrap="square" rtlCol="0" anchor="ctr"/>
          <a:lstStyle/>
          <a:p>
            <a:pPr algn="ctr" indent="0" marL="0">
              <a:lnSpc>
                <a:spcPct val="110000"/>
              </a:lnSpc>
              <a:buNone/>
            </a:pPr>
            <a:r>
              <a:rPr lang="en-US" sz="1200" dirty="0">
                <a:solidFill>
                  <a:srgbClr val="1A1F26"/>
                </a:solidFill>
                <a:latin typeface="Calibri" pitchFamily="34" charset="0"/>
                <a:ea typeface="Calibri" pitchFamily="34" charset="-122"/>
                <a:cs typeface="Calibri" pitchFamily="34" charset="-120"/>
              </a:rPr>
              <a:t>Julie Gibson Clark joins the faculty</a:t>
            </a:r>
            <a:endParaRPr lang="en-US" sz="1200" dirty="0"/>
          </a:p>
        </p:txBody>
      </p:sp>
      <p:sp>
        <p:nvSpPr>
          <p:cNvPr id="16" name="Text 14"/>
          <p:cNvSpPr/>
          <p:nvPr/>
        </p:nvSpPr>
        <p:spPr>
          <a:xfrm>
            <a:off x="3550844" y="4526280"/>
            <a:ext cx="2316404" cy="320040"/>
          </a:xfrm>
          <a:prstGeom prst="rect">
            <a:avLst/>
          </a:prstGeom>
          <a:noFill/>
          <a:ln/>
        </p:spPr>
        <p:txBody>
          <a:bodyPr wrap="square" rtlCol="0" anchor="ctr"/>
          <a:lstStyle/>
          <a:p>
            <a:pPr algn="ctr" indent="0" marL="0">
              <a:buNone/>
            </a:pPr>
            <a:r>
              <a:rPr lang="en-US" sz="1200" b="1" dirty="0">
                <a:solidFill>
                  <a:srgbClr val="5C6672"/>
                </a:solidFill>
                <a:latin typeface="Calibri" pitchFamily="34" charset="0"/>
                <a:ea typeface="Calibri" pitchFamily="34" charset="-122"/>
                <a:cs typeface="Calibri" pitchFamily="34" charset="-120"/>
              </a:rPr>
              <a:t>7 articles</a:t>
            </a:r>
            <a:endParaRPr lang="en-US" sz="1200" dirty="0"/>
          </a:p>
        </p:txBody>
      </p:sp>
      <p:sp>
        <p:nvSpPr>
          <p:cNvPr id="17" name="Shape 15"/>
          <p:cNvSpPr/>
          <p:nvPr/>
        </p:nvSpPr>
        <p:spPr>
          <a:xfrm>
            <a:off x="6187288" y="2514600"/>
            <a:ext cx="2590724" cy="2468880"/>
          </a:xfrm>
          <a:prstGeom prst="roundRect">
            <a:avLst>
              <a:gd name="adj" fmla="val 2963"/>
            </a:avLst>
          </a:prstGeom>
          <a:solidFill>
            <a:srgbClr val="FFFFFF"/>
          </a:solidFill>
          <a:ln w="12700">
            <a:solidFill>
              <a:srgbClr val="D9DDE2"/>
            </a:solidFill>
            <a:prstDash val="solid"/>
          </a:ln>
        </p:spPr>
      </p:sp>
      <p:sp>
        <p:nvSpPr>
          <p:cNvPr id="18" name="Shape 16"/>
          <p:cNvSpPr/>
          <p:nvPr/>
        </p:nvSpPr>
        <p:spPr>
          <a:xfrm>
            <a:off x="6187288" y="2514600"/>
            <a:ext cx="2590724" cy="457200"/>
          </a:xfrm>
          <a:prstGeom prst="roundRect">
            <a:avLst>
              <a:gd name="adj" fmla="val 16000"/>
            </a:avLst>
          </a:prstGeom>
          <a:solidFill>
            <a:srgbClr val="C08A2E"/>
          </a:solidFill>
          <a:ln/>
        </p:spPr>
      </p:sp>
      <p:sp>
        <p:nvSpPr>
          <p:cNvPr id="19" name="Text 17"/>
          <p:cNvSpPr/>
          <p:nvPr/>
        </p:nvSpPr>
        <p:spPr>
          <a:xfrm>
            <a:off x="6187288" y="2514600"/>
            <a:ext cx="2590724" cy="457200"/>
          </a:xfrm>
          <a:prstGeom prst="rect">
            <a:avLst/>
          </a:prstGeom>
          <a:noFill/>
          <a:ln/>
        </p:spPr>
        <p:txBody>
          <a:bodyPr wrap="square" rtlCol="0" anchor="ctr"/>
          <a:lstStyle/>
          <a:p>
            <a:pPr algn="ctr" indent="0" marL="0">
              <a:buNone/>
            </a:pPr>
            <a:r>
              <a:rPr lang="en-US" sz="1300" b="1" spc="200" kern="0" dirty="0">
                <a:solidFill>
                  <a:srgbClr val="FFFFFF"/>
                </a:solidFill>
                <a:latin typeface="Calibri" pitchFamily="34" charset="0"/>
                <a:ea typeface="Calibri" pitchFamily="34" charset="-122"/>
                <a:cs typeface="Calibri" pitchFamily="34" charset="-120"/>
              </a:rPr>
              <a:t>WAVE 3</a:t>
            </a:r>
            <a:endParaRPr lang="en-US" sz="1300" dirty="0"/>
          </a:p>
        </p:txBody>
      </p:sp>
      <p:sp>
        <p:nvSpPr>
          <p:cNvPr id="20" name="Text 18"/>
          <p:cNvSpPr/>
          <p:nvPr/>
        </p:nvSpPr>
        <p:spPr>
          <a:xfrm>
            <a:off x="6324448" y="3108960"/>
            <a:ext cx="2316404" cy="365760"/>
          </a:xfrm>
          <a:prstGeom prst="rect">
            <a:avLst/>
          </a:prstGeom>
          <a:noFill/>
          <a:ln/>
        </p:spPr>
        <p:txBody>
          <a:bodyPr wrap="square" rtlCol="0" anchor="ctr"/>
          <a:lstStyle/>
          <a:p>
            <a:pPr algn="ctr" indent="0" marL="0">
              <a:buNone/>
            </a:pPr>
            <a:r>
              <a:rPr lang="en-US" sz="1500" b="1" dirty="0">
                <a:solidFill>
                  <a:srgbClr val="8A5A0F"/>
                </a:solidFill>
                <a:latin typeface="Cambria" pitchFamily="34" charset="0"/>
                <a:ea typeface="Cambria" pitchFamily="34" charset="-122"/>
                <a:cs typeface="Cambria" pitchFamily="34" charset="-120"/>
              </a:rPr>
              <a:t>Product</a:t>
            </a:r>
            <a:endParaRPr lang="en-US" sz="1500" dirty="0"/>
          </a:p>
        </p:txBody>
      </p:sp>
      <p:sp>
        <p:nvSpPr>
          <p:cNvPr id="21" name="Text 19"/>
          <p:cNvSpPr/>
          <p:nvPr/>
        </p:nvSpPr>
        <p:spPr>
          <a:xfrm>
            <a:off x="6324448" y="3520440"/>
            <a:ext cx="2316404" cy="914400"/>
          </a:xfrm>
          <a:prstGeom prst="rect">
            <a:avLst/>
          </a:prstGeom>
          <a:noFill/>
          <a:ln/>
        </p:spPr>
        <p:txBody>
          <a:bodyPr wrap="square" rtlCol="0" anchor="ctr"/>
          <a:lstStyle/>
          <a:p>
            <a:pPr algn="ctr" indent="0" marL="0">
              <a:lnSpc>
                <a:spcPct val="110000"/>
              </a:lnSpc>
              <a:buNone/>
            </a:pPr>
            <a:r>
              <a:rPr lang="en-US" sz="1200" dirty="0">
                <a:solidFill>
                  <a:srgbClr val="1A1F26"/>
                </a:solidFill>
                <a:latin typeface="Calibri" pitchFamily="34" charset="0"/>
                <a:ea typeface="Calibri" pitchFamily="34" charset="-122"/>
                <a:cs typeface="Calibri" pitchFamily="34" charset="-120"/>
              </a:rPr>
              <a:t>The Longevity Hub app launches</a:t>
            </a:r>
            <a:endParaRPr lang="en-US" sz="1200" dirty="0"/>
          </a:p>
        </p:txBody>
      </p:sp>
      <p:sp>
        <p:nvSpPr>
          <p:cNvPr id="22" name="Text 20"/>
          <p:cNvSpPr/>
          <p:nvPr/>
        </p:nvSpPr>
        <p:spPr>
          <a:xfrm>
            <a:off x="6324448" y="4526280"/>
            <a:ext cx="2316404" cy="320040"/>
          </a:xfrm>
          <a:prstGeom prst="rect">
            <a:avLst/>
          </a:prstGeom>
          <a:noFill/>
          <a:ln/>
        </p:spPr>
        <p:txBody>
          <a:bodyPr wrap="square" rtlCol="0" anchor="ctr"/>
          <a:lstStyle/>
          <a:p>
            <a:pPr algn="ctr" indent="0" marL="0">
              <a:buNone/>
            </a:pPr>
            <a:r>
              <a:rPr lang="en-US" sz="1200" b="1" dirty="0">
                <a:solidFill>
                  <a:srgbClr val="5C6672"/>
                </a:solidFill>
                <a:latin typeface="Calibri" pitchFamily="34" charset="0"/>
                <a:ea typeface="Calibri" pitchFamily="34" charset="-122"/>
                <a:cs typeface="Calibri" pitchFamily="34" charset="-120"/>
              </a:rPr>
              <a:t>2 articles</a:t>
            </a:r>
            <a:endParaRPr lang="en-US" sz="1200" dirty="0"/>
          </a:p>
        </p:txBody>
      </p:sp>
      <p:sp>
        <p:nvSpPr>
          <p:cNvPr id="23" name="Shape 21"/>
          <p:cNvSpPr/>
          <p:nvPr/>
        </p:nvSpPr>
        <p:spPr>
          <a:xfrm>
            <a:off x="8960891" y="2514600"/>
            <a:ext cx="2590724" cy="2468880"/>
          </a:xfrm>
          <a:prstGeom prst="roundRect">
            <a:avLst>
              <a:gd name="adj" fmla="val 2963"/>
            </a:avLst>
          </a:prstGeom>
          <a:solidFill>
            <a:srgbClr val="FFFFFF"/>
          </a:solidFill>
          <a:ln w="12700">
            <a:solidFill>
              <a:srgbClr val="D9DDE2"/>
            </a:solidFill>
            <a:prstDash val="solid"/>
          </a:ln>
        </p:spPr>
      </p:sp>
      <p:sp>
        <p:nvSpPr>
          <p:cNvPr id="24" name="Shape 22"/>
          <p:cNvSpPr/>
          <p:nvPr/>
        </p:nvSpPr>
        <p:spPr>
          <a:xfrm>
            <a:off x="8960891" y="2514600"/>
            <a:ext cx="2590724" cy="457200"/>
          </a:xfrm>
          <a:prstGeom prst="roundRect">
            <a:avLst>
              <a:gd name="adj" fmla="val 16000"/>
            </a:avLst>
          </a:prstGeom>
          <a:solidFill>
            <a:srgbClr val="6E4A12"/>
          </a:solidFill>
          <a:ln/>
        </p:spPr>
      </p:sp>
      <p:sp>
        <p:nvSpPr>
          <p:cNvPr id="25" name="Text 23"/>
          <p:cNvSpPr/>
          <p:nvPr/>
        </p:nvSpPr>
        <p:spPr>
          <a:xfrm>
            <a:off x="8960891" y="2514600"/>
            <a:ext cx="2590724" cy="457200"/>
          </a:xfrm>
          <a:prstGeom prst="rect">
            <a:avLst/>
          </a:prstGeom>
          <a:noFill/>
          <a:ln/>
        </p:spPr>
        <p:txBody>
          <a:bodyPr wrap="square" rtlCol="0" anchor="ctr"/>
          <a:lstStyle/>
          <a:p>
            <a:pPr algn="ctr" indent="0" marL="0">
              <a:buNone/>
            </a:pPr>
            <a:r>
              <a:rPr lang="en-US" sz="1300" b="1" spc="200" kern="0" dirty="0">
                <a:solidFill>
                  <a:srgbClr val="FFFFFF"/>
                </a:solidFill>
                <a:latin typeface="Calibri" pitchFamily="34" charset="0"/>
                <a:ea typeface="Calibri" pitchFamily="34" charset="-122"/>
                <a:cs typeface="Calibri" pitchFamily="34" charset="-120"/>
              </a:rPr>
              <a:t>WAVE 4</a:t>
            </a:r>
            <a:endParaRPr lang="en-US" sz="1300" dirty="0"/>
          </a:p>
        </p:txBody>
      </p:sp>
      <p:sp>
        <p:nvSpPr>
          <p:cNvPr id="26" name="Text 24"/>
          <p:cNvSpPr/>
          <p:nvPr/>
        </p:nvSpPr>
        <p:spPr>
          <a:xfrm>
            <a:off x="9098051" y="3108960"/>
            <a:ext cx="2316404" cy="365760"/>
          </a:xfrm>
          <a:prstGeom prst="rect">
            <a:avLst/>
          </a:prstGeom>
          <a:noFill/>
          <a:ln/>
        </p:spPr>
        <p:txBody>
          <a:bodyPr wrap="square" rtlCol="0" anchor="ctr"/>
          <a:lstStyle/>
          <a:p>
            <a:pPr algn="ctr" indent="0" marL="0">
              <a:buNone/>
            </a:pPr>
            <a:r>
              <a:rPr lang="en-US" sz="1500" b="1" dirty="0">
                <a:solidFill>
                  <a:srgbClr val="6E4A12"/>
                </a:solidFill>
                <a:latin typeface="Cambria" pitchFamily="34" charset="0"/>
                <a:ea typeface="Cambria" pitchFamily="34" charset="-122"/>
                <a:cs typeface="Cambria" pitchFamily="34" charset="-120"/>
              </a:rPr>
              <a:t>Expansion</a:t>
            </a:r>
            <a:endParaRPr lang="en-US" sz="1500" dirty="0"/>
          </a:p>
        </p:txBody>
      </p:sp>
      <p:sp>
        <p:nvSpPr>
          <p:cNvPr id="27" name="Text 25"/>
          <p:cNvSpPr/>
          <p:nvPr/>
        </p:nvSpPr>
        <p:spPr>
          <a:xfrm>
            <a:off x="9098051" y="3520440"/>
            <a:ext cx="2316404" cy="914400"/>
          </a:xfrm>
          <a:prstGeom prst="rect">
            <a:avLst/>
          </a:prstGeom>
          <a:noFill/>
          <a:ln/>
        </p:spPr>
        <p:txBody>
          <a:bodyPr wrap="square" rtlCol="0" anchor="ctr"/>
          <a:lstStyle/>
          <a:p>
            <a:pPr algn="ctr" indent="0" marL="0">
              <a:lnSpc>
                <a:spcPct val="110000"/>
              </a:lnSpc>
              <a:buNone/>
            </a:pPr>
            <a:r>
              <a:rPr lang="en-US" sz="1200" dirty="0">
                <a:solidFill>
                  <a:srgbClr val="1A1F26"/>
                </a:solidFill>
                <a:latin typeface="Calibri" pitchFamily="34" charset="0"/>
                <a:ea typeface="Calibri" pitchFamily="34" charset="-122"/>
                <a:cs typeface="Calibri" pitchFamily="34" charset="-120"/>
              </a:rPr>
              <a:t>Six new longevity courses</a:t>
            </a:r>
            <a:endParaRPr lang="en-US" sz="1200" dirty="0"/>
          </a:p>
        </p:txBody>
      </p:sp>
      <p:sp>
        <p:nvSpPr>
          <p:cNvPr id="28" name="Text 26"/>
          <p:cNvSpPr/>
          <p:nvPr/>
        </p:nvSpPr>
        <p:spPr>
          <a:xfrm>
            <a:off x="9098051" y="4526280"/>
            <a:ext cx="2316404" cy="320040"/>
          </a:xfrm>
          <a:prstGeom prst="rect">
            <a:avLst/>
          </a:prstGeom>
          <a:noFill/>
          <a:ln/>
        </p:spPr>
        <p:txBody>
          <a:bodyPr wrap="square" rtlCol="0" anchor="ctr"/>
          <a:lstStyle/>
          <a:p>
            <a:pPr algn="ctr" indent="0" marL="0">
              <a:buNone/>
            </a:pPr>
            <a:r>
              <a:rPr lang="en-US" sz="1200" b="1" dirty="0">
                <a:solidFill>
                  <a:srgbClr val="5C6672"/>
                </a:solidFill>
                <a:latin typeface="Calibri" pitchFamily="34" charset="0"/>
                <a:ea typeface="Calibri" pitchFamily="34" charset="-122"/>
                <a:cs typeface="Calibri" pitchFamily="34" charset="-120"/>
              </a:rPr>
              <a:t>2 articles</a:t>
            </a:r>
            <a:endParaRPr lang="en-US" sz="1200" dirty="0"/>
          </a:p>
        </p:txBody>
      </p:sp>
      <p:sp>
        <p:nvSpPr>
          <p:cNvPr id="29" name="Shape 27"/>
          <p:cNvSpPr/>
          <p:nvPr/>
        </p:nvSpPr>
        <p:spPr>
          <a:xfrm>
            <a:off x="640080" y="5257800"/>
            <a:ext cx="10911535" cy="822960"/>
          </a:xfrm>
          <a:prstGeom prst="rect">
            <a:avLst/>
          </a:prstGeom>
          <a:solidFill>
            <a:srgbClr val="F2E9D8"/>
          </a:solidFill>
          <a:ln/>
        </p:spPr>
      </p:sp>
      <p:sp>
        <p:nvSpPr>
          <p:cNvPr id="30" name="Text 28"/>
          <p:cNvSpPr/>
          <p:nvPr/>
        </p:nvSpPr>
        <p:spPr>
          <a:xfrm>
            <a:off x="868680" y="5257800"/>
            <a:ext cx="10454335" cy="822960"/>
          </a:xfrm>
          <a:prstGeom prst="rect">
            <a:avLst/>
          </a:prstGeom>
          <a:noFill/>
          <a:ln/>
        </p:spPr>
        <p:txBody>
          <a:bodyPr wrap="square" rtlCol="0" anchor="ctr"/>
          <a:lstStyle/>
          <a:p>
            <a:pPr indent="0" marL="0">
              <a:lnSpc>
                <a:spcPct val="115000"/>
              </a:lnSpc>
              <a:buNone/>
            </a:pPr>
            <a:r>
              <a:rPr lang="en-US" sz="1300" b="1" dirty="0">
                <a:solidFill>
                  <a:srgbClr val="0C2A43"/>
                </a:solidFill>
                <a:latin typeface="Calibri" pitchFamily="34" charset="0"/>
                <a:ea typeface="Calibri" pitchFamily="34" charset="-122"/>
                <a:cs typeface="Calibri" pitchFamily="34" charset="-120"/>
              </a:rPr>
              <a:t>Cumulative impact:  </a:t>
            </a:r>
            <a:pPr indent="0" marL="0">
              <a:lnSpc>
                <a:spcPct val="115000"/>
              </a:lnSpc>
              <a:buNone/>
            </a:pPr>
            <a:r>
              <a:rPr lang="en-US" sz="1300" dirty="0">
                <a:solidFill>
                  <a:srgbClr val="1A1F26"/>
                </a:solidFill>
                <a:latin typeface="Calibri" pitchFamily="34" charset="0"/>
                <a:ea typeface="Calibri" pitchFamily="34" charset="-122"/>
                <a:cs typeface="Calibri" pitchFamily="34" charset="-120"/>
              </a:rPr>
              <a:t>By Wave 4, a journalist searching “eTeacher longevity” finds a market-entry story, a celebrity signing, a product launch, and a curriculum expansion — a company with momentum, not a one-off announcement.</a:t>
            </a:r>
            <a:endParaRPr lang="en-US" sz="1300" dirty="0"/>
          </a:p>
        </p:txBody>
      </p:sp>
      <p:sp>
        <p:nvSpPr>
          <p:cNvPr id="31" name="Text 29"/>
          <p:cNvSpPr/>
          <p:nvPr/>
        </p:nvSpPr>
        <p:spPr>
          <a:xfrm>
            <a:off x="640080" y="6473952"/>
            <a:ext cx="10911535" cy="274320"/>
          </a:xfrm>
          <a:prstGeom prst="rect">
            <a:avLst/>
          </a:prstGeom>
          <a:noFill/>
          <a:ln/>
        </p:spPr>
        <p:txBody>
          <a:bodyPr wrap="square" rtlCol="0" anchor="ctr"/>
          <a:lstStyle/>
          <a:p>
            <a:pPr algn="l" indent="0" marL="0">
              <a:buNone/>
            </a:pPr>
            <a:r>
              <a:rPr lang="en-US" sz="800" dirty="0">
                <a:solidFill>
                  <a:srgbClr val="5C6672"/>
                </a:solidFill>
                <a:latin typeface="Calibri" pitchFamily="34" charset="0"/>
                <a:ea typeface="Calibri" pitchFamily="34" charset="-122"/>
                <a:cs typeface="Calibri" pitchFamily="34" charset="-120"/>
              </a:rPr>
              <a:t>Source: </a:t>
            </a:r>
            <a:pPr algn="l" indent="0" marL="0">
              <a:buNone/>
            </a:pPr>
            <a:r>
              <a:rPr lang="en-US" sz="800" u="sng" dirty="0">
                <a:solidFill>
                  <a:srgbClr val="5C6672"/>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UBS Longevity Report (via Entrepreneur)</a:t>
            </a:r>
            <a:endParaRPr lang="en-US" sz="800" dirty="0"/>
          </a:p>
        </p:txBody>
      </p:sp>
      <p:sp>
        <p:nvSpPr>
          <p:cNvPr id="32" name="Text 30"/>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457200"/>
            <a:ext cx="10911535" cy="274320"/>
          </a:xfrm>
          <a:prstGeom prst="rect">
            <a:avLst/>
          </a:prstGeom>
          <a:noFill/>
          <a:ln/>
        </p:spPr>
        <p:txBody>
          <a:bodyPr wrap="square" rtlCol="0" anchor="ctr"/>
          <a:lstStyle/>
          <a:p>
            <a:pPr indent="0" marL="0">
              <a:buNone/>
            </a:pPr>
            <a:r>
              <a:rPr lang="en-US" sz="1200" b="1" spc="300" kern="0" dirty="0">
                <a:solidFill>
                  <a:srgbClr val="C08A2E"/>
                </a:solidFill>
                <a:latin typeface="Calibri" pitchFamily="34" charset="0"/>
                <a:ea typeface="Calibri" pitchFamily="34" charset="-122"/>
                <a:cs typeface="Calibri" pitchFamily="34" charset="-120"/>
              </a:rPr>
              <a:t>AUTHENTICITY</a:t>
            </a:r>
            <a:endParaRPr lang="en-US" sz="1200" dirty="0"/>
          </a:p>
        </p:txBody>
      </p:sp>
      <p:sp>
        <p:nvSpPr>
          <p:cNvPr id="3" name="Text 1"/>
          <p:cNvSpPr/>
          <p:nvPr/>
        </p:nvSpPr>
        <p:spPr>
          <a:xfrm>
            <a:off x="640080" y="749808"/>
            <a:ext cx="10911535" cy="822960"/>
          </a:xfrm>
          <a:prstGeom prst="rect">
            <a:avLst/>
          </a:prstGeom>
          <a:noFill/>
          <a:ln/>
        </p:spPr>
        <p:txBody>
          <a:bodyPr wrap="square" rtlCol="0" anchor="ctr"/>
          <a:lstStyle/>
          <a:p>
            <a:pPr indent="0" marL="0">
              <a:lnSpc>
                <a:spcPct val="100000"/>
              </a:lnSpc>
              <a:buNone/>
            </a:pPr>
            <a:r>
              <a:rPr lang="en-US" sz="2600" b="1" dirty="0">
                <a:solidFill>
                  <a:srgbClr val="0C2A43"/>
                </a:solidFill>
                <a:latin typeface="Cambria" pitchFamily="34" charset="0"/>
                <a:ea typeface="Cambria" pitchFamily="34" charset="-122"/>
                <a:cs typeface="Cambria" pitchFamily="34" charset="-120"/>
              </a:rPr>
              <a:t>Every quote sounds like the person saying it</a:t>
            </a:r>
            <a:endParaRPr lang="en-US" sz="2600" dirty="0"/>
          </a:p>
        </p:txBody>
      </p:sp>
      <p:sp>
        <p:nvSpPr>
          <p:cNvPr id="4" name="Text 2"/>
          <p:cNvSpPr/>
          <p:nvPr/>
        </p:nvSpPr>
        <p:spPr>
          <a:xfrm>
            <a:off x="640080" y="1554480"/>
            <a:ext cx="10911535" cy="548640"/>
          </a:xfrm>
          <a:prstGeom prst="rect">
            <a:avLst/>
          </a:prstGeom>
          <a:noFill/>
          <a:ln/>
        </p:spPr>
        <p:txBody>
          <a:bodyPr wrap="square" rtlCol="0" anchor="ctr"/>
          <a:lstStyle/>
          <a:p>
            <a:pPr indent="0" marL="0">
              <a:lnSpc>
                <a:spcPct val="115000"/>
              </a:lnSpc>
              <a:buNone/>
            </a:pPr>
            <a:r>
              <a:rPr lang="en-US" sz="1400" dirty="0">
                <a:solidFill>
                  <a:srgbClr val="1A1F26"/>
                </a:solidFill>
                <a:latin typeface="Calibri" pitchFamily="34" charset="0"/>
                <a:ea typeface="Calibri" pitchFamily="34" charset="-122"/>
                <a:cs typeface="Calibri" pitchFamily="34" charset="-120"/>
              </a:rPr>
              <a:t>Your CEO will read this word for word. So every Harel Tayeb quote is anchored to his real, published language — and every Julie Gibson Clark quote to hers.</a:t>
            </a:r>
            <a:endParaRPr lang="en-US" sz="1400" dirty="0"/>
          </a:p>
        </p:txBody>
      </p:sp>
      <p:sp>
        <p:nvSpPr>
          <p:cNvPr id="5" name="Shape 3"/>
          <p:cNvSpPr/>
          <p:nvPr/>
        </p:nvSpPr>
        <p:spPr>
          <a:xfrm>
            <a:off x="640080" y="2286000"/>
            <a:ext cx="5303520" cy="3383280"/>
          </a:xfrm>
          <a:prstGeom prst="roundRect">
            <a:avLst>
              <a:gd name="adj" fmla="val 1622"/>
            </a:avLst>
          </a:prstGeom>
          <a:solidFill>
            <a:srgbClr val="FFFFFF"/>
          </a:solidFill>
          <a:ln w="12700">
            <a:solidFill>
              <a:srgbClr val="D9DDE2"/>
            </a:solidFill>
            <a:prstDash val="solid"/>
          </a:ln>
        </p:spPr>
      </p:sp>
      <p:sp>
        <p:nvSpPr>
          <p:cNvPr id="6" name="Shape 4"/>
          <p:cNvSpPr/>
          <p:nvPr/>
        </p:nvSpPr>
        <p:spPr>
          <a:xfrm>
            <a:off x="640080" y="2286000"/>
            <a:ext cx="82296" cy="3383280"/>
          </a:xfrm>
          <a:prstGeom prst="rect">
            <a:avLst/>
          </a:prstGeom>
          <a:solidFill>
            <a:srgbClr val="0C2A43"/>
          </a:solidFill>
          <a:ln/>
        </p:spPr>
      </p:sp>
      <p:sp>
        <p:nvSpPr>
          <p:cNvPr id="7" name="Text 5"/>
          <p:cNvSpPr/>
          <p:nvPr/>
        </p:nvSpPr>
        <p:spPr>
          <a:xfrm>
            <a:off x="914400" y="2468880"/>
            <a:ext cx="4846320" cy="274320"/>
          </a:xfrm>
          <a:prstGeom prst="rect">
            <a:avLst/>
          </a:prstGeom>
          <a:noFill/>
          <a:ln/>
        </p:spPr>
        <p:txBody>
          <a:bodyPr wrap="square" rtlCol="0" anchor="ctr"/>
          <a:lstStyle/>
          <a:p>
            <a:pPr indent="0" marL="0">
              <a:buNone/>
            </a:pPr>
            <a:r>
              <a:rPr lang="en-US" sz="1200" b="1" dirty="0">
                <a:solidFill>
                  <a:srgbClr val="0C2A43"/>
                </a:solidFill>
                <a:latin typeface="Calibri" pitchFamily="34" charset="0"/>
                <a:ea typeface="Calibri" pitchFamily="34" charset="-122"/>
                <a:cs typeface="Calibri" pitchFamily="34" charset="-120"/>
              </a:rPr>
              <a:t>HAREL TAYEB — real published language</a:t>
            </a:r>
            <a:endParaRPr lang="en-US" sz="1200" dirty="0"/>
          </a:p>
        </p:txBody>
      </p:sp>
      <p:sp>
        <p:nvSpPr>
          <p:cNvPr id="8" name="Text 6"/>
          <p:cNvSpPr/>
          <p:nvPr/>
        </p:nvSpPr>
        <p:spPr>
          <a:xfrm>
            <a:off x="914400" y="2788920"/>
            <a:ext cx="4846320" cy="2743200"/>
          </a:xfrm>
          <a:prstGeom prst="rect">
            <a:avLst/>
          </a:prstGeom>
          <a:noFill/>
          <a:ln/>
        </p:spPr>
        <p:txBody>
          <a:bodyPr wrap="square" rtlCol="0" anchor="t"/>
          <a:lstStyle/>
          <a:p>
            <a:pPr indent="0" marL="0">
              <a:lnSpc>
                <a:spcPct val="115000"/>
              </a:lnSpc>
              <a:buNone/>
            </a:pPr>
            <a:r>
              <a:rPr lang="en-US" sz="1200" i="1" dirty="0">
                <a:solidFill>
                  <a:srgbClr val="1A1F26"/>
                </a:solidFill>
                <a:latin typeface="Calibri" pitchFamily="34" charset="0"/>
                <a:ea typeface="Calibri" pitchFamily="34" charset="-122"/>
                <a:cs typeface="Calibri" pitchFamily="34" charset="-120"/>
              </a:rPr>
              <a:t>“The world of education was stuck for hundreds of years, but in the age of artificial intelligence it is undergoing a dramatic transformation.”
</a:t>
            </a:r>
            <a:pPr indent="0" marL="0">
              <a:lnSpc>
                <a:spcPct val="115000"/>
              </a:lnSpc>
              <a:buNone/>
            </a:pPr>
            <a:r>
              <a:rPr lang="en-US" sz="1200" i="1" dirty="0">
                <a:solidFill>
                  <a:srgbClr val="1A1F26"/>
                </a:solidFill>
                <a:latin typeface="Calibri" pitchFamily="34" charset="0"/>
                <a:ea typeface="Calibri" pitchFamily="34" charset="-122"/>
                <a:cs typeface="Calibri" pitchFamily="34" charset="-120"/>
              </a:rPr>
              <a:t>“eTeacher offers a gym for the brain… keeping motivation and learning high.”
</a:t>
            </a:r>
            <a:pPr indent="0" marL="0">
              <a:lnSpc>
                <a:spcPct val="115000"/>
              </a:lnSpc>
              <a:buNone/>
            </a:pPr>
            <a:r>
              <a:rPr lang="en-US" sz="1200" i="1" dirty="0">
                <a:solidFill>
                  <a:srgbClr val="1A1F26"/>
                </a:solidFill>
                <a:latin typeface="Calibri" pitchFamily="34" charset="0"/>
                <a:ea typeface="Calibri" pitchFamily="34" charset="-122"/>
                <a:cs typeface="Calibri" pitchFamily="34" charset="-120"/>
              </a:rPr>
              <a:t>“My vision is to turn eTeacher into the Wiz of the education world.”
</a:t>
            </a:r>
            <a:pPr indent="0" marL="0">
              <a:lnSpc>
                <a:spcPct val="115000"/>
              </a:lnSpc>
              <a:buNone/>
            </a:pPr>
            <a:r>
              <a:rPr lang="en-US" sz="1200" i="1" dirty="0">
                <a:solidFill>
                  <a:srgbClr val="1A1F26"/>
                </a:solidFill>
                <a:latin typeface="Calibri" pitchFamily="34" charset="0"/>
                <a:ea typeface="Calibri" pitchFamily="34" charset="-122"/>
                <a:cs typeface="Calibri" pitchFamily="34" charset="-120"/>
              </a:rPr>
              <a:t>“…keep the mind active and vital in a world where technology may cause cognitive atrophy.”</a:t>
            </a:r>
            <a:endParaRPr lang="en-US" sz="1200" dirty="0"/>
          </a:p>
        </p:txBody>
      </p:sp>
      <p:sp>
        <p:nvSpPr>
          <p:cNvPr id="9" name="Shape 7"/>
          <p:cNvSpPr/>
          <p:nvPr/>
        </p:nvSpPr>
        <p:spPr>
          <a:xfrm>
            <a:off x="6217920" y="2286000"/>
            <a:ext cx="5303520" cy="3383280"/>
          </a:xfrm>
          <a:prstGeom prst="roundRect">
            <a:avLst>
              <a:gd name="adj" fmla="val 1622"/>
            </a:avLst>
          </a:prstGeom>
          <a:solidFill>
            <a:srgbClr val="FFFFFF"/>
          </a:solidFill>
          <a:ln w="12700">
            <a:solidFill>
              <a:srgbClr val="D9DDE2"/>
            </a:solidFill>
            <a:prstDash val="solid"/>
          </a:ln>
        </p:spPr>
      </p:sp>
      <p:sp>
        <p:nvSpPr>
          <p:cNvPr id="10" name="Shape 8"/>
          <p:cNvSpPr/>
          <p:nvPr/>
        </p:nvSpPr>
        <p:spPr>
          <a:xfrm>
            <a:off x="6217920" y="2286000"/>
            <a:ext cx="82296" cy="3383280"/>
          </a:xfrm>
          <a:prstGeom prst="rect">
            <a:avLst/>
          </a:prstGeom>
          <a:solidFill>
            <a:srgbClr val="C08A2E"/>
          </a:solidFill>
          <a:ln/>
        </p:spPr>
      </p:sp>
      <p:sp>
        <p:nvSpPr>
          <p:cNvPr id="11" name="Text 9"/>
          <p:cNvSpPr/>
          <p:nvPr/>
        </p:nvSpPr>
        <p:spPr>
          <a:xfrm>
            <a:off x="6492240" y="2468880"/>
            <a:ext cx="4846320" cy="274320"/>
          </a:xfrm>
          <a:prstGeom prst="rect">
            <a:avLst/>
          </a:prstGeom>
          <a:noFill/>
          <a:ln/>
        </p:spPr>
        <p:txBody>
          <a:bodyPr wrap="square" rtlCol="0" anchor="ctr"/>
          <a:lstStyle/>
          <a:p>
            <a:pPr indent="0" marL="0">
              <a:buNone/>
            </a:pPr>
            <a:r>
              <a:rPr lang="en-US" sz="1200" b="1" dirty="0">
                <a:solidFill>
                  <a:srgbClr val="6E4A12"/>
                </a:solidFill>
                <a:latin typeface="Calibri" pitchFamily="34" charset="0"/>
                <a:ea typeface="Calibri" pitchFamily="34" charset="-122"/>
                <a:cs typeface="Calibri" pitchFamily="34" charset="-120"/>
              </a:rPr>
              <a:t>JULIE GIBSON CLARK — real published language</a:t>
            </a:r>
            <a:endParaRPr lang="en-US" sz="1200" dirty="0"/>
          </a:p>
        </p:txBody>
      </p:sp>
      <p:sp>
        <p:nvSpPr>
          <p:cNvPr id="12" name="Text 10"/>
          <p:cNvSpPr/>
          <p:nvPr/>
        </p:nvSpPr>
        <p:spPr>
          <a:xfrm>
            <a:off x="6492240" y="2788920"/>
            <a:ext cx="4846320" cy="2743200"/>
          </a:xfrm>
          <a:prstGeom prst="rect">
            <a:avLst/>
          </a:prstGeom>
          <a:noFill/>
          <a:ln/>
        </p:spPr>
        <p:txBody>
          <a:bodyPr wrap="square" rtlCol="0" anchor="t"/>
          <a:lstStyle/>
          <a:p>
            <a:pPr indent="0" marL="0">
              <a:lnSpc>
                <a:spcPct val="115000"/>
              </a:lnSpc>
              <a:buNone/>
            </a:pPr>
            <a:r>
              <a:rPr lang="en-US" sz="1200" i="1" dirty="0">
                <a:solidFill>
                  <a:srgbClr val="1A1F26"/>
                </a:solidFill>
                <a:latin typeface="Calibri" pitchFamily="34" charset="0"/>
                <a:ea typeface="Calibri" pitchFamily="34" charset="-122"/>
                <a:cs typeface="Calibri" pitchFamily="34" charset="-120"/>
              </a:rPr>
              <a:t>“I want to be here for my son… I just want to have that energy forever!”
</a:t>
            </a:r>
            <a:pPr indent="0" marL="0">
              <a:lnSpc>
                <a:spcPct val="115000"/>
              </a:lnSpc>
              <a:buNone/>
            </a:pPr>
            <a:r>
              <a:rPr lang="en-US" sz="1200" i="1" dirty="0">
                <a:solidFill>
                  <a:srgbClr val="1A1F26"/>
                </a:solidFill>
                <a:latin typeface="Calibri" pitchFamily="34" charset="0"/>
                <a:ea typeface="Calibri" pitchFamily="34" charset="-122"/>
                <a:cs typeface="Calibri" pitchFamily="34" charset="-120"/>
              </a:rPr>
              <a:t>“I'm going to introduce one new habit and practice it until it becomes as routine as brushing my teeth.”
</a:t>
            </a:r>
            <a:pPr indent="0" marL="0">
              <a:lnSpc>
                <a:spcPct val="115000"/>
              </a:lnSpc>
              <a:buNone/>
            </a:pPr>
            <a:r>
              <a:rPr lang="en-US" sz="1200" i="1" dirty="0">
                <a:solidFill>
                  <a:srgbClr val="1A1F26"/>
                </a:solidFill>
                <a:latin typeface="Calibri" pitchFamily="34" charset="0"/>
                <a:ea typeface="Calibri" pitchFamily="34" charset="-122"/>
                <a:cs typeface="Calibri" pitchFamily="34" charset="-120"/>
              </a:rPr>
              <a:t>“It's not the years in your life, but the life in your years.”
</a:t>
            </a:r>
            <a:pPr indent="0" marL="0">
              <a:lnSpc>
                <a:spcPct val="115000"/>
              </a:lnSpc>
              <a:buNone/>
            </a:pPr>
            <a:r>
              <a:rPr lang="en-US" sz="1200" i="1" dirty="0">
                <a:solidFill>
                  <a:srgbClr val="1A1F26"/>
                </a:solidFill>
                <a:latin typeface="Calibri" pitchFamily="34" charset="0"/>
                <a:ea typeface="Calibri" pitchFamily="34" charset="-122"/>
                <a:cs typeface="Calibri" pitchFamily="34" charset="-120"/>
              </a:rPr>
              <a:t>“It really comes down to sleep, food, movement, and connection.”</a:t>
            </a:r>
            <a:endParaRPr lang="en-US" sz="1200" dirty="0"/>
          </a:p>
        </p:txBody>
      </p:sp>
      <p:sp>
        <p:nvSpPr>
          <p:cNvPr id="13" name="Text 11"/>
          <p:cNvSpPr/>
          <p:nvPr/>
        </p:nvSpPr>
        <p:spPr>
          <a:xfrm>
            <a:off x="640080" y="6473952"/>
            <a:ext cx="10911535" cy="274320"/>
          </a:xfrm>
          <a:prstGeom prst="rect">
            <a:avLst/>
          </a:prstGeom>
          <a:noFill/>
          <a:ln/>
        </p:spPr>
        <p:txBody>
          <a:bodyPr wrap="square" rtlCol="0" anchor="ctr"/>
          <a:lstStyle/>
          <a:p>
            <a:pPr algn="l" indent="0" marL="0">
              <a:buNone/>
            </a:pPr>
            <a:r>
              <a:rPr lang="en-US" sz="800" dirty="0">
                <a:solidFill>
                  <a:srgbClr val="5C6672"/>
                </a:solidFill>
                <a:latin typeface="Calibri" pitchFamily="34" charset="0"/>
                <a:ea typeface="Calibri" pitchFamily="34" charset="-122"/>
                <a:cs typeface="Calibri" pitchFamily="34" charset="-120"/>
              </a:rPr>
              <a:t>Source: </a:t>
            </a:r>
            <a:pPr algn="l" indent="0" marL="0">
              <a:buNone/>
            </a:pPr>
            <a:r>
              <a:rPr lang="en-US" sz="800" u="sng" dirty="0">
                <a:solidFill>
                  <a:srgbClr val="5C6672"/>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TheMarker</a:t>
            </a:r>
            <a:pPr algn="l" indent="0" marL="0">
              <a:buNone/>
            </a:pPr>
            <a:r>
              <a:rPr lang="en-US" sz="800" dirty="0">
                <a:solidFill>
                  <a:srgbClr val="9AA4AF"/>
                </a:solidFill>
                <a:latin typeface="Calibri" pitchFamily="34" charset="0"/>
                <a:ea typeface="Calibri" pitchFamily="34" charset="-122"/>
                <a:cs typeface="Calibri" pitchFamily="34" charset="-120"/>
              </a:rPr>
              <a:t>  ·  </a:t>
            </a:r>
            <a:pPr algn="l" indent="0" marL="0">
              <a:buNone/>
            </a:pPr>
            <a:r>
              <a:rPr lang="en-US" sz="800" u="sng" dirty="0">
                <a:solidFill>
                  <a:srgbClr val="5C6672"/>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Yahoo Life</a:t>
            </a:r>
            <a:pPr algn="l" indent="0" marL="0">
              <a:buNone/>
            </a:pPr>
            <a:r>
              <a:rPr lang="en-US" sz="800" dirty="0">
                <a:solidFill>
                  <a:srgbClr val="9AA4AF"/>
                </a:solidFill>
                <a:latin typeface="Calibri" pitchFamily="34" charset="0"/>
                <a:ea typeface="Calibri" pitchFamily="34" charset="-122"/>
                <a:cs typeface="Calibri" pitchFamily="34" charset="-120"/>
              </a:rPr>
              <a:t>  ·  </a:t>
            </a:r>
            <a:pPr algn="l" indent="0" marL="0">
              <a:buNone/>
            </a:pPr>
            <a:r>
              <a:rPr lang="en-US" sz="800" u="sng" dirty="0">
                <a:solidFill>
                  <a:srgbClr val="5C6672"/>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NOVOS</a:t>
            </a:r>
            <a:pPr algn="l" indent="0" marL="0">
              <a:buNone/>
            </a:pPr>
            <a:r>
              <a:rPr lang="en-US" sz="800" dirty="0">
                <a:solidFill>
                  <a:srgbClr val="9AA4AF"/>
                </a:solidFill>
                <a:latin typeface="Calibri" pitchFamily="34" charset="0"/>
                <a:ea typeface="Calibri" pitchFamily="34" charset="-122"/>
                <a:cs typeface="Calibri" pitchFamily="34" charset="-120"/>
              </a:rPr>
              <a:t>  ·  </a:t>
            </a:r>
            <a:pPr algn="l" indent="0" marL="0">
              <a:buNone/>
            </a:pPr>
            <a:r>
              <a:rPr lang="en-US" sz="800" u="sng" dirty="0">
                <a:solidFill>
                  <a:srgbClr val="5C6672"/>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Fox News</a:t>
            </a:r>
            <a:endParaRPr lang="en-US" sz="80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C2A43"/>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C08A2E"/>
          </a:solidFill>
          <a:ln/>
        </p:spPr>
      </p:sp>
      <p:sp>
        <p:nvSpPr>
          <p:cNvPr id="3" name="Text 1"/>
          <p:cNvSpPr/>
          <p:nvPr/>
        </p:nvSpPr>
        <p:spPr>
          <a:xfrm>
            <a:off x="640080" y="502920"/>
            <a:ext cx="10911535" cy="365760"/>
          </a:xfrm>
          <a:prstGeom prst="rect">
            <a:avLst/>
          </a:prstGeom>
          <a:noFill/>
          <a:ln/>
        </p:spPr>
        <p:txBody>
          <a:bodyPr wrap="square" rtlCol="0" anchor="ctr"/>
          <a:lstStyle/>
          <a:p>
            <a:pPr indent="0" marL="0">
              <a:buNone/>
            </a:pPr>
            <a:r>
              <a:rPr lang="en-US" sz="1500" b="1" spc="300" kern="0" dirty="0">
                <a:solidFill>
                  <a:srgbClr val="C08A2E"/>
                </a:solidFill>
                <a:latin typeface="Calibri" pitchFamily="34" charset="0"/>
                <a:ea typeface="Calibri" pitchFamily="34" charset="-122"/>
                <a:cs typeface="Calibri" pitchFamily="34" charset="-120"/>
              </a:rPr>
              <a:t>THE LAUNCH PLAN  ·  READ THIS FIRST</a:t>
            </a:r>
            <a:endParaRPr lang="en-US" sz="1500" dirty="0"/>
          </a:p>
        </p:txBody>
      </p:sp>
      <p:sp>
        <p:nvSpPr>
          <p:cNvPr id="4" name="Text 2"/>
          <p:cNvSpPr/>
          <p:nvPr/>
        </p:nvSpPr>
        <p:spPr>
          <a:xfrm>
            <a:off x="640080" y="932688"/>
            <a:ext cx="10911535" cy="822960"/>
          </a:xfrm>
          <a:prstGeom prst="rect">
            <a:avLst/>
          </a:prstGeom>
          <a:noFill/>
          <a:ln/>
        </p:spPr>
        <p:txBody>
          <a:bodyPr wrap="square" rtlCol="0" anchor="ctr"/>
          <a:lstStyle/>
          <a:p>
            <a:pPr indent="0" marL="0">
              <a:lnSpc>
                <a:spcPct val="100000"/>
              </a:lnSpc>
              <a:buNone/>
            </a:pPr>
            <a:r>
              <a:rPr lang="en-US" sz="2900" b="1" dirty="0">
                <a:solidFill>
                  <a:srgbClr val="FFFFFF"/>
                </a:solidFill>
                <a:latin typeface="Cambria" pitchFamily="34" charset="0"/>
                <a:ea typeface="Cambria" pitchFamily="34" charset="-122"/>
                <a:cs typeface="Cambria" pitchFamily="34" charset="-120"/>
              </a:rPr>
              <a:t>How we get Longevity Life Academy into the press — one person, no agency, 8 weeks</a:t>
            </a:r>
            <a:endParaRPr lang="en-US" sz="2900" dirty="0"/>
          </a:p>
        </p:txBody>
      </p:sp>
      <p:sp>
        <p:nvSpPr>
          <p:cNvPr id="5" name="Shape 3"/>
          <p:cNvSpPr/>
          <p:nvPr/>
        </p:nvSpPr>
        <p:spPr>
          <a:xfrm>
            <a:off x="640080" y="1901952"/>
            <a:ext cx="10911535" cy="713232"/>
          </a:xfrm>
          <a:prstGeom prst="roundRect">
            <a:avLst>
              <a:gd name="adj" fmla="val 7692"/>
            </a:avLst>
          </a:prstGeom>
          <a:solidFill>
            <a:srgbClr val="12395C"/>
          </a:solidFill>
          <a:ln w="12700">
            <a:solidFill>
              <a:srgbClr val="27506F"/>
            </a:solidFill>
            <a:prstDash val="solid"/>
          </a:ln>
        </p:spPr>
      </p:sp>
      <p:sp>
        <p:nvSpPr>
          <p:cNvPr id="6" name="Text 4"/>
          <p:cNvSpPr/>
          <p:nvPr/>
        </p:nvSpPr>
        <p:spPr>
          <a:xfrm>
            <a:off x="914400" y="1901952"/>
            <a:ext cx="10362895" cy="713232"/>
          </a:xfrm>
          <a:prstGeom prst="rect">
            <a:avLst/>
          </a:prstGeom>
          <a:noFill/>
          <a:ln/>
        </p:spPr>
        <p:txBody>
          <a:bodyPr wrap="square" rtlCol="0" anchor="ctr"/>
          <a:lstStyle/>
          <a:p>
            <a:pPr indent="0" marL="0">
              <a:lnSpc>
                <a:spcPct val="105000"/>
              </a:lnSpc>
              <a:buNone/>
            </a:pPr>
            <a:r>
              <a:rPr lang="en-US" sz="1600" b="1" dirty="0">
                <a:solidFill>
                  <a:srgbClr val="C08A2E"/>
                </a:solidFill>
                <a:latin typeface="Calibri" pitchFamily="34" charset="0"/>
                <a:ea typeface="Calibri" pitchFamily="34" charset="-122"/>
                <a:cs typeface="Calibri" pitchFamily="34" charset="-120"/>
              </a:rPr>
              <a:t>THE GOAL:   </a:t>
            </a:r>
            <a:pPr indent="0" marL="0">
              <a:lnSpc>
                <a:spcPct val="105000"/>
              </a:lnSpc>
              <a:buNone/>
            </a:pPr>
            <a:r>
              <a:rPr lang="en-US" sz="1600" dirty="0">
                <a:solidFill>
                  <a:srgbClr val="DCE3EA"/>
                </a:solidFill>
                <a:latin typeface="Calibri" pitchFamily="34" charset="0"/>
                <a:ea typeface="Calibri" pitchFamily="34" charset="-122"/>
                <a:cs typeface="Calibri" pitchFamily="34" charset="-120"/>
              </a:rPr>
              <a:t>One guaranteed news-wire story per wave, plus 3–6 earned press stories over 4 waves — for under $700 total.</a:t>
            </a:r>
            <a:endParaRPr lang="en-US" sz="1600" dirty="0"/>
          </a:p>
        </p:txBody>
      </p:sp>
      <p:sp>
        <p:nvSpPr>
          <p:cNvPr id="7" name="Text 5"/>
          <p:cNvSpPr/>
          <p:nvPr/>
        </p:nvSpPr>
        <p:spPr>
          <a:xfrm>
            <a:off x="640080" y="2779776"/>
            <a:ext cx="10911535" cy="292608"/>
          </a:xfrm>
          <a:prstGeom prst="rect">
            <a:avLst/>
          </a:prstGeom>
          <a:noFill/>
          <a:ln/>
        </p:spPr>
        <p:txBody>
          <a:bodyPr wrap="square" rtlCol="0" anchor="ctr"/>
          <a:lstStyle/>
          <a:p>
            <a:pPr indent="0" marL="0">
              <a:buNone/>
            </a:pPr>
            <a:r>
              <a:rPr lang="en-US" sz="1300" b="1" spc="100" kern="0" dirty="0">
                <a:solidFill>
                  <a:srgbClr val="9AA4AF"/>
                </a:solidFill>
                <a:latin typeface="Calibri" pitchFamily="34" charset="0"/>
                <a:ea typeface="Calibri" pitchFamily="34" charset="-122"/>
                <a:cs typeface="Calibri" pitchFamily="34" charset="-120"/>
              </a:rPr>
              <a:t>THE 6 PARTS THAT FOLLOW, IN ORDER:</a:t>
            </a:r>
            <a:endParaRPr lang="en-US" sz="1300" dirty="0"/>
          </a:p>
        </p:txBody>
      </p:sp>
      <p:sp>
        <p:nvSpPr>
          <p:cNvPr id="8" name="Shape 6"/>
          <p:cNvSpPr/>
          <p:nvPr/>
        </p:nvSpPr>
        <p:spPr>
          <a:xfrm>
            <a:off x="640080" y="3255264"/>
            <a:ext cx="585216" cy="585216"/>
          </a:xfrm>
          <a:prstGeom prst="ellipse">
            <a:avLst/>
          </a:prstGeom>
          <a:solidFill>
            <a:srgbClr val="C08A2E"/>
          </a:solidFill>
          <a:ln/>
        </p:spPr>
      </p:sp>
      <p:sp>
        <p:nvSpPr>
          <p:cNvPr id="9" name="Text 7"/>
          <p:cNvSpPr/>
          <p:nvPr/>
        </p:nvSpPr>
        <p:spPr>
          <a:xfrm>
            <a:off x="640080" y="3255264"/>
            <a:ext cx="585216" cy="585216"/>
          </a:xfrm>
          <a:prstGeom prst="rect">
            <a:avLst/>
          </a:prstGeom>
          <a:noFill/>
          <a:ln/>
        </p:spPr>
        <p:txBody>
          <a:bodyPr wrap="square" rtlCol="0" anchor="ctr"/>
          <a:lstStyle/>
          <a:p>
            <a:pPr algn="ctr" indent="0" marL="0">
              <a:buNone/>
            </a:pPr>
            <a:r>
              <a:rPr lang="en-US" sz="2400" b="1" dirty="0">
                <a:solidFill>
                  <a:srgbClr val="0C2A43"/>
                </a:solidFill>
                <a:latin typeface="Cambria" pitchFamily="34" charset="0"/>
                <a:ea typeface="Cambria" pitchFamily="34" charset="-122"/>
                <a:cs typeface="Cambria" pitchFamily="34" charset="-120"/>
              </a:rPr>
              <a:t>1</a:t>
            </a:r>
            <a:endParaRPr lang="en-US" sz="2400" dirty="0"/>
          </a:p>
        </p:txBody>
      </p:sp>
      <p:sp>
        <p:nvSpPr>
          <p:cNvPr id="10" name="Text 8"/>
          <p:cNvSpPr/>
          <p:nvPr/>
        </p:nvSpPr>
        <p:spPr>
          <a:xfrm>
            <a:off x="1426464" y="3182112"/>
            <a:ext cx="4486504" cy="365760"/>
          </a:xfrm>
          <a:prstGeom prst="rect">
            <a:avLst/>
          </a:prstGeom>
          <a:noFill/>
          <a:ln/>
        </p:spPr>
        <p:txBody>
          <a:bodyPr wrap="square"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WHERE we go</a:t>
            </a:r>
            <a:endParaRPr lang="en-US" sz="1800" dirty="0"/>
          </a:p>
        </p:txBody>
      </p:sp>
      <p:sp>
        <p:nvSpPr>
          <p:cNvPr id="11" name="Text 9"/>
          <p:cNvSpPr/>
          <p:nvPr/>
        </p:nvSpPr>
        <p:spPr>
          <a:xfrm>
            <a:off x="1426464" y="3566160"/>
            <a:ext cx="4486504" cy="603504"/>
          </a:xfrm>
          <a:prstGeom prst="rect">
            <a:avLst/>
          </a:prstGeom>
          <a:noFill/>
          <a:ln/>
        </p:spPr>
        <p:txBody>
          <a:bodyPr wrap="square" rtlCol="0" anchor="t"/>
          <a:lstStyle/>
          <a:p>
            <a:pPr indent="0" marL="0">
              <a:lnSpc>
                <a:spcPct val="112000"/>
              </a:lnSpc>
              <a:buNone/>
            </a:pPr>
            <a:r>
              <a:rPr lang="en-US" sz="1300" dirty="0">
                <a:solidFill>
                  <a:srgbClr val="C9D3DD"/>
                </a:solidFill>
                <a:latin typeface="Calibri" pitchFamily="34" charset="0"/>
                <a:ea typeface="Calibri" pitchFamily="34" charset="-122"/>
                <a:cs typeface="Calibri" pitchFamily="34" charset="-120"/>
              </a:rPr>
              <a:t>Two separate pushes: the U.S. (health &amp; consumer press) and Israel (business press).</a:t>
            </a:r>
            <a:endParaRPr lang="en-US" sz="1300" dirty="0"/>
          </a:p>
        </p:txBody>
      </p:sp>
      <p:sp>
        <p:nvSpPr>
          <p:cNvPr id="12" name="Shape 10"/>
          <p:cNvSpPr/>
          <p:nvPr/>
        </p:nvSpPr>
        <p:spPr>
          <a:xfrm>
            <a:off x="6278728" y="3255264"/>
            <a:ext cx="585216" cy="585216"/>
          </a:xfrm>
          <a:prstGeom prst="ellipse">
            <a:avLst/>
          </a:prstGeom>
          <a:solidFill>
            <a:srgbClr val="C08A2E"/>
          </a:solidFill>
          <a:ln/>
        </p:spPr>
      </p:sp>
      <p:sp>
        <p:nvSpPr>
          <p:cNvPr id="13" name="Text 11"/>
          <p:cNvSpPr/>
          <p:nvPr/>
        </p:nvSpPr>
        <p:spPr>
          <a:xfrm>
            <a:off x="6278728" y="3255264"/>
            <a:ext cx="585216" cy="585216"/>
          </a:xfrm>
          <a:prstGeom prst="rect">
            <a:avLst/>
          </a:prstGeom>
          <a:noFill/>
          <a:ln/>
        </p:spPr>
        <p:txBody>
          <a:bodyPr wrap="square" rtlCol="0" anchor="ctr"/>
          <a:lstStyle/>
          <a:p>
            <a:pPr algn="ctr" indent="0" marL="0">
              <a:buNone/>
            </a:pPr>
            <a:r>
              <a:rPr lang="en-US" sz="2400" b="1" dirty="0">
                <a:solidFill>
                  <a:srgbClr val="0C2A43"/>
                </a:solidFill>
                <a:latin typeface="Cambria" pitchFamily="34" charset="0"/>
                <a:ea typeface="Cambria" pitchFamily="34" charset="-122"/>
                <a:cs typeface="Cambria" pitchFamily="34" charset="-120"/>
              </a:rPr>
              <a:t>2</a:t>
            </a:r>
            <a:endParaRPr lang="en-US" sz="2400" dirty="0"/>
          </a:p>
        </p:txBody>
      </p:sp>
      <p:sp>
        <p:nvSpPr>
          <p:cNvPr id="14" name="Text 12"/>
          <p:cNvSpPr/>
          <p:nvPr/>
        </p:nvSpPr>
        <p:spPr>
          <a:xfrm>
            <a:off x="7065112" y="3182112"/>
            <a:ext cx="4486504" cy="365760"/>
          </a:xfrm>
          <a:prstGeom prst="rect">
            <a:avLst/>
          </a:prstGeom>
          <a:noFill/>
          <a:ln/>
        </p:spPr>
        <p:txBody>
          <a:bodyPr wrap="square"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HOW we get covered</a:t>
            </a:r>
            <a:endParaRPr lang="en-US" sz="1800" dirty="0"/>
          </a:p>
        </p:txBody>
      </p:sp>
      <p:sp>
        <p:nvSpPr>
          <p:cNvPr id="15" name="Text 13"/>
          <p:cNvSpPr/>
          <p:nvPr/>
        </p:nvSpPr>
        <p:spPr>
          <a:xfrm>
            <a:off x="7065112" y="3566160"/>
            <a:ext cx="4486504" cy="603504"/>
          </a:xfrm>
          <a:prstGeom prst="rect">
            <a:avLst/>
          </a:prstGeom>
          <a:noFill/>
          <a:ln/>
        </p:spPr>
        <p:txBody>
          <a:bodyPr wrap="square" rtlCol="0" anchor="t"/>
          <a:lstStyle/>
          <a:p>
            <a:pPr indent="0" marL="0">
              <a:lnSpc>
                <a:spcPct val="112000"/>
              </a:lnSpc>
              <a:buNone/>
            </a:pPr>
            <a:r>
              <a:rPr lang="en-US" sz="1300" dirty="0">
                <a:solidFill>
                  <a:srgbClr val="C9D3DD"/>
                </a:solidFill>
                <a:latin typeface="Calibri" pitchFamily="34" charset="0"/>
                <a:ea typeface="Calibri" pitchFamily="34" charset="-122"/>
                <a:cs typeface="Calibri" pitchFamily="34" charset="-120"/>
              </a:rPr>
              <a:t>The free ways and the paid ways to land press stories.</a:t>
            </a:r>
            <a:endParaRPr lang="en-US" sz="1300" dirty="0"/>
          </a:p>
        </p:txBody>
      </p:sp>
      <p:sp>
        <p:nvSpPr>
          <p:cNvPr id="16" name="Shape 14"/>
          <p:cNvSpPr/>
          <p:nvPr/>
        </p:nvSpPr>
        <p:spPr>
          <a:xfrm>
            <a:off x="640080" y="4334256"/>
            <a:ext cx="585216" cy="585216"/>
          </a:xfrm>
          <a:prstGeom prst="ellipse">
            <a:avLst/>
          </a:prstGeom>
          <a:solidFill>
            <a:srgbClr val="C08A2E"/>
          </a:solidFill>
          <a:ln/>
        </p:spPr>
      </p:sp>
      <p:sp>
        <p:nvSpPr>
          <p:cNvPr id="17" name="Text 15"/>
          <p:cNvSpPr/>
          <p:nvPr/>
        </p:nvSpPr>
        <p:spPr>
          <a:xfrm>
            <a:off x="640080" y="4334256"/>
            <a:ext cx="585216" cy="585216"/>
          </a:xfrm>
          <a:prstGeom prst="rect">
            <a:avLst/>
          </a:prstGeom>
          <a:noFill/>
          <a:ln/>
        </p:spPr>
        <p:txBody>
          <a:bodyPr wrap="square" rtlCol="0" anchor="ctr"/>
          <a:lstStyle/>
          <a:p>
            <a:pPr algn="ctr" indent="0" marL="0">
              <a:buNone/>
            </a:pPr>
            <a:r>
              <a:rPr lang="en-US" sz="2400" b="1" dirty="0">
                <a:solidFill>
                  <a:srgbClr val="0C2A43"/>
                </a:solidFill>
                <a:latin typeface="Cambria" pitchFamily="34" charset="0"/>
                <a:ea typeface="Cambria" pitchFamily="34" charset="-122"/>
                <a:cs typeface="Cambria" pitchFamily="34" charset="-120"/>
              </a:rPr>
              <a:t>3</a:t>
            </a:r>
            <a:endParaRPr lang="en-US" sz="2400" dirty="0"/>
          </a:p>
        </p:txBody>
      </p:sp>
      <p:sp>
        <p:nvSpPr>
          <p:cNvPr id="18" name="Text 16"/>
          <p:cNvSpPr/>
          <p:nvPr/>
        </p:nvSpPr>
        <p:spPr>
          <a:xfrm>
            <a:off x="1426464" y="4261104"/>
            <a:ext cx="4486504" cy="365760"/>
          </a:xfrm>
          <a:prstGeom prst="rect">
            <a:avLst/>
          </a:prstGeom>
          <a:noFill/>
          <a:ln/>
        </p:spPr>
        <p:txBody>
          <a:bodyPr wrap="square"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WHAT it costs</a:t>
            </a:r>
            <a:endParaRPr lang="en-US" sz="1800" dirty="0"/>
          </a:p>
        </p:txBody>
      </p:sp>
      <p:sp>
        <p:nvSpPr>
          <p:cNvPr id="19" name="Text 17"/>
          <p:cNvSpPr/>
          <p:nvPr/>
        </p:nvSpPr>
        <p:spPr>
          <a:xfrm>
            <a:off x="1426464" y="4645152"/>
            <a:ext cx="4486504" cy="603504"/>
          </a:xfrm>
          <a:prstGeom prst="rect">
            <a:avLst/>
          </a:prstGeom>
          <a:noFill/>
          <a:ln/>
        </p:spPr>
        <p:txBody>
          <a:bodyPr wrap="square" rtlCol="0" anchor="t"/>
          <a:lstStyle/>
          <a:p>
            <a:pPr indent="0" marL="0">
              <a:lnSpc>
                <a:spcPct val="112000"/>
              </a:lnSpc>
              <a:buNone/>
            </a:pPr>
            <a:r>
              <a:rPr lang="en-US" sz="1300" dirty="0">
                <a:solidFill>
                  <a:srgbClr val="C9D3DD"/>
                </a:solidFill>
                <a:latin typeface="Calibri" pitchFamily="34" charset="0"/>
                <a:ea typeface="Calibri" pitchFamily="34" charset="-122"/>
                <a:cs typeface="Calibri" pitchFamily="34" charset="-120"/>
              </a:rPr>
              <a:t>Two budgets — a lean plan under $700 and a bigger premium option.</a:t>
            </a:r>
            <a:endParaRPr lang="en-US" sz="1300" dirty="0"/>
          </a:p>
        </p:txBody>
      </p:sp>
      <p:sp>
        <p:nvSpPr>
          <p:cNvPr id="20" name="Shape 18"/>
          <p:cNvSpPr/>
          <p:nvPr/>
        </p:nvSpPr>
        <p:spPr>
          <a:xfrm>
            <a:off x="6278728" y="4334256"/>
            <a:ext cx="585216" cy="585216"/>
          </a:xfrm>
          <a:prstGeom prst="ellipse">
            <a:avLst/>
          </a:prstGeom>
          <a:solidFill>
            <a:srgbClr val="C08A2E"/>
          </a:solidFill>
          <a:ln/>
        </p:spPr>
      </p:sp>
      <p:sp>
        <p:nvSpPr>
          <p:cNvPr id="21" name="Text 19"/>
          <p:cNvSpPr/>
          <p:nvPr/>
        </p:nvSpPr>
        <p:spPr>
          <a:xfrm>
            <a:off x="6278728" y="4334256"/>
            <a:ext cx="585216" cy="585216"/>
          </a:xfrm>
          <a:prstGeom prst="rect">
            <a:avLst/>
          </a:prstGeom>
          <a:noFill/>
          <a:ln/>
        </p:spPr>
        <p:txBody>
          <a:bodyPr wrap="square" rtlCol="0" anchor="ctr"/>
          <a:lstStyle/>
          <a:p>
            <a:pPr algn="ctr" indent="0" marL="0">
              <a:buNone/>
            </a:pPr>
            <a:r>
              <a:rPr lang="en-US" sz="2400" b="1" dirty="0">
                <a:solidFill>
                  <a:srgbClr val="0C2A43"/>
                </a:solidFill>
                <a:latin typeface="Cambria" pitchFamily="34" charset="0"/>
                <a:ea typeface="Cambria" pitchFamily="34" charset="-122"/>
                <a:cs typeface="Cambria" pitchFamily="34" charset="-120"/>
              </a:rPr>
              <a:t>4</a:t>
            </a:r>
            <a:endParaRPr lang="en-US" sz="2400" dirty="0"/>
          </a:p>
        </p:txBody>
      </p:sp>
      <p:sp>
        <p:nvSpPr>
          <p:cNvPr id="22" name="Text 20"/>
          <p:cNvSpPr/>
          <p:nvPr/>
        </p:nvSpPr>
        <p:spPr>
          <a:xfrm>
            <a:off x="7065112" y="4261104"/>
            <a:ext cx="4486504" cy="365760"/>
          </a:xfrm>
          <a:prstGeom prst="rect">
            <a:avLst/>
          </a:prstGeom>
          <a:noFill/>
          <a:ln/>
        </p:spPr>
        <p:txBody>
          <a:bodyPr wrap="square"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THE ODDS</a:t>
            </a:r>
            <a:endParaRPr lang="en-US" sz="1800" dirty="0"/>
          </a:p>
        </p:txBody>
      </p:sp>
      <p:sp>
        <p:nvSpPr>
          <p:cNvPr id="23" name="Text 21"/>
          <p:cNvSpPr/>
          <p:nvPr/>
        </p:nvSpPr>
        <p:spPr>
          <a:xfrm>
            <a:off x="7065112" y="4645152"/>
            <a:ext cx="4486504" cy="603504"/>
          </a:xfrm>
          <a:prstGeom prst="rect">
            <a:avLst/>
          </a:prstGeom>
          <a:noFill/>
          <a:ln/>
        </p:spPr>
        <p:txBody>
          <a:bodyPr wrap="square" rtlCol="0" anchor="t"/>
          <a:lstStyle/>
          <a:p>
            <a:pPr indent="0" marL="0">
              <a:lnSpc>
                <a:spcPct val="112000"/>
              </a:lnSpc>
              <a:buNone/>
            </a:pPr>
            <a:r>
              <a:rPr lang="en-US" sz="1300" dirty="0">
                <a:solidFill>
                  <a:srgbClr val="C9D3DD"/>
                </a:solidFill>
                <a:latin typeface="Calibri" pitchFamily="34" charset="0"/>
                <a:ea typeface="Calibri" pitchFamily="34" charset="-122"/>
                <a:cs typeface="Calibri" pitchFamily="34" charset="-120"/>
              </a:rPr>
              <a:t>What’s guaranteed, likely, possible, and a long shot — stated honestly.</a:t>
            </a:r>
            <a:endParaRPr lang="en-US" sz="1300" dirty="0"/>
          </a:p>
        </p:txBody>
      </p:sp>
      <p:sp>
        <p:nvSpPr>
          <p:cNvPr id="24" name="Shape 22"/>
          <p:cNvSpPr/>
          <p:nvPr/>
        </p:nvSpPr>
        <p:spPr>
          <a:xfrm>
            <a:off x="640080" y="5413248"/>
            <a:ext cx="585216" cy="585216"/>
          </a:xfrm>
          <a:prstGeom prst="ellipse">
            <a:avLst/>
          </a:prstGeom>
          <a:solidFill>
            <a:srgbClr val="C08A2E"/>
          </a:solidFill>
          <a:ln/>
        </p:spPr>
      </p:sp>
      <p:sp>
        <p:nvSpPr>
          <p:cNvPr id="25" name="Text 23"/>
          <p:cNvSpPr/>
          <p:nvPr/>
        </p:nvSpPr>
        <p:spPr>
          <a:xfrm>
            <a:off x="640080" y="5413248"/>
            <a:ext cx="585216" cy="585216"/>
          </a:xfrm>
          <a:prstGeom prst="rect">
            <a:avLst/>
          </a:prstGeom>
          <a:noFill/>
          <a:ln/>
        </p:spPr>
        <p:txBody>
          <a:bodyPr wrap="square" rtlCol="0" anchor="ctr"/>
          <a:lstStyle/>
          <a:p>
            <a:pPr algn="ctr" indent="0" marL="0">
              <a:buNone/>
            </a:pPr>
            <a:r>
              <a:rPr lang="en-US" sz="2400" b="1" dirty="0">
                <a:solidFill>
                  <a:srgbClr val="0C2A43"/>
                </a:solidFill>
                <a:latin typeface="Cambria" pitchFamily="34" charset="0"/>
                <a:ea typeface="Cambria" pitchFamily="34" charset="-122"/>
                <a:cs typeface="Cambria" pitchFamily="34" charset="-120"/>
              </a:rPr>
              <a:t>5</a:t>
            </a:r>
            <a:endParaRPr lang="en-US" sz="2400" dirty="0"/>
          </a:p>
        </p:txBody>
      </p:sp>
      <p:sp>
        <p:nvSpPr>
          <p:cNvPr id="26" name="Text 24"/>
          <p:cNvSpPr/>
          <p:nvPr/>
        </p:nvSpPr>
        <p:spPr>
          <a:xfrm>
            <a:off x="1426464" y="5340096"/>
            <a:ext cx="4486504" cy="365760"/>
          </a:xfrm>
          <a:prstGeom prst="rect">
            <a:avLst/>
          </a:prstGeom>
          <a:noFill/>
          <a:ln/>
        </p:spPr>
        <p:txBody>
          <a:bodyPr wrap="square"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THE PLAY</a:t>
            </a:r>
            <a:endParaRPr lang="en-US" sz="1800" dirty="0"/>
          </a:p>
        </p:txBody>
      </p:sp>
      <p:sp>
        <p:nvSpPr>
          <p:cNvPr id="27" name="Text 25"/>
          <p:cNvSpPr/>
          <p:nvPr/>
        </p:nvSpPr>
        <p:spPr>
          <a:xfrm>
            <a:off x="1426464" y="5724144"/>
            <a:ext cx="4486504" cy="603504"/>
          </a:xfrm>
          <a:prstGeom prst="rect">
            <a:avLst/>
          </a:prstGeom>
          <a:noFill/>
          <a:ln/>
        </p:spPr>
        <p:txBody>
          <a:bodyPr wrap="square" rtlCol="0" anchor="t"/>
          <a:lstStyle/>
          <a:p>
            <a:pPr indent="0" marL="0">
              <a:lnSpc>
                <a:spcPct val="112000"/>
              </a:lnSpc>
              <a:buNone/>
            </a:pPr>
            <a:r>
              <a:rPr lang="en-US" sz="1300" dirty="0">
                <a:solidFill>
                  <a:srgbClr val="C9D3DD"/>
                </a:solidFill>
                <a:latin typeface="Calibri" pitchFamily="34" charset="0"/>
                <a:ea typeface="Calibri" pitchFamily="34" charset="-122"/>
                <a:cs typeface="Calibri" pitchFamily="34" charset="-120"/>
              </a:rPr>
              <a:t>The exact day-by-day checklist we repeat for each of the four waves.</a:t>
            </a:r>
            <a:endParaRPr lang="en-US" sz="1300" dirty="0"/>
          </a:p>
        </p:txBody>
      </p:sp>
      <p:sp>
        <p:nvSpPr>
          <p:cNvPr id="28" name="Shape 26"/>
          <p:cNvSpPr/>
          <p:nvPr/>
        </p:nvSpPr>
        <p:spPr>
          <a:xfrm>
            <a:off x="6278728" y="5413248"/>
            <a:ext cx="585216" cy="585216"/>
          </a:xfrm>
          <a:prstGeom prst="ellipse">
            <a:avLst/>
          </a:prstGeom>
          <a:solidFill>
            <a:srgbClr val="C08A2E"/>
          </a:solidFill>
          <a:ln/>
        </p:spPr>
      </p:sp>
      <p:sp>
        <p:nvSpPr>
          <p:cNvPr id="29" name="Text 27"/>
          <p:cNvSpPr/>
          <p:nvPr/>
        </p:nvSpPr>
        <p:spPr>
          <a:xfrm>
            <a:off x="6278728" y="5413248"/>
            <a:ext cx="585216" cy="585216"/>
          </a:xfrm>
          <a:prstGeom prst="rect">
            <a:avLst/>
          </a:prstGeom>
          <a:noFill/>
          <a:ln/>
        </p:spPr>
        <p:txBody>
          <a:bodyPr wrap="square" rtlCol="0" anchor="ctr"/>
          <a:lstStyle/>
          <a:p>
            <a:pPr algn="ctr" indent="0" marL="0">
              <a:buNone/>
            </a:pPr>
            <a:r>
              <a:rPr lang="en-US" sz="2400" b="1" dirty="0">
                <a:solidFill>
                  <a:srgbClr val="0C2A43"/>
                </a:solidFill>
                <a:latin typeface="Cambria" pitchFamily="34" charset="0"/>
                <a:ea typeface="Cambria" pitchFamily="34" charset="-122"/>
                <a:cs typeface="Cambria" pitchFamily="34" charset="-120"/>
              </a:rPr>
              <a:t>6</a:t>
            </a:r>
            <a:endParaRPr lang="en-US" sz="2400" dirty="0"/>
          </a:p>
        </p:txBody>
      </p:sp>
      <p:sp>
        <p:nvSpPr>
          <p:cNvPr id="30" name="Text 28"/>
          <p:cNvSpPr/>
          <p:nvPr/>
        </p:nvSpPr>
        <p:spPr>
          <a:xfrm>
            <a:off x="7065112" y="5340096"/>
            <a:ext cx="4486504" cy="365760"/>
          </a:xfrm>
          <a:prstGeom prst="rect">
            <a:avLst/>
          </a:prstGeom>
          <a:noFill/>
          <a:ln/>
        </p:spPr>
        <p:txBody>
          <a:bodyPr wrap="square"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DO THIS WEEK</a:t>
            </a:r>
            <a:endParaRPr lang="en-US" sz="1800" dirty="0"/>
          </a:p>
        </p:txBody>
      </p:sp>
      <p:sp>
        <p:nvSpPr>
          <p:cNvPr id="31" name="Text 29"/>
          <p:cNvSpPr/>
          <p:nvPr/>
        </p:nvSpPr>
        <p:spPr>
          <a:xfrm>
            <a:off x="7065112" y="5724144"/>
            <a:ext cx="4486504" cy="603504"/>
          </a:xfrm>
          <a:prstGeom prst="rect">
            <a:avLst/>
          </a:prstGeom>
          <a:noFill/>
          <a:ln/>
        </p:spPr>
        <p:txBody>
          <a:bodyPr wrap="square" rtlCol="0" anchor="t"/>
          <a:lstStyle/>
          <a:p>
            <a:pPr indent="0" marL="0">
              <a:lnSpc>
                <a:spcPct val="112000"/>
              </a:lnSpc>
              <a:buNone/>
            </a:pPr>
            <a:r>
              <a:rPr lang="en-US" sz="1300" dirty="0">
                <a:solidFill>
                  <a:srgbClr val="C9D3DD"/>
                </a:solidFill>
                <a:latin typeface="Calibri" pitchFamily="34" charset="0"/>
                <a:ea typeface="Calibri" pitchFamily="34" charset="-122"/>
                <a:cs typeface="Calibri" pitchFamily="34" charset="-120"/>
              </a:rPr>
              <a:t>The 7 things to finish before Wave 1 goes live.</a:t>
            </a:r>
            <a:endParaRPr lang="en-US" sz="1300" dirty="0"/>
          </a:p>
        </p:txBody>
      </p:sp>
      <p:sp>
        <p:nvSpPr>
          <p:cNvPr id="32" name="Text 30"/>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768096"/>
            <a:ext cx="10911535" cy="731520"/>
          </a:xfrm>
          <a:prstGeom prst="rect">
            <a:avLst/>
          </a:prstGeom>
          <a:noFill/>
          <a:ln/>
        </p:spPr>
        <p:txBody>
          <a:bodyPr wrap="square" rtlCol="0" anchor="ctr"/>
          <a:lstStyle/>
          <a:p>
            <a:pPr indent="0" marL="0">
              <a:lnSpc>
                <a:spcPct val="100000"/>
              </a:lnSpc>
              <a:buNone/>
            </a:pPr>
            <a:r>
              <a:rPr lang="en-US" sz="2900" b="1" dirty="0">
                <a:solidFill>
                  <a:srgbClr val="0C2A43"/>
                </a:solidFill>
                <a:latin typeface="Cambria" pitchFamily="34" charset="0"/>
                <a:ea typeface="Cambria" pitchFamily="34" charset="-122"/>
                <a:cs typeface="Cambria" pitchFamily="34" charset="-120"/>
              </a:rPr>
              <a:t>Part 1 — Where we go: two press pushes at once</a:t>
            </a:r>
            <a:endParaRPr lang="en-US" sz="2900" dirty="0"/>
          </a:p>
        </p:txBody>
      </p:sp>
      <p:sp>
        <p:nvSpPr>
          <p:cNvPr id="3" name="Text 1"/>
          <p:cNvSpPr/>
          <p:nvPr/>
        </p:nvSpPr>
        <p:spPr>
          <a:xfrm>
            <a:off x="640080" y="457200"/>
            <a:ext cx="10911535" cy="292608"/>
          </a:xfrm>
          <a:prstGeom prst="rect">
            <a:avLst/>
          </a:prstGeom>
          <a:noFill/>
          <a:ln/>
        </p:spPr>
        <p:txBody>
          <a:bodyPr wrap="square" rtlCol="0" anchor="ctr"/>
          <a:lstStyle/>
          <a:p>
            <a:pPr indent="0" marL="0">
              <a:buNone/>
            </a:pPr>
            <a:r>
              <a:rPr lang="en-US" sz="1300" b="1" spc="200" kern="0" dirty="0">
                <a:solidFill>
                  <a:srgbClr val="C08A2E"/>
                </a:solidFill>
                <a:latin typeface="Calibri" pitchFamily="34" charset="0"/>
                <a:ea typeface="Calibri" pitchFamily="34" charset="-122"/>
                <a:cs typeface="Calibri" pitchFamily="34" charset="-120"/>
              </a:rPr>
              <a:t>THE LAUNCH PLAN</a:t>
            </a:r>
            <a:pPr indent="0" marL="0">
              <a:buNone/>
            </a:pPr>
            <a:r>
              <a:rPr lang="en-US" sz="1300" b="1" spc="200" kern="0" dirty="0">
                <a:solidFill>
                  <a:srgbClr val="5C6672"/>
                </a:solidFill>
                <a:latin typeface="Calibri" pitchFamily="34" charset="0"/>
                <a:ea typeface="Calibri" pitchFamily="34" charset="-122"/>
                <a:cs typeface="Calibri" pitchFamily="34" charset="-120"/>
              </a:rPr>
              <a:t>   ·   PART 1 OF 6</a:t>
            </a:r>
            <a:endParaRPr lang="en-US" sz="1300" dirty="0"/>
          </a:p>
        </p:txBody>
      </p:sp>
      <p:sp>
        <p:nvSpPr>
          <p:cNvPr id="4" name="Text 2"/>
          <p:cNvSpPr/>
          <p:nvPr/>
        </p:nvSpPr>
        <p:spPr>
          <a:xfrm>
            <a:off x="640080" y="1572768"/>
            <a:ext cx="10911535" cy="457200"/>
          </a:xfrm>
          <a:prstGeom prst="rect">
            <a:avLst/>
          </a:prstGeom>
          <a:noFill/>
          <a:ln/>
        </p:spPr>
        <p:txBody>
          <a:bodyPr wrap="square" rtlCol="0" anchor="t"/>
          <a:lstStyle/>
          <a:p>
            <a:pPr indent="0" marL="0">
              <a:lnSpc>
                <a:spcPct val="115000"/>
              </a:lnSpc>
              <a:buNone/>
            </a:pPr>
            <a:r>
              <a:rPr lang="en-US" sz="1500" b="1" dirty="0">
                <a:solidFill>
                  <a:srgbClr val="C08A2E"/>
                </a:solidFill>
                <a:latin typeface="Calibri" pitchFamily="34" charset="0"/>
                <a:ea typeface="Calibri" pitchFamily="34" charset="-122"/>
                <a:cs typeface="Calibri" pitchFamily="34" charset="-120"/>
              </a:rPr>
              <a:t>THIS ANSWERS:  </a:t>
            </a:r>
            <a:pPr indent="0" marL="0">
              <a:lnSpc>
                <a:spcPct val="115000"/>
              </a:lnSpc>
              <a:buNone/>
            </a:pPr>
            <a:r>
              <a:rPr lang="en-US" sz="1500" dirty="0">
                <a:solidFill>
                  <a:srgbClr val="1A1F26"/>
                </a:solidFill>
                <a:latin typeface="Calibri" pitchFamily="34" charset="0"/>
                <a:ea typeface="Calibri" pitchFamily="34" charset="-122"/>
                <a:cs typeface="Calibri" pitchFamily="34" charset="-120"/>
              </a:rPr>
              <a:t>Which countries, which readers, and which publications we aim at.</a:t>
            </a:r>
            <a:endParaRPr lang="en-US" sz="1500" dirty="0"/>
          </a:p>
        </p:txBody>
      </p:sp>
      <p:sp>
        <p:nvSpPr>
          <p:cNvPr id="5" name="Shape 3"/>
          <p:cNvSpPr/>
          <p:nvPr/>
        </p:nvSpPr>
        <p:spPr>
          <a:xfrm>
            <a:off x="640080" y="2286000"/>
            <a:ext cx="5272888" cy="3794760"/>
          </a:xfrm>
          <a:prstGeom prst="roundRect">
            <a:avLst>
              <a:gd name="adj" fmla="val 1446"/>
            </a:avLst>
          </a:prstGeom>
          <a:solidFill>
            <a:srgbClr val="FFFFFF"/>
          </a:solidFill>
          <a:ln w="12700">
            <a:solidFill>
              <a:srgbClr val="D9DDE2"/>
            </a:solidFill>
            <a:prstDash val="solid"/>
          </a:ln>
        </p:spPr>
      </p:sp>
      <p:sp>
        <p:nvSpPr>
          <p:cNvPr id="6" name="Shape 4"/>
          <p:cNvSpPr/>
          <p:nvPr/>
        </p:nvSpPr>
        <p:spPr>
          <a:xfrm>
            <a:off x="640080" y="2286000"/>
            <a:ext cx="5272888" cy="603504"/>
          </a:xfrm>
          <a:prstGeom prst="rect">
            <a:avLst/>
          </a:prstGeom>
          <a:solidFill>
            <a:srgbClr val="0C2A43"/>
          </a:solidFill>
          <a:ln/>
        </p:spPr>
      </p:sp>
      <p:sp>
        <p:nvSpPr>
          <p:cNvPr id="7" name="Text 5"/>
          <p:cNvSpPr/>
          <p:nvPr/>
        </p:nvSpPr>
        <p:spPr>
          <a:xfrm>
            <a:off x="896112" y="2286000"/>
            <a:ext cx="4760824" cy="603504"/>
          </a:xfrm>
          <a:prstGeom prst="rect">
            <a:avLst/>
          </a:prstGeom>
          <a:noFill/>
          <a:ln/>
        </p:spPr>
        <p:txBody>
          <a:bodyPr wrap="square"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UNITED STATES  —  our biggest market</a:t>
            </a:r>
            <a:endParaRPr lang="en-US" sz="1600" dirty="0"/>
          </a:p>
        </p:txBody>
      </p:sp>
      <p:sp>
        <p:nvSpPr>
          <p:cNvPr id="8" name="Text 6"/>
          <p:cNvSpPr/>
          <p:nvPr/>
        </p:nvSpPr>
        <p:spPr>
          <a:xfrm>
            <a:off x="896112" y="3035808"/>
            <a:ext cx="4760824" cy="566928"/>
          </a:xfrm>
          <a:prstGeom prst="rect">
            <a:avLst/>
          </a:prstGeom>
          <a:noFill/>
          <a:ln/>
        </p:spPr>
        <p:txBody>
          <a:bodyPr wrap="square" rtlCol="0" anchor="t"/>
          <a:lstStyle/>
          <a:p>
            <a:pPr indent="0" marL="0">
              <a:lnSpc>
                <a:spcPct val="114000"/>
              </a:lnSpc>
              <a:buNone/>
            </a:pPr>
            <a:r>
              <a:rPr lang="en-US" sz="1350" b="1" dirty="0">
                <a:solidFill>
                  <a:srgbClr val="1A1F26"/>
                </a:solidFill>
                <a:latin typeface="Calibri" pitchFamily="34" charset="0"/>
                <a:ea typeface="Calibri" pitchFamily="34" charset="-122"/>
                <a:cs typeface="Calibri" pitchFamily="34" charset="-120"/>
              </a:rPr>
              <a:t>About 70% of eTeacher customers are American. This is where sign-ups and growth happen.</a:t>
            </a:r>
            <a:endParaRPr lang="en-US" sz="1350" dirty="0"/>
          </a:p>
        </p:txBody>
      </p:sp>
      <p:sp>
        <p:nvSpPr>
          <p:cNvPr id="9" name="Text 7"/>
          <p:cNvSpPr/>
          <p:nvPr/>
        </p:nvSpPr>
        <p:spPr>
          <a:xfrm>
            <a:off x="896112" y="3694176"/>
            <a:ext cx="4760824" cy="713232"/>
          </a:xfrm>
          <a:prstGeom prst="rect">
            <a:avLst/>
          </a:prstGeom>
          <a:noFill/>
          <a:ln/>
        </p:spPr>
        <p:txBody>
          <a:bodyPr wrap="square" rtlCol="0" anchor="t"/>
          <a:lstStyle/>
          <a:p>
            <a:pPr indent="0" marL="0">
              <a:lnSpc>
                <a:spcPct val="114000"/>
              </a:lnSpc>
              <a:buNone/>
            </a:pPr>
            <a:r>
              <a:rPr lang="en-US" sz="1300" i="1" dirty="0">
                <a:solidFill>
                  <a:srgbClr val="0C2A43"/>
                </a:solidFill>
                <a:latin typeface="Calibri" pitchFamily="34" charset="0"/>
                <a:ea typeface="Calibri" pitchFamily="34" charset="-122"/>
                <a:cs typeface="Calibri" pitchFamily="34" charset="-120"/>
              </a:rPr>
              <a:t>THE STORY: health &amp; consumer. “Julie — the mom who out-scored a billionaire — joins an affordable longevity school.”</a:t>
            </a:r>
            <a:endParaRPr lang="en-US" sz="1300" dirty="0"/>
          </a:p>
        </p:txBody>
      </p:sp>
      <p:sp>
        <p:nvSpPr>
          <p:cNvPr id="10" name="Text 8"/>
          <p:cNvSpPr/>
          <p:nvPr/>
        </p:nvSpPr>
        <p:spPr>
          <a:xfrm>
            <a:off x="896112" y="4480560"/>
            <a:ext cx="4760824" cy="237744"/>
          </a:xfrm>
          <a:prstGeom prst="rect">
            <a:avLst/>
          </a:prstGeom>
          <a:noFill/>
          <a:ln/>
        </p:spPr>
        <p:txBody>
          <a:bodyPr wrap="square" rtlCol="0" anchor="ctr"/>
          <a:lstStyle/>
          <a:p>
            <a:pPr indent="0" marL="0">
              <a:buNone/>
            </a:pPr>
            <a:r>
              <a:rPr lang="en-US" sz="1100" b="1" spc="100" kern="0" dirty="0">
                <a:solidFill>
                  <a:srgbClr val="5C6672"/>
                </a:solidFill>
                <a:latin typeface="Calibri" pitchFamily="34" charset="0"/>
                <a:ea typeface="Calibri" pitchFamily="34" charset="-122"/>
                <a:cs typeface="Calibri" pitchFamily="34" charset="-120"/>
              </a:rPr>
              <a:t>WHO WE PITCH</a:t>
            </a:r>
            <a:endParaRPr lang="en-US" sz="1100" dirty="0"/>
          </a:p>
        </p:txBody>
      </p:sp>
      <p:sp>
        <p:nvSpPr>
          <p:cNvPr id="11" name="Text 9"/>
          <p:cNvSpPr/>
          <p:nvPr/>
        </p:nvSpPr>
        <p:spPr>
          <a:xfrm>
            <a:off x="896112" y="4736592"/>
            <a:ext cx="4760824" cy="1005840"/>
          </a:xfrm>
          <a:prstGeom prst="rect">
            <a:avLst/>
          </a:prstGeom>
          <a:noFill/>
          <a:ln/>
        </p:spPr>
        <p:txBody>
          <a:bodyPr wrap="square" rtlCol="0" anchor="t"/>
          <a:lstStyle/>
          <a:p>
            <a:pPr indent="0" marL="0">
              <a:lnSpc>
                <a:spcPct val="122000"/>
              </a:lnSpc>
              <a:buNone/>
            </a:pPr>
            <a:r>
              <a:rPr lang="en-US" sz="1250" dirty="0">
                <a:solidFill>
                  <a:srgbClr val="1A1F26"/>
                </a:solidFill>
                <a:latin typeface="Calibri" pitchFamily="34" charset="0"/>
                <a:ea typeface="Calibri" pitchFamily="34" charset="-122"/>
                <a:cs typeface="Calibri" pitchFamily="34" charset="-120"/>
              </a:rPr>
              <a:t>•  People, Today, Well+Good, Business Insider</a:t>
            </a:r>
            <a:endParaRPr lang="en-US" sz="1250" dirty="0"/>
          </a:p>
          <a:p>
            <a:pPr indent="0" marL="0">
              <a:lnSpc>
                <a:spcPct val="122000"/>
              </a:lnSpc>
              <a:buNone/>
            </a:pPr>
            <a:r>
              <a:rPr lang="en-US" sz="1250" dirty="0">
                <a:solidFill>
                  <a:srgbClr val="1A1F26"/>
                </a:solidFill>
                <a:latin typeface="Calibri" pitchFamily="34" charset="0"/>
                <a:ea typeface="Calibri" pitchFamily="34" charset="-122"/>
                <a:cs typeface="Calibri" pitchFamily="34" charset="-120"/>
              </a:rPr>
              <a:t>•  Fox News Health, GMA, local morning TV</a:t>
            </a:r>
            <a:endParaRPr lang="en-US" sz="1250" dirty="0"/>
          </a:p>
          <a:p>
            <a:pPr indent="0" marL="0">
              <a:lnSpc>
                <a:spcPct val="122000"/>
              </a:lnSpc>
              <a:buNone/>
            </a:pPr>
            <a:r>
              <a:rPr lang="en-US" sz="1250" dirty="0">
                <a:solidFill>
                  <a:srgbClr val="1A1F26"/>
                </a:solidFill>
                <a:latin typeface="Calibri" pitchFamily="34" charset="0"/>
                <a:ea typeface="Calibri" pitchFamily="34" charset="-122"/>
                <a:cs typeface="Calibri" pitchFamily="34" charset="-120"/>
              </a:rPr>
              <a:t>•  Longevity.Technology, Fierce Healthcare</a:t>
            </a:r>
            <a:endParaRPr lang="en-US" sz="1250" dirty="0"/>
          </a:p>
          <a:p>
            <a:pPr indent="0" marL="0">
              <a:lnSpc>
                <a:spcPct val="122000"/>
              </a:lnSpc>
              <a:buNone/>
            </a:pPr>
            <a:r>
              <a:rPr lang="en-US" sz="1250" dirty="0">
                <a:solidFill>
                  <a:srgbClr val="1A1F26"/>
                </a:solidFill>
                <a:latin typeface="Calibri" pitchFamily="34" charset="0"/>
                <a:ea typeface="Calibri" pitchFamily="34" charset="-122"/>
                <a:cs typeface="Calibri" pitchFamily="34" charset="-120"/>
              </a:rPr>
              <a:t>•  EdSurge, TechCrunch (product angle)</a:t>
            </a:r>
            <a:endParaRPr lang="en-US" sz="1250" dirty="0"/>
          </a:p>
        </p:txBody>
      </p:sp>
      <p:sp>
        <p:nvSpPr>
          <p:cNvPr id="12" name="Text 10"/>
          <p:cNvSpPr/>
          <p:nvPr/>
        </p:nvSpPr>
        <p:spPr>
          <a:xfrm>
            <a:off x="896112" y="5687568"/>
            <a:ext cx="4760824" cy="329184"/>
          </a:xfrm>
          <a:prstGeom prst="rect">
            <a:avLst/>
          </a:prstGeom>
          <a:noFill/>
          <a:ln/>
        </p:spPr>
        <p:txBody>
          <a:bodyPr wrap="square" rtlCol="0" anchor="ctr"/>
          <a:lstStyle/>
          <a:p>
            <a:pPr indent="0" marL="0">
              <a:buNone/>
            </a:pPr>
            <a:r>
              <a:rPr lang="en-US" sz="1300" b="1" dirty="0">
                <a:solidFill>
                  <a:srgbClr val="0C2A43"/>
                </a:solidFill>
                <a:latin typeface="Calibri" pitchFamily="34" charset="0"/>
                <a:ea typeface="Calibri" pitchFamily="34" charset="-122"/>
                <a:cs typeface="Calibri" pitchFamily="34" charset="-120"/>
              </a:rPr>
              <a:t>TARGET: 2–4 US press stories + one TV segment</a:t>
            </a:r>
            <a:endParaRPr lang="en-US" sz="1300" dirty="0"/>
          </a:p>
        </p:txBody>
      </p:sp>
      <p:sp>
        <p:nvSpPr>
          <p:cNvPr id="13" name="Shape 11"/>
          <p:cNvSpPr/>
          <p:nvPr/>
        </p:nvSpPr>
        <p:spPr>
          <a:xfrm>
            <a:off x="6278728" y="2286000"/>
            <a:ext cx="5272888" cy="3794760"/>
          </a:xfrm>
          <a:prstGeom prst="roundRect">
            <a:avLst>
              <a:gd name="adj" fmla="val 1446"/>
            </a:avLst>
          </a:prstGeom>
          <a:solidFill>
            <a:srgbClr val="FFFFFF"/>
          </a:solidFill>
          <a:ln w="12700">
            <a:solidFill>
              <a:srgbClr val="D9DDE2"/>
            </a:solidFill>
            <a:prstDash val="solid"/>
          </a:ln>
        </p:spPr>
      </p:sp>
      <p:sp>
        <p:nvSpPr>
          <p:cNvPr id="14" name="Shape 12"/>
          <p:cNvSpPr/>
          <p:nvPr/>
        </p:nvSpPr>
        <p:spPr>
          <a:xfrm>
            <a:off x="6278728" y="2286000"/>
            <a:ext cx="5272888" cy="603504"/>
          </a:xfrm>
          <a:prstGeom prst="rect">
            <a:avLst/>
          </a:prstGeom>
          <a:solidFill>
            <a:srgbClr val="6E4A12"/>
          </a:solidFill>
          <a:ln/>
        </p:spPr>
      </p:sp>
      <p:sp>
        <p:nvSpPr>
          <p:cNvPr id="15" name="Text 13"/>
          <p:cNvSpPr/>
          <p:nvPr/>
        </p:nvSpPr>
        <p:spPr>
          <a:xfrm>
            <a:off x="6534760" y="2286000"/>
            <a:ext cx="4760824" cy="603504"/>
          </a:xfrm>
          <a:prstGeom prst="rect">
            <a:avLst/>
          </a:prstGeom>
          <a:noFill/>
          <a:ln/>
        </p:spPr>
        <p:txBody>
          <a:bodyPr wrap="square"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ISRAEL  —  our home country</a:t>
            </a:r>
            <a:endParaRPr lang="en-US" sz="1600" dirty="0"/>
          </a:p>
        </p:txBody>
      </p:sp>
      <p:sp>
        <p:nvSpPr>
          <p:cNvPr id="16" name="Text 14"/>
          <p:cNvSpPr/>
          <p:nvPr/>
        </p:nvSpPr>
        <p:spPr>
          <a:xfrm>
            <a:off x="6534760" y="3035808"/>
            <a:ext cx="4760824" cy="566928"/>
          </a:xfrm>
          <a:prstGeom prst="rect">
            <a:avLst/>
          </a:prstGeom>
          <a:noFill/>
          <a:ln/>
        </p:spPr>
        <p:txBody>
          <a:bodyPr wrap="square" rtlCol="0" anchor="t"/>
          <a:lstStyle/>
          <a:p>
            <a:pPr indent="0" marL="0">
              <a:lnSpc>
                <a:spcPct val="114000"/>
              </a:lnSpc>
              <a:buNone/>
            </a:pPr>
            <a:r>
              <a:rPr lang="en-US" sz="1350" b="1" dirty="0">
                <a:solidFill>
                  <a:srgbClr val="1A1F26"/>
                </a:solidFill>
                <a:latin typeface="Calibri" pitchFamily="34" charset="0"/>
                <a:ea typeface="Calibri" pitchFamily="34" charset="-122"/>
                <a:cs typeface="Calibri" pitchFamily="34" charset="-120"/>
              </a:rPr>
              <a:t>eTeacher is a 25-year-old Israeli company that press already know and have covered before.</a:t>
            </a:r>
            <a:endParaRPr lang="en-US" sz="1350" dirty="0"/>
          </a:p>
        </p:txBody>
      </p:sp>
      <p:sp>
        <p:nvSpPr>
          <p:cNvPr id="17" name="Text 15"/>
          <p:cNvSpPr/>
          <p:nvPr/>
        </p:nvSpPr>
        <p:spPr>
          <a:xfrm>
            <a:off x="6534760" y="3694176"/>
            <a:ext cx="4760824" cy="713232"/>
          </a:xfrm>
          <a:prstGeom prst="rect">
            <a:avLst/>
          </a:prstGeom>
          <a:noFill/>
          <a:ln/>
        </p:spPr>
        <p:txBody>
          <a:bodyPr wrap="square" rtlCol="0" anchor="t"/>
          <a:lstStyle/>
          <a:p>
            <a:pPr indent="0" marL="0">
              <a:lnSpc>
                <a:spcPct val="114000"/>
              </a:lnSpc>
              <a:buNone/>
            </a:pPr>
            <a:r>
              <a:rPr lang="en-US" sz="1300" i="1" dirty="0">
                <a:solidFill>
                  <a:srgbClr val="6E4A12"/>
                </a:solidFill>
                <a:latin typeface="Calibri" pitchFamily="34" charset="0"/>
                <a:ea typeface="Calibri" pitchFamily="34" charset="-122"/>
                <a:cs typeface="Calibri" pitchFamily="34" charset="-120"/>
              </a:rPr>
              <a:t>THE STORY: business &amp; national pride. “Veteran Israeli EdTech enters the $8T global longevity market.”</a:t>
            </a:r>
            <a:endParaRPr lang="en-US" sz="1300" dirty="0"/>
          </a:p>
        </p:txBody>
      </p:sp>
      <p:sp>
        <p:nvSpPr>
          <p:cNvPr id="18" name="Text 16"/>
          <p:cNvSpPr/>
          <p:nvPr/>
        </p:nvSpPr>
        <p:spPr>
          <a:xfrm>
            <a:off x="6534760" y="4480560"/>
            <a:ext cx="4760824" cy="237744"/>
          </a:xfrm>
          <a:prstGeom prst="rect">
            <a:avLst/>
          </a:prstGeom>
          <a:noFill/>
          <a:ln/>
        </p:spPr>
        <p:txBody>
          <a:bodyPr wrap="square" rtlCol="0" anchor="ctr"/>
          <a:lstStyle/>
          <a:p>
            <a:pPr indent="0" marL="0">
              <a:buNone/>
            </a:pPr>
            <a:r>
              <a:rPr lang="en-US" sz="1100" b="1" spc="100" kern="0" dirty="0">
                <a:solidFill>
                  <a:srgbClr val="5C6672"/>
                </a:solidFill>
                <a:latin typeface="Calibri" pitchFamily="34" charset="0"/>
                <a:ea typeface="Calibri" pitchFamily="34" charset="-122"/>
                <a:cs typeface="Calibri" pitchFamily="34" charset="-120"/>
              </a:rPr>
              <a:t>WHO WE PITCH</a:t>
            </a:r>
            <a:endParaRPr lang="en-US" sz="1100" dirty="0"/>
          </a:p>
        </p:txBody>
      </p:sp>
      <p:sp>
        <p:nvSpPr>
          <p:cNvPr id="19" name="Text 17"/>
          <p:cNvSpPr/>
          <p:nvPr/>
        </p:nvSpPr>
        <p:spPr>
          <a:xfrm>
            <a:off x="6534760" y="4736592"/>
            <a:ext cx="4760824" cy="1005840"/>
          </a:xfrm>
          <a:prstGeom prst="rect">
            <a:avLst/>
          </a:prstGeom>
          <a:noFill/>
          <a:ln/>
        </p:spPr>
        <p:txBody>
          <a:bodyPr wrap="square" rtlCol="0" anchor="t"/>
          <a:lstStyle/>
          <a:p>
            <a:pPr indent="0" marL="0">
              <a:lnSpc>
                <a:spcPct val="122000"/>
              </a:lnSpc>
              <a:buNone/>
            </a:pPr>
            <a:r>
              <a:rPr lang="en-US" sz="1250" dirty="0">
                <a:solidFill>
                  <a:srgbClr val="1A1F26"/>
                </a:solidFill>
                <a:latin typeface="Calibri" pitchFamily="34" charset="0"/>
                <a:ea typeface="Calibri" pitchFamily="34" charset="-122"/>
                <a:cs typeface="Calibri" pitchFamily="34" charset="-120"/>
              </a:rPr>
              <a:t>•  TheMarker, Globes, Calcalist</a:t>
            </a:r>
            <a:endParaRPr lang="en-US" sz="1250" dirty="0"/>
          </a:p>
          <a:p>
            <a:pPr indent="0" marL="0">
              <a:lnSpc>
                <a:spcPct val="122000"/>
              </a:lnSpc>
              <a:buNone/>
            </a:pPr>
            <a:r>
              <a:rPr lang="en-US" sz="1250" dirty="0">
                <a:solidFill>
                  <a:srgbClr val="1A1F26"/>
                </a:solidFill>
                <a:latin typeface="Calibri" pitchFamily="34" charset="0"/>
                <a:ea typeface="Calibri" pitchFamily="34" charset="-122"/>
                <a:cs typeface="Calibri" pitchFamily="34" charset="-120"/>
              </a:rPr>
              <a:t>•  Geektime, CTech (tech press)</a:t>
            </a:r>
            <a:endParaRPr lang="en-US" sz="1250" dirty="0"/>
          </a:p>
          <a:p>
            <a:pPr indent="0" marL="0">
              <a:lnSpc>
                <a:spcPct val="122000"/>
              </a:lnSpc>
              <a:buNone/>
            </a:pPr>
            <a:r>
              <a:rPr lang="en-US" sz="1250" dirty="0">
                <a:solidFill>
                  <a:srgbClr val="1A1F26"/>
                </a:solidFill>
                <a:latin typeface="Calibri" pitchFamily="34" charset="0"/>
                <a:ea typeface="Calibri" pitchFamily="34" charset="-122"/>
                <a:cs typeface="Calibri" pitchFamily="34" charset="-120"/>
              </a:rPr>
              <a:t>•  Ynet, Mako lifestyle &amp; health desks</a:t>
            </a:r>
            <a:endParaRPr lang="en-US" sz="1250" dirty="0"/>
          </a:p>
          <a:p>
            <a:pPr indent="0" marL="0">
              <a:lnSpc>
                <a:spcPct val="122000"/>
              </a:lnSpc>
              <a:buNone/>
            </a:pPr>
            <a:r>
              <a:rPr lang="en-US" sz="1250" dirty="0">
                <a:solidFill>
                  <a:srgbClr val="1A1F26"/>
                </a:solidFill>
                <a:latin typeface="Calibri" pitchFamily="34" charset="0"/>
                <a:ea typeface="Calibri" pitchFamily="34" charset="-122"/>
                <a:cs typeface="Calibri" pitchFamily="34" charset="-120"/>
              </a:rPr>
              <a:t>•  IVC, startup-nation newsletters</a:t>
            </a:r>
            <a:endParaRPr lang="en-US" sz="1250" dirty="0"/>
          </a:p>
        </p:txBody>
      </p:sp>
      <p:sp>
        <p:nvSpPr>
          <p:cNvPr id="20" name="Text 18"/>
          <p:cNvSpPr/>
          <p:nvPr/>
        </p:nvSpPr>
        <p:spPr>
          <a:xfrm>
            <a:off x="6534760" y="5687568"/>
            <a:ext cx="4760824" cy="329184"/>
          </a:xfrm>
          <a:prstGeom prst="rect">
            <a:avLst/>
          </a:prstGeom>
          <a:noFill/>
          <a:ln/>
        </p:spPr>
        <p:txBody>
          <a:bodyPr wrap="square" rtlCol="0" anchor="ctr"/>
          <a:lstStyle/>
          <a:p>
            <a:pPr indent="0" marL="0">
              <a:buNone/>
            </a:pPr>
            <a:r>
              <a:rPr lang="en-US" sz="1300" b="1" dirty="0">
                <a:solidFill>
                  <a:srgbClr val="6E4A12"/>
                </a:solidFill>
                <a:latin typeface="Calibri" pitchFamily="34" charset="0"/>
                <a:ea typeface="Calibri" pitchFamily="34" charset="-122"/>
                <a:cs typeface="Calibri" pitchFamily="34" charset="-120"/>
              </a:rPr>
              <a:t>TARGET: 1–2 Israeli business features</a:t>
            </a:r>
            <a:endParaRPr lang="en-US" sz="1300" dirty="0"/>
          </a:p>
        </p:txBody>
      </p:sp>
      <p:sp>
        <p:nvSpPr>
          <p:cNvPr id="21" name="Text 19"/>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768096"/>
            <a:ext cx="10911535" cy="731520"/>
          </a:xfrm>
          <a:prstGeom prst="rect">
            <a:avLst/>
          </a:prstGeom>
          <a:noFill/>
          <a:ln/>
        </p:spPr>
        <p:txBody>
          <a:bodyPr wrap="square" rtlCol="0" anchor="ctr"/>
          <a:lstStyle/>
          <a:p>
            <a:pPr indent="0" marL="0">
              <a:lnSpc>
                <a:spcPct val="100000"/>
              </a:lnSpc>
              <a:buNone/>
            </a:pPr>
            <a:r>
              <a:rPr lang="en-US" sz="2900" b="1" dirty="0">
                <a:solidFill>
                  <a:srgbClr val="0C2A43"/>
                </a:solidFill>
                <a:latin typeface="Cambria" pitchFamily="34" charset="0"/>
                <a:ea typeface="Cambria" pitchFamily="34" charset="-122"/>
                <a:cs typeface="Cambria" pitchFamily="34" charset="-120"/>
              </a:rPr>
              <a:t>Part 2 — How we get covered: the free ways</a:t>
            </a:r>
            <a:endParaRPr lang="en-US" sz="2900" dirty="0"/>
          </a:p>
        </p:txBody>
      </p:sp>
      <p:sp>
        <p:nvSpPr>
          <p:cNvPr id="3" name="Text 1"/>
          <p:cNvSpPr/>
          <p:nvPr/>
        </p:nvSpPr>
        <p:spPr>
          <a:xfrm>
            <a:off x="640080" y="457200"/>
            <a:ext cx="10911535" cy="292608"/>
          </a:xfrm>
          <a:prstGeom prst="rect">
            <a:avLst/>
          </a:prstGeom>
          <a:noFill/>
          <a:ln/>
        </p:spPr>
        <p:txBody>
          <a:bodyPr wrap="square" rtlCol="0" anchor="ctr"/>
          <a:lstStyle/>
          <a:p>
            <a:pPr indent="0" marL="0">
              <a:buNone/>
            </a:pPr>
            <a:r>
              <a:rPr lang="en-US" sz="1300" b="1" spc="200" kern="0" dirty="0">
                <a:solidFill>
                  <a:srgbClr val="C08A2E"/>
                </a:solidFill>
                <a:latin typeface="Calibri" pitchFamily="34" charset="0"/>
                <a:ea typeface="Calibri" pitchFamily="34" charset="-122"/>
                <a:cs typeface="Calibri" pitchFamily="34" charset="-120"/>
              </a:rPr>
              <a:t>THE LAUNCH PLAN</a:t>
            </a:r>
            <a:pPr indent="0" marL="0">
              <a:buNone/>
            </a:pPr>
            <a:r>
              <a:rPr lang="en-US" sz="1300" b="1" spc="200" kern="0" dirty="0">
                <a:solidFill>
                  <a:srgbClr val="5C6672"/>
                </a:solidFill>
                <a:latin typeface="Calibri" pitchFamily="34" charset="0"/>
                <a:ea typeface="Calibri" pitchFamily="34" charset="-122"/>
                <a:cs typeface="Calibri" pitchFamily="34" charset="-120"/>
              </a:rPr>
              <a:t>   ·   PART 2 OF 6   ·   STEP 1 OF 2</a:t>
            </a:r>
            <a:endParaRPr lang="en-US" sz="1300" dirty="0"/>
          </a:p>
        </p:txBody>
      </p:sp>
      <p:sp>
        <p:nvSpPr>
          <p:cNvPr id="4" name="Text 2"/>
          <p:cNvSpPr/>
          <p:nvPr/>
        </p:nvSpPr>
        <p:spPr>
          <a:xfrm>
            <a:off x="640080" y="1572768"/>
            <a:ext cx="10911535" cy="457200"/>
          </a:xfrm>
          <a:prstGeom prst="rect">
            <a:avLst/>
          </a:prstGeom>
          <a:noFill/>
          <a:ln/>
        </p:spPr>
        <p:txBody>
          <a:bodyPr wrap="square" rtlCol="0" anchor="t"/>
          <a:lstStyle/>
          <a:p>
            <a:pPr indent="0" marL="0">
              <a:lnSpc>
                <a:spcPct val="115000"/>
              </a:lnSpc>
              <a:buNone/>
            </a:pPr>
            <a:r>
              <a:rPr lang="en-US" sz="1500" b="1" dirty="0">
                <a:solidFill>
                  <a:srgbClr val="C08A2E"/>
                </a:solidFill>
                <a:latin typeface="Calibri" pitchFamily="34" charset="0"/>
                <a:ea typeface="Calibri" pitchFamily="34" charset="-122"/>
                <a:cs typeface="Calibri" pitchFamily="34" charset="-120"/>
              </a:rPr>
              <a:t>THIS ANSWERS:  </a:t>
            </a:r>
            <a:pPr indent="0" marL="0">
              <a:lnSpc>
                <a:spcPct val="115000"/>
              </a:lnSpc>
              <a:buNone/>
            </a:pPr>
            <a:r>
              <a:rPr lang="en-US" sz="1500" dirty="0">
                <a:solidFill>
                  <a:srgbClr val="1A1F26"/>
                </a:solidFill>
                <a:latin typeface="Calibri" pitchFamily="34" charset="0"/>
                <a:ea typeface="Calibri" pitchFamily="34" charset="-122"/>
                <a:cs typeface="Calibri" pitchFamily="34" charset="-120"/>
              </a:rPr>
              <a:t>The no-cost ways to win press — and how likely each is to work.</a:t>
            </a:r>
            <a:endParaRPr lang="en-US" sz="15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40080" y="2212848"/>
          <a:ext cx="10698480" cy="914400"/>
        </p:xfrm>
        <a:graphic>
          <a:graphicData uri="http://schemas.openxmlformats.org/drawingml/2006/table">
            <a:tbl>
              <a:tblPr/>
              <a:tblGrid>
                <a:gridCol w="2743200"/>
                <a:gridCol w="4480560"/>
                <a:gridCol w="1005840"/>
                <a:gridCol w="2468880"/>
              </a:tblGrid>
              <a:tr h="457200">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The free way</a:t>
                      </a:r>
                      <a:endParaRPr lang="en-US" sz="13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0C2A43"/>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What it means</a:t>
                      </a:r>
                      <a:endParaRPr lang="en-US" sz="13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0C2A43"/>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Effort</a:t>
                      </a:r>
                      <a:endParaRPr lang="en-US" sz="13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0C2A43"/>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Chance it works</a:t>
                      </a:r>
                      <a:endParaRPr lang="en-US" sz="13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0C2A43"/>
                    </a:solidFill>
                  </a:tcPr>
                </a:tc>
              </a:tr>
              <a:tr h="603504">
                <a:tc>
                  <a:txBody>
                    <a:bodyPr/>
                    <a:lstStyle/>
                    <a:p>
                      <a:pPr algn="l" indent="0" marL="0">
                        <a:buNone/>
                      </a:pPr>
                      <a:r>
                        <a:rPr lang="en-US" sz="1200" b="1" dirty="0">
                          <a:solidFill>
                            <a:srgbClr val="1A1F26"/>
                          </a:solidFill>
                          <a:latin typeface="Calibri" pitchFamily="34" charset="0"/>
                          <a:ea typeface="Calibri" pitchFamily="34" charset="-122"/>
                          <a:cs typeface="Calibri" pitchFamily="34" charset="-120"/>
                        </a:rPr>
                        <a:t>Pitch reporters directly</a:t>
                      </a:r>
                      <a:endParaRPr lang="en-US" sz="12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A1F26"/>
                          </a:solidFill>
                          <a:latin typeface="Calibri" pitchFamily="34" charset="0"/>
                          <a:ea typeface="Calibri" pitchFamily="34" charset="-122"/>
                          <a:cs typeface="Calibri" pitchFamily="34" charset="-120"/>
                        </a:rPr>
                        <a:t>Build a list of reporters who already cover longevity or online learning, then email each a tailored story</a:t>
                      </a:r>
                      <a:endParaRPr lang="en-US" sz="12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A1F26"/>
                          </a:solidFill>
                          <a:latin typeface="Calibri" pitchFamily="34" charset="0"/>
                          <a:ea typeface="Calibri" pitchFamily="34" charset="-122"/>
                          <a:cs typeface="Calibri" pitchFamily="34" charset="-120"/>
                        </a:rPr>
                        <a:t>High</a:t>
                      </a:r>
                      <a:endParaRPr lang="en-US" sz="12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437A22"/>
                          </a:solidFill>
                          <a:latin typeface="Calibri" pitchFamily="34" charset="0"/>
                          <a:ea typeface="Calibri" pitchFamily="34" charset="-122"/>
                          <a:cs typeface="Calibri" pitchFamily="34" charset="-120"/>
                        </a:rPr>
                        <a:t>GOOD — 40–60%</a:t>
                      </a:r>
                      <a:endParaRPr lang="en-US" sz="12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r>
              <a:tr h="603504">
                <a:tc>
                  <a:txBody>
                    <a:bodyPr/>
                    <a:lstStyle/>
                    <a:p>
                      <a:pPr algn="l" indent="0" marL="0">
                        <a:buNone/>
                      </a:pPr>
                      <a:r>
                        <a:rPr lang="en-US" sz="1200" b="1" dirty="0">
                          <a:solidFill>
                            <a:srgbClr val="1A1F26"/>
                          </a:solidFill>
                          <a:latin typeface="Calibri" pitchFamily="34" charset="0"/>
                          <a:ea typeface="Calibri" pitchFamily="34" charset="-122"/>
                          <a:cs typeface="Calibri" pitchFamily="34" charset="-120"/>
                        </a:rPr>
                        <a:t>Answer reporter requests (free)</a:t>
                      </a:r>
                      <a:endParaRPr lang="en-US" sz="12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EFEDE7"/>
                    </a:solidFill>
                  </a:tcPr>
                </a:tc>
                <a:tc>
                  <a:txBody>
                    <a:bodyPr/>
                    <a:lstStyle/>
                    <a:p>
                      <a:pPr algn="l" indent="0" marL="0">
                        <a:buNone/>
                      </a:pPr>
                      <a:r>
                        <a:rPr lang="en-US" sz="1200" dirty="0">
                          <a:solidFill>
                            <a:srgbClr val="1A1F26"/>
                          </a:solidFill>
                          <a:latin typeface="Calibri" pitchFamily="34" charset="0"/>
                          <a:ea typeface="Calibri" pitchFamily="34" charset="-122"/>
                          <a:cs typeface="Calibri" pitchFamily="34" charset="-120"/>
                        </a:rPr>
                        <a:t>Reporters email out daily asking for expert sources; we reply fast as the expert</a:t>
                      </a:r>
                      <a:endParaRPr lang="en-US" sz="12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EFEDE7"/>
                    </a:solidFill>
                  </a:tcPr>
                </a:tc>
                <a:tc>
                  <a:txBody>
                    <a:bodyPr/>
                    <a:lstStyle/>
                    <a:p>
                      <a:pPr algn="l" indent="0" marL="0">
                        <a:buNone/>
                      </a:pPr>
                      <a:r>
                        <a:rPr lang="en-US" sz="1200" dirty="0">
                          <a:solidFill>
                            <a:srgbClr val="1A1F26"/>
                          </a:solidFill>
                          <a:latin typeface="Calibri" pitchFamily="34" charset="0"/>
                          <a:ea typeface="Calibri" pitchFamily="34" charset="-122"/>
                          <a:cs typeface="Calibri" pitchFamily="34" charset="-120"/>
                        </a:rPr>
                        <a:t>Medium</a:t>
                      </a:r>
                      <a:endParaRPr lang="en-US" sz="12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EFEDE7"/>
                    </a:solidFill>
                  </a:tcPr>
                </a:tc>
                <a:tc>
                  <a:txBody>
                    <a:bodyPr/>
                    <a:lstStyle/>
                    <a:p>
                      <a:pPr algn="ctr" indent="0" marL="0">
                        <a:buNone/>
                      </a:pPr>
                      <a:r>
                        <a:rPr lang="en-US" sz="1200" b="1" dirty="0">
                          <a:solidFill>
                            <a:srgbClr val="437A22"/>
                          </a:solidFill>
                          <a:latin typeface="Calibri" pitchFamily="34" charset="0"/>
                          <a:ea typeface="Calibri" pitchFamily="34" charset="-122"/>
                          <a:cs typeface="Calibri" pitchFamily="34" charset="-120"/>
                        </a:rPr>
                        <a:t>GOOD — quotes &amp; mentions</a:t>
                      </a:r>
                      <a:endParaRPr lang="en-US" sz="12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EFEDE7"/>
                    </a:solidFill>
                  </a:tcPr>
                </a:tc>
              </a:tr>
              <a:tr h="603504">
                <a:tc>
                  <a:txBody>
                    <a:bodyPr/>
                    <a:lstStyle/>
                    <a:p>
                      <a:pPr algn="l" indent="0" marL="0">
                        <a:buNone/>
                      </a:pPr>
                      <a:r>
                        <a:rPr lang="en-US" sz="1200" b="1" dirty="0">
                          <a:solidFill>
                            <a:srgbClr val="1A1F26"/>
                          </a:solidFill>
                          <a:latin typeface="Calibri" pitchFamily="34" charset="0"/>
                          <a:ea typeface="Calibri" pitchFamily="34" charset="-122"/>
                          <a:cs typeface="Calibri" pitchFamily="34" charset="-120"/>
                        </a:rPr>
                        <a:t>Watch reporter hashtags on X</a:t>
                      </a:r>
                      <a:endParaRPr lang="en-US" sz="12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A1F26"/>
                          </a:solidFill>
                          <a:latin typeface="Calibri" pitchFamily="34" charset="0"/>
                          <a:ea typeface="Calibri" pitchFamily="34" charset="-122"/>
                          <a:cs typeface="Calibri" pitchFamily="34" charset="-120"/>
                        </a:rPr>
                        <a:t>Reporters post #journorequest asking for sources; we reply within the hour</a:t>
                      </a:r>
                      <a:endParaRPr lang="en-US" sz="12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A1F26"/>
                          </a:solidFill>
                          <a:latin typeface="Calibri" pitchFamily="34" charset="0"/>
                          <a:ea typeface="Calibri" pitchFamily="34" charset="-122"/>
                          <a:cs typeface="Calibri" pitchFamily="34" charset="-120"/>
                        </a:rPr>
                        <a:t>Medium</a:t>
                      </a:r>
                      <a:endParaRPr lang="en-US" sz="12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B07A16"/>
                          </a:solidFill>
                          <a:latin typeface="Calibri" pitchFamily="34" charset="0"/>
                          <a:ea typeface="Calibri" pitchFamily="34" charset="-122"/>
                          <a:cs typeface="Calibri" pitchFamily="34" charset="-120"/>
                        </a:rPr>
                        <a:t>MODERATE</a:t>
                      </a:r>
                      <a:endParaRPr lang="en-US" sz="12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r>
              <a:tr h="603504">
                <a:tc>
                  <a:txBody>
                    <a:bodyPr/>
                    <a:lstStyle/>
                    <a:p>
                      <a:pPr algn="l" indent="0" marL="0">
                        <a:buNone/>
                      </a:pPr>
                      <a:r>
                        <a:rPr lang="en-US" sz="1200" b="1" dirty="0">
                          <a:solidFill>
                            <a:srgbClr val="1A1F26"/>
                          </a:solidFill>
                          <a:latin typeface="Calibri" pitchFamily="34" charset="0"/>
                          <a:ea typeface="Calibri" pitchFamily="34" charset="-122"/>
                          <a:cs typeface="Calibri" pitchFamily="34" charset="-120"/>
                        </a:rPr>
                        <a:t>Qwoted (free plan)</a:t>
                      </a:r>
                      <a:endParaRPr lang="en-US" sz="12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EFEDE7"/>
                    </a:solidFill>
                  </a:tcPr>
                </a:tc>
                <a:tc>
                  <a:txBody>
                    <a:bodyPr/>
                    <a:lstStyle/>
                    <a:p>
                      <a:pPr algn="l" indent="0" marL="0">
                        <a:buNone/>
                      </a:pPr>
                      <a:r>
                        <a:rPr lang="en-US" sz="1200" dirty="0">
                          <a:solidFill>
                            <a:srgbClr val="1A1F26"/>
                          </a:solidFill>
                          <a:latin typeface="Calibri" pitchFamily="34" charset="0"/>
                          <a:ea typeface="Calibri" pitchFamily="34" charset="-122"/>
                          <a:cs typeface="Calibri" pitchFamily="34" charset="-120"/>
                        </a:rPr>
                        <a:t>An expert-matching site; the free plan lets us answer reporter requests</a:t>
                      </a:r>
                      <a:endParaRPr lang="en-US" sz="12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EFEDE7"/>
                    </a:solidFill>
                  </a:tcPr>
                </a:tc>
                <a:tc>
                  <a:txBody>
                    <a:bodyPr/>
                    <a:lstStyle/>
                    <a:p>
                      <a:pPr algn="l" indent="0" marL="0">
                        <a:buNone/>
                      </a:pPr>
                      <a:r>
                        <a:rPr lang="en-US" sz="1200" dirty="0">
                          <a:solidFill>
                            <a:srgbClr val="1A1F26"/>
                          </a:solidFill>
                          <a:latin typeface="Calibri" pitchFamily="34" charset="0"/>
                          <a:ea typeface="Calibri" pitchFamily="34" charset="-122"/>
                          <a:cs typeface="Calibri" pitchFamily="34" charset="-120"/>
                        </a:rPr>
                        <a:t>Low</a:t>
                      </a:r>
                      <a:endParaRPr lang="en-US" sz="12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EFEDE7"/>
                    </a:solidFill>
                  </a:tcPr>
                </a:tc>
                <a:tc>
                  <a:txBody>
                    <a:bodyPr/>
                    <a:lstStyle/>
                    <a:p>
                      <a:pPr algn="ctr" indent="0" marL="0">
                        <a:buNone/>
                      </a:pPr>
                      <a:r>
                        <a:rPr lang="en-US" sz="1200" b="1" dirty="0">
                          <a:solidFill>
                            <a:srgbClr val="B07A16"/>
                          </a:solidFill>
                          <a:latin typeface="Calibri" pitchFamily="34" charset="0"/>
                          <a:ea typeface="Calibri" pitchFamily="34" charset="-122"/>
                          <a:cs typeface="Calibri" pitchFamily="34" charset="-120"/>
                        </a:rPr>
                        <a:t>MODERATE</a:t>
                      </a:r>
                      <a:endParaRPr lang="en-US" sz="12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EFEDE7"/>
                    </a:solidFill>
                  </a:tcPr>
                </a:tc>
              </a:tr>
              <a:tr h="603504">
                <a:tc>
                  <a:txBody>
                    <a:bodyPr/>
                    <a:lstStyle/>
                    <a:p>
                      <a:pPr algn="l" indent="0" marL="0">
                        <a:buNone/>
                      </a:pPr>
                      <a:r>
                        <a:rPr lang="en-US" sz="1200" b="1" dirty="0">
                          <a:solidFill>
                            <a:srgbClr val="1A1F26"/>
                          </a:solidFill>
                          <a:latin typeface="Calibri" pitchFamily="34" charset="0"/>
                          <a:ea typeface="Calibri" pitchFamily="34" charset="-122"/>
                          <a:cs typeface="Calibri" pitchFamily="34" charset="-120"/>
                        </a:rPr>
                        <a:t>Free wire + our own channels</a:t>
                      </a:r>
                      <a:endParaRPr lang="en-US" sz="12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A1F26"/>
                          </a:solidFill>
                          <a:latin typeface="Calibri" pitchFamily="34" charset="0"/>
                          <a:ea typeface="Calibri" pitchFamily="34" charset="-122"/>
                          <a:cs typeface="Calibri" pitchFamily="34" charset="-120"/>
                        </a:rPr>
                        <a:t>Free press-release posting + Harel posting on his own LinkedIn</a:t>
                      </a:r>
                      <a:endParaRPr lang="en-US" sz="12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A1F26"/>
                          </a:solidFill>
                          <a:latin typeface="Calibri" pitchFamily="34" charset="0"/>
                          <a:ea typeface="Calibri" pitchFamily="34" charset="-122"/>
                          <a:cs typeface="Calibri" pitchFamily="34" charset="-120"/>
                        </a:rPr>
                        <a:t>Low</a:t>
                      </a:r>
                      <a:endParaRPr lang="en-US" sz="12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B07A16"/>
                          </a:solidFill>
                          <a:latin typeface="Calibri" pitchFamily="34" charset="0"/>
                          <a:ea typeface="Calibri" pitchFamily="34" charset="-122"/>
                          <a:cs typeface="Calibri" pitchFamily="34" charset="-120"/>
                        </a:rPr>
                        <a:t>LOW reach, builds a trail</a:t>
                      </a:r>
                      <a:endParaRPr lang="en-US" sz="12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r>
            </a:tbl>
          </a:graphicData>
        </a:graphic>
      </p:graphicFrame>
      <p:sp>
        <p:nvSpPr>
          <p:cNvPr id="6" name="Text 3"/>
          <p:cNvSpPr/>
          <p:nvPr/>
        </p:nvSpPr>
        <p:spPr>
          <a:xfrm>
            <a:off x="640080" y="6035040"/>
            <a:ext cx="10911535" cy="365760"/>
          </a:xfrm>
          <a:prstGeom prst="rect">
            <a:avLst/>
          </a:prstGeom>
          <a:noFill/>
          <a:ln/>
        </p:spPr>
        <p:txBody>
          <a:bodyPr wrap="square" rtlCol="0" anchor="ctr"/>
          <a:lstStyle/>
          <a:p>
            <a:pPr indent="0" marL="0">
              <a:lnSpc>
                <a:spcPct val="110000"/>
              </a:lnSpc>
              <a:buNone/>
            </a:pPr>
            <a:r>
              <a:rPr lang="en-US" sz="1200" i="1" dirty="0">
                <a:solidFill>
                  <a:srgbClr val="1A1F26"/>
                </a:solidFill>
                <a:latin typeface="Calibri" pitchFamily="34" charset="0"/>
                <a:ea typeface="Calibri" pitchFamily="34" charset="-122"/>
                <a:cs typeface="Calibri" pitchFamily="34" charset="-120"/>
              </a:rPr>
              <a:t>What makes free work: speed + relevance. Only the first ~10 replies to a reporter get read — so a fast, personal pitch beats a mass email every time.</a:t>
            </a:r>
            <a:endParaRPr lang="en-US" sz="1200" dirty="0"/>
          </a:p>
        </p:txBody>
      </p:sp>
      <p:sp>
        <p:nvSpPr>
          <p:cNvPr id="7" name="Text 4"/>
          <p:cNvSpPr/>
          <p:nvPr/>
        </p:nvSpPr>
        <p:spPr>
          <a:xfrm>
            <a:off x="640080" y="6473952"/>
            <a:ext cx="10911535" cy="274320"/>
          </a:xfrm>
          <a:prstGeom prst="rect">
            <a:avLst/>
          </a:prstGeom>
          <a:noFill/>
          <a:ln/>
        </p:spPr>
        <p:txBody>
          <a:bodyPr wrap="square" rtlCol="0" anchor="ctr"/>
          <a:lstStyle/>
          <a:p>
            <a:pPr algn="l" indent="0" marL="0">
              <a:buNone/>
            </a:pPr>
            <a:r>
              <a:rPr lang="en-US" sz="800" dirty="0">
                <a:solidFill>
                  <a:srgbClr val="5C6672"/>
                </a:solidFill>
                <a:latin typeface="Calibri" pitchFamily="34" charset="0"/>
                <a:ea typeface="Calibri" pitchFamily="34" charset="-122"/>
                <a:cs typeface="Calibri" pitchFamily="34" charset="-120"/>
              </a:rPr>
              <a:t>Source: </a:t>
            </a:r>
            <a:pPr algn="l" indent="0" marL="0">
              <a:buNone/>
            </a:pPr>
            <a:r>
              <a:rPr lang="en-US" sz="800" u="sng" dirty="0">
                <a:solidFill>
                  <a:srgbClr val="5C6672"/>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BuzzStream (HARO alternatives)</a:t>
            </a:r>
            <a:pPr algn="l" indent="0" marL="0">
              <a:buNone/>
            </a:pPr>
            <a:r>
              <a:rPr lang="en-US" sz="800" dirty="0">
                <a:solidFill>
                  <a:srgbClr val="9AA4AF"/>
                </a:solidFill>
                <a:latin typeface="Calibri" pitchFamily="34" charset="0"/>
                <a:ea typeface="Calibri" pitchFamily="34" charset="-122"/>
                <a:cs typeface="Calibri" pitchFamily="34" charset="-120"/>
              </a:rPr>
              <a:t>  ·  </a:t>
            </a:r>
            <a:pPr algn="l" indent="0" marL="0">
              <a:buNone/>
            </a:pPr>
            <a:r>
              <a:rPr lang="en-US" sz="800" u="sng" dirty="0">
                <a:solidFill>
                  <a:srgbClr val="5C6672"/>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Prezly</a:t>
            </a:r>
            <a:endParaRPr lang="en-US" sz="800" dirty="0"/>
          </a:p>
        </p:txBody>
      </p:sp>
      <p:sp>
        <p:nvSpPr>
          <p:cNvPr id="8" name="Text 5"/>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768096"/>
            <a:ext cx="10911535" cy="731520"/>
          </a:xfrm>
          <a:prstGeom prst="rect">
            <a:avLst/>
          </a:prstGeom>
          <a:noFill/>
          <a:ln/>
        </p:spPr>
        <p:txBody>
          <a:bodyPr wrap="square" rtlCol="0" anchor="ctr"/>
          <a:lstStyle/>
          <a:p>
            <a:pPr indent="0" marL="0">
              <a:lnSpc>
                <a:spcPct val="100000"/>
              </a:lnSpc>
              <a:buNone/>
            </a:pPr>
            <a:r>
              <a:rPr lang="en-US" sz="2900" b="1" dirty="0">
                <a:solidFill>
                  <a:srgbClr val="0C2A43"/>
                </a:solidFill>
                <a:latin typeface="Cambria" pitchFamily="34" charset="0"/>
                <a:ea typeface="Cambria" pitchFamily="34" charset="-122"/>
                <a:cs typeface="Cambria" pitchFamily="34" charset="-120"/>
              </a:rPr>
              <a:t>Part 2 — How we get covered: the paid ways</a:t>
            </a:r>
            <a:endParaRPr lang="en-US" sz="2900" dirty="0"/>
          </a:p>
        </p:txBody>
      </p:sp>
      <p:sp>
        <p:nvSpPr>
          <p:cNvPr id="3" name="Text 1"/>
          <p:cNvSpPr/>
          <p:nvPr/>
        </p:nvSpPr>
        <p:spPr>
          <a:xfrm>
            <a:off x="640080" y="457200"/>
            <a:ext cx="10911535" cy="292608"/>
          </a:xfrm>
          <a:prstGeom prst="rect">
            <a:avLst/>
          </a:prstGeom>
          <a:noFill/>
          <a:ln/>
        </p:spPr>
        <p:txBody>
          <a:bodyPr wrap="square" rtlCol="0" anchor="ctr"/>
          <a:lstStyle/>
          <a:p>
            <a:pPr indent="0" marL="0">
              <a:buNone/>
            </a:pPr>
            <a:r>
              <a:rPr lang="en-US" sz="1300" b="1" spc="200" kern="0" dirty="0">
                <a:solidFill>
                  <a:srgbClr val="C08A2E"/>
                </a:solidFill>
                <a:latin typeface="Calibri" pitchFamily="34" charset="0"/>
                <a:ea typeface="Calibri" pitchFamily="34" charset="-122"/>
                <a:cs typeface="Calibri" pitchFamily="34" charset="-120"/>
              </a:rPr>
              <a:t>THE LAUNCH PLAN</a:t>
            </a:r>
            <a:pPr indent="0" marL="0">
              <a:buNone/>
            </a:pPr>
            <a:r>
              <a:rPr lang="en-US" sz="1300" b="1" spc="200" kern="0" dirty="0">
                <a:solidFill>
                  <a:srgbClr val="5C6672"/>
                </a:solidFill>
                <a:latin typeface="Calibri" pitchFamily="34" charset="0"/>
                <a:ea typeface="Calibri" pitchFamily="34" charset="-122"/>
                <a:cs typeface="Calibri" pitchFamily="34" charset="-120"/>
              </a:rPr>
              <a:t>   ·   PART 2 OF 6   ·   STEP 2 OF 2</a:t>
            </a:r>
            <a:endParaRPr lang="en-US" sz="1300" dirty="0"/>
          </a:p>
        </p:txBody>
      </p:sp>
      <p:sp>
        <p:nvSpPr>
          <p:cNvPr id="4" name="Text 2"/>
          <p:cNvSpPr/>
          <p:nvPr/>
        </p:nvSpPr>
        <p:spPr>
          <a:xfrm>
            <a:off x="640080" y="1572768"/>
            <a:ext cx="10911535" cy="457200"/>
          </a:xfrm>
          <a:prstGeom prst="rect">
            <a:avLst/>
          </a:prstGeom>
          <a:noFill/>
          <a:ln/>
        </p:spPr>
        <p:txBody>
          <a:bodyPr wrap="square" rtlCol="0" anchor="t"/>
          <a:lstStyle/>
          <a:p>
            <a:pPr indent="0" marL="0">
              <a:lnSpc>
                <a:spcPct val="115000"/>
              </a:lnSpc>
              <a:buNone/>
            </a:pPr>
            <a:r>
              <a:rPr lang="en-US" sz="1500" b="1" dirty="0">
                <a:solidFill>
                  <a:srgbClr val="C08A2E"/>
                </a:solidFill>
                <a:latin typeface="Calibri" pitchFamily="34" charset="0"/>
                <a:ea typeface="Calibri" pitchFamily="34" charset="-122"/>
                <a:cs typeface="Calibri" pitchFamily="34" charset="-120"/>
              </a:rPr>
              <a:t>THIS ANSWERS:  </a:t>
            </a:r>
            <a:pPr indent="0" marL="0">
              <a:lnSpc>
                <a:spcPct val="115000"/>
              </a:lnSpc>
              <a:buNone/>
            </a:pPr>
            <a:r>
              <a:rPr lang="en-US" sz="1500" dirty="0">
                <a:solidFill>
                  <a:srgbClr val="1A1F26"/>
                </a:solidFill>
                <a:latin typeface="Calibri" pitchFamily="34" charset="0"/>
                <a:ea typeface="Calibri" pitchFamily="34" charset="-122"/>
                <a:cs typeface="Calibri" pitchFamily="34" charset="-120"/>
              </a:rPr>
              <a:t>The paid news-wires that guarantee one story per wave — and what each costs.</a:t>
            </a:r>
            <a:endParaRPr lang="en-US" sz="15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40080" y="2212848"/>
          <a:ext cx="10881360" cy="914400"/>
        </p:xfrm>
        <a:graphic>
          <a:graphicData uri="http://schemas.openxmlformats.org/drawingml/2006/table">
            <a:tbl>
              <a:tblPr/>
              <a:tblGrid>
                <a:gridCol w="2103120"/>
                <a:gridCol w="3291840"/>
                <a:gridCol w="3931920"/>
                <a:gridCol w="1554480"/>
              </a:tblGrid>
              <a:tr h="457200">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News-wire service</a:t>
                      </a:r>
                      <a:endParaRPr lang="en-US" sz="13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0C2A43"/>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Cost per release</a:t>
                      </a:r>
                      <a:endParaRPr lang="en-US" sz="13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0C2A43"/>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What you get</a:t>
                      </a:r>
                      <a:endParaRPr lang="en-US" sz="13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0C2A43"/>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Our call</a:t>
                      </a:r>
                      <a:endParaRPr lang="en-US" sz="13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0C2A43"/>
                    </a:solidFill>
                  </a:tcPr>
                </a:tc>
              </a:tr>
              <a:tr h="603504">
                <a:tc>
                  <a:txBody>
                    <a:bodyPr/>
                    <a:lstStyle/>
                    <a:p>
                      <a:pPr algn="l" indent="0" marL="0">
                        <a:buNone/>
                      </a:pPr>
                      <a:r>
                        <a:rPr lang="en-US" sz="1200" b="1" dirty="0">
                          <a:solidFill>
                            <a:srgbClr val="1A1F26"/>
                          </a:solidFill>
                          <a:latin typeface="Calibri" pitchFamily="34" charset="0"/>
                          <a:ea typeface="Calibri" pitchFamily="34" charset="-122"/>
                          <a:cs typeface="Calibri" pitchFamily="34" charset="-120"/>
                        </a:rPr>
                        <a:t>EIN Presswire</a:t>
                      </a:r>
                      <a:endParaRPr lang="en-US" sz="12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A1F26"/>
                          </a:solidFill>
                          <a:latin typeface="Calibri" pitchFamily="34" charset="0"/>
                          <a:ea typeface="Calibri" pitchFamily="34" charset="-122"/>
                          <a:cs typeface="Calibri" pitchFamily="34" charset="-120"/>
                        </a:rPr>
                        <a:t>$100–$150 · ~$80 ea in a 5-pack</a:t>
                      </a:r>
                      <a:endParaRPr lang="en-US" sz="12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A1F26"/>
                          </a:solidFill>
                          <a:latin typeface="Calibri" pitchFamily="34" charset="0"/>
                          <a:ea typeface="Calibri" pitchFamily="34" charset="-122"/>
                          <a:cs typeface="Calibri" pitchFamily="34" charset="-120"/>
                        </a:rPr>
                        <a:t>Sent to 200+ countries, AP News, Google News, Benzinga. No membership fee.</a:t>
                      </a:r>
                      <a:endParaRPr lang="en-US" sz="12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437A22"/>
                          </a:solidFill>
                          <a:latin typeface="Calibri" pitchFamily="34" charset="0"/>
                          <a:ea typeface="Calibri" pitchFamily="34" charset="-122"/>
                          <a:cs typeface="Calibri" pitchFamily="34" charset="-120"/>
                        </a:rPr>
                        <a:t>BEST VALUE</a:t>
                      </a:r>
                      <a:endParaRPr lang="en-US" sz="12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r>
              <a:tr h="603504">
                <a:tc>
                  <a:txBody>
                    <a:bodyPr/>
                    <a:lstStyle/>
                    <a:p>
                      <a:pPr algn="l" indent="0" marL="0">
                        <a:buNone/>
                      </a:pPr>
                      <a:r>
                        <a:rPr lang="en-US" sz="1200" b="1" dirty="0">
                          <a:solidFill>
                            <a:srgbClr val="1A1F26"/>
                          </a:solidFill>
                          <a:latin typeface="Calibri" pitchFamily="34" charset="0"/>
                          <a:ea typeface="Calibri" pitchFamily="34" charset="-122"/>
                          <a:cs typeface="Calibri" pitchFamily="34" charset="-120"/>
                        </a:rPr>
                        <a:t>Newswire.com</a:t>
                      </a:r>
                      <a:endParaRPr lang="en-US" sz="12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EFEDE7"/>
                    </a:solidFill>
                  </a:tcPr>
                </a:tc>
                <a:tc>
                  <a:txBody>
                    <a:bodyPr/>
                    <a:lstStyle/>
                    <a:p>
                      <a:pPr algn="l" indent="0" marL="0">
                        <a:buNone/>
                      </a:pPr>
                      <a:r>
                        <a:rPr lang="en-US" sz="1200" dirty="0">
                          <a:solidFill>
                            <a:srgbClr val="1A1F26"/>
                          </a:solidFill>
                          <a:latin typeface="Calibri" pitchFamily="34" charset="0"/>
                          <a:ea typeface="Calibri" pitchFamily="34" charset="-122"/>
                          <a:cs typeface="Calibri" pitchFamily="34" charset="-120"/>
                        </a:rPr>
                        <a:t>$299–$799</a:t>
                      </a:r>
                      <a:endParaRPr lang="en-US" sz="12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EFEDE7"/>
                    </a:solidFill>
                  </a:tcPr>
                </a:tc>
                <a:tc>
                  <a:txBody>
                    <a:bodyPr/>
                    <a:lstStyle/>
                    <a:p>
                      <a:pPr algn="l" indent="0" marL="0">
                        <a:buNone/>
                      </a:pPr>
                      <a:r>
                        <a:rPr lang="en-US" sz="1200" dirty="0">
                          <a:solidFill>
                            <a:srgbClr val="1A1F26"/>
                          </a:solidFill>
                          <a:latin typeface="Calibri" pitchFamily="34" charset="0"/>
                          <a:ea typeface="Calibri" pitchFamily="34" charset="-122"/>
                          <a:cs typeface="Calibri" pitchFamily="34" charset="-120"/>
                        </a:rPr>
                        <a:t>Unlimited words &amp; images, writing included; AP add-on available</a:t>
                      </a:r>
                      <a:endParaRPr lang="en-US" sz="12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EFEDE7"/>
                    </a:solidFill>
                  </a:tcPr>
                </a:tc>
                <a:tc>
                  <a:txBody>
                    <a:bodyPr/>
                    <a:lstStyle/>
                    <a:p>
                      <a:pPr algn="ctr" indent="0" marL="0">
                        <a:buNone/>
                      </a:pPr>
                      <a:r>
                        <a:rPr lang="en-US" sz="1200" b="1" dirty="0">
                          <a:solidFill>
                            <a:srgbClr val="B07A16"/>
                          </a:solidFill>
                          <a:latin typeface="Calibri" pitchFamily="34" charset="0"/>
                          <a:ea typeface="Calibri" pitchFamily="34" charset="-122"/>
                          <a:cs typeface="Calibri" pitchFamily="34" charset="-120"/>
                        </a:rPr>
                        <a:t>Good mid-tier</a:t>
                      </a:r>
                      <a:endParaRPr lang="en-US" sz="12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EFEDE7"/>
                    </a:solidFill>
                  </a:tcPr>
                </a:tc>
              </a:tr>
              <a:tr h="603504">
                <a:tc>
                  <a:txBody>
                    <a:bodyPr/>
                    <a:lstStyle/>
                    <a:p>
                      <a:pPr algn="l" indent="0" marL="0">
                        <a:buNone/>
                      </a:pPr>
                      <a:r>
                        <a:rPr lang="en-US" sz="1200" b="1" dirty="0">
                          <a:solidFill>
                            <a:srgbClr val="1A1F26"/>
                          </a:solidFill>
                          <a:latin typeface="Calibri" pitchFamily="34" charset="0"/>
                          <a:ea typeface="Calibri" pitchFamily="34" charset="-122"/>
                          <a:cs typeface="Calibri" pitchFamily="34" charset="-120"/>
                        </a:rPr>
                        <a:t>GlobeNewswire</a:t>
                      </a:r>
                      <a:endParaRPr lang="en-US" sz="12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A1F26"/>
                          </a:solidFill>
                          <a:latin typeface="Calibri" pitchFamily="34" charset="0"/>
                          <a:ea typeface="Calibri" pitchFamily="34" charset="-122"/>
                          <a:cs typeface="Calibri" pitchFamily="34" charset="-120"/>
                        </a:rPr>
                        <a:t>~$195 basic / ~$900–$1,200 national</a:t>
                      </a:r>
                      <a:endParaRPr lang="en-US" sz="12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A1F26"/>
                          </a:solidFill>
                          <a:latin typeface="Calibri" pitchFamily="34" charset="0"/>
                          <a:ea typeface="Calibri" pitchFamily="34" charset="-122"/>
                          <a:cs typeface="Calibri" pitchFamily="34" charset="-120"/>
                        </a:rPr>
                        <a:t>Strong for business &amp; finance; we’ve used it before (2020)</a:t>
                      </a:r>
                      <a:endParaRPr lang="en-US" sz="12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B07A16"/>
                          </a:solidFill>
                          <a:latin typeface="Calibri" pitchFamily="34" charset="0"/>
                          <a:ea typeface="Calibri" pitchFamily="34" charset="-122"/>
                          <a:cs typeface="Calibri" pitchFamily="34" charset="-120"/>
                        </a:rPr>
                        <a:t>Familiar</a:t>
                      </a:r>
                      <a:endParaRPr lang="en-US" sz="12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r>
              <a:tr h="603504">
                <a:tc>
                  <a:txBody>
                    <a:bodyPr/>
                    <a:lstStyle/>
                    <a:p>
                      <a:pPr algn="l" indent="0" marL="0">
                        <a:buNone/>
                      </a:pPr>
                      <a:r>
                        <a:rPr lang="en-US" sz="1200" b="1" dirty="0">
                          <a:solidFill>
                            <a:srgbClr val="1A1F26"/>
                          </a:solidFill>
                          <a:latin typeface="Calibri" pitchFamily="34" charset="0"/>
                          <a:ea typeface="Calibri" pitchFamily="34" charset="-122"/>
                          <a:cs typeface="Calibri" pitchFamily="34" charset="-120"/>
                        </a:rPr>
                        <a:t>PR Newswire</a:t>
                      </a:r>
                      <a:endParaRPr lang="en-US" sz="12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EFEDE7"/>
                    </a:solidFill>
                  </a:tcPr>
                </a:tc>
                <a:tc>
                  <a:txBody>
                    <a:bodyPr/>
                    <a:lstStyle/>
                    <a:p>
                      <a:pPr algn="l" indent="0" marL="0">
                        <a:buNone/>
                      </a:pPr>
                      <a:r>
                        <a:rPr lang="en-US" sz="1200" dirty="0">
                          <a:solidFill>
                            <a:srgbClr val="1A1F26"/>
                          </a:solidFill>
                          <a:latin typeface="Calibri" pitchFamily="34" charset="0"/>
                          <a:ea typeface="Calibri" pitchFamily="34" charset="-122"/>
                          <a:cs typeface="Calibri" pitchFamily="34" charset="-120"/>
                        </a:rPr>
                        <a:t>$805 + $195 membership + add-ons → $2,000–$3,000+</a:t>
                      </a:r>
                      <a:endParaRPr lang="en-US" sz="12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EFEDE7"/>
                    </a:solidFill>
                  </a:tcPr>
                </a:tc>
                <a:tc>
                  <a:txBody>
                    <a:bodyPr/>
                    <a:lstStyle/>
                    <a:p>
                      <a:pPr algn="l" indent="0" marL="0">
                        <a:buNone/>
                      </a:pPr>
                      <a:r>
                        <a:rPr lang="en-US" sz="1200" dirty="0">
                          <a:solidFill>
                            <a:srgbClr val="1A1F26"/>
                          </a:solidFill>
                          <a:latin typeface="Calibri" pitchFamily="34" charset="0"/>
                          <a:ea typeface="Calibri" pitchFamily="34" charset="-122"/>
                          <a:cs typeface="Calibri" pitchFamily="34" charset="-120"/>
                        </a:rPr>
                        <a:t>The big-name wire; the most credible dateline</a:t>
                      </a:r>
                      <a:endParaRPr lang="en-US" sz="12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EFEDE7"/>
                    </a:solidFill>
                  </a:tcPr>
                </a:tc>
                <a:tc>
                  <a:txBody>
                    <a:bodyPr/>
                    <a:lstStyle/>
                    <a:p>
                      <a:pPr algn="ctr" indent="0" marL="0">
                        <a:buNone/>
                      </a:pPr>
                      <a:r>
                        <a:rPr lang="en-US" sz="1200" b="1" dirty="0">
                          <a:solidFill>
                            <a:srgbClr val="B07A16"/>
                          </a:solidFill>
                          <a:latin typeface="Calibri" pitchFamily="34" charset="0"/>
                          <a:ea typeface="Calibri" pitchFamily="34" charset="-122"/>
                          <a:cs typeface="Calibri" pitchFamily="34" charset="-120"/>
                        </a:rPr>
                        <a:t>Splurge, Wave 1 only</a:t>
                      </a:r>
                      <a:endParaRPr lang="en-US" sz="12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EFEDE7"/>
                    </a:solidFill>
                  </a:tcPr>
                </a:tc>
              </a:tr>
              <a:tr h="603504">
                <a:tc>
                  <a:txBody>
                    <a:bodyPr/>
                    <a:lstStyle/>
                    <a:p>
                      <a:pPr algn="l" indent="0" marL="0">
                        <a:buNone/>
                      </a:pPr>
                      <a:r>
                        <a:rPr lang="en-US" sz="1200" b="1" dirty="0">
                          <a:solidFill>
                            <a:srgbClr val="1A1F26"/>
                          </a:solidFill>
                          <a:latin typeface="Calibri" pitchFamily="34" charset="0"/>
                          <a:ea typeface="Calibri" pitchFamily="34" charset="-122"/>
                          <a:cs typeface="Calibri" pitchFamily="34" charset="-120"/>
                        </a:rPr>
                        <a:t>ABNewswire</a:t>
                      </a:r>
                      <a:endParaRPr lang="en-US" sz="12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A1F26"/>
                          </a:solidFill>
                          <a:latin typeface="Calibri" pitchFamily="34" charset="0"/>
                          <a:ea typeface="Calibri" pitchFamily="34" charset="-122"/>
                          <a:cs typeface="Calibri" pitchFamily="34" charset="-120"/>
                        </a:rPr>
                        <a:t>$80 single / ~$18–20 in bulk</a:t>
                      </a:r>
                      <a:endParaRPr lang="en-US" sz="12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A1F26"/>
                          </a:solidFill>
                          <a:latin typeface="Calibri" pitchFamily="34" charset="0"/>
                          <a:ea typeface="Calibri" pitchFamily="34" charset="-122"/>
                          <a:cs typeface="Calibri" pitchFamily="34" charset="-120"/>
                        </a:rPr>
                        <a:t>Sent to 400+ sites; cheapest for volume</a:t>
                      </a:r>
                      <a:endParaRPr lang="en-US" sz="12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B07A16"/>
                          </a:solidFill>
                          <a:latin typeface="Calibri" pitchFamily="34" charset="0"/>
                          <a:ea typeface="Calibri" pitchFamily="34" charset="-122"/>
                          <a:cs typeface="Calibri" pitchFamily="34" charset="-120"/>
                        </a:rPr>
                        <a:t>Budget backup</a:t>
                      </a:r>
                      <a:endParaRPr lang="en-US" sz="12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r>
            </a:tbl>
          </a:graphicData>
        </a:graphic>
      </p:graphicFrame>
      <p:sp>
        <p:nvSpPr>
          <p:cNvPr id="6" name="Text 3"/>
          <p:cNvSpPr/>
          <p:nvPr/>
        </p:nvSpPr>
        <p:spPr>
          <a:xfrm>
            <a:off x="640080" y="6035040"/>
            <a:ext cx="10911535" cy="365760"/>
          </a:xfrm>
          <a:prstGeom prst="rect">
            <a:avLst/>
          </a:prstGeom>
          <a:noFill/>
          <a:ln/>
        </p:spPr>
        <p:txBody>
          <a:bodyPr wrap="square" rtlCol="0" anchor="ctr"/>
          <a:lstStyle/>
          <a:p>
            <a:pPr indent="0" marL="0">
              <a:lnSpc>
                <a:spcPct val="110000"/>
              </a:lnSpc>
              <a:buNone/>
            </a:pPr>
            <a:r>
              <a:rPr lang="en-US" sz="1200" i="1" dirty="0">
                <a:solidFill>
                  <a:srgbClr val="1A1F26"/>
                </a:solidFill>
                <a:latin typeface="Calibri" pitchFamily="34" charset="0"/>
                <a:ea typeface="Calibri" pitchFamily="34" charset="-122"/>
                <a:cs typeface="Calibri" pitchFamily="34" charset="-120"/>
              </a:rPr>
              <a:t>Our recommendation: use EIN Presswire for all four waves; add PR Newswire for Wave 1 only if the CEO wants the big-name wire on the launch.</a:t>
            </a:r>
            <a:endParaRPr lang="en-US" sz="1200" dirty="0"/>
          </a:p>
        </p:txBody>
      </p:sp>
      <p:sp>
        <p:nvSpPr>
          <p:cNvPr id="7" name="Text 4"/>
          <p:cNvSpPr/>
          <p:nvPr/>
        </p:nvSpPr>
        <p:spPr>
          <a:xfrm>
            <a:off x="640080" y="6473952"/>
            <a:ext cx="10911535" cy="274320"/>
          </a:xfrm>
          <a:prstGeom prst="rect">
            <a:avLst/>
          </a:prstGeom>
          <a:noFill/>
          <a:ln/>
        </p:spPr>
        <p:txBody>
          <a:bodyPr wrap="square" rtlCol="0" anchor="ctr"/>
          <a:lstStyle/>
          <a:p>
            <a:pPr algn="l" indent="0" marL="0">
              <a:buNone/>
            </a:pPr>
            <a:r>
              <a:rPr lang="en-US" sz="800" dirty="0">
                <a:solidFill>
                  <a:srgbClr val="5C6672"/>
                </a:solidFill>
                <a:latin typeface="Calibri" pitchFamily="34" charset="0"/>
                <a:ea typeface="Calibri" pitchFamily="34" charset="-122"/>
                <a:cs typeface="Calibri" pitchFamily="34" charset="-120"/>
              </a:rPr>
              <a:t>Source: </a:t>
            </a:r>
            <a:pPr algn="l" indent="0" marL="0">
              <a:buNone/>
            </a:pPr>
            <a:r>
              <a:rPr lang="en-US" sz="800" u="sng" dirty="0">
                <a:solidFill>
                  <a:srgbClr val="5C6672"/>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Pressonify pricing comparison 2026</a:t>
            </a:r>
            <a:pPr algn="l" indent="0" marL="0">
              <a:buNone/>
            </a:pPr>
            <a:r>
              <a:rPr lang="en-US" sz="800" dirty="0">
                <a:solidFill>
                  <a:srgbClr val="9AA4AF"/>
                </a:solidFill>
                <a:latin typeface="Calibri" pitchFamily="34" charset="0"/>
                <a:ea typeface="Calibri" pitchFamily="34" charset="-122"/>
                <a:cs typeface="Calibri" pitchFamily="34" charset="-120"/>
              </a:rPr>
              <a:t>  ·  </a:t>
            </a:r>
            <a:pPr algn="l" indent="0" marL="0">
              <a:buNone/>
            </a:pPr>
            <a:r>
              <a:rPr lang="en-US" sz="800" u="sng" dirty="0">
                <a:solidFill>
                  <a:srgbClr val="5C6672"/>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Prezly (EIN vs PR Newswire)</a:t>
            </a:r>
            <a:endParaRPr lang="en-US" sz="800" dirty="0"/>
          </a:p>
        </p:txBody>
      </p:sp>
      <p:sp>
        <p:nvSpPr>
          <p:cNvPr id="8" name="Text 5"/>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768096"/>
            <a:ext cx="10911535" cy="731520"/>
          </a:xfrm>
          <a:prstGeom prst="rect">
            <a:avLst/>
          </a:prstGeom>
          <a:noFill/>
          <a:ln/>
        </p:spPr>
        <p:txBody>
          <a:bodyPr wrap="square" rtlCol="0" anchor="ctr"/>
          <a:lstStyle/>
          <a:p>
            <a:pPr indent="0" marL="0">
              <a:lnSpc>
                <a:spcPct val="100000"/>
              </a:lnSpc>
              <a:buNone/>
            </a:pPr>
            <a:r>
              <a:rPr lang="en-US" sz="2900" b="1" dirty="0">
                <a:solidFill>
                  <a:srgbClr val="0C2A43"/>
                </a:solidFill>
                <a:latin typeface="Cambria" pitchFamily="34" charset="0"/>
                <a:ea typeface="Cambria" pitchFamily="34" charset="-122"/>
                <a:cs typeface="Cambria" pitchFamily="34" charset="-120"/>
              </a:rPr>
              <a:t>Part 3 — What it costs: lean vs. premium</a:t>
            </a:r>
            <a:endParaRPr lang="en-US" sz="2900" dirty="0"/>
          </a:p>
        </p:txBody>
      </p:sp>
      <p:sp>
        <p:nvSpPr>
          <p:cNvPr id="3" name="Text 1"/>
          <p:cNvSpPr/>
          <p:nvPr/>
        </p:nvSpPr>
        <p:spPr>
          <a:xfrm>
            <a:off x="640080" y="457200"/>
            <a:ext cx="10911535" cy="292608"/>
          </a:xfrm>
          <a:prstGeom prst="rect">
            <a:avLst/>
          </a:prstGeom>
          <a:noFill/>
          <a:ln/>
        </p:spPr>
        <p:txBody>
          <a:bodyPr wrap="square" rtlCol="0" anchor="ctr"/>
          <a:lstStyle/>
          <a:p>
            <a:pPr indent="0" marL="0">
              <a:buNone/>
            </a:pPr>
            <a:r>
              <a:rPr lang="en-US" sz="1300" b="1" spc="200" kern="0" dirty="0">
                <a:solidFill>
                  <a:srgbClr val="C08A2E"/>
                </a:solidFill>
                <a:latin typeface="Calibri" pitchFamily="34" charset="0"/>
                <a:ea typeface="Calibri" pitchFamily="34" charset="-122"/>
                <a:cs typeface="Calibri" pitchFamily="34" charset="-120"/>
              </a:rPr>
              <a:t>THE LAUNCH PLAN</a:t>
            </a:r>
            <a:pPr indent="0" marL="0">
              <a:buNone/>
            </a:pPr>
            <a:r>
              <a:rPr lang="en-US" sz="1300" b="1" spc="200" kern="0" dirty="0">
                <a:solidFill>
                  <a:srgbClr val="5C6672"/>
                </a:solidFill>
                <a:latin typeface="Calibri" pitchFamily="34" charset="0"/>
                <a:ea typeface="Calibri" pitchFamily="34" charset="-122"/>
                <a:cs typeface="Calibri" pitchFamily="34" charset="-120"/>
              </a:rPr>
              <a:t>   ·   PART 3 OF 6</a:t>
            </a:r>
            <a:endParaRPr lang="en-US" sz="1300" dirty="0"/>
          </a:p>
        </p:txBody>
      </p:sp>
      <p:sp>
        <p:nvSpPr>
          <p:cNvPr id="4" name="Text 2"/>
          <p:cNvSpPr/>
          <p:nvPr/>
        </p:nvSpPr>
        <p:spPr>
          <a:xfrm>
            <a:off x="640080" y="1572768"/>
            <a:ext cx="10911535" cy="457200"/>
          </a:xfrm>
          <a:prstGeom prst="rect">
            <a:avLst/>
          </a:prstGeom>
          <a:noFill/>
          <a:ln/>
        </p:spPr>
        <p:txBody>
          <a:bodyPr wrap="square" rtlCol="0" anchor="t"/>
          <a:lstStyle/>
          <a:p>
            <a:pPr indent="0" marL="0">
              <a:lnSpc>
                <a:spcPct val="115000"/>
              </a:lnSpc>
              <a:buNone/>
            </a:pPr>
            <a:r>
              <a:rPr lang="en-US" sz="1500" b="1" dirty="0">
                <a:solidFill>
                  <a:srgbClr val="C08A2E"/>
                </a:solidFill>
                <a:latin typeface="Calibri" pitchFamily="34" charset="0"/>
                <a:ea typeface="Calibri" pitchFamily="34" charset="-122"/>
                <a:cs typeface="Calibri" pitchFamily="34" charset="-120"/>
              </a:rPr>
              <a:t>THIS ANSWERS:  </a:t>
            </a:r>
            <a:pPr indent="0" marL="0">
              <a:lnSpc>
                <a:spcPct val="115000"/>
              </a:lnSpc>
              <a:buNone/>
            </a:pPr>
            <a:r>
              <a:rPr lang="en-US" sz="1500" dirty="0">
                <a:solidFill>
                  <a:srgbClr val="1A1F26"/>
                </a:solidFill>
                <a:latin typeface="Calibri" pitchFamily="34" charset="0"/>
                <a:ea typeface="Calibri" pitchFamily="34" charset="-122"/>
                <a:cs typeface="Calibri" pitchFamily="34" charset="-120"/>
              </a:rPr>
              <a:t>The total spend across all four waves — and what the extra money buys.</a:t>
            </a:r>
            <a:endParaRPr lang="en-US" sz="1500" dirty="0"/>
          </a:p>
        </p:txBody>
      </p:sp>
      <p:sp>
        <p:nvSpPr>
          <p:cNvPr id="5" name="Shape 3"/>
          <p:cNvSpPr/>
          <p:nvPr/>
        </p:nvSpPr>
        <p:spPr>
          <a:xfrm>
            <a:off x="640080" y="2240280"/>
            <a:ext cx="5272888" cy="3429000"/>
          </a:xfrm>
          <a:prstGeom prst="roundRect">
            <a:avLst>
              <a:gd name="adj" fmla="val 1600"/>
            </a:avLst>
          </a:prstGeom>
          <a:solidFill>
            <a:srgbClr val="FFFFFF"/>
          </a:solidFill>
          <a:ln w="12700">
            <a:solidFill>
              <a:srgbClr val="D9DDE2"/>
            </a:solidFill>
            <a:prstDash val="solid"/>
          </a:ln>
        </p:spPr>
      </p:sp>
      <p:sp>
        <p:nvSpPr>
          <p:cNvPr id="6" name="Shape 4"/>
          <p:cNvSpPr/>
          <p:nvPr/>
        </p:nvSpPr>
        <p:spPr>
          <a:xfrm>
            <a:off x="640080" y="2240280"/>
            <a:ext cx="5272888" cy="502920"/>
          </a:xfrm>
          <a:prstGeom prst="rect">
            <a:avLst/>
          </a:prstGeom>
          <a:solidFill>
            <a:srgbClr val="0C2A43"/>
          </a:solidFill>
          <a:ln/>
        </p:spPr>
      </p:sp>
      <p:sp>
        <p:nvSpPr>
          <p:cNvPr id="7" name="Text 5"/>
          <p:cNvSpPr/>
          <p:nvPr/>
        </p:nvSpPr>
        <p:spPr>
          <a:xfrm>
            <a:off x="868680" y="2240280"/>
            <a:ext cx="4815688" cy="502920"/>
          </a:xfrm>
          <a:prstGeom prst="rect">
            <a:avLst/>
          </a:prstGeom>
          <a:noFill/>
          <a:ln/>
        </p:spPr>
        <p:txBody>
          <a:bodyPr wrap="square" rtlCol="0" anchor="ctr"/>
          <a:lstStyle/>
          <a:p>
            <a:pPr indent="0" marL="0">
              <a:buNone/>
            </a:pPr>
            <a:r>
              <a:rPr lang="en-US" sz="1350" b="1" dirty="0">
                <a:solidFill>
                  <a:srgbClr val="FFFFFF"/>
                </a:solidFill>
                <a:latin typeface="Cambria" pitchFamily="34" charset="0"/>
                <a:ea typeface="Cambria" pitchFamily="34" charset="-122"/>
                <a:cs typeface="Cambria" pitchFamily="34" charset="-120"/>
              </a:rPr>
              <a:t>LEAN  ·  solo, bootstrapped</a:t>
            </a:r>
            <a:endParaRPr lang="en-US" sz="1350" dirty="0"/>
          </a:p>
        </p:txBody>
      </p:sp>
      <p:sp>
        <p:nvSpPr>
          <p:cNvPr id="8" name="Text 6"/>
          <p:cNvSpPr/>
          <p:nvPr/>
        </p:nvSpPr>
        <p:spPr>
          <a:xfrm>
            <a:off x="868680" y="2843784"/>
            <a:ext cx="4815688" cy="640080"/>
          </a:xfrm>
          <a:prstGeom prst="rect">
            <a:avLst/>
          </a:prstGeom>
          <a:noFill/>
          <a:ln/>
        </p:spPr>
        <p:txBody>
          <a:bodyPr wrap="square" rtlCol="0" anchor="ctr"/>
          <a:lstStyle/>
          <a:p>
            <a:pPr indent="0" marL="0">
              <a:buNone/>
            </a:pPr>
            <a:r>
              <a:rPr lang="en-US" sz="4000" b="1" dirty="0">
                <a:solidFill>
                  <a:srgbClr val="0C2A43"/>
                </a:solidFill>
                <a:latin typeface="Cambria" pitchFamily="34" charset="0"/>
                <a:ea typeface="Cambria" pitchFamily="34" charset="-122"/>
                <a:cs typeface="Cambria" pitchFamily="34" charset="-120"/>
              </a:rPr>
              <a:t>~$450–$700</a:t>
            </a:r>
            <a:endParaRPr lang="en-US" sz="4000" dirty="0"/>
          </a:p>
        </p:txBody>
      </p:sp>
      <p:sp>
        <p:nvSpPr>
          <p:cNvPr id="9" name="Text 7"/>
          <p:cNvSpPr/>
          <p:nvPr/>
        </p:nvSpPr>
        <p:spPr>
          <a:xfrm>
            <a:off x="868680" y="3520440"/>
            <a:ext cx="4815688" cy="274320"/>
          </a:xfrm>
          <a:prstGeom prst="rect">
            <a:avLst/>
          </a:prstGeom>
          <a:noFill/>
          <a:ln/>
        </p:spPr>
        <p:txBody>
          <a:bodyPr wrap="square" rtlCol="0" anchor="ctr"/>
          <a:lstStyle/>
          <a:p>
            <a:pPr indent="0" marL="0">
              <a:buNone/>
            </a:pPr>
            <a:r>
              <a:rPr lang="en-US" sz="1300" dirty="0">
                <a:solidFill>
                  <a:srgbClr val="5C6672"/>
                </a:solidFill>
                <a:latin typeface="Calibri" pitchFamily="34" charset="0"/>
                <a:ea typeface="Calibri" pitchFamily="34" charset="-122"/>
                <a:cs typeface="Calibri" pitchFamily="34" charset="-120"/>
              </a:rPr>
              <a:t>total, all 4 waves — our recommendation</a:t>
            </a:r>
            <a:endParaRPr lang="en-US" sz="1300" dirty="0"/>
          </a:p>
        </p:txBody>
      </p:sp>
      <p:sp>
        <p:nvSpPr>
          <p:cNvPr id="10" name="Text 8"/>
          <p:cNvSpPr/>
          <p:nvPr/>
        </p:nvSpPr>
        <p:spPr>
          <a:xfrm>
            <a:off x="868680" y="3904488"/>
            <a:ext cx="3672688" cy="347472"/>
          </a:xfrm>
          <a:prstGeom prst="rect">
            <a:avLst/>
          </a:prstGeom>
          <a:noFill/>
          <a:ln/>
        </p:spPr>
        <p:txBody>
          <a:bodyPr wrap="square" rtlCol="0" anchor="ctr"/>
          <a:lstStyle/>
          <a:p>
            <a:pPr indent="0" marL="0">
              <a:buNone/>
            </a:pPr>
            <a:r>
              <a:rPr lang="en-US" sz="1250" dirty="0">
                <a:solidFill>
                  <a:srgbClr val="1A1F26"/>
                </a:solidFill>
                <a:latin typeface="Calibri" pitchFamily="34" charset="0"/>
                <a:ea typeface="Calibri" pitchFamily="34" charset="-122"/>
                <a:cs typeface="Calibri" pitchFamily="34" charset="-120"/>
              </a:rPr>
              <a:t>EIN Presswire 5-pack (all 4 waves)</a:t>
            </a:r>
            <a:endParaRPr lang="en-US" sz="1250" dirty="0"/>
          </a:p>
        </p:txBody>
      </p:sp>
      <p:sp>
        <p:nvSpPr>
          <p:cNvPr id="11" name="Text 9"/>
          <p:cNvSpPr/>
          <p:nvPr/>
        </p:nvSpPr>
        <p:spPr>
          <a:xfrm>
            <a:off x="4495648" y="3904488"/>
            <a:ext cx="1188720" cy="347472"/>
          </a:xfrm>
          <a:prstGeom prst="rect">
            <a:avLst/>
          </a:prstGeom>
          <a:noFill/>
          <a:ln/>
        </p:spPr>
        <p:txBody>
          <a:bodyPr wrap="square" rtlCol="0" anchor="ctr"/>
          <a:lstStyle/>
          <a:p>
            <a:pPr algn="r" indent="0" marL="0">
              <a:buNone/>
            </a:pPr>
            <a:r>
              <a:rPr lang="en-US" sz="1250" b="1" dirty="0">
                <a:solidFill>
                  <a:srgbClr val="0C2A43"/>
                </a:solidFill>
                <a:latin typeface="Calibri" pitchFamily="34" charset="0"/>
                <a:ea typeface="Calibri" pitchFamily="34" charset="-122"/>
                <a:cs typeface="Calibri" pitchFamily="34" charset="-120"/>
              </a:rPr>
              <a:t>$399</a:t>
            </a:r>
            <a:endParaRPr lang="en-US" sz="1250" dirty="0"/>
          </a:p>
        </p:txBody>
      </p:sp>
      <p:sp>
        <p:nvSpPr>
          <p:cNvPr id="12" name="Text 10"/>
          <p:cNvSpPr/>
          <p:nvPr/>
        </p:nvSpPr>
        <p:spPr>
          <a:xfrm>
            <a:off x="868680" y="4288536"/>
            <a:ext cx="3672688" cy="347472"/>
          </a:xfrm>
          <a:prstGeom prst="rect">
            <a:avLst/>
          </a:prstGeom>
          <a:noFill/>
          <a:ln/>
        </p:spPr>
        <p:txBody>
          <a:bodyPr wrap="square" rtlCol="0" anchor="ctr"/>
          <a:lstStyle/>
          <a:p>
            <a:pPr indent="0" marL="0">
              <a:buNone/>
            </a:pPr>
            <a:r>
              <a:rPr lang="en-US" sz="1250" dirty="0">
                <a:solidFill>
                  <a:srgbClr val="1A1F26"/>
                </a:solidFill>
                <a:latin typeface="Calibri" pitchFamily="34" charset="0"/>
                <a:ea typeface="Calibri" pitchFamily="34" charset="-122"/>
                <a:cs typeface="Calibri" pitchFamily="34" charset="-120"/>
              </a:rPr>
              <a:t>Free press tactics (reporter pitching)</a:t>
            </a:r>
            <a:endParaRPr lang="en-US" sz="1250" dirty="0"/>
          </a:p>
        </p:txBody>
      </p:sp>
      <p:sp>
        <p:nvSpPr>
          <p:cNvPr id="13" name="Text 11"/>
          <p:cNvSpPr/>
          <p:nvPr/>
        </p:nvSpPr>
        <p:spPr>
          <a:xfrm>
            <a:off x="4495648" y="4288536"/>
            <a:ext cx="1188720" cy="347472"/>
          </a:xfrm>
          <a:prstGeom prst="rect">
            <a:avLst/>
          </a:prstGeom>
          <a:noFill/>
          <a:ln/>
        </p:spPr>
        <p:txBody>
          <a:bodyPr wrap="square" rtlCol="0" anchor="ctr"/>
          <a:lstStyle/>
          <a:p>
            <a:pPr algn="r" indent="0" marL="0">
              <a:buNone/>
            </a:pPr>
            <a:r>
              <a:rPr lang="en-US" sz="1250" b="1" dirty="0">
                <a:solidFill>
                  <a:srgbClr val="0C2A43"/>
                </a:solidFill>
                <a:latin typeface="Calibri" pitchFamily="34" charset="0"/>
                <a:ea typeface="Calibri" pitchFamily="34" charset="-122"/>
                <a:cs typeface="Calibri" pitchFamily="34" charset="-120"/>
              </a:rPr>
              <a:t>$0</a:t>
            </a:r>
            <a:endParaRPr lang="en-US" sz="1250" dirty="0"/>
          </a:p>
        </p:txBody>
      </p:sp>
      <p:sp>
        <p:nvSpPr>
          <p:cNvPr id="14" name="Text 12"/>
          <p:cNvSpPr/>
          <p:nvPr/>
        </p:nvSpPr>
        <p:spPr>
          <a:xfrm>
            <a:off x="868680" y="4672584"/>
            <a:ext cx="3672688" cy="347472"/>
          </a:xfrm>
          <a:prstGeom prst="rect">
            <a:avLst/>
          </a:prstGeom>
          <a:noFill/>
          <a:ln/>
        </p:spPr>
        <p:txBody>
          <a:bodyPr wrap="square" rtlCol="0" anchor="ctr"/>
          <a:lstStyle/>
          <a:p>
            <a:pPr indent="0" marL="0">
              <a:buNone/>
            </a:pPr>
            <a:r>
              <a:rPr lang="en-US" sz="1250" dirty="0">
                <a:solidFill>
                  <a:srgbClr val="1A1F26"/>
                </a:solidFill>
                <a:latin typeface="Calibri" pitchFamily="34" charset="0"/>
                <a:ea typeface="Calibri" pitchFamily="34" charset="-122"/>
                <a:cs typeface="Calibri" pitchFamily="34" charset="-120"/>
              </a:rPr>
              <a:t>Optional: headshot / logo cleanup</a:t>
            </a:r>
            <a:endParaRPr lang="en-US" sz="1250" dirty="0"/>
          </a:p>
        </p:txBody>
      </p:sp>
      <p:sp>
        <p:nvSpPr>
          <p:cNvPr id="15" name="Text 13"/>
          <p:cNvSpPr/>
          <p:nvPr/>
        </p:nvSpPr>
        <p:spPr>
          <a:xfrm>
            <a:off x="4495648" y="4672584"/>
            <a:ext cx="1188720" cy="347472"/>
          </a:xfrm>
          <a:prstGeom prst="rect">
            <a:avLst/>
          </a:prstGeom>
          <a:noFill/>
          <a:ln/>
        </p:spPr>
        <p:txBody>
          <a:bodyPr wrap="square" rtlCol="0" anchor="ctr"/>
          <a:lstStyle/>
          <a:p>
            <a:pPr algn="r" indent="0" marL="0">
              <a:buNone/>
            </a:pPr>
            <a:r>
              <a:rPr lang="en-US" sz="1250" b="1" dirty="0">
                <a:solidFill>
                  <a:srgbClr val="0C2A43"/>
                </a:solidFill>
                <a:latin typeface="Calibri" pitchFamily="34" charset="0"/>
                <a:ea typeface="Calibri" pitchFamily="34" charset="-122"/>
                <a:cs typeface="Calibri" pitchFamily="34" charset="-120"/>
              </a:rPr>
              <a:t>$0–$150</a:t>
            </a:r>
            <a:endParaRPr lang="en-US" sz="1250" dirty="0"/>
          </a:p>
        </p:txBody>
      </p:sp>
      <p:sp>
        <p:nvSpPr>
          <p:cNvPr id="16" name="Text 14"/>
          <p:cNvSpPr/>
          <p:nvPr/>
        </p:nvSpPr>
        <p:spPr>
          <a:xfrm>
            <a:off x="868680" y="5056632"/>
            <a:ext cx="3672688" cy="347472"/>
          </a:xfrm>
          <a:prstGeom prst="rect">
            <a:avLst/>
          </a:prstGeom>
          <a:noFill/>
          <a:ln/>
        </p:spPr>
        <p:txBody>
          <a:bodyPr wrap="square" rtlCol="0" anchor="ctr"/>
          <a:lstStyle/>
          <a:p>
            <a:pPr indent="0" marL="0">
              <a:buNone/>
            </a:pPr>
            <a:r>
              <a:rPr lang="en-US" sz="1250" dirty="0">
                <a:solidFill>
                  <a:srgbClr val="1A1F26"/>
                </a:solidFill>
                <a:latin typeface="Calibri" pitchFamily="34" charset="0"/>
                <a:ea typeface="Calibri" pitchFamily="34" charset="-122"/>
                <a:cs typeface="Calibri" pitchFamily="34" charset="-120"/>
              </a:rPr>
              <a:t>Our own channels (LinkedIn, website)</a:t>
            </a:r>
            <a:endParaRPr lang="en-US" sz="1250" dirty="0"/>
          </a:p>
        </p:txBody>
      </p:sp>
      <p:sp>
        <p:nvSpPr>
          <p:cNvPr id="17" name="Text 15"/>
          <p:cNvSpPr/>
          <p:nvPr/>
        </p:nvSpPr>
        <p:spPr>
          <a:xfrm>
            <a:off x="4495648" y="5056632"/>
            <a:ext cx="1188720" cy="347472"/>
          </a:xfrm>
          <a:prstGeom prst="rect">
            <a:avLst/>
          </a:prstGeom>
          <a:noFill/>
          <a:ln/>
        </p:spPr>
        <p:txBody>
          <a:bodyPr wrap="square" rtlCol="0" anchor="ctr"/>
          <a:lstStyle/>
          <a:p>
            <a:pPr algn="r" indent="0" marL="0">
              <a:buNone/>
            </a:pPr>
            <a:r>
              <a:rPr lang="en-US" sz="1250" b="1" dirty="0">
                <a:solidFill>
                  <a:srgbClr val="0C2A43"/>
                </a:solidFill>
                <a:latin typeface="Calibri" pitchFamily="34" charset="0"/>
                <a:ea typeface="Calibri" pitchFamily="34" charset="-122"/>
                <a:cs typeface="Calibri" pitchFamily="34" charset="-120"/>
              </a:rPr>
              <a:t>$0</a:t>
            </a:r>
            <a:endParaRPr lang="en-US" sz="1250" dirty="0"/>
          </a:p>
        </p:txBody>
      </p:sp>
      <p:sp>
        <p:nvSpPr>
          <p:cNvPr id="18" name="Text 16"/>
          <p:cNvSpPr/>
          <p:nvPr/>
        </p:nvSpPr>
        <p:spPr>
          <a:xfrm>
            <a:off x="868680" y="5312664"/>
            <a:ext cx="4815688" cy="320040"/>
          </a:xfrm>
          <a:prstGeom prst="rect">
            <a:avLst/>
          </a:prstGeom>
          <a:noFill/>
          <a:ln/>
        </p:spPr>
        <p:txBody>
          <a:bodyPr wrap="square" rtlCol="0" anchor="ctr"/>
          <a:lstStyle/>
          <a:p>
            <a:pPr indent="0" marL="0">
              <a:buNone/>
            </a:pPr>
            <a:r>
              <a:rPr lang="en-US" sz="1150" i="1" dirty="0">
                <a:solidFill>
                  <a:srgbClr val="5C6672"/>
                </a:solidFill>
                <a:latin typeface="Calibri" pitchFamily="34" charset="0"/>
                <a:ea typeface="Calibri" pitchFamily="34" charset="-122"/>
                <a:cs typeface="Calibri" pitchFamily="34" charset="-120"/>
              </a:rPr>
              <a:t>Enough for a real, credible, multi-wave launch run by one person.</a:t>
            </a:r>
            <a:endParaRPr lang="en-US" sz="1150" dirty="0"/>
          </a:p>
        </p:txBody>
      </p:sp>
      <p:sp>
        <p:nvSpPr>
          <p:cNvPr id="19" name="Shape 17"/>
          <p:cNvSpPr/>
          <p:nvPr/>
        </p:nvSpPr>
        <p:spPr>
          <a:xfrm>
            <a:off x="6278728" y="2240280"/>
            <a:ext cx="5272888" cy="3429000"/>
          </a:xfrm>
          <a:prstGeom prst="roundRect">
            <a:avLst>
              <a:gd name="adj" fmla="val 1600"/>
            </a:avLst>
          </a:prstGeom>
          <a:solidFill>
            <a:srgbClr val="FFFFFF"/>
          </a:solidFill>
          <a:ln w="12700">
            <a:solidFill>
              <a:srgbClr val="D9DDE2"/>
            </a:solidFill>
            <a:prstDash val="solid"/>
          </a:ln>
        </p:spPr>
      </p:sp>
      <p:sp>
        <p:nvSpPr>
          <p:cNvPr id="20" name="Shape 18"/>
          <p:cNvSpPr/>
          <p:nvPr/>
        </p:nvSpPr>
        <p:spPr>
          <a:xfrm>
            <a:off x="6278728" y="2240280"/>
            <a:ext cx="5272888" cy="502920"/>
          </a:xfrm>
          <a:prstGeom prst="rect">
            <a:avLst/>
          </a:prstGeom>
          <a:solidFill>
            <a:srgbClr val="6E4A12"/>
          </a:solidFill>
          <a:ln/>
        </p:spPr>
      </p:sp>
      <p:sp>
        <p:nvSpPr>
          <p:cNvPr id="21" name="Text 19"/>
          <p:cNvSpPr/>
          <p:nvPr/>
        </p:nvSpPr>
        <p:spPr>
          <a:xfrm>
            <a:off x="6507328" y="2240280"/>
            <a:ext cx="4815688" cy="502920"/>
          </a:xfrm>
          <a:prstGeom prst="rect">
            <a:avLst/>
          </a:prstGeom>
          <a:noFill/>
          <a:ln/>
        </p:spPr>
        <p:txBody>
          <a:bodyPr wrap="square" rtlCol="0" anchor="ctr"/>
          <a:lstStyle/>
          <a:p>
            <a:pPr indent="0" marL="0">
              <a:buNone/>
            </a:pPr>
            <a:r>
              <a:rPr lang="en-US" sz="1350" b="1" dirty="0">
                <a:solidFill>
                  <a:srgbClr val="FFFFFF"/>
                </a:solidFill>
                <a:latin typeface="Cambria" pitchFamily="34" charset="0"/>
                <a:ea typeface="Cambria" pitchFamily="34" charset="-122"/>
                <a:cs typeface="Cambria" pitchFamily="34" charset="-120"/>
              </a:rPr>
              <a:t>PREMIUM  ·  maximum credibility</a:t>
            </a:r>
            <a:endParaRPr lang="en-US" sz="1350" dirty="0"/>
          </a:p>
        </p:txBody>
      </p:sp>
      <p:sp>
        <p:nvSpPr>
          <p:cNvPr id="22" name="Text 20"/>
          <p:cNvSpPr/>
          <p:nvPr/>
        </p:nvSpPr>
        <p:spPr>
          <a:xfrm>
            <a:off x="6507328" y="2843784"/>
            <a:ext cx="4815688" cy="640080"/>
          </a:xfrm>
          <a:prstGeom prst="rect">
            <a:avLst/>
          </a:prstGeom>
          <a:noFill/>
          <a:ln/>
        </p:spPr>
        <p:txBody>
          <a:bodyPr wrap="square" rtlCol="0" anchor="ctr"/>
          <a:lstStyle/>
          <a:p>
            <a:pPr indent="0" marL="0">
              <a:buNone/>
            </a:pPr>
            <a:r>
              <a:rPr lang="en-US" sz="4000" b="1" dirty="0">
                <a:solidFill>
                  <a:srgbClr val="6E4A12"/>
                </a:solidFill>
                <a:latin typeface="Cambria" pitchFamily="34" charset="0"/>
                <a:ea typeface="Cambria" pitchFamily="34" charset="-122"/>
                <a:cs typeface="Cambria" pitchFamily="34" charset="-120"/>
              </a:rPr>
              <a:t>~$3,500–$5,000</a:t>
            </a:r>
            <a:endParaRPr lang="en-US" sz="4000" dirty="0"/>
          </a:p>
        </p:txBody>
      </p:sp>
      <p:sp>
        <p:nvSpPr>
          <p:cNvPr id="23" name="Text 21"/>
          <p:cNvSpPr/>
          <p:nvPr/>
        </p:nvSpPr>
        <p:spPr>
          <a:xfrm>
            <a:off x="6507328" y="3520440"/>
            <a:ext cx="4815688" cy="274320"/>
          </a:xfrm>
          <a:prstGeom prst="rect">
            <a:avLst/>
          </a:prstGeom>
          <a:noFill/>
          <a:ln/>
        </p:spPr>
        <p:txBody>
          <a:bodyPr wrap="square" rtlCol="0" anchor="ctr"/>
          <a:lstStyle/>
          <a:p>
            <a:pPr indent="0" marL="0">
              <a:buNone/>
            </a:pPr>
            <a:r>
              <a:rPr lang="en-US" sz="1300" dirty="0">
                <a:solidFill>
                  <a:srgbClr val="5C6672"/>
                </a:solidFill>
                <a:latin typeface="Calibri" pitchFamily="34" charset="0"/>
                <a:ea typeface="Calibri" pitchFamily="34" charset="-122"/>
                <a:cs typeface="Calibri" pitchFamily="34" charset="-120"/>
              </a:rPr>
              <a:t>total, all 4 waves — optional upgrade</a:t>
            </a:r>
            <a:endParaRPr lang="en-US" sz="1300" dirty="0"/>
          </a:p>
        </p:txBody>
      </p:sp>
      <p:sp>
        <p:nvSpPr>
          <p:cNvPr id="24" name="Text 22"/>
          <p:cNvSpPr/>
          <p:nvPr/>
        </p:nvSpPr>
        <p:spPr>
          <a:xfrm>
            <a:off x="6507328" y="3904488"/>
            <a:ext cx="3672688" cy="347472"/>
          </a:xfrm>
          <a:prstGeom prst="rect">
            <a:avLst/>
          </a:prstGeom>
          <a:noFill/>
          <a:ln/>
        </p:spPr>
        <p:txBody>
          <a:bodyPr wrap="square" rtlCol="0" anchor="ctr"/>
          <a:lstStyle/>
          <a:p>
            <a:pPr indent="0" marL="0">
              <a:buNone/>
            </a:pPr>
            <a:r>
              <a:rPr lang="en-US" sz="1250" dirty="0">
                <a:solidFill>
                  <a:srgbClr val="1A1F26"/>
                </a:solidFill>
                <a:latin typeface="Calibri" pitchFamily="34" charset="0"/>
                <a:ea typeface="Calibri" pitchFamily="34" charset="-122"/>
                <a:cs typeface="Calibri" pitchFamily="34" charset="-120"/>
              </a:rPr>
              <a:t>PR Newswire national (Wave 1)</a:t>
            </a:r>
            <a:endParaRPr lang="en-US" sz="1250" dirty="0"/>
          </a:p>
        </p:txBody>
      </p:sp>
      <p:sp>
        <p:nvSpPr>
          <p:cNvPr id="25" name="Text 23"/>
          <p:cNvSpPr/>
          <p:nvPr/>
        </p:nvSpPr>
        <p:spPr>
          <a:xfrm>
            <a:off x="10134295" y="3904488"/>
            <a:ext cx="1188720" cy="347472"/>
          </a:xfrm>
          <a:prstGeom prst="rect">
            <a:avLst/>
          </a:prstGeom>
          <a:noFill/>
          <a:ln/>
        </p:spPr>
        <p:txBody>
          <a:bodyPr wrap="square" rtlCol="0" anchor="ctr"/>
          <a:lstStyle/>
          <a:p>
            <a:pPr algn="r" indent="0" marL="0">
              <a:buNone/>
            </a:pPr>
            <a:r>
              <a:rPr lang="en-US" sz="1250" b="1" dirty="0">
                <a:solidFill>
                  <a:srgbClr val="0C2A43"/>
                </a:solidFill>
                <a:latin typeface="Calibri" pitchFamily="34" charset="0"/>
                <a:ea typeface="Calibri" pitchFamily="34" charset="-122"/>
                <a:cs typeface="Calibri" pitchFamily="34" charset="-120"/>
              </a:rPr>
              <a:t>$2,000–$3,000</a:t>
            </a:r>
            <a:endParaRPr lang="en-US" sz="1250" dirty="0"/>
          </a:p>
        </p:txBody>
      </p:sp>
      <p:sp>
        <p:nvSpPr>
          <p:cNvPr id="26" name="Text 24"/>
          <p:cNvSpPr/>
          <p:nvPr/>
        </p:nvSpPr>
        <p:spPr>
          <a:xfrm>
            <a:off x="6507328" y="4288536"/>
            <a:ext cx="3672688" cy="347472"/>
          </a:xfrm>
          <a:prstGeom prst="rect">
            <a:avLst/>
          </a:prstGeom>
          <a:noFill/>
          <a:ln/>
        </p:spPr>
        <p:txBody>
          <a:bodyPr wrap="square" rtlCol="0" anchor="ctr"/>
          <a:lstStyle/>
          <a:p>
            <a:pPr indent="0" marL="0">
              <a:buNone/>
            </a:pPr>
            <a:r>
              <a:rPr lang="en-US" sz="1250" dirty="0">
                <a:solidFill>
                  <a:srgbClr val="1A1F26"/>
                </a:solidFill>
                <a:latin typeface="Calibri" pitchFamily="34" charset="0"/>
                <a:ea typeface="Calibri" pitchFamily="34" charset="-122"/>
                <a:cs typeface="Calibri" pitchFamily="34" charset="-120"/>
              </a:rPr>
              <a:t>EIN Presswire (Waves 2–4)</a:t>
            </a:r>
            <a:endParaRPr lang="en-US" sz="1250" dirty="0"/>
          </a:p>
        </p:txBody>
      </p:sp>
      <p:sp>
        <p:nvSpPr>
          <p:cNvPr id="27" name="Text 25"/>
          <p:cNvSpPr/>
          <p:nvPr/>
        </p:nvSpPr>
        <p:spPr>
          <a:xfrm>
            <a:off x="10134295" y="4288536"/>
            <a:ext cx="1188720" cy="347472"/>
          </a:xfrm>
          <a:prstGeom prst="rect">
            <a:avLst/>
          </a:prstGeom>
          <a:noFill/>
          <a:ln/>
        </p:spPr>
        <p:txBody>
          <a:bodyPr wrap="square" rtlCol="0" anchor="ctr"/>
          <a:lstStyle/>
          <a:p>
            <a:pPr algn="r" indent="0" marL="0">
              <a:buNone/>
            </a:pPr>
            <a:r>
              <a:rPr lang="en-US" sz="1250" b="1" dirty="0">
                <a:solidFill>
                  <a:srgbClr val="0C2A43"/>
                </a:solidFill>
                <a:latin typeface="Calibri" pitchFamily="34" charset="0"/>
                <a:ea typeface="Calibri" pitchFamily="34" charset="-122"/>
                <a:cs typeface="Calibri" pitchFamily="34" charset="-120"/>
              </a:rPr>
              <a:t>~$240</a:t>
            </a:r>
            <a:endParaRPr lang="en-US" sz="1250" dirty="0"/>
          </a:p>
        </p:txBody>
      </p:sp>
      <p:sp>
        <p:nvSpPr>
          <p:cNvPr id="28" name="Text 26"/>
          <p:cNvSpPr/>
          <p:nvPr/>
        </p:nvSpPr>
        <p:spPr>
          <a:xfrm>
            <a:off x="6507328" y="4672584"/>
            <a:ext cx="3672688" cy="347472"/>
          </a:xfrm>
          <a:prstGeom prst="rect">
            <a:avLst/>
          </a:prstGeom>
          <a:noFill/>
          <a:ln/>
        </p:spPr>
        <p:txBody>
          <a:bodyPr wrap="square" rtlCol="0" anchor="ctr"/>
          <a:lstStyle/>
          <a:p>
            <a:pPr indent="0" marL="0">
              <a:buNone/>
            </a:pPr>
            <a:r>
              <a:rPr lang="en-US" sz="1250" dirty="0">
                <a:solidFill>
                  <a:srgbClr val="1A1F26"/>
                </a:solidFill>
                <a:latin typeface="Calibri" pitchFamily="34" charset="0"/>
                <a:ea typeface="Calibri" pitchFamily="34" charset="-122"/>
                <a:cs typeface="Calibri" pitchFamily="34" charset="-120"/>
              </a:rPr>
              <a:t>Qwoted paid (3 mo)</a:t>
            </a:r>
            <a:endParaRPr lang="en-US" sz="1250" dirty="0"/>
          </a:p>
        </p:txBody>
      </p:sp>
      <p:sp>
        <p:nvSpPr>
          <p:cNvPr id="29" name="Text 27"/>
          <p:cNvSpPr/>
          <p:nvPr/>
        </p:nvSpPr>
        <p:spPr>
          <a:xfrm>
            <a:off x="10134295" y="4672584"/>
            <a:ext cx="1188720" cy="347472"/>
          </a:xfrm>
          <a:prstGeom prst="rect">
            <a:avLst/>
          </a:prstGeom>
          <a:noFill/>
          <a:ln/>
        </p:spPr>
        <p:txBody>
          <a:bodyPr wrap="square" rtlCol="0" anchor="ctr"/>
          <a:lstStyle/>
          <a:p>
            <a:pPr algn="r" indent="0" marL="0">
              <a:buNone/>
            </a:pPr>
            <a:r>
              <a:rPr lang="en-US" sz="1250" b="1" dirty="0">
                <a:solidFill>
                  <a:srgbClr val="0C2A43"/>
                </a:solidFill>
                <a:latin typeface="Calibri" pitchFamily="34" charset="0"/>
                <a:ea typeface="Calibri" pitchFamily="34" charset="-122"/>
                <a:cs typeface="Calibri" pitchFamily="34" charset="-120"/>
              </a:rPr>
              <a:t>~$300</a:t>
            </a:r>
            <a:endParaRPr lang="en-US" sz="1250" dirty="0"/>
          </a:p>
        </p:txBody>
      </p:sp>
      <p:sp>
        <p:nvSpPr>
          <p:cNvPr id="30" name="Text 28"/>
          <p:cNvSpPr/>
          <p:nvPr/>
        </p:nvSpPr>
        <p:spPr>
          <a:xfrm>
            <a:off x="6507328" y="5056632"/>
            <a:ext cx="3672688" cy="347472"/>
          </a:xfrm>
          <a:prstGeom prst="rect">
            <a:avLst/>
          </a:prstGeom>
          <a:noFill/>
          <a:ln/>
        </p:spPr>
        <p:txBody>
          <a:bodyPr wrap="square" rtlCol="0" anchor="ctr"/>
          <a:lstStyle/>
          <a:p>
            <a:pPr indent="0" marL="0">
              <a:buNone/>
            </a:pPr>
            <a:r>
              <a:rPr lang="en-US" sz="1250" dirty="0">
                <a:solidFill>
                  <a:srgbClr val="1A1F26"/>
                </a:solidFill>
                <a:latin typeface="Calibri" pitchFamily="34" charset="0"/>
                <a:ea typeface="Calibri" pitchFamily="34" charset="-122"/>
                <a:cs typeface="Calibri" pitchFamily="34" charset="-120"/>
              </a:rPr>
              <a:t>Freelance reporter-list / pitch help</a:t>
            </a:r>
            <a:endParaRPr lang="en-US" sz="1250" dirty="0"/>
          </a:p>
        </p:txBody>
      </p:sp>
      <p:sp>
        <p:nvSpPr>
          <p:cNvPr id="31" name="Text 29"/>
          <p:cNvSpPr/>
          <p:nvPr/>
        </p:nvSpPr>
        <p:spPr>
          <a:xfrm>
            <a:off x="10134295" y="5056632"/>
            <a:ext cx="1188720" cy="347472"/>
          </a:xfrm>
          <a:prstGeom prst="rect">
            <a:avLst/>
          </a:prstGeom>
          <a:noFill/>
          <a:ln/>
        </p:spPr>
        <p:txBody>
          <a:bodyPr wrap="square" rtlCol="0" anchor="ctr"/>
          <a:lstStyle/>
          <a:p>
            <a:pPr algn="r" indent="0" marL="0">
              <a:buNone/>
            </a:pPr>
            <a:r>
              <a:rPr lang="en-US" sz="1250" b="1" dirty="0">
                <a:solidFill>
                  <a:srgbClr val="0C2A43"/>
                </a:solidFill>
                <a:latin typeface="Calibri" pitchFamily="34" charset="0"/>
                <a:ea typeface="Calibri" pitchFamily="34" charset="-122"/>
                <a:cs typeface="Calibri" pitchFamily="34" charset="-120"/>
              </a:rPr>
              <a:t>$500–$1,500</a:t>
            </a:r>
            <a:endParaRPr lang="en-US" sz="1250" dirty="0"/>
          </a:p>
        </p:txBody>
      </p:sp>
      <p:sp>
        <p:nvSpPr>
          <p:cNvPr id="32" name="Text 30"/>
          <p:cNvSpPr/>
          <p:nvPr/>
        </p:nvSpPr>
        <p:spPr>
          <a:xfrm>
            <a:off x="6507328" y="5312664"/>
            <a:ext cx="4815688" cy="320040"/>
          </a:xfrm>
          <a:prstGeom prst="rect">
            <a:avLst/>
          </a:prstGeom>
          <a:noFill/>
          <a:ln/>
        </p:spPr>
        <p:txBody>
          <a:bodyPr wrap="square" rtlCol="0" anchor="ctr"/>
          <a:lstStyle/>
          <a:p>
            <a:pPr indent="0" marL="0">
              <a:buNone/>
            </a:pPr>
            <a:r>
              <a:rPr lang="en-US" sz="1150" i="1" dirty="0">
                <a:solidFill>
                  <a:srgbClr val="5C6672"/>
                </a:solidFill>
                <a:latin typeface="Calibri" pitchFamily="34" charset="0"/>
                <a:ea typeface="Calibri" pitchFamily="34" charset="-122"/>
                <a:cs typeface="Calibri" pitchFamily="34" charset="-120"/>
              </a:rPr>
              <a:t>Only if the CEO wants the premium wire dateline on the launch.</a:t>
            </a:r>
            <a:endParaRPr lang="en-US" sz="1150" dirty="0"/>
          </a:p>
        </p:txBody>
      </p:sp>
      <p:sp>
        <p:nvSpPr>
          <p:cNvPr id="33" name="Text 31"/>
          <p:cNvSpPr/>
          <p:nvPr/>
        </p:nvSpPr>
        <p:spPr>
          <a:xfrm>
            <a:off x="640080" y="5897880"/>
            <a:ext cx="10911535" cy="457200"/>
          </a:xfrm>
          <a:prstGeom prst="rect">
            <a:avLst/>
          </a:prstGeom>
          <a:noFill/>
          <a:ln/>
        </p:spPr>
        <p:txBody>
          <a:bodyPr wrap="square" rtlCol="0" anchor="ctr"/>
          <a:lstStyle/>
          <a:p>
            <a:pPr indent="0" marL="0">
              <a:lnSpc>
                <a:spcPct val="110000"/>
              </a:lnSpc>
              <a:buNone/>
            </a:pPr>
            <a:r>
              <a:rPr lang="en-US" sz="1350" b="1" dirty="0">
                <a:solidFill>
                  <a:srgbClr val="0C2A43"/>
                </a:solidFill>
                <a:latin typeface="Calibri" pitchFamily="34" charset="0"/>
                <a:ea typeface="Calibri" pitchFamily="34" charset="-122"/>
                <a:cs typeface="Calibri" pitchFamily="34" charset="-120"/>
              </a:rPr>
              <a:t>Bottom line: a serious four-wave launch is realistic for under $700. Spending more buys credibility and saves time — it does not buy certainty.</a:t>
            </a:r>
            <a:endParaRPr lang="en-US" sz="1350" dirty="0"/>
          </a:p>
        </p:txBody>
      </p:sp>
      <p:sp>
        <p:nvSpPr>
          <p:cNvPr id="34" name="Text 3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768096"/>
            <a:ext cx="10911535" cy="731520"/>
          </a:xfrm>
          <a:prstGeom prst="rect">
            <a:avLst/>
          </a:prstGeom>
          <a:noFill/>
          <a:ln/>
        </p:spPr>
        <p:txBody>
          <a:bodyPr wrap="square" rtlCol="0" anchor="ctr"/>
          <a:lstStyle/>
          <a:p>
            <a:pPr indent="0" marL="0">
              <a:lnSpc>
                <a:spcPct val="100000"/>
              </a:lnSpc>
              <a:buNone/>
            </a:pPr>
            <a:r>
              <a:rPr lang="en-US" sz="2900" b="1" dirty="0">
                <a:solidFill>
                  <a:srgbClr val="0C2A43"/>
                </a:solidFill>
                <a:latin typeface="Cambria" pitchFamily="34" charset="0"/>
                <a:ea typeface="Cambria" pitchFamily="34" charset="-122"/>
                <a:cs typeface="Cambria" pitchFamily="34" charset="-120"/>
              </a:rPr>
              <a:t>Part 4 — The odds: guaranteed, likely, possible, long shot</a:t>
            </a:r>
            <a:endParaRPr lang="en-US" sz="2900" dirty="0"/>
          </a:p>
        </p:txBody>
      </p:sp>
      <p:sp>
        <p:nvSpPr>
          <p:cNvPr id="3" name="Text 1"/>
          <p:cNvSpPr/>
          <p:nvPr/>
        </p:nvSpPr>
        <p:spPr>
          <a:xfrm>
            <a:off x="640080" y="457200"/>
            <a:ext cx="10911535" cy="292608"/>
          </a:xfrm>
          <a:prstGeom prst="rect">
            <a:avLst/>
          </a:prstGeom>
          <a:noFill/>
          <a:ln/>
        </p:spPr>
        <p:txBody>
          <a:bodyPr wrap="square" rtlCol="0" anchor="ctr"/>
          <a:lstStyle/>
          <a:p>
            <a:pPr indent="0" marL="0">
              <a:buNone/>
            </a:pPr>
            <a:r>
              <a:rPr lang="en-US" sz="1300" b="1" spc="200" kern="0" dirty="0">
                <a:solidFill>
                  <a:srgbClr val="C08A2E"/>
                </a:solidFill>
                <a:latin typeface="Calibri" pitchFamily="34" charset="0"/>
                <a:ea typeface="Calibri" pitchFamily="34" charset="-122"/>
                <a:cs typeface="Calibri" pitchFamily="34" charset="-120"/>
              </a:rPr>
              <a:t>THE LAUNCH PLAN</a:t>
            </a:r>
            <a:pPr indent="0" marL="0">
              <a:buNone/>
            </a:pPr>
            <a:r>
              <a:rPr lang="en-US" sz="1300" b="1" spc="200" kern="0" dirty="0">
                <a:solidFill>
                  <a:srgbClr val="5C6672"/>
                </a:solidFill>
                <a:latin typeface="Calibri" pitchFamily="34" charset="0"/>
                <a:ea typeface="Calibri" pitchFamily="34" charset="-122"/>
                <a:cs typeface="Calibri" pitchFamily="34" charset="-120"/>
              </a:rPr>
              <a:t>   ·   PART 4 OF 6</a:t>
            </a:r>
            <a:endParaRPr lang="en-US" sz="1300" dirty="0"/>
          </a:p>
        </p:txBody>
      </p:sp>
      <p:sp>
        <p:nvSpPr>
          <p:cNvPr id="4" name="Text 2"/>
          <p:cNvSpPr/>
          <p:nvPr/>
        </p:nvSpPr>
        <p:spPr>
          <a:xfrm>
            <a:off x="640080" y="1572768"/>
            <a:ext cx="10911535" cy="457200"/>
          </a:xfrm>
          <a:prstGeom prst="rect">
            <a:avLst/>
          </a:prstGeom>
          <a:noFill/>
          <a:ln/>
        </p:spPr>
        <p:txBody>
          <a:bodyPr wrap="square" rtlCol="0" anchor="t"/>
          <a:lstStyle/>
          <a:p>
            <a:pPr indent="0" marL="0">
              <a:lnSpc>
                <a:spcPct val="115000"/>
              </a:lnSpc>
              <a:buNone/>
            </a:pPr>
            <a:r>
              <a:rPr lang="en-US" sz="1500" b="1" dirty="0">
                <a:solidFill>
                  <a:srgbClr val="C08A2E"/>
                </a:solidFill>
                <a:latin typeface="Calibri" pitchFamily="34" charset="0"/>
                <a:ea typeface="Calibri" pitchFamily="34" charset="-122"/>
                <a:cs typeface="Calibri" pitchFamily="34" charset="-120"/>
              </a:rPr>
              <a:t>THIS ANSWERS:  </a:t>
            </a:r>
            <a:pPr indent="0" marL="0">
              <a:lnSpc>
                <a:spcPct val="115000"/>
              </a:lnSpc>
              <a:buNone/>
            </a:pPr>
            <a:r>
              <a:rPr lang="en-US" sz="1500" dirty="0">
                <a:solidFill>
                  <a:srgbClr val="1A1F26"/>
                </a:solidFill>
                <a:latin typeface="Calibri" pitchFamily="34" charset="0"/>
                <a:ea typeface="Calibri" pitchFamily="34" charset="-122"/>
                <a:cs typeface="Calibri" pitchFamily="34" charset="-120"/>
              </a:rPr>
              <a:t>What this plan will realistically deliver — stated honestly, no hype.</a:t>
            </a:r>
            <a:endParaRPr lang="en-US" sz="1500" dirty="0"/>
          </a:p>
        </p:txBody>
      </p:sp>
      <p:sp>
        <p:nvSpPr>
          <p:cNvPr id="5" name="Shape 3"/>
          <p:cNvSpPr/>
          <p:nvPr/>
        </p:nvSpPr>
        <p:spPr>
          <a:xfrm>
            <a:off x="640080" y="2212848"/>
            <a:ext cx="10911535" cy="822960"/>
          </a:xfrm>
          <a:prstGeom prst="roundRect">
            <a:avLst>
              <a:gd name="adj" fmla="val 5556"/>
            </a:avLst>
          </a:prstGeom>
          <a:solidFill>
            <a:srgbClr val="FFFFFF"/>
          </a:solidFill>
          <a:ln w="12700">
            <a:solidFill>
              <a:srgbClr val="D9DDE2"/>
            </a:solidFill>
            <a:prstDash val="solid"/>
          </a:ln>
        </p:spPr>
      </p:sp>
      <p:sp>
        <p:nvSpPr>
          <p:cNvPr id="6" name="Shape 4"/>
          <p:cNvSpPr/>
          <p:nvPr/>
        </p:nvSpPr>
        <p:spPr>
          <a:xfrm>
            <a:off x="640080" y="2212848"/>
            <a:ext cx="1691640" cy="822960"/>
          </a:xfrm>
          <a:prstGeom prst="roundRect">
            <a:avLst>
              <a:gd name="adj" fmla="val 5556"/>
            </a:avLst>
          </a:prstGeom>
          <a:solidFill>
            <a:srgbClr val="437A22"/>
          </a:solidFill>
          <a:ln/>
        </p:spPr>
      </p:sp>
      <p:sp>
        <p:nvSpPr>
          <p:cNvPr id="7" name="Text 5"/>
          <p:cNvSpPr/>
          <p:nvPr/>
        </p:nvSpPr>
        <p:spPr>
          <a:xfrm>
            <a:off x="640080" y="2212848"/>
            <a:ext cx="1691640" cy="822960"/>
          </a:xfrm>
          <a:prstGeom prst="rect">
            <a:avLst/>
          </a:prstGeom>
          <a:noFill/>
          <a:ln/>
        </p:spPr>
        <p:txBody>
          <a:bodyPr wrap="square" rtlCol="0" anchor="ctr"/>
          <a:lstStyle/>
          <a:p>
            <a:pPr algn="ctr" indent="0" marL="0">
              <a:buNone/>
            </a:pPr>
            <a:r>
              <a:rPr lang="en-US" sz="1400" b="1" spc="100" kern="0" dirty="0">
                <a:solidFill>
                  <a:srgbClr val="FFFFFF"/>
                </a:solidFill>
                <a:latin typeface="Calibri" pitchFamily="34" charset="0"/>
                <a:ea typeface="Calibri" pitchFamily="34" charset="-122"/>
                <a:cs typeface="Calibri" pitchFamily="34" charset="-120"/>
              </a:rPr>
              <a:t>GUARANTEED</a:t>
            </a:r>
            <a:endParaRPr lang="en-US" sz="1400" dirty="0"/>
          </a:p>
        </p:txBody>
      </p:sp>
      <p:sp>
        <p:nvSpPr>
          <p:cNvPr id="8" name="Text 6"/>
          <p:cNvSpPr/>
          <p:nvPr/>
        </p:nvSpPr>
        <p:spPr>
          <a:xfrm>
            <a:off x="2560320" y="2304288"/>
            <a:ext cx="3840480" cy="347472"/>
          </a:xfrm>
          <a:prstGeom prst="rect">
            <a:avLst/>
          </a:prstGeom>
          <a:noFill/>
          <a:ln/>
        </p:spPr>
        <p:txBody>
          <a:bodyPr wrap="square" rtlCol="0" anchor="ctr"/>
          <a:lstStyle/>
          <a:p>
            <a:pPr indent="0" marL="0">
              <a:buNone/>
            </a:pPr>
            <a:r>
              <a:rPr lang="en-US" sz="1700" b="1" dirty="0">
                <a:solidFill>
                  <a:srgbClr val="0C2A43"/>
                </a:solidFill>
                <a:latin typeface="Cambria" pitchFamily="34" charset="0"/>
                <a:ea typeface="Cambria" pitchFamily="34" charset="-122"/>
                <a:cs typeface="Cambria" pitchFamily="34" charset="-120"/>
              </a:rPr>
              <a:t>Paid wire pickup</a:t>
            </a:r>
            <a:endParaRPr lang="en-US" sz="1700" dirty="0"/>
          </a:p>
        </p:txBody>
      </p:sp>
      <p:sp>
        <p:nvSpPr>
          <p:cNvPr id="9" name="Text 7"/>
          <p:cNvSpPr/>
          <p:nvPr/>
        </p:nvSpPr>
        <p:spPr>
          <a:xfrm>
            <a:off x="2560320" y="2670048"/>
            <a:ext cx="3840480" cy="292608"/>
          </a:xfrm>
          <a:prstGeom prst="rect">
            <a:avLst/>
          </a:prstGeom>
          <a:noFill/>
          <a:ln/>
        </p:spPr>
        <p:txBody>
          <a:bodyPr wrap="square" rtlCol="0" anchor="ctr"/>
          <a:lstStyle/>
          <a:p>
            <a:pPr indent="0" marL="0">
              <a:buNone/>
            </a:pPr>
            <a:r>
              <a:rPr lang="en-US" sz="1350" b="1" dirty="0">
                <a:solidFill>
                  <a:srgbClr val="437A22"/>
                </a:solidFill>
                <a:latin typeface="Calibri" pitchFamily="34" charset="0"/>
                <a:ea typeface="Calibri" pitchFamily="34" charset="-122"/>
                <a:cs typeface="Calibri" pitchFamily="34" charset="-120"/>
              </a:rPr>
              <a:t>100%</a:t>
            </a:r>
            <a:endParaRPr lang="en-US" sz="1350" dirty="0"/>
          </a:p>
        </p:txBody>
      </p:sp>
      <p:sp>
        <p:nvSpPr>
          <p:cNvPr id="10" name="Text 8"/>
          <p:cNvSpPr/>
          <p:nvPr/>
        </p:nvSpPr>
        <p:spPr>
          <a:xfrm>
            <a:off x="6583680" y="2286000"/>
            <a:ext cx="4785055" cy="713232"/>
          </a:xfrm>
          <a:prstGeom prst="rect">
            <a:avLst/>
          </a:prstGeom>
          <a:noFill/>
          <a:ln/>
        </p:spPr>
        <p:txBody>
          <a:bodyPr wrap="square" rtlCol="0" anchor="ctr"/>
          <a:lstStyle/>
          <a:p>
            <a:pPr indent="0" marL="0">
              <a:lnSpc>
                <a:spcPct val="112000"/>
              </a:lnSpc>
              <a:buNone/>
            </a:pPr>
            <a:r>
              <a:rPr lang="en-US" sz="1200" dirty="0">
                <a:solidFill>
                  <a:srgbClr val="1A1F26"/>
                </a:solidFill>
                <a:latin typeface="Calibri" pitchFamily="34" charset="0"/>
                <a:ea typeface="Calibri" pitchFamily="34" charset="-122"/>
                <a:cs typeface="Calibri" pitchFamily="34" charset="-120"/>
              </a:rPr>
              <a:t>Every wave appears on the wire + auto-syndications (AP News, Google News). We control this.</a:t>
            </a:r>
            <a:endParaRPr lang="en-US" sz="1200" dirty="0"/>
          </a:p>
        </p:txBody>
      </p:sp>
      <p:sp>
        <p:nvSpPr>
          <p:cNvPr id="11" name="Shape 9"/>
          <p:cNvSpPr/>
          <p:nvPr/>
        </p:nvSpPr>
        <p:spPr>
          <a:xfrm>
            <a:off x="640080" y="3145536"/>
            <a:ext cx="10911535" cy="822960"/>
          </a:xfrm>
          <a:prstGeom prst="roundRect">
            <a:avLst>
              <a:gd name="adj" fmla="val 5556"/>
            </a:avLst>
          </a:prstGeom>
          <a:solidFill>
            <a:srgbClr val="FFFFFF"/>
          </a:solidFill>
          <a:ln w="12700">
            <a:solidFill>
              <a:srgbClr val="D9DDE2"/>
            </a:solidFill>
            <a:prstDash val="solid"/>
          </a:ln>
        </p:spPr>
      </p:sp>
      <p:sp>
        <p:nvSpPr>
          <p:cNvPr id="12" name="Shape 10"/>
          <p:cNvSpPr/>
          <p:nvPr/>
        </p:nvSpPr>
        <p:spPr>
          <a:xfrm>
            <a:off x="640080" y="3145536"/>
            <a:ext cx="1691640" cy="822960"/>
          </a:xfrm>
          <a:prstGeom prst="roundRect">
            <a:avLst>
              <a:gd name="adj" fmla="val 5556"/>
            </a:avLst>
          </a:prstGeom>
          <a:solidFill>
            <a:srgbClr val="437A22"/>
          </a:solidFill>
          <a:ln/>
        </p:spPr>
      </p:sp>
      <p:sp>
        <p:nvSpPr>
          <p:cNvPr id="13" name="Text 11"/>
          <p:cNvSpPr/>
          <p:nvPr/>
        </p:nvSpPr>
        <p:spPr>
          <a:xfrm>
            <a:off x="640080" y="3145536"/>
            <a:ext cx="1691640" cy="822960"/>
          </a:xfrm>
          <a:prstGeom prst="rect">
            <a:avLst/>
          </a:prstGeom>
          <a:noFill/>
          <a:ln/>
        </p:spPr>
        <p:txBody>
          <a:bodyPr wrap="square" rtlCol="0" anchor="ctr"/>
          <a:lstStyle/>
          <a:p>
            <a:pPr algn="ctr" indent="0" marL="0">
              <a:buNone/>
            </a:pPr>
            <a:r>
              <a:rPr lang="en-US" sz="1400" b="1" spc="100" kern="0" dirty="0">
                <a:solidFill>
                  <a:srgbClr val="FFFFFF"/>
                </a:solidFill>
                <a:latin typeface="Calibri" pitchFamily="34" charset="0"/>
                <a:ea typeface="Calibri" pitchFamily="34" charset="-122"/>
                <a:cs typeface="Calibri" pitchFamily="34" charset="-120"/>
              </a:rPr>
              <a:t>LIKELY</a:t>
            </a:r>
            <a:endParaRPr lang="en-US" sz="1400" dirty="0"/>
          </a:p>
        </p:txBody>
      </p:sp>
      <p:sp>
        <p:nvSpPr>
          <p:cNvPr id="14" name="Text 12"/>
          <p:cNvSpPr/>
          <p:nvPr/>
        </p:nvSpPr>
        <p:spPr>
          <a:xfrm>
            <a:off x="2560320" y="3236976"/>
            <a:ext cx="3840480" cy="347472"/>
          </a:xfrm>
          <a:prstGeom prst="rect">
            <a:avLst/>
          </a:prstGeom>
          <a:noFill/>
          <a:ln/>
        </p:spPr>
        <p:txBody>
          <a:bodyPr wrap="square" rtlCol="0" anchor="ctr"/>
          <a:lstStyle/>
          <a:p>
            <a:pPr indent="0" marL="0">
              <a:buNone/>
            </a:pPr>
            <a:r>
              <a:rPr lang="en-US" sz="1700" b="1" dirty="0">
                <a:solidFill>
                  <a:srgbClr val="0C2A43"/>
                </a:solidFill>
                <a:latin typeface="Cambria" pitchFamily="34" charset="0"/>
                <a:ea typeface="Cambria" pitchFamily="34" charset="-122"/>
                <a:cs typeface="Cambria" pitchFamily="34" charset="-120"/>
              </a:rPr>
              <a:t>A few earned pickups</a:t>
            </a:r>
            <a:endParaRPr lang="en-US" sz="1700" dirty="0"/>
          </a:p>
        </p:txBody>
      </p:sp>
      <p:sp>
        <p:nvSpPr>
          <p:cNvPr id="15" name="Text 13"/>
          <p:cNvSpPr/>
          <p:nvPr/>
        </p:nvSpPr>
        <p:spPr>
          <a:xfrm>
            <a:off x="2560320" y="3602736"/>
            <a:ext cx="3840480" cy="292608"/>
          </a:xfrm>
          <a:prstGeom prst="rect">
            <a:avLst/>
          </a:prstGeom>
          <a:noFill/>
          <a:ln/>
        </p:spPr>
        <p:txBody>
          <a:bodyPr wrap="square" rtlCol="0" anchor="ctr"/>
          <a:lstStyle/>
          <a:p>
            <a:pPr indent="0" marL="0">
              <a:buNone/>
            </a:pPr>
            <a:r>
              <a:rPr lang="en-US" sz="1350" b="1" dirty="0">
                <a:solidFill>
                  <a:srgbClr val="437A22"/>
                </a:solidFill>
                <a:latin typeface="Calibri" pitchFamily="34" charset="0"/>
                <a:ea typeface="Calibri" pitchFamily="34" charset="-122"/>
                <a:cs typeface="Calibri" pitchFamily="34" charset="-120"/>
              </a:rPr>
              <a:t>60–80% chance of ≥3</a:t>
            </a:r>
            <a:endParaRPr lang="en-US" sz="1350" dirty="0"/>
          </a:p>
        </p:txBody>
      </p:sp>
      <p:sp>
        <p:nvSpPr>
          <p:cNvPr id="16" name="Text 14"/>
          <p:cNvSpPr/>
          <p:nvPr/>
        </p:nvSpPr>
        <p:spPr>
          <a:xfrm>
            <a:off x="6583680" y="3218688"/>
            <a:ext cx="4785055" cy="713232"/>
          </a:xfrm>
          <a:prstGeom prst="rect">
            <a:avLst/>
          </a:prstGeom>
          <a:noFill/>
          <a:ln/>
        </p:spPr>
        <p:txBody>
          <a:bodyPr wrap="square" rtlCol="0" anchor="ctr"/>
          <a:lstStyle/>
          <a:p>
            <a:pPr indent="0" marL="0">
              <a:lnSpc>
                <a:spcPct val="112000"/>
              </a:lnSpc>
              <a:buNone/>
            </a:pPr>
            <a:r>
              <a:rPr lang="en-US" sz="1200" dirty="0">
                <a:solidFill>
                  <a:srgbClr val="1A1F26"/>
                </a:solidFill>
                <a:latin typeface="Calibri" pitchFamily="34" charset="0"/>
                <a:ea typeface="Calibri" pitchFamily="34" charset="-122"/>
                <a:cs typeface="Calibri" pitchFamily="34" charset="-120"/>
              </a:rPr>
              <a:t>Across 8 weeks, with two strong hooks, expect 3–6 real earned stories — mostly US health/consumer + Israeli business.</a:t>
            </a:r>
            <a:endParaRPr lang="en-US" sz="1200" dirty="0"/>
          </a:p>
        </p:txBody>
      </p:sp>
      <p:sp>
        <p:nvSpPr>
          <p:cNvPr id="17" name="Shape 15"/>
          <p:cNvSpPr/>
          <p:nvPr/>
        </p:nvSpPr>
        <p:spPr>
          <a:xfrm>
            <a:off x="640080" y="4078224"/>
            <a:ext cx="10911535" cy="822960"/>
          </a:xfrm>
          <a:prstGeom prst="roundRect">
            <a:avLst>
              <a:gd name="adj" fmla="val 5556"/>
            </a:avLst>
          </a:prstGeom>
          <a:solidFill>
            <a:srgbClr val="FFFFFF"/>
          </a:solidFill>
          <a:ln w="12700">
            <a:solidFill>
              <a:srgbClr val="D9DDE2"/>
            </a:solidFill>
            <a:prstDash val="solid"/>
          </a:ln>
        </p:spPr>
      </p:sp>
      <p:sp>
        <p:nvSpPr>
          <p:cNvPr id="18" name="Shape 16"/>
          <p:cNvSpPr/>
          <p:nvPr/>
        </p:nvSpPr>
        <p:spPr>
          <a:xfrm>
            <a:off x="640080" y="4078224"/>
            <a:ext cx="1691640" cy="822960"/>
          </a:xfrm>
          <a:prstGeom prst="roundRect">
            <a:avLst>
              <a:gd name="adj" fmla="val 5556"/>
            </a:avLst>
          </a:prstGeom>
          <a:solidFill>
            <a:srgbClr val="B07A16"/>
          </a:solidFill>
          <a:ln/>
        </p:spPr>
      </p:sp>
      <p:sp>
        <p:nvSpPr>
          <p:cNvPr id="19" name="Text 17"/>
          <p:cNvSpPr/>
          <p:nvPr/>
        </p:nvSpPr>
        <p:spPr>
          <a:xfrm>
            <a:off x="640080" y="4078224"/>
            <a:ext cx="1691640" cy="822960"/>
          </a:xfrm>
          <a:prstGeom prst="rect">
            <a:avLst/>
          </a:prstGeom>
          <a:noFill/>
          <a:ln/>
        </p:spPr>
        <p:txBody>
          <a:bodyPr wrap="square" rtlCol="0" anchor="ctr"/>
          <a:lstStyle/>
          <a:p>
            <a:pPr algn="ctr" indent="0" marL="0">
              <a:buNone/>
            </a:pPr>
            <a:r>
              <a:rPr lang="en-US" sz="1400" b="1" spc="100" kern="0" dirty="0">
                <a:solidFill>
                  <a:srgbClr val="FFFFFF"/>
                </a:solidFill>
                <a:latin typeface="Calibri" pitchFamily="34" charset="0"/>
                <a:ea typeface="Calibri" pitchFamily="34" charset="-122"/>
                <a:cs typeface="Calibri" pitchFamily="34" charset="-120"/>
              </a:rPr>
              <a:t>POSSIBLE</a:t>
            </a:r>
            <a:endParaRPr lang="en-US" sz="1400" dirty="0"/>
          </a:p>
        </p:txBody>
      </p:sp>
      <p:sp>
        <p:nvSpPr>
          <p:cNvPr id="20" name="Text 18"/>
          <p:cNvSpPr/>
          <p:nvPr/>
        </p:nvSpPr>
        <p:spPr>
          <a:xfrm>
            <a:off x="2560320" y="4169664"/>
            <a:ext cx="3840480" cy="347472"/>
          </a:xfrm>
          <a:prstGeom prst="rect">
            <a:avLst/>
          </a:prstGeom>
          <a:noFill/>
          <a:ln/>
        </p:spPr>
        <p:txBody>
          <a:bodyPr wrap="square" rtlCol="0" anchor="ctr"/>
          <a:lstStyle/>
          <a:p>
            <a:pPr indent="0" marL="0">
              <a:buNone/>
            </a:pPr>
            <a:r>
              <a:rPr lang="en-US" sz="1700" b="1" dirty="0">
                <a:solidFill>
                  <a:srgbClr val="0C2A43"/>
                </a:solidFill>
                <a:latin typeface="Cambria" pitchFamily="34" charset="0"/>
                <a:ea typeface="Cambria" pitchFamily="34" charset="-122"/>
                <a:cs typeface="Cambria" pitchFamily="34" charset="-120"/>
              </a:rPr>
              <a:t>One Tier-1 name</a:t>
            </a:r>
            <a:endParaRPr lang="en-US" sz="1700" dirty="0"/>
          </a:p>
        </p:txBody>
      </p:sp>
      <p:sp>
        <p:nvSpPr>
          <p:cNvPr id="21" name="Text 19"/>
          <p:cNvSpPr/>
          <p:nvPr/>
        </p:nvSpPr>
        <p:spPr>
          <a:xfrm>
            <a:off x="2560320" y="4535424"/>
            <a:ext cx="3840480" cy="292608"/>
          </a:xfrm>
          <a:prstGeom prst="rect">
            <a:avLst/>
          </a:prstGeom>
          <a:noFill/>
          <a:ln/>
        </p:spPr>
        <p:txBody>
          <a:bodyPr wrap="square" rtlCol="0" anchor="ctr"/>
          <a:lstStyle/>
          <a:p>
            <a:pPr indent="0" marL="0">
              <a:buNone/>
            </a:pPr>
            <a:r>
              <a:rPr lang="en-US" sz="1350" b="1" dirty="0">
                <a:solidFill>
                  <a:srgbClr val="B07A16"/>
                </a:solidFill>
                <a:latin typeface="Calibri" pitchFamily="34" charset="0"/>
                <a:ea typeface="Calibri" pitchFamily="34" charset="-122"/>
                <a:cs typeface="Calibri" pitchFamily="34" charset="-120"/>
              </a:rPr>
              <a:t>20–35%</a:t>
            </a:r>
            <a:endParaRPr lang="en-US" sz="1350" dirty="0"/>
          </a:p>
        </p:txBody>
      </p:sp>
      <p:sp>
        <p:nvSpPr>
          <p:cNvPr id="22" name="Text 20"/>
          <p:cNvSpPr/>
          <p:nvPr/>
        </p:nvSpPr>
        <p:spPr>
          <a:xfrm>
            <a:off x="6583680" y="4151376"/>
            <a:ext cx="4785055" cy="713232"/>
          </a:xfrm>
          <a:prstGeom prst="rect">
            <a:avLst/>
          </a:prstGeom>
          <a:noFill/>
          <a:ln/>
        </p:spPr>
        <p:txBody>
          <a:bodyPr wrap="square" rtlCol="0" anchor="ctr"/>
          <a:lstStyle/>
          <a:p>
            <a:pPr indent="0" marL="0">
              <a:lnSpc>
                <a:spcPct val="112000"/>
              </a:lnSpc>
              <a:buNone/>
            </a:pPr>
            <a:r>
              <a:rPr lang="en-US" sz="1200" dirty="0">
                <a:solidFill>
                  <a:srgbClr val="1A1F26"/>
                </a:solidFill>
                <a:latin typeface="Calibri" pitchFamily="34" charset="0"/>
                <a:ea typeface="Calibri" pitchFamily="34" charset="-122"/>
                <a:cs typeface="Calibri" pitchFamily="34" charset="-120"/>
              </a:rPr>
              <a:t>Forbes / Business Insider / a national broadcast segment. Needs the Julie hook to land — realistic but not promised.</a:t>
            </a:r>
            <a:endParaRPr lang="en-US" sz="1200" dirty="0"/>
          </a:p>
        </p:txBody>
      </p:sp>
      <p:sp>
        <p:nvSpPr>
          <p:cNvPr id="23" name="Shape 21"/>
          <p:cNvSpPr/>
          <p:nvPr/>
        </p:nvSpPr>
        <p:spPr>
          <a:xfrm>
            <a:off x="640080" y="5010912"/>
            <a:ext cx="10911535" cy="822960"/>
          </a:xfrm>
          <a:prstGeom prst="roundRect">
            <a:avLst>
              <a:gd name="adj" fmla="val 5556"/>
            </a:avLst>
          </a:prstGeom>
          <a:solidFill>
            <a:srgbClr val="FFFFFF"/>
          </a:solidFill>
          <a:ln w="12700">
            <a:solidFill>
              <a:srgbClr val="D9DDE2"/>
            </a:solidFill>
            <a:prstDash val="solid"/>
          </a:ln>
        </p:spPr>
      </p:sp>
      <p:sp>
        <p:nvSpPr>
          <p:cNvPr id="24" name="Shape 22"/>
          <p:cNvSpPr/>
          <p:nvPr/>
        </p:nvSpPr>
        <p:spPr>
          <a:xfrm>
            <a:off x="640080" y="5010912"/>
            <a:ext cx="1691640" cy="822960"/>
          </a:xfrm>
          <a:prstGeom prst="roundRect">
            <a:avLst>
              <a:gd name="adj" fmla="val 5556"/>
            </a:avLst>
          </a:prstGeom>
          <a:solidFill>
            <a:srgbClr val="8A3A2A"/>
          </a:solidFill>
          <a:ln/>
        </p:spPr>
      </p:sp>
      <p:sp>
        <p:nvSpPr>
          <p:cNvPr id="25" name="Text 23"/>
          <p:cNvSpPr/>
          <p:nvPr/>
        </p:nvSpPr>
        <p:spPr>
          <a:xfrm>
            <a:off x="640080" y="5010912"/>
            <a:ext cx="1691640" cy="822960"/>
          </a:xfrm>
          <a:prstGeom prst="rect">
            <a:avLst/>
          </a:prstGeom>
          <a:noFill/>
          <a:ln/>
        </p:spPr>
        <p:txBody>
          <a:bodyPr wrap="square" rtlCol="0" anchor="ctr"/>
          <a:lstStyle/>
          <a:p>
            <a:pPr algn="ctr" indent="0" marL="0">
              <a:buNone/>
            </a:pPr>
            <a:r>
              <a:rPr lang="en-US" sz="1400" b="1" spc="100" kern="0" dirty="0">
                <a:solidFill>
                  <a:srgbClr val="FFFFFF"/>
                </a:solidFill>
                <a:latin typeface="Calibri" pitchFamily="34" charset="0"/>
                <a:ea typeface="Calibri" pitchFamily="34" charset="-122"/>
                <a:cs typeface="Calibri" pitchFamily="34" charset="-120"/>
              </a:rPr>
              <a:t>STRETCH</a:t>
            </a:r>
            <a:endParaRPr lang="en-US" sz="1400" dirty="0"/>
          </a:p>
        </p:txBody>
      </p:sp>
      <p:sp>
        <p:nvSpPr>
          <p:cNvPr id="26" name="Text 24"/>
          <p:cNvSpPr/>
          <p:nvPr/>
        </p:nvSpPr>
        <p:spPr>
          <a:xfrm>
            <a:off x="2560320" y="5102352"/>
            <a:ext cx="3840480" cy="347472"/>
          </a:xfrm>
          <a:prstGeom prst="rect">
            <a:avLst/>
          </a:prstGeom>
          <a:noFill/>
          <a:ln/>
        </p:spPr>
        <p:txBody>
          <a:bodyPr wrap="square" rtlCol="0" anchor="ctr"/>
          <a:lstStyle/>
          <a:p>
            <a:pPr indent="0" marL="0">
              <a:buNone/>
            </a:pPr>
            <a:r>
              <a:rPr lang="en-US" sz="1700" b="1" dirty="0">
                <a:solidFill>
                  <a:srgbClr val="0C2A43"/>
                </a:solidFill>
                <a:latin typeface="Cambria" pitchFamily="34" charset="0"/>
                <a:ea typeface="Cambria" pitchFamily="34" charset="-122"/>
                <a:cs typeface="Cambria" pitchFamily="34" charset="-120"/>
              </a:rPr>
              <a:t>Viral / TV national</a:t>
            </a:r>
            <a:endParaRPr lang="en-US" sz="1700" dirty="0"/>
          </a:p>
        </p:txBody>
      </p:sp>
      <p:sp>
        <p:nvSpPr>
          <p:cNvPr id="27" name="Text 25"/>
          <p:cNvSpPr/>
          <p:nvPr/>
        </p:nvSpPr>
        <p:spPr>
          <a:xfrm>
            <a:off x="2560320" y="5468112"/>
            <a:ext cx="3840480" cy="292608"/>
          </a:xfrm>
          <a:prstGeom prst="rect">
            <a:avLst/>
          </a:prstGeom>
          <a:noFill/>
          <a:ln/>
        </p:spPr>
        <p:txBody>
          <a:bodyPr wrap="square" rtlCol="0" anchor="ctr"/>
          <a:lstStyle/>
          <a:p>
            <a:pPr indent="0" marL="0">
              <a:buNone/>
            </a:pPr>
            <a:r>
              <a:rPr lang="en-US" sz="1350" b="1" dirty="0">
                <a:solidFill>
                  <a:srgbClr val="8A3A2A"/>
                </a:solidFill>
                <a:latin typeface="Calibri" pitchFamily="34" charset="0"/>
                <a:ea typeface="Calibri" pitchFamily="34" charset="-122"/>
                <a:cs typeface="Calibri" pitchFamily="34" charset="-120"/>
              </a:rPr>
              <a:t>&lt;15%</a:t>
            </a:r>
            <a:endParaRPr lang="en-US" sz="1350" dirty="0"/>
          </a:p>
        </p:txBody>
      </p:sp>
      <p:sp>
        <p:nvSpPr>
          <p:cNvPr id="28" name="Text 26"/>
          <p:cNvSpPr/>
          <p:nvPr/>
        </p:nvSpPr>
        <p:spPr>
          <a:xfrm>
            <a:off x="6583680" y="5084064"/>
            <a:ext cx="4785055" cy="713232"/>
          </a:xfrm>
          <a:prstGeom prst="rect">
            <a:avLst/>
          </a:prstGeom>
          <a:noFill/>
          <a:ln/>
        </p:spPr>
        <p:txBody>
          <a:bodyPr wrap="square" rtlCol="0" anchor="ctr"/>
          <a:lstStyle/>
          <a:p>
            <a:pPr indent="0" marL="0">
              <a:lnSpc>
                <a:spcPct val="112000"/>
              </a:lnSpc>
              <a:buNone/>
            </a:pPr>
            <a:r>
              <a:rPr lang="en-US" sz="1200" dirty="0">
                <a:solidFill>
                  <a:srgbClr val="1A1F26"/>
                </a:solidFill>
                <a:latin typeface="Calibri" pitchFamily="34" charset="0"/>
                <a:ea typeface="Calibri" pitchFamily="34" charset="-122"/>
                <a:cs typeface="Calibri" pitchFamily="34" charset="-120"/>
              </a:rPr>
              <a:t>GMA / Today national booking. Great if it happens; never the plan we bank on.</a:t>
            </a:r>
            <a:endParaRPr lang="en-US" sz="1200" dirty="0"/>
          </a:p>
        </p:txBody>
      </p:sp>
      <p:sp>
        <p:nvSpPr>
          <p:cNvPr id="29" name="Text 27"/>
          <p:cNvSpPr/>
          <p:nvPr/>
        </p:nvSpPr>
        <p:spPr>
          <a:xfrm>
            <a:off x="640080" y="6053328"/>
            <a:ext cx="10911535" cy="502920"/>
          </a:xfrm>
          <a:prstGeom prst="rect">
            <a:avLst/>
          </a:prstGeom>
          <a:noFill/>
          <a:ln/>
        </p:spPr>
        <p:txBody>
          <a:bodyPr wrap="square" rtlCol="0" anchor="ctr"/>
          <a:lstStyle/>
          <a:p>
            <a:pPr indent="0" marL="0">
              <a:lnSpc>
                <a:spcPct val="110000"/>
              </a:lnSpc>
              <a:buNone/>
            </a:pPr>
            <a:r>
              <a:rPr lang="en-US" sz="1150" b="1" dirty="0">
                <a:solidFill>
                  <a:srgbClr val="0C2A43"/>
                </a:solidFill>
                <a:latin typeface="Calibri" pitchFamily="34" charset="0"/>
                <a:ea typeface="Calibri" pitchFamily="34" charset="-122"/>
                <a:cs typeface="Calibri" pitchFamily="34" charset="-120"/>
              </a:rPr>
              <a:t>We are not starting from zero:  </a:t>
            </a:r>
            <a:pPr indent="0" marL="0">
              <a:lnSpc>
                <a:spcPct val="110000"/>
              </a:lnSpc>
              <a:buNone/>
            </a:pPr>
            <a:r>
              <a:rPr lang="en-US" sz="1150" dirty="0">
                <a:solidFill>
                  <a:srgbClr val="1A1F26"/>
                </a:solidFill>
                <a:latin typeface="Calibri" pitchFamily="34" charset="0"/>
                <a:ea typeface="Calibri" pitchFamily="34" charset="-122"/>
                <a:cs typeface="Calibri" pitchFamily="34" charset="-120"/>
              </a:rPr>
              <a:t>eTeacher already has an indexed press trail (TheMarker feature Feb 2026, GlobeNewswire 2020, PR Newswire 2017) — so reporters find a real corporate history, which lifts our odds on every pitch. We bank on the guaranteed + likely tiers; anything Tier-1 or broadcast is upside, not the promise.</a:t>
            </a:r>
            <a:endParaRPr lang="en-US" sz="1150" dirty="0"/>
          </a:p>
        </p:txBody>
      </p:sp>
      <p:sp>
        <p:nvSpPr>
          <p:cNvPr id="30" name="Text 28"/>
          <p:cNvSpPr/>
          <p:nvPr/>
        </p:nvSpPr>
        <p:spPr>
          <a:xfrm>
            <a:off x="640080" y="6473952"/>
            <a:ext cx="10911535" cy="274320"/>
          </a:xfrm>
          <a:prstGeom prst="rect">
            <a:avLst/>
          </a:prstGeom>
          <a:noFill/>
          <a:ln/>
        </p:spPr>
        <p:txBody>
          <a:bodyPr wrap="square" rtlCol="0" anchor="ctr"/>
          <a:lstStyle/>
          <a:p>
            <a:pPr algn="l" indent="0" marL="0">
              <a:buNone/>
            </a:pPr>
            <a:r>
              <a:rPr lang="en-US" sz="800" dirty="0">
                <a:solidFill>
                  <a:srgbClr val="5C6672"/>
                </a:solidFill>
                <a:latin typeface="Calibri" pitchFamily="34" charset="0"/>
                <a:ea typeface="Calibri" pitchFamily="34" charset="-122"/>
                <a:cs typeface="Calibri" pitchFamily="34" charset="-120"/>
              </a:rPr>
              <a:t>Source: </a:t>
            </a:r>
            <a:pPr algn="l" indent="0" marL="0">
              <a:buNone/>
            </a:pPr>
            <a:r>
              <a:rPr lang="en-US" sz="800" u="sng" dirty="0">
                <a:solidFill>
                  <a:srgbClr val="5C6672"/>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TheMarker</a:t>
            </a:r>
            <a:pPr algn="l" indent="0" marL="0">
              <a:buNone/>
            </a:pPr>
            <a:r>
              <a:rPr lang="en-US" sz="800" dirty="0">
                <a:solidFill>
                  <a:srgbClr val="9AA4AF"/>
                </a:solidFill>
                <a:latin typeface="Calibri" pitchFamily="34" charset="0"/>
                <a:ea typeface="Calibri" pitchFamily="34" charset="-122"/>
                <a:cs typeface="Calibri" pitchFamily="34" charset="-120"/>
              </a:rPr>
              <a:t>  ·  </a:t>
            </a:r>
            <a:pPr algn="l" indent="0" marL="0">
              <a:buNone/>
            </a:pPr>
            <a:r>
              <a:rPr lang="en-US" sz="800" u="sng" dirty="0">
                <a:solidFill>
                  <a:srgbClr val="5C6672"/>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GlobeNewswire</a:t>
            </a:r>
            <a:endParaRPr lang="en-US" sz="800" dirty="0"/>
          </a:p>
        </p:txBody>
      </p:sp>
      <p:sp>
        <p:nvSpPr>
          <p:cNvPr id="31" name="Text 29"/>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768096"/>
            <a:ext cx="10911535" cy="731520"/>
          </a:xfrm>
          <a:prstGeom prst="rect">
            <a:avLst/>
          </a:prstGeom>
          <a:noFill/>
          <a:ln/>
        </p:spPr>
        <p:txBody>
          <a:bodyPr wrap="square" rtlCol="0" anchor="ctr"/>
          <a:lstStyle/>
          <a:p>
            <a:pPr indent="0" marL="0">
              <a:lnSpc>
                <a:spcPct val="100000"/>
              </a:lnSpc>
              <a:buNone/>
            </a:pPr>
            <a:r>
              <a:rPr lang="en-US" sz="2900" b="1" dirty="0">
                <a:solidFill>
                  <a:srgbClr val="0C2A43"/>
                </a:solidFill>
                <a:latin typeface="Cambria" pitchFamily="34" charset="0"/>
                <a:ea typeface="Cambria" pitchFamily="34" charset="-122"/>
                <a:cs typeface="Cambria" pitchFamily="34" charset="-120"/>
              </a:rPr>
              <a:t>Part 5 — The play: one 14-day routine, run 4 times</a:t>
            </a:r>
            <a:endParaRPr lang="en-US" sz="2900" dirty="0"/>
          </a:p>
        </p:txBody>
      </p:sp>
      <p:sp>
        <p:nvSpPr>
          <p:cNvPr id="3" name="Text 1"/>
          <p:cNvSpPr/>
          <p:nvPr/>
        </p:nvSpPr>
        <p:spPr>
          <a:xfrm>
            <a:off x="640080" y="457200"/>
            <a:ext cx="10911535" cy="292608"/>
          </a:xfrm>
          <a:prstGeom prst="rect">
            <a:avLst/>
          </a:prstGeom>
          <a:noFill/>
          <a:ln/>
        </p:spPr>
        <p:txBody>
          <a:bodyPr wrap="square" rtlCol="0" anchor="ctr"/>
          <a:lstStyle/>
          <a:p>
            <a:pPr indent="0" marL="0">
              <a:buNone/>
            </a:pPr>
            <a:r>
              <a:rPr lang="en-US" sz="1300" b="1" spc="200" kern="0" dirty="0">
                <a:solidFill>
                  <a:srgbClr val="C08A2E"/>
                </a:solidFill>
                <a:latin typeface="Calibri" pitchFamily="34" charset="0"/>
                <a:ea typeface="Calibri" pitchFamily="34" charset="-122"/>
                <a:cs typeface="Calibri" pitchFamily="34" charset="-120"/>
              </a:rPr>
              <a:t>THE LAUNCH PLAN</a:t>
            </a:r>
            <a:pPr indent="0" marL="0">
              <a:buNone/>
            </a:pPr>
            <a:r>
              <a:rPr lang="en-US" sz="1300" b="1" spc="200" kern="0" dirty="0">
                <a:solidFill>
                  <a:srgbClr val="5C6672"/>
                </a:solidFill>
                <a:latin typeface="Calibri" pitchFamily="34" charset="0"/>
                <a:ea typeface="Calibri" pitchFamily="34" charset="-122"/>
                <a:cs typeface="Calibri" pitchFamily="34" charset="-120"/>
              </a:rPr>
              <a:t>   ·   PART 5 OF 6</a:t>
            </a:r>
            <a:endParaRPr lang="en-US" sz="1300" dirty="0"/>
          </a:p>
        </p:txBody>
      </p:sp>
      <p:sp>
        <p:nvSpPr>
          <p:cNvPr id="4" name="Text 2"/>
          <p:cNvSpPr/>
          <p:nvPr/>
        </p:nvSpPr>
        <p:spPr>
          <a:xfrm>
            <a:off x="640080" y="1572768"/>
            <a:ext cx="10911535" cy="457200"/>
          </a:xfrm>
          <a:prstGeom prst="rect">
            <a:avLst/>
          </a:prstGeom>
          <a:noFill/>
          <a:ln/>
        </p:spPr>
        <p:txBody>
          <a:bodyPr wrap="square" rtlCol="0" anchor="t"/>
          <a:lstStyle/>
          <a:p>
            <a:pPr indent="0" marL="0">
              <a:lnSpc>
                <a:spcPct val="115000"/>
              </a:lnSpc>
              <a:buNone/>
            </a:pPr>
            <a:r>
              <a:rPr lang="en-US" sz="1500" b="1" dirty="0">
                <a:solidFill>
                  <a:srgbClr val="C08A2E"/>
                </a:solidFill>
                <a:latin typeface="Calibri" pitchFamily="34" charset="0"/>
                <a:ea typeface="Calibri" pitchFamily="34" charset="-122"/>
                <a:cs typeface="Calibri" pitchFamily="34" charset="-120"/>
              </a:rPr>
              <a:t>THIS ANSWERS:  </a:t>
            </a:r>
            <a:pPr indent="0" marL="0">
              <a:lnSpc>
                <a:spcPct val="115000"/>
              </a:lnSpc>
              <a:buNone/>
            </a:pPr>
            <a:r>
              <a:rPr lang="en-US" sz="1500" dirty="0">
                <a:solidFill>
                  <a:srgbClr val="1A1F26"/>
                </a:solidFill>
                <a:latin typeface="Calibri" pitchFamily="34" charset="0"/>
                <a:ea typeface="Calibri" pitchFamily="34" charset="-122"/>
                <a:cs typeface="Calibri" pitchFamily="34" charset="-120"/>
              </a:rPr>
              <a:t>Exactly what happens, day by day, every time a wave goes live.</a:t>
            </a:r>
            <a:endParaRPr lang="en-US" sz="1500" dirty="0"/>
          </a:p>
        </p:txBody>
      </p:sp>
      <p:sp>
        <p:nvSpPr>
          <p:cNvPr id="5" name="Shape 3"/>
          <p:cNvSpPr/>
          <p:nvPr/>
        </p:nvSpPr>
        <p:spPr>
          <a:xfrm>
            <a:off x="640080" y="2286000"/>
            <a:ext cx="2036003" cy="3108960"/>
          </a:xfrm>
          <a:prstGeom prst="roundRect">
            <a:avLst>
              <a:gd name="adj" fmla="val 2695"/>
            </a:avLst>
          </a:prstGeom>
          <a:solidFill>
            <a:srgbClr val="FFFFFF"/>
          </a:solidFill>
          <a:ln w="12700">
            <a:solidFill>
              <a:srgbClr val="D9DDE2"/>
            </a:solidFill>
            <a:prstDash val="solid"/>
          </a:ln>
        </p:spPr>
      </p:sp>
      <p:sp>
        <p:nvSpPr>
          <p:cNvPr id="6" name="Shape 4"/>
          <p:cNvSpPr/>
          <p:nvPr/>
        </p:nvSpPr>
        <p:spPr>
          <a:xfrm>
            <a:off x="640080" y="2286000"/>
            <a:ext cx="2036003" cy="868680"/>
          </a:xfrm>
          <a:prstGeom prst="roundRect">
            <a:avLst>
              <a:gd name="adj" fmla="val 6316"/>
            </a:avLst>
          </a:prstGeom>
          <a:solidFill>
            <a:srgbClr val="0C2A43"/>
          </a:solidFill>
          <a:ln/>
        </p:spPr>
      </p:sp>
      <p:sp>
        <p:nvSpPr>
          <p:cNvPr id="7" name="Text 5"/>
          <p:cNvSpPr/>
          <p:nvPr/>
        </p:nvSpPr>
        <p:spPr>
          <a:xfrm>
            <a:off x="731520" y="2395728"/>
            <a:ext cx="1853123" cy="365760"/>
          </a:xfrm>
          <a:prstGeom prst="rect">
            <a:avLst/>
          </a:prstGeom>
          <a:noFill/>
          <a:ln/>
        </p:spPr>
        <p:txBody>
          <a:bodyPr wrap="square" rtlCol="0" anchor="ctr"/>
          <a:lstStyle/>
          <a:p>
            <a:pPr algn="ctr" indent="0" marL="0">
              <a:buNone/>
            </a:pPr>
            <a:r>
              <a:rPr lang="en-US" sz="1200" b="1" dirty="0">
                <a:solidFill>
                  <a:srgbClr val="C08A2E"/>
                </a:solidFill>
                <a:latin typeface="Calibri" pitchFamily="34" charset="0"/>
                <a:ea typeface="Calibri" pitchFamily="34" charset="-122"/>
                <a:cs typeface="Calibri" pitchFamily="34" charset="-120"/>
              </a:rPr>
              <a:t>DAYS −7 to −1</a:t>
            </a:r>
            <a:endParaRPr lang="en-US" sz="1200" dirty="0"/>
          </a:p>
        </p:txBody>
      </p:sp>
      <p:sp>
        <p:nvSpPr>
          <p:cNvPr id="8" name="Text 6"/>
          <p:cNvSpPr/>
          <p:nvPr/>
        </p:nvSpPr>
        <p:spPr>
          <a:xfrm>
            <a:off x="731520" y="2743200"/>
            <a:ext cx="1853123" cy="365760"/>
          </a:xfrm>
          <a:prstGeom prst="rect">
            <a:avLst/>
          </a:prstGeom>
          <a:noFill/>
          <a:ln/>
        </p:spPr>
        <p:txBody>
          <a:bodyPr wrap="square"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PREP</a:t>
            </a:r>
            <a:endParaRPr lang="en-US" sz="1600" dirty="0"/>
          </a:p>
        </p:txBody>
      </p:sp>
      <p:sp>
        <p:nvSpPr>
          <p:cNvPr id="9" name="Text 7"/>
          <p:cNvSpPr/>
          <p:nvPr/>
        </p:nvSpPr>
        <p:spPr>
          <a:xfrm>
            <a:off x="786384" y="3291840"/>
            <a:ext cx="1743395" cy="2011680"/>
          </a:xfrm>
          <a:prstGeom prst="rect">
            <a:avLst/>
          </a:prstGeom>
          <a:noFill/>
          <a:ln/>
        </p:spPr>
        <p:txBody>
          <a:bodyPr wrap="square" rtlCol="0" anchor="t"/>
          <a:lstStyle/>
          <a:p>
            <a:pPr indent="0" marL="0">
              <a:lnSpc>
                <a:spcPct val="118000"/>
              </a:lnSpc>
              <a:buNone/>
            </a:pPr>
            <a:r>
              <a:rPr lang="en-US" sz="1200" dirty="0">
                <a:solidFill>
                  <a:srgbClr val="1A1F26"/>
                </a:solidFill>
                <a:latin typeface="Calibri" pitchFamily="34" charset="0"/>
                <a:ea typeface="Calibri" pitchFamily="34" charset="-122"/>
                <a:cs typeface="Calibri" pitchFamily="34" charset="-120"/>
              </a:rPr>
              <a:t>Write the release. Build or refresh the reporter list. Set up the free accounts. Get the CEO to sign off on quotes.</a:t>
            </a:r>
            <a:endParaRPr lang="en-US" sz="1200" dirty="0"/>
          </a:p>
        </p:txBody>
      </p:sp>
      <p:sp>
        <p:nvSpPr>
          <p:cNvPr id="10" name="Shape 8"/>
          <p:cNvSpPr/>
          <p:nvPr/>
        </p:nvSpPr>
        <p:spPr>
          <a:xfrm>
            <a:off x="2858963" y="2286000"/>
            <a:ext cx="2036003" cy="3108960"/>
          </a:xfrm>
          <a:prstGeom prst="roundRect">
            <a:avLst>
              <a:gd name="adj" fmla="val 2695"/>
            </a:avLst>
          </a:prstGeom>
          <a:solidFill>
            <a:srgbClr val="FFFFFF"/>
          </a:solidFill>
          <a:ln w="12700">
            <a:solidFill>
              <a:srgbClr val="D9DDE2"/>
            </a:solidFill>
            <a:prstDash val="solid"/>
          </a:ln>
        </p:spPr>
      </p:sp>
      <p:sp>
        <p:nvSpPr>
          <p:cNvPr id="11" name="Shape 9"/>
          <p:cNvSpPr/>
          <p:nvPr/>
        </p:nvSpPr>
        <p:spPr>
          <a:xfrm>
            <a:off x="2858963" y="2286000"/>
            <a:ext cx="2036003" cy="868680"/>
          </a:xfrm>
          <a:prstGeom prst="roundRect">
            <a:avLst>
              <a:gd name="adj" fmla="val 6316"/>
            </a:avLst>
          </a:prstGeom>
          <a:solidFill>
            <a:srgbClr val="0C2A43"/>
          </a:solidFill>
          <a:ln/>
        </p:spPr>
      </p:sp>
      <p:sp>
        <p:nvSpPr>
          <p:cNvPr id="12" name="Text 10"/>
          <p:cNvSpPr/>
          <p:nvPr/>
        </p:nvSpPr>
        <p:spPr>
          <a:xfrm>
            <a:off x="2950403" y="2395728"/>
            <a:ext cx="1853123" cy="365760"/>
          </a:xfrm>
          <a:prstGeom prst="rect">
            <a:avLst/>
          </a:prstGeom>
          <a:noFill/>
          <a:ln/>
        </p:spPr>
        <p:txBody>
          <a:bodyPr wrap="square" rtlCol="0" anchor="ctr"/>
          <a:lstStyle/>
          <a:p>
            <a:pPr algn="ctr" indent="0" marL="0">
              <a:buNone/>
            </a:pPr>
            <a:r>
              <a:rPr lang="en-US" sz="1200" b="1" dirty="0">
                <a:solidFill>
                  <a:srgbClr val="C08A2E"/>
                </a:solidFill>
                <a:latin typeface="Calibri" pitchFamily="34" charset="0"/>
                <a:ea typeface="Calibri" pitchFamily="34" charset="-122"/>
                <a:cs typeface="Calibri" pitchFamily="34" charset="-120"/>
              </a:rPr>
              <a:t>DAY 1</a:t>
            </a:r>
            <a:endParaRPr lang="en-US" sz="1200" dirty="0"/>
          </a:p>
        </p:txBody>
      </p:sp>
      <p:sp>
        <p:nvSpPr>
          <p:cNvPr id="13" name="Text 11"/>
          <p:cNvSpPr/>
          <p:nvPr/>
        </p:nvSpPr>
        <p:spPr>
          <a:xfrm>
            <a:off x="2950403" y="2743200"/>
            <a:ext cx="1853123" cy="365760"/>
          </a:xfrm>
          <a:prstGeom prst="rect">
            <a:avLst/>
          </a:prstGeom>
          <a:noFill/>
          <a:ln/>
        </p:spPr>
        <p:txBody>
          <a:bodyPr wrap="square"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GO LIVE</a:t>
            </a:r>
            <a:endParaRPr lang="en-US" sz="1600" dirty="0"/>
          </a:p>
        </p:txBody>
      </p:sp>
      <p:sp>
        <p:nvSpPr>
          <p:cNvPr id="14" name="Text 12"/>
          <p:cNvSpPr/>
          <p:nvPr/>
        </p:nvSpPr>
        <p:spPr>
          <a:xfrm>
            <a:off x="3005267" y="3291840"/>
            <a:ext cx="1743395" cy="2011680"/>
          </a:xfrm>
          <a:prstGeom prst="rect">
            <a:avLst/>
          </a:prstGeom>
          <a:noFill/>
          <a:ln/>
        </p:spPr>
        <p:txBody>
          <a:bodyPr wrap="square" rtlCol="0" anchor="t"/>
          <a:lstStyle/>
          <a:p>
            <a:pPr indent="0" marL="0">
              <a:lnSpc>
                <a:spcPct val="118000"/>
              </a:lnSpc>
              <a:buNone/>
            </a:pPr>
            <a:r>
              <a:rPr lang="en-US" sz="1200" dirty="0">
                <a:solidFill>
                  <a:srgbClr val="1A1F26"/>
                </a:solidFill>
                <a:latin typeface="Calibri" pitchFamily="34" charset="0"/>
                <a:ea typeface="Calibri" pitchFamily="34" charset="-122"/>
                <a:cs typeface="Calibri" pitchFamily="34" charset="-120"/>
              </a:rPr>
              <a:t>Send it out on the paid wire (EIN Presswire). That same morning, email tailored pitches to your target reporters.</a:t>
            </a:r>
            <a:endParaRPr lang="en-US" sz="1200" dirty="0"/>
          </a:p>
        </p:txBody>
      </p:sp>
      <p:sp>
        <p:nvSpPr>
          <p:cNvPr id="15" name="Shape 13"/>
          <p:cNvSpPr/>
          <p:nvPr/>
        </p:nvSpPr>
        <p:spPr>
          <a:xfrm>
            <a:off x="5077846" y="2286000"/>
            <a:ext cx="2036003" cy="3108960"/>
          </a:xfrm>
          <a:prstGeom prst="roundRect">
            <a:avLst>
              <a:gd name="adj" fmla="val 2695"/>
            </a:avLst>
          </a:prstGeom>
          <a:solidFill>
            <a:srgbClr val="FFFFFF"/>
          </a:solidFill>
          <a:ln w="12700">
            <a:solidFill>
              <a:srgbClr val="D9DDE2"/>
            </a:solidFill>
            <a:prstDash val="solid"/>
          </a:ln>
        </p:spPr>
      </p:sp>
      <p:sp>
        <p:nvSpPr>
          <p:cNvPr id="16" name="Shape 14"/>
          <p:cNvSpPr/>
          <p:nvPr/>
        </p:nvSpPr>
        <p:spPr>
          <a:xfrm>
            <a:off x="5077846" y="2286000"/>
            <a:ext cx="2036003" cy="868680"/>
          </a:xfrm>
          <a:prstGeom prst="roundRect">
            <a:avLst>
              <a:gd name="adj" fmla="val 6316"/>
            </a:avLst>
          </a:prstGeom>
          <a:solidFill>
            <a:srgbClr val="0C2A43"/>
          </a:solidFill>
          <a:ln/>
        </p:spPr>
      </p:sp>
      <p:sp>
        <p:nvSpPr>
          <p:cNvPr id="17" name="Text 15"/>
          <p:cNvSpPr/>
          <p:nvPr/>
        </p:nvSpPr>
        <p:spPr>
          <a:xfrm>
            <a:off x="5169286" y="2395728"/>
            <a:ext cx="1853123" cy="365760"/>
          </a:xfrm>
          <a:prstGeom prst="rect">
            <a:avLst/>
          </a:prstGeom>
          <a:noFill/>
          <a:ln/>
        </p:spPr>
        <p:txBody>
          <a:bodyPr wrap="square" rtlCol="0" anchor="ctr"/>
          <a:lstStyle/>
          <a:p>
            <a:pPr algn="ctr" indent="0" marL="0">
              <a:buNone/>
            </a:pPr>
            <a:r>
              <a:rPr lang="en-US" sz="1200" b="1" dirty="0">
                <a:solidFill>
                  <a:srgbClr val="C08A2E"/>
                </a:solidFill>
                <a:latin typeface="Calibri" pitchFamily="34" charset="0"/>
                <a:ea typeface="Calibri" pitchFamily="34" charset="-122"/>
                <a:cs typeface="Calibri" pitchFamily="34" charset="-120"/>
              </a:rPr>
              <a:t>DAYS 1–5</a:t>
            </a:r>
            <a:endParaRPr lang="en-US" sz="1200" dirty="0"/>
          </a:p>
        </p:txBody>
      </p:sp>
      <p:sp>
        <p:nvSpPr>
          <p:cNvPr id="18" name="Text 16"/>
          <p:cNvSpPr/>
          <p:nvPr/>
        </p:nvSpPr>
        <p:spPr>
          <a:xfrm>
            <a:off x="5169286" y="2743200"/>
            <a:ext cx="1853123" cy="365760"/>
          </a:xfrm>
          <a:prstGeom prst="rect">
            <a:avLst/>
          </a:prstGeom>
          <a:noFill/>
          <a:ln/>
        </p:spPr>
        <p:txBody>
          <a:bodyPr wrap="square"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PITCH</a:t>
            </a:r>
            <a:endParaRPr lang="en-US" sz="1600" dirty="0"/>
          </a:p>
        </p:txBody>
      </p:sp>
      <p:sp>
        <p:nvSpPr>
          <p:cNvPr id="19" name="Text 17"/>
          <p:cNvSpPr/>
          <p:nvPr/>
        </p:nvSpPr>
        <p:spPr>
          <a:xfrm>
            <a:off x="5224150" y="3291840"/>
            <a:ext cx="1743395" cy="2011680"/>
          </a:xfrm>
          <a:prstGeom prst="rect">
            <a:avLst/>
          </a:prstGeom>
          <a:noFill/>
          <a:ln/>
        </p:spPr>
        <p:txBody>
          <a:bodyPr wrap="square" rtlCol="0" anchor="t"/>
          <a:lstStyle/>
          <a:p>
            <a:pPr indent="0" marL="0">
              <a:lnSpc>
                <a:spcPct val="118000"/>
              </a:lnSpc>
              <a:buNone/>
            </a:pPr>
            <a:r>
              <a:rPr lang="en-US" sz="1200" dirty="0">
                <a:solidFill>
                  <a:srgbClr val="1A1F26"/>
                </a:solidFill>
                <a:latin typeface="Calibri" pitchFamily="34" charset="0"/>
                <a:ea typeface="Calibri" pitchFamily="34" charset="-122"/>
                <a:cs typeface="Calibri" pitchFamily="34" charset="-120"/>
              </a:rPr>
              <a:t>Answer reporter requests daily. Reply to any request within the hour. Follow up once with each reporter.</a:t>
            </a:r>
            <a:endParaRPr lang="en-US" sz="1200" dirty="0"/>
          </a:p>
        </p:txBody>
      </p:sp>
      <p:sp>
        <p:nvSpPr>
          <p:cNvPr id="20" name="Shape 18"/>
          <p:cNvSpPr/>
          <p:nvPr/>
        </p:nvSpPr>
        <p:spPr>
          <a:xfrm>
            <a:off x="7296729" y="2286000"/>
            <a:ext cx="2036003" cy="3108960"/>
          </a:xfrm>
          <a:prstGeom prst="roundRect">
            <a:avLst>
              <a:gd name="adj" fmla="val 2695"/>
            </a:avLst>
          </a:prstGeom>
          <a:solidFill>
            <a:srgbClr val="FFFFFF"/>
          </a:solidFill>
          <a:ln w="12700">
            <a:solidFill>
              <a:srgbClr val="D9DDE2"/>
            </a:solidFill>
            <a:prstDash val="solid"/>
          </a:ln>
        </p:spPr>
      </p:sp>
      <p:sp>
        <p:nvSpPr>
          <p:cNvPr id="21" name="Shape 19"/>
          <p:cNvSpPr/>
          <p:nvPr/>
        </p:nvSpPr>
        <p:spPr>
          <a:xfrm>
            <a:off x="7296729" y="2286000"/>
            <a:ext cx="2036003" cy="868680"/>
          </a:xfrm>
          <a:prstGeom prst="roundRect">
            <a:avLst>
              <a:gd name="adj" fmla="val 6316"/>
            </a:avLst>
          </a:prstGeom>
          <a:solidFill>
            <a:srgbClr val="0C2A43"/>
          </a:solidFill>
          <a:ln/>
        </p:spPr>
      </p:sp>
      <p:sp>
        <p:nvSpPr>
          <p:cNvPr id="22" name="Text 20"/>
          <p:cNvSpPr/>
          <p:nvPr/>
        </p:nvSpPr>
        <p:spPr>
          <a:xfrm>
            <a:off x="7388169" y="2395728"/>
            <a:ext cx="1853123" cy="365760"/>
          </a:xfrm>
          <a:prstGeom prst="rect">
            <a:avLst/>
          </a:prstGeom>
          <a:noFill/>
          <a:ln/>
        </p:spPr>
        <p:txBody>
          <a:bodyPr wrap="square" rtlCol="0" anchor="ctr"/>
          <a:lstStyle/>
          <a:p>
            <a:pPr algn="ctr" indent="0" marL="0">
              <a:buNone/>
            </a:pPr>
            <a:r>
              <a:rPr lang="en-US" sz="1200" b="1" dirty="0">
                <a:solidFill>
                  <a:srgbClr val="C08A2E"/>
                </a:solidFill>
                <a:latin typeface="Calibri" pitchFamily="34" charset="0"/>
                <a:ea typeface="Calibri" pitchFamily="34" charset="-122"/>
                <a:cs typeface="Calibri" pitchFamily="34" charset="-120"/>
              </a:rPr>
              <a:t>DAYS 3–10</a:t>
            </a:r>
            <a:endParaRPr lang="en-US" sz="1200" dirty="0"/>
          </a:p>
        </p:txBody>
      </p:sp>
      <p:sp>
        <p:nvSpPr>
          <p:cNvPr id="23" name="Text 21"/>
          <p:cNvSpPr/>
          <p:nvPr/>
        </p:nvSpPr>
        <p:spPr>
          <a:xfrm>
            <a:off x="7388169" y="2743200"/>
            <a:ext cx="1853123" cy="365760"/>
          </a:xfrm>
          <a:prstGeom prst="rect">
            <a:avLst/>
          </a:prstGeom>
          <a:noFill/>
          <a:ln/>
        </p:spPr>
        <p:txBody>
          <a:bodyPr wrap="square"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AMPLIFY</a:t>
            </a:r>
            <a:endParaRPr lang="en-US" sz="1600" dirty="0"/>
          </a:p>
        </p:txBody>
      </p:sp>
      <p:sp>
        <p:nvSpPr>
          <p:cNvPr id="24" name="Text 22"/>
          <p:cNvSpPr/>
          <p:nvPr/>
        </p:nvSpPr>
        <p:spPr>
          <a:xfrm>
            <a:off x="7443033" y="3291840"/>
            <a:ext cx="1743395" cy="2011680"/>
          </a:xfrm>
          <a:prstGeom prst="rect">
            <a:avLst/>
          </a:prstGeom>
          <a:noFill/>
          <a:ln/>
        </p:spPr>
        <p:txBody>
          <a:bodyPr wrap="square" rtlCol="0" anchor="t"/>
          <a:lstStyle/>
          <a:p>
            <a:pPr indent="0" marL="0">
              <a:lnSpc>
                <a:spcPct val="118000"/>
              </a:lnSpc>
              <a:buNone/>
            </a:pPr>
            <a:r>
              <a:rPr lang="en-US" sz="1200" dirty="0">
                <a:solidFill>
                  <a:srgbClr val="1A1F26"/>
                </a:solidFill>
                <a:latin typeface="Calibri" pitchFamily="34" charset="0"/>
                <a:ea typeface="Calibri" pitchFamily="34" charset="-122"/>
                <a:cs typeface="Calibri" pitchFamily="34" charset="-120"/>
              </a:rPr>
              <a:t>Post from Harel’s LinkedIn. Pitch a TV or podcast segment (Julie waves). Share every story we land.</a:t>
            </a:r>
            <a:endParaRPr lang="en-US" sz="1200" dirty="0"/>
          </a:p>
        </p:txBody>
      </p:sp>
      <p:sp>
        <p:nvSpPr>
          <p:cNvPr id="25" name="Shape 23"/>
          <p:cNvSpPr/>
          <p:nvPr/>
        </p:nvSpPr>
        <p:spPr>
          <a:xfrm>
            <a:off x="9515612" y="2286000"/>
            <a:ext cx="2036003" cy="3108960"/>
          </a:xfrm>
          <a:prstGeom prst="roundRect">
            <a:avLst>
              <a:gd name="adj" fmla="val 2695"/>
            </a:avLst>
          </a:prstGeom>
          <a:solidFill>
            <a:srgbClr val="FFFFFF"/>
          </a:solidFill>
          <a:ln w="12700">
            <a:solidFill>
              <a:srgbClr val="D9DDE2"/>
            </a:solidFill>
            <a:prstDash val="solid"/>
          </a:ln>
        </p:spPr>
      </p:sp>
      <p:sp>
        <p:nvSpPr>
          <p:cNvPr id="26" name="Shape 24"/>
          <p:cNvSpPr/>
          <p:nvPr/>
        </p:nvSpPr>
        <p:spPr>
          <a:xfrm>
            <a:off x="9515612" y="2286000"/>
            <a:ext cx="2036003" cy="868680"/>
          </a:xfrm>
          <a:prstGeom prst="roundRect">
            <a:avLst>
              <a:gd name="adj" fmla="val 6316"/>
            </a:avLst>
          </a:prstGeom>
          <a:solidFill>
            <a:srgbClr val="0C2A43"/>
          </a:solidFill>
          <a:ln/>
        </p:spPr>
      </p:sp>
      <p:sp>
        <p:nvSpPr>
          <p:cNvPr id="27" name="Text 25"/>
          <p:cNvSpPr/>
          <p:nvPr/>
        </p:nvSpPr>
        <p:spPr>
          <a:xfrm>
            <a:off x="9607052" y="2395728"/>
            <a:ext cx="1853123" cy="365760"/>
          </a:xfrm>
          <a:prstGeom prst="rect">
            <a:avLst/>
          </a:prstGeom>
          <a:noFill/>
          <a:ln/>
        </p:spPr>
        <p:txBody>
          <a:bodyPr wrap="square" rtlCol="0" anchor="ctr"/>
          <a:lstStyle/>
          <a:p>
            <a:pPr algn="ctr" indent="0" marL="0">
              <a:buNone/>
            </a:pPr>
            <a:r>
              <a:rPr lang="en-US" sz="1200" b="1" dirty="0">
                <a:solidFill>
                  <a:srgbClr val="C08A2E"/>
                </a:solidFill>
                <a:latin typeface="Calibri" pitchFamily="34" charset="0"/>
                <a:ea typeface="Calibri" pitchFamily="34" charset="-122"/>
                <a:cs typeface="Calibri" pitchFamily="34" charset="-120"/>
              </a:rPr>
              <a:t>DAYS 10–14</a:t>
            </a:r>
            <a:endParaRPr lang="en-US" sz="1200" dirty="0"/>
          </a:p>
        </p:txBody>
      </p:sp>
      <p:sp>
        <p:nvSpPr>
          <p:cNvPr id="28" name="Text 26"/>
          <p:cNvSpPr/>
          <p:nvPr/>
        </p:nvSpPr>
        <p:spPr>
          <a:xfrm>
            <a:off x="9607052" y="2743200"/>
            <a:ext cx="1853123" cy="365760"/>
          </a:xfrm>
          <a:prstGeom prst="rect">
            <a:avLst/>
          </a:prstGeom>
          <a:noFill/>
          <a:ln/>
        </p:spPr>
        <p:txBody>
          <a:bodyPr wrap="square"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MEASURE &amp; SET UP NEXT</a:t>
            </a:r>
            <a:endParaRPr lang="en-US" sz="1600" dirty="0"/>
          </a:p>
        </p:txBody>
      </p:sp>
      <p:sp>
        <p:nvSpPr>
          <p:cNvPr id="29" name="Text 27"/>
          <p:cNvSpPr/>
          <p:nvPr/>
        </p:nvSpPr>
        <p:spPr>
          <a:xfrm>
            <a:off x="9661916" y="3291840"/>
            <a:ext cx="1743395" cy="2011680"/>
          </a:xfrm>
          <a:prstGeom prst="rect">
            <a:avLst/>
          </a:prstGeom>
          <a:noFill/>
          <a:ln/>
        </p:spPr>
        <p:txBody>
          <a:bodyPr wrap="square" rtlCol="0" anchor="t"/>
          <a:lstStyle/>
          <a:p>
            <a:pPr indent="0" marL="0">
              <a:lnSpc>
                <a:spcPct val="118000"/>
              </a:lnSpc>
              <a:buNone/>
            </a:pPr>
            <a:r>
              <a:rPr lang="en-US" sz="1200" dirty="0">
                <a:solidFill>
                  <a:srgbClr val="1A1F26"/>
                </a:solidFill>
                <a:latin typeface="Calibri" pitchFamily="34" charset="0"/>
                <a:ea typeface="Calibri" pitchFamily="34" charset="-122"/>
                <a:cs typeface="Calibri" pitchFamily="34" charset="-120"/>
              </a:rPr>
              <a:t>Log every story in a Google Sheet. Note what worked. Start prep for the next wave.</a:t>
            </a:r>
            <a:endParaRPr lang="en-US" sz="1200" dirty="0"/>
          </a:p>
        </p:txBody>
      </p:sp>
      <p:sp>
        <p:nvSpPr>
          <p:cNvPr id="30" name="Text 28"/>
          <p:cNvSpPr/>
          <p:nvPr/>
        </p:nvSpPr>
        <p:spPr>
          <a:xfrm>
            <a:off x="640080" y="5715000"/>
            <a:ext cx="10911535" cy="457200"/>
          </a:xfrm>
          <a:prstGeom prst="rect">
            <a:avLst/>
          </a:prstGeom>
          <a:noFill/>
          <a:ln/>
        </p:spPr>
        <p:txBody>
          <a:bodyPr wrap="square" rtlCol="0" anchor="ctr"/>
          <a:lstStyle/>
          <a:p>
            <a:pPr indent="0" marL="0">
              <a:lnSpc>
                <a:spcPct val="110000"/>
              </a:lnSpc>
              <a:buNone/>
            </a:pPr>
            <a:r>
              <a:rPr lang="en-US" sz="1350" b="1" dirty="0">
                <a:solidFill>
                  <a:srgbClr val="0C2A43"/>
                </a:solidFill>
                <a:latin typeface="Calibri" pitchFamily="34" charset="0"/>
                <a:ea typeface="Calibri" pitchFamily="34" charset="-122"/>
                <a:cs typeface="Calibri" pitchFamily="34" charset="-120"/>
              </a:rPr>
              <a:t>Waves go live Mon Jul 13 · Thu Jul 30 · Mon Aug 17 · Thu Sep 3 — spaced ~2.5 weeks apart so each earns coverage before the next begins.</a:t>
            </a:r>
            <a:endParaRPr lang="en-US" sz="1350" dirty="0"/>
          </a:p>
        </p:txBody>
      </p:sp>
      <p:sp>
        <p:nvSpPr>
          <p:cNvPr id="31" name="Text 29"/>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C2A43"/>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C08A2E"/>
          </a:solidFill>
          <a:ln/>
        </p:spPr>
      </p:sp>
      <p:sp>
        <p:nvSpPr>
          <p:cNvPr id="3" name="Text 1"/>
          <p:cNvSpPr/>
          <p:nvPr/>
        </p:nvSpPr>
        <p:spPr>
          <a:xfrm>
            <a:off x="640080" y="621792"/>
            <a:ext cx="10911535" cy="365760"/>
          </a:xfrm>
          <a:prstGeom prst="rect">
            <a:avLst/>
          </a:prstGeom>
          <a:noFill/>
          <a:ln/>
        </p:spPr>
        <p:txBody>
          <a:bodyPr wrap="square" rtlCol="0" anchor="ctr"/>
          <a:lstStyle/>
          <a:p>
            <a:pPr indent="0" marL="0">
              <a:buNone/>
            </a:pPr>
            <a:r>
              <a:rPr lang="en-US" sz="1300" b="1" spc="200" kern="0" dirty="0">
                <a:solidFill>
                  <a:srgbClr val="C08A2E"/>
                </a:solidFill>
                <a:latin typeface="Calibri" pitchFamily="34" charset="0"/>
                <a:ea typeface="Calibri" pitchFamily="34" charset="-122"/>
                <a:cs typeface="Calibri" pitchFamily="34" charset="-120"/>
              </a:rPr>
              <a:t>THE LAUNCH PLAN</a:t>
            </a:r>
            <a:pPr indent="0" marL="0">
              <a:buNone/>
            </a:pPr>
            <a:r>
              <a:rPr lang="en-US" sz="1300" b="1" spc="200" kern="0" dirty="0">
                <a:solidFill>
                  <a:srgbClr val="9AA4AF"/>
                </a:solidFill>
                <a:latin typeface="Calibri" pitchFamily="34" charset="0"/>
                <a:ea typeface="Calibri" pitchFamily="34" charset="-122"/>
                <a:cs typeface="Calibri" pitchFamily="34" charset="-120"/>
              </a:rPr>
              <a:t>   ·   PART 6 OF 6   ·   DO THIS WEEK</a:t>
            </a:r>
            <a:endParaRPr lang="en-US" sz="1300" dirty="0"/>
          </a:p>
        </p:txBody>
      </p:sp>
      <p:sp>
        <p:nvSpPr>
          <p:cNvPr id="4" name="Text 2"/>
          <p:cNvSpPr/>
          <p:nvPr/>
        </p:nvSpPr>
        <p:spPr>
          <a:xfrm>
            <a:off x="640080" y="1060704"/>
            <a:ext cx="10911535" cy="822960"/>
          </a:xfrm>
          <a:prstGeom prst="rect">
            <a:avLst/>
          </a:prstGeom>
          <a:noFill/>
          <a:ln/>
        </p:spPr>
        <p:txBody>
          <a:bodyPr wrap="square"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Part 6 — The 7 things to finish before Wave 1 goes live</a:t>
            </a:r>
            <a:endParaRPr lang="en-US" sz="3000" dirty="0"/>
          </a:p>
        </p:txBody>
      </p:sp>
      <p:sp>
        <p:nvSpPr>
          <p:cNvPr id="5" name="Shape 3"/>
          <p:cNvSpPr/>
          <p:nvPr/>
        </p:nvSpPr>
        <p:spPr>
          <a:xfrm>
            <a:off x="640080" y="2148840"/>
            <a:ext cx="493776" cy="493776"/>
          </a:xfrm>
          <a:prstGeom prst="ellipse">
            <a:avLst/>
          </a:prstGeom>
          <a:solidFill>
            <a:srgbClr val="C08A2E"/>
          </a:solidFill>
          <a:ln/>
        </p:spPr>
      </p:sp>
      <p:sp>
        <p:nvSpPr>
          <p:cNvPr id="6" name="Text 4"/>
          <p:cNvSpPr/>
          <p:nvPr/>
        </p:nvSpPr>
        <p:spPr>
          <a:xfrm>
            <a:off x="640080" y="2148840"/>
            <a:ext cx="493776" cy="493776"/>
          </a:xfrm>
          <a:prstGeom prst="rect">
            <a:avLst/>
          </a:prstGeom>
          <a:noFill/>
          <a:ln/>
        </p:spPr>
        <p:txBody>
          <a:bodyPr wrap="square" rtlCol="0" anchor="ctr"/>
          <a:lstStyle/>
          <a:p>
            <a:pPr algn="ctr" indent="0" marL="0">
              <a:buNone/>
            </a:pPr>
            <a:r>
              <a:rPr lang="en-US" sz="2000" b="1" dirty="0">
                <a:solidFill>
                  <a:srgbClr val="0C2A43"/>
                </a:solidFill>
                <a:latin typeface="Cambria" pitchFamily="34" charset="0"/>
                <a:ea typeface="Cambria" pitchFamily="34" charset="-122"/>
                <a:cs typeface="Cambria" pitchFamily="34" charset="-120"/>
              </a:rPr>
              <a:t>1</a:t>
            </a:r>
            <a:endParaRPr lang="en-US" sz="2000" dirty="0"/>
          </a:p>
        </p:txBody>
      </p:sp>
      <p:sp>
        <p:nvSpPr>
          <p:cNvPr id="7" name="Text 5"/>
          <p:cNvSpPr/>
          <p:nvPr/>
        </p:nvSpPr>
        <p:spPr>
          <a:xfrm>
            <a:off x="1316736" y="2057400"/>
            <a:ext cx="4596232" cy="347472"/>
          </a:xfrm>
          <a:prstGeom prst="rect">
            <a:avLst/>
          </a:prstGeom>
          <a:noFill/>
          <a:ln/>
        </p:spPr>
        <p:txBody>
          <a:bodyPr wrap="square"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Get quotes approved</a:t>
            </a:r>
            <a:endParaRPr lang="en-US" sz="1600" dirty="0"/>
          </a:p>
        </p:txBody>
      </p:sp>
      <p:sp>
        <p:nvSpPr>
          <p:cNvPr id="8" name="Text 6"/>
          <p:cNvSpPr/>
          <p:nvPr/>
        </p:nvSpPr>
        <p:spPr>
          <a:xfrm>
            <a:off x="1316736" y="2414016"/>
            <a:ext cx="4596232" cy="658368"/>
          </a:xfrm>
          <a:prstGeom prst="rect">
            <a:avLst/>
          </a:prstGeom>
          <a:noFill/>
          <a:ln/>
        </p:spPr>
        <p:txBody>
          <a:bodyPr wrap="square" rtlCol="0" anchor="t"/>
          <a:lstStyle/>
          <a:p>
            <a:pPr indent="0" marL="0">
              <a:lnSpc>
                <a:spcPct val="112000"/>
              </a:lnSpc>
              <a:buNone/>
            </a:pPr>
            <a:r>
              <a:rPr lang="en-US" sz="1200" dirty="0">
                <a:solidFill>
                  <a:srgbClr val="C9D3DD"/>
                </a:solidFill>
                <a:latin typeface="Calibri" pitchFamily="34" charset="0"/>
                <a:ea typeface="Calibri" pitchFamily="34" charset="-122"/>
                <a:cs typeface="Calibri" pitchFamily="34" charset="-120"/>
              </a:rPr>
              <a:t>Harel signs off on his quotes (verbatim + one flagged new line each). This is the only true blocker.</a:t>
            </a:r>
            <a:endParaRPr lang="en-US" sz="1200" dirty="0"/>
          </a:p>
        </p:txBody>
      </p:sp>
      <p:sp>
        <p:nvSpPr>
          <p:cNvPr id="9" name="Shape 7"/>
          <p:cNvSpPr/>
          <p:nvPr/>
        </p:nvSpPr>
        <p:spPr>
          <a:xfrm>
            <a:off x="640080" y="3209544"/>
            <a:ext cx="493776" cy="493776"/>
          </a:xfrm>
          <a:prstGeom prst="ellipse">
            <a:avLst/>
          </a:prstGeom>
          <a:solidFill>
            <a:srgbClr val="C08A2E"/>
          </a:solidFill>
          <a:ln/>
        </p:spPr>
      </p:sp>
      <p:sp>
        <p:nvSpPr>
          <p:cNvPr id="10" name="Text 8"/>
          <p:cNvSpPr/>
          <p:nvPr/>
        </p:nvSpPr>
        <p:spPr>
          <a:xfrm>
            <a:off x="640080" y="3209544"/>
            <a:ext cx="493776" cy="493776"/>
          </a:xfrm>
          <a:prstGeom prst="rect">
            <a:avLst/>
          </a:prstGeom>
          <a:noFill/>
          <a:ln/>
        </p:spPr>
        <p:txBody>
          <a:bodyPr wrap="square" rtlCol="0" anchor="ctr"/>
          <a:lstStyle/>
          <a:p>
            <a:pPr algn="ctr" indent="0" marL="0">
              <a:buNone/>
            </a:pPr>
            <a:r>
              <a:rPr lang="en-US" sz="2000" b="1" dirty="0">
                <a:solidFill>
                  <a:srgbClr val="0C2A43"/>
                </a:solidFill>
                <a:latin typeface="Cambria" pitchFamily="34" charset="0"/>
                <a:ea typeface="Cambria" pitchFamily="34" charset="-122"/>
                <a:cs typeface="Cambria" pitchFamily="34" charset="-120"/>
              </a:rPr>
              <a:t>2</a:t>
            </a:r>
            <a:endParaRPr lang="en-US" sz="2000" dirty="0"/>
          </a:p>
        </p:txBody>
      </p:sp>
      <p:sp>
        <p:nvSpPr>
          <p:cNvPr id="11" name="Text 9"/>
          <p:cNvSpPr/>
          <p:nvPr/>
        </p:nvSpPr>
        <p:spPr>
          <a:xfrm>
            <a:off x="1316736" y="3118104"/>
            <a:ext cx="4596232" cy="347472"/>
          </a:xfrm>
          <a:prstGeom prst="rect">
            <a:avLst/>
          </a:prstGeom>
          <a:noFill/>
          <a:ln/>
        </p:spPr>
        <p:txBody>
          <a:bodyPr wrap="square"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Open the free accounts</a:t>
            </a:r>
            <a:endParaRPr lang="en-US" sz="1600" dirty="0"/>
          </a:p>
        </p:txBody>
      </p:sp>
      <p:sp>
        <p:nvSpPr>
          <p:cNvPr id="12" name="Text 10"/>
          <p:cNvSpPr/>
          <p:nvPr/>
        </p:nvSpPr>
        <p:spPr>
          <a:xfrm>
            <a:off x="1316736" y="3474720"/>
            <a:ext cx="4596232" cy="658368"/>
          </a:xfrm>
          <a:prstGeom prst="rect">
            <a:avLst/>
          </a:prstGeom>
          <a:noFill/>
          <a:ln/>
        </p:spPr>
        <p:txBody>
          <a:bodyPr wrap="square" rtlCol="0" anchor="t"/>
          <a:lstStyle/>
          <a:p>
            <a:pPr indent="0" marL="0">
              <a:lnSpc>
                <a:spcPct val="112000"/>
              </a:lnSpc>
              <a:buNone/>
            </a:pPr>
            <a:r>
              <a:rPr lang="en-US" sz="1200" dirty="0">
                <a:solidFill>
                  <a:srgbClr val="C9D3DD"/>
                </a:solidFill>
                <a:latin typeface="Calibri" pitchFamily="34" charset="0"/>
                <a:ea typeface="Calibri" pitchFamily="34" charset="-122"/>
                <a:cs typeface="Calibri" pitchFamily="34" charset="-120"/>
              </a:rPr>
              <a:t>Sign up for the free reporter-request services (Source of Sources, Qwoted). Set up X columns for the reporter hashtags.</a:t>
            </a:r>
            <a:endParaRPr lang="en-US" sz="1200" dirty="0"/>
          </a:p>
        </p:txBody>
      </p:sp>
      <p:sp>
        <p:nvSpPr>
          <p:cNvPr id="13" name="Shape 11"/>
          <p:cNvSpPr/>
          <p:nvPr/>
        </p:nvSpPr>
        <p:spPr>
          <a:xfrm>
            <a:off x="640080" y="4270248"/>
            <a:ext cx="493776" cy="493776"/>
          </a:xfrm>
          <a:prstGeom prst="ellipse">
            <a:avLst/>
          </a:prstGeom>
          <a:solidFill>
            <a:srgbClr val="C08A2E"/>
          </a:solidFill>
          <a:ln/>
        </p:spPr>
      </p:sp>
      <p:sp>
        <p:nvSpPr>
          <p:cNvPr id="14" name="Text 12"/>
          <p:cNvSpPr/>
          <p:nvPr/>
        </p:nvSpPr>
        <p:spPr>
          <a:xfrm>
            <a:off x="640080" y="4270248"/>
            <a:ext cx="493776" cy="493776"/>
          </a:xfrm>
          <a:prstGeom prst="rect">
            <a:avLst/>
          </a:prstGeom>
          <a:noFill/>
          <a:ln/>
        </p:spPr>
        <p:txBody>
          <a:bodyPr wrap="square" rtlCol="0" anchor="ctr"/>
          <a:lstStyle/>
          <a:p>
            <a:pPr algn="ctr" indent="0" marL="0">
              <a:buNone/>
            </a:pPr>
            <a:r>
              <a:rPr lang="en-US" sz="2000" b="1" dirty="0">
                <a:solidFill>
                  <a:srgbClr val="0C2A43"/>
                </a:solidFill>
                <a:latin typeface="Cambria" pitchFamily="34" charset="0"/>
                <a:ea typeface="Cambria" pitchFamily="34" charset="-122"/>
                <a:cs typeface="Cambria" pitchFamily="34" charset="-120"/>
              </a:rPr>
              <a:t>3</a:t>
            </a:r>
            <a:endParaRPr lang="en-US" sz="2000" dirty="0"/>
          </a:p>
        </p:txBody>
      </p:sp>
      <p:sp>
        <p:nvSpPr>
          <p:cNvPr id="15" name="Text 13"/>
          <p:cNvSpPr/>
          <p:nvPr/>
        </p:nvSpPr>
        <p:spPr>
          <a:xfrm>
            <a:off x="1316736" y="4178808"/>
            <a:ext cx="4596232" cy="347472"/>
          </a:xfrm>
          <a:prstGeom prst="rect">
            <a:avLst/>
          </a:prstGeom>
          <a:noFill/>
          <a:ln/>
        </p:spPr>
        <p:txBody>
          <a:bodyPr wrap="square"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Buy the wire</a:t>
            </a:r>
            <a:endParaRPr lang="en-US" sz="1600" dirty="0"/>
          </a:p>
        </p:txBody>
      </p:sp>
      <p:sp>
        <p:nvSpPr>
          <p:cNvPr id="16" name="Text 14"/>
          <p:cNvSpPr/>
          <p:nvPr/>
        </p:nvSpPr>
        <p:spPr>
          <a:xfrm>
            <a:off x="1316736" y="4535424"/>
            <a:ext cx="4596232" cy="658368"/>
          </a:xfrm>
          <a:prstGeom prst="rect">
            <a:avLst/>
          </a:prstGeom>
          <a:noFill/>
          <a:ln/>
        </p:spPr>
        <p:txBody>
          <a:bodyPr wrap="square" rtlCol="0" anchor="t"/>
          <a:lstStyle/>
          <a:p>
            <a:pPr indent="0" marL="0">
              <a:lnSpc>
                <a:spcPct val="112000"/>
              </a:lnSpc>
              <a:buNone/>
            </a:pPr>
            <a:r>
              <a:rPr lang="en-US" sz="1200" dirty="0">
                <a:solidFill>
                  <a:srgbClr val="C9D3DD"/>
                </a:solidFill>
                <a:latin typeface="Calibri" pitchFamily="34" charset="0"/>
                <a:ea typeface="Calibri" pitchFamily="34" charset="-122"/>
                <a:cs typeface="Calibri" pitchFamily="34" charset="-120"/>
              </a:rPr>
              <a:t>Purchase the EIN Presswire 5-pack (~$399). One decision, covers all four waves.</a:t>
            </a:r>
            <a:endParaRPr lang="en-US" sz="1200" dirty="0"/>
          </a:p>
        </p:txBody>
      </p:sp>
      <p:sp>
        <p:nvSpPr>
          <p:cNvPr id="17" name="Shape 15"/>
          <p:cNvSpPr/>
          <p:nvPr/>
        </p:nvSpPr>
        <p:spPr>
          <a:xfrm>
            <a:off x="640080" y="5330952"/>
            <a:ext cx="493776" cy="493776"/>
          </a:xfrm>
          <a:prstGeom prst="ellipse">
            <a:avLst/>
          </a:prstGeom>
          <a:solidFill>
            <a:srgbClr val="C08A2E"/>
          </a:solidFill>
          <a:ln/>
        </p:spPr>
      </p:sp>
      <p:sp>
        <p:nvSpPr>
          <p:cNvPr id="18" name="Text 16"/>
          <p:cNvSpPr/>
          <p:nvPr/>
        </p:nvSpPr>
        <p:spPr>
          <a:xfrm>
            <a:off x="640080" y="5330952"/>
            <a:ext cx="493776" cy="493776"/>
          </a:xfrm>
          <a:prstGeom prst="rect">
            <a:avLst/>
          </a:prstGeom>
          <a:noFill/>
          <a:ln/>
        </p:spPr>
        <p:txBody>
          <a:bodyPr wrap="square" rtlCol="0" anchor="ctr"/>
          <a:lstStyle/>
          <a:p>
            <a:pPr algn="ctr" indent="0" marL="0">
              <a:buNone/>
            </a:pPr>
            <a:r>
              <a:rPr lang="en-US" sz="2000" b="1" dirty="0">
                <a:solidFill>
                  <a:srgbClr val="0C2A43"/>
                </a:solidFill>
                <a:latin typeface="Cambria" pitchFamily="34" charset="0"/>
                <a:ea typeface="Cambria" pitchFamily="34" charset="-122"/>
                <a:cs typeface="Cambria" pitchFamily="34" charset="-120"/>
              </a:rPr>
              <a:t>4</a:t>
            </a:r>
            <a:endParaRPr lang="en-US" sz="2000" dirty="0"/>
          </a:p>
        </p:txBody>
      </p:sp>
      <p:sp>
        <p:nvSpPr>
          <p:cNvPr id="19" name="Text 17"/>
          <p:cNvSpPr/>
          <p:nvPr/>
        </p:nvSpPr>
        <p:spPr>
          <a:xfrm>
            <a:off x="1316736" y="5239512"/>
            <a:ext cx="4596232" cy="347472"/>
          </a:xfrm>
          <a:prstGeom prst="rect">
            <a:avLst/>
          </a:prstGeom>
          <a:noFill/>
          <a:ln/>
        </p:spPr>
        <p:txBody>
          <a:bodyPr wrap="square"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Build the reporter list</a:t>
            </a:r>
            <a:endParaRPr lang="en-US" sz="1600" dirty="0"/>
          </a:p>
        </p:txBody>
      </p:sp>
      <p:sp>
        <p:nvSpPr>
          <p:cNvPr id="20" name="Text 18"/>
          <p:cNvSpPr/>
          <p:nvPr/>
        </p:nvSpPr>
        <p:spPr>
          <a:xfrm>
            <a:off x="1316736" y="5596128"/>
            <a:ext cx="4596232" cy="658368"/>
          </a:xfrm>
          <a:prstGeom prst="rect">
            <a:avLst/>
          </a:prstGeom>
          <a:noFill/>
          <a:ln/>
        </p:spPr>
        <p:txBody>
          <a:bodyPr wrap="square" rtlCol="0" anchor="t"/>
          <a:lstStyle/>
          <a:p>
            <a:pPr indent="0" marL="0">
              <a:lnSpc>
                <a:spcPct val="112000"/>
              </a:lnSpc>
              <a:buNone/>
            </a:pPr>
            <a:r>
              <a:rPr lang="en-US" sz="1200" dirty="0">
                <a:solidFill>
                  <a:srgbClr val="C9D3DD"/>
                </a:solidFill>
                <a:latin typeface="Calibri" pitchFamily="34" charset="0"/>
                <a:ea typeface="Calibri" pitchFamily="34" charset="-122"/>
                <a:cs typeface="Calibri" pitchFamily="34" charset="-120"/>
              </a:rPr>
              <a:t>20–30 named journalists who already cover longevity, EdTech, or wellness — US + Israel. Store in a Google Sheet.</a:t>
            </a:r>
            <a:endParaRPr lang="en-US" sz="1200" dirty="0"/>
          </a:p>
        </p:txBody>
      </p:sp>
      <p:sp>
        <p:nvSpPr>
          <p:cNvPr id="21" name="Shape 19"/>
          <p:cNvSpPr/>
          <p:nvPr/>
        </p:nvSpPr>
        <p:spPr>
          <a:xfrm>
            <a:off x="6278728" y="2148840"/>
            <a:ext cx="493776" cy="493776"/>
          </a:xfrm>
          <a:prstGeom prst="ellipse">
            <a:avLst/>
          </a:prstGeom>
          <a:solidFill>
            <a:srgbClr val="C08A2E"/>
          </a:solidFill>
          <a:ln/>
        </p:spPr>
      </p:sp>
      <p:sp>
        <p:nvSpPr>
          <p:cNvPr id="22" name="Text 20"/>
          <p:cNvSpPr/>
          <p:nvPr/>
        </p:nvSpPr>
        <p:spPr>
          <a:xfrm>
            <a:off x="6278728" y="2148840"/>
            <a:ext cx="493776" cy="493776"/>
          </a:xfrm>
          <a:prstGeom prst="rect">
            <a:avLst/>
          </a:prstGeom>
          <a:noFill/>
          <a:ln/>
        </p:spPr>
        <p:txBody>
          <a:bodyPr wrap="square" rtlCol="0" anchor="ctr"/>
          <a:lstStyle/>
          <a:p>
            <a:pPr algn="ctr" indent="0" marL="0">
              <a:buNone/>
            </a:pPr>
            <a:r>
              <a:rPr lang="en-US" sz="2000" b="1" dirty="0">
                <a:solidFill>
                  <a:srgbClr val="0C2A43"/>
                </a:solidFill>
                <a:latin typeface="Cambria" pitchFamily="34" charset="0"/>
                <a:ea typeface="Cambria" pitchFamily="34" charset="-122"/>
                <a:cs typeface="Cambria" pitchFamily="34" charset="-120"/>
              </a:rPr>
              <a:t>5</a:t>
            </a:r>
            <a:endParaRPr lang="en-US" sz="2000" dirty="0"/>
          </a:p>
        </p:txBody>
      </p:sp>
      <p:sp>
        <p:nvSpPr>
          <p:cNvPr id="23" name="Text 21"/>
          <p:cNvSpPr/>
          <p:nvPr/>
        </p:nvSpPr>
        <p:spPr>
          <a:xfrm>
            <a:off x="6955384" y="2057400"/>
            <a:ext cx="4596232" cy="347472"/>
          </a:xfrm>
          <a:prstGeom prst="rect">
            <a:avLst/>
          </a:prstGeom>
          <a:noFill/>
          <a:ln/>
        </p:spPr>
        <p:txBody>
          <a:bodyPr wrap="square"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Finalize the press kit</a:t>
            </a:r>
            <a:endParaRPr lang="en-US" sz="1600" dirty="0"/>
          </a:p>
        </p:txBody>
      </p:sp>
      <p:sp>
        <p:nvSpPr>
          <p:cNvPr id="24" name="Text 22"/>
          <p:cNvSpPr/>
          <p:nvPr/>
        </p:nvSpPr>
        <p:spPr>
          <a:xfrm>
            <a:off x="6955384" y="2414016"/>
            <a:ext cx="4596232" cy="658368"/>
          </a:xfrm>
          <a:prstGeom prst="rect">
            <a:avLst/>
          </a:prstGeom>
          <a:noFill/>
          <a:ln/>
        </p:spPr>
        <p:txBody>
          <a:bodyPr wrap="square" rtlCol="0" anchor="t"/>
          <a:lstStyle/>
          <a:p>
            <a:pPr indent="0" marL="0">
              <a:lnSpc>
                <a:spcPct val="112000"/>
              </a:lnSpc>
              <a:buNone/>
            </a:pPr>
            <a:r>
              <a:rPr lang="en-US" sz="1200" dirty="0">
                <a:solidFill>
                  <a:srgbClr val="C9D3DD"/>
                </a:solidFill>
                <a:latin typeface="Calibri" pitchFamily="34" charset="0"/>
                <a:ea typeface="Calibri" pitchFamily="34" charset="-122"/>
                <a:cs typeface="Calibri" pitchFamily="34" charset="-120"/>
              </a:rPr>
              <a:t>Logo, Harel + Julie headshots, 150-word bios, LLA fact sheet, and the live press contact (replace the placeholder).</a:t>
            </a:r>
            <a:endParaRPr lang="en-US" sz="1200" dirty="0"/>
          </a:p>
        </p:txBody>
      </p:sp>
      <p:sp>
        <p:nvSpPr>
          <p:cNvPr id="25" name="Shape 23"/>
          <p:cNvSpPr/>
          <p:nvPr/>
        </p:nvSpPr>
        <p:spPr>
          <a:xfrm>
            <a:off x="6278728" y="3209544"/>
            <a:ext cx="493776" cy="493776"/>
          </a:xfrm>
          <a:prstGeom prst="ellipse">
            <a:avLst/>
          </a:prstGeom>
          <a:solidFill>
            <a:srgbClr val="C08A2E"/>
          </a:solidFill>
          <a:ln/>
        </p:spPr>
      </p:sp>
      <p:sp>
        <p:nvSpPr>
          <p:cNvPr id="26" name="Text 24"/>
          <p:cNvSpPr/>
          <p:nvPr/>
        </p:nvSpPr>
        <p:spPr>
          <a:xfrm>
            <a:off x="6278728" y="3209544"/>
            <a:ext cx="493776" cy="493776"/>
          </a:xfrm>
          <a:prstGeom prst="rect">
            <a:avLst/>
          </a:prstGeom>
          <a:noFill/>
          <a:ln/>
        </p:spPr>
        <p:txBody>
          <a:bodyPr wrap="square" rtlCol="0" anchor="ctr"/>
          <a:lstStyle/>
          <a:p>
            <a:pPr algn="ctr" indent="0" marL="0">
              <a:buNone/>
            </a:pPr>
            <a:r>
              <a:rPr lang="en-US" sz="2000" b="1" dirty="0">
                <a:solidFill>
                  <a:srgbClr val="0C2A43"/>
                </a:solidFill>
                <a:latin typeface="Cambria" pitchFamily="34" charset="0"/>
                <a:ea typeface="Cambria" pitchFamily="34" charset="-122"/>
                <a:cs typeface="Cambria" pitchFamily="34" charset="-120"/>
              </a:rPr>
              <a:t>6</a:t>
            </a:r>
            <a:endParaRPr lang="en-US" sz="2000" dirty="0"/>
          </a:p>
        </p:txBody>
      </p:sp>
      <p:sp>
        <p:nvSpPr>
          <p:cNvPr id="27" name="Text 25"/>
          <p:cNvSpPr/>
          <p:nvPr/>
        </p:nvSpPr>
        <p:spPr>
          <a:xfrm>
            <a:off x="6955384" y="3118104"/>
            <a:ext cx="4596232" cy="347472"/>
          </a:xfrm>
          <a:prstGeom prst="rect">
            <a:avLst/>
          </a:prstGeom>
          <a:noFill/>
          <a:ln/>
        </p:spPr>
        <p:txBody>
          <a:bodyPr wrap="square"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Confirm Julie</a:t>
            </a:r>
            <a:endParaRPr lang="en-US" sz="1600" dirty="0"/>
          </a:p>
        </p:txBody>
      </p:sp>
      <p:sp>
        <p:nvSpPr>
          <p:cNvPr id="28" name="Text 26"/>
          <p:cNvSpPr/>
          <p:nvPr/>
        </p:nvSpPr>
        <p:spPr>
          <a:xfrm>
            <a:off x="6955384" y="3474720"/>
            <a:ext cx="4596232" cy="658368"/>
          </a:xfrm>
          <a:prstGeom prst="rect">
            <a:avLst/>
          </a:prstGeom>
          <a:noFill/>
          <a:ln/>
        </p:spPr>
        <p:txBody>
          <a:bodyPr wrap="square" rtlCol="0" anchor="t"/>
          <a:lstStyle/>
          <a:p>
            <a:pPr indent="0" marL="0">
              <a:lnSpc>
                <a:spcPct val="112000"/>
              </a:lnSpc>
              <a:buNone/>
            </a:pPr>
            <a:r>
              <a:rPr lang="en-US" sz="1200" dirty="0">
                <a:solidFill>
                  <a:srgbClr val="C9D3DD"/>
                </a:solidFill>
                <a:latin typeface="Calibri" pitchFamily="34" charset="0"/>
                <a:ea typeface="Calibri" pitchFamily="34" charset="-122"/>
                <a:cs typeface="Calibri" pitchFamily="34" charset="-120"/>
              </a:rPr>
              <a:t>Lock her instructor title + agreement and approve her quotes before Wave 2.</a:t>
            </a:r>
            <a:endParaRPr lang="en-US" sz="1200" dirty="0"/>
          </a:p>
        </p:txBody>
      </p:sp>
      <p:sp>
        <p:nvSpPr>
          <p:cNvPr id="29" name="Shape 27"/>
          <p:cNvSpPr/>
          <p:nvPr/>
        </p:nvSpPr>
        <p:spPr>
          <a:xfrm>
            <a:off x="6278728" y="4270248"/>
            <a:ext cx="493776" cy="493776"/>
          </a:xfrm>
          <a:prstGeom prst="ellipse">
            <a:avLst/>
          </a:prstGeom>
          <a:solidFill>
            <a:srgbClr val="C08A2E"/>
          </a:solidFill>
          <a:ln/>
        </p:spPr>
      </p:sp>
      <p:sp>
        <p:nvSpPr>
          <p:cNvPr id="30" name="Text 28"/>
          <p:cNvSpPr/>
          <p:nvPr/>
        </p:nvSpPr>
        <p:spPr>
          <a:xfrm>
            <a:off x="6278728" y="4270248"/>
            <a:ext cx="493776" cy="493776"/>
          </a:xfrm>
          <a:prstGeom prst="rect">
            <a:avLst/>
          </a:prstGeom>
          <a:noFill/>
          <a:ln/>
        </p:spPr>
        <p:txBody>
          <a:bodyPr wrap="square" rtlCol="0" anchor="ctr"/>
          <a:lstStyle/>
          <a:p>
            <a:pPr algn="ctr" indent="0" marL="0">
              <a:buNone/>
            </a:pPr>
            <a:r>
              <a:rPr lang="en-US" sz="2000" b="1" dirty="0">
                <a:solidFill>
                  <a:srgbClr val="0C2A43"/>
                </a:solidFill>
                <a:latin typeface="Cambria" pitchFamily="34" charset="0"/>
                <a:ea typeface="Cambria" pitchFamily="34" charset="-122"/>
                <a:cs typeface="Cambria" pitchFamily="34" charset="-120"/>
              </a:rPr>
              <a:t>7</a:t>
            </a:r>
            <a:endParaRPr lang="en-US" sz="2000" dirty="0"/>
          </a:p>
        </p:txBody>
      </p:sp>
      <p:sp>
        <p:nvSpPr>
          <p:cNvPr id="31" name="Text 29"/>
          <p:cNvSpPr/>
          <p:nvPr/>
        </p:nvSpPr>
        <p:spPr>
          <a:xfrm>
            <a:off x="6955384" y="4178808"/>
            <a:ext cx="4596232" cy="347472"/>
          </a:xfrm>
          <a:prstGeom prst="rect">
            <a:avLst/>
          </a:prstGeom>
          <a:noFill/>
          <a:ln/>
        </p:spPr>
        <p:txBody>
          <a:bodyPr wrap="square"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Set the tracker</a:t>
            </a:r>
            <a:endParaRPr lang="en-US" sz="1600" dirty="0"/>
          </a:p>
        </p:txBody>
      </p:sp>
      <p:sp>
        <p:nvSpPr>
          <p:cNvPr id="32" name="Text 30"/>
          <p:cNvSpPr/>
          <p:nvPr/>
        </p:nvSpPr>
        <p:spPr>
          <a:xfrm>
            <a:off x="6955384" y="4535424"/>
            <a:ext cx="4596232" cy="658368"/>
          </a:xfrm>
          <a:prstGeom prst="rect">
            <a:avLst/>
          </a:prstGeom>
          <a:noFill/>
          <a:ln/>
        </p:spPr>
        <p:txBody>
          <a:bodyPr wrap="square" rtlCol="0" anchor="t"/>
          <a:lstStyle/>
          <a:p>
            <a:pPr indent="0" marL="0">
              <a:lnSpc>
                <a:spcPct val="112000"/>
              </a:lnSpc>
              <a:buNone/>
            </a:pPr>
            <a:r>
              <a:rPr lang="en-US" sz="1200" dirty="0">
                <a:solidFill>
                  <a:srgbClr val="C9D3DD"/>
                </a:solidFill>
                <a:latin typeface="Calibri" pitchFamily="34" charset="0"/>
                <a:ea typeface="Calibri" pitchFamily="34" charset="-122"/>
                <a:cs typeface="Calibri" pitchFamily="34" charset="-120"/>
              </a:rPr>
              <a:t>One Google Sheet: outlet, pitch date, status, link. This is your entire reporting system.</a:t>
            </a:r>
            <a:endParaRPr lang="en-US" sz="1200" dirty="0"/>
          </a:p>
        </p:txBody>
      </p:sp>
      <p:sp>
        <p:nvSpPr>
          <p:cNvPr id="33" name="Text 31"/>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C2A43"/>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0C2A43"/>
          </a:solidFill>
          <a:ln/>
        </p:spPr>
      </p:sp>
      <p:sp>
        <p:nvSpPr>
          <p:cNvPr id="3" name="Text 1"/>
          <p:cNvSpPr/>
          <p:nvPr/>
        </p:nvSpPr>
        <p:spPr>
          <a:xfrm>
            <a:off x="640080" y="1965960"/>
            <a:ext cx="10911535" cy="365760"/>
          </a:xfrm>
          <a:prstGeom prst="rect">
            <a:avLst/>
          </a:prstGeom>
          <a:noFill/>
          <a:ln/>
        </p:spPr>
        <p:txBody>
          <a:bodyPr wrap="square" rtlCol="0" anchor="ctr"/>
          <a:lstStyle/>
          <a:p>
            <a:pPr indent="0" marL="0">
              <a:buNone/>
            </a:pPr>
            <a:r>
              <a:rPr lang="en-US" sz="1500" b="1" spc="400" kern="0" dirty="0">
                <a:solidFill>
                  <a:srgbClr val="C08A2E"/>
                </a:solidFill>
                <a:latin typeface="Calibri" pitchFamily="34" charset="0"/>
                <a:ea typeface="Calibri" pitchFamily="34" charset="-122"/>
                <a:cs typeface="Calibri" pitchFamily="34" charset="-120"/>
              </a:rPr>
              <a:t>CHAPTER 1 OF 4</a:t>
            </a:r>
            <a:endParaRPr lang="en-US" sz="1500" dirty="0"/>
          </a:p>
        </p:txBody>
      </p:sp>
      <p:sp>
        <p:nvSpPr>
          <p:cNvPr id="4" name="Text 2"/>
          <p:cNvSpPr/>
          <p:nvPr/>
        </p:nvSpPr>
        <p:spPr>
          <a:xfrm>
            <a:off x="640080" y="2514600"/>
            <a:ext cx="10911535" cy="1463040"/>
          </a:xfrm>
          <a:prstGeom prst="rect">
            <a:avLst/>
          </a:prstGeom>
          <a:noFill/>
          <a:ln/>
        </p:spPr>
        <p:txBody>
          <a:bodyPr wrap="square" rtlCol="0" anchor="ctr"/>
          <a:lstStyle/>
          <a:p>
            <a:pPr indent="0" marL="0">
              <a:lnSpc>
                <a:spcPct val="100000"/>
              </a:lnSpc>
              <a:buNone/>
            </a:pPr>
            <a:r>
              <a:rPr lang="en-US" sz="4200" b="1" dirty="0">
                <a:solidFill>
                  <a:srgbClr val="FFFFFF"/>
                </a:solidFill>
                <a:latin typeface="Cambria" pitchFamily="34" charset="0"/>
                <a:ea typeface="Cambria" pitchFamily="34" charset="-122"/>
                <a:cs typeface="Cambria" pitchFamily="34" charset="-120"/>
              </a:rPr>
              <a:t>eTeacher Launches Longevity Life Academy</a:t>
            </a:r>
            <a:endParaRPr lang="en-US" sz="4200" dirty="0"/>
          </a:p>
        </p:txBody>
      </p:sp>
      <p:sp>
        <p:nvSpPr>
          <p:cNvPr id="5" name="Text 3"/>
          <p:cNvSpPr/>
          <p:nvPr/>
        </p:nvSpPr>
        <p:spPr>
          <a:xfrm>
            <a:off x="640080" y="4297680"/>
            <a:ext cx="10241280" cy="914400"/>
          </a:xfrm>
          <a:prstGeom prst="rect">
            <a:avLst/>
          </a:prstGeom>
          <a:noFill/>
          <a:ln/>
        </p:spPr>
        <p:txBody>
          <a:bodyPr wrap="square" rtlCol="0" anchor="ctr"/>
          <a:lstStyle/>
          <a:p>
            <a:pPr indent="0" marL="0">
              <a:lnSpc>
                <a:spcPct val="120000"/>
              </a:lnSpc>
              <a:buNone/>
            </a:pPr>
            <a:r>
              <a:rPr lang="en-US" sz="1700" dirty="0">
                <a:solidFill>
                  <a:srgbClr val="C9D3DD"/>
                </a:solidFill>
                <a:latin typeface="Calibri" pitchFamily="34" charset="0"/>
                <a:ea typeface="Calibri" pitchFamily="34" charset="-122"/>
                <a:cs typeface="Calibri" pitchFamily="34" charset="-120"/>
              </a:rPr>
              <a:t>One message: Israel's leading EdTech group brings live, science-backed longevity education to American homes.</a:t>
            </a:r>
            <a:endParaRPr lang="en-US" sz="1700" dirty="0"/>
          </a:p>
        </p:txBody>
      </p:sp>
      <p:sp>
        <p:nvSpPr>
          <p:cNvPr id="6" name="Text 4"/>
          <p:cNvSpPr/>
          <p:nvPr/>
        </p:nvSpPr>
        <p:spPr>
          <a:xfrm>
            <a:off x="640080" y="5394960"/>
            <a:ext cx="3657600" cy="365760"/>
          </a:xfrm>
          <a:prstGeom prst="rect">
            <a:avLst/>
          </a:prstGeom>
          <a:noFill/>
          <a:ln/>
        </p:spPr>
        <p:txBody>
          <a:bodyPr wrap="square" rtlCol="0" anchor="ctr"/>
          <a:lstStyle/>
          <a:p>
            <a:pPr indent="0" marL="0">
              <a:buNone/>
            </a:pPr>
            <a:r>
              <a:rPr lang="en-US" sz="1300" b="1" spc="200" kern="0" dirty="0">
                <a:solidFill>
                  <a:srgbClr val="C08A2E"/>
                </a:solidFill>
                <a:latin typeface="Calibri" pitchFamily="34" charset="0"/>
                <a:ea typeface="Calibri" pitchFamily="34" charset="-122"/>
                <a:cs typeface="Calibri" pitchFamily="34" charset="-120"/>
              </a:rPr>
              <a:t>6 ARTICLES</a:t>
            </a:r>
            <a:endParaRPr lang="en-US" sz="1300" dirty="0"/>
          </a:p>
        </p:txBody>
      </p:sp>
      <p:sp>
        <p:nvSpPr>
          <p:cNvPr id="7" name="Text 5"/>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0C2A43"/>
                </a:solidFill>
                <a:latin typeface="Calibri" pitchFamily="34" charset="0"/>
                <a:ea typeface="Calibri" pitchFamily="34" charset="-122"/>
                <a:cs typeface="Calibri" pitchFamily="34" charset="-120"/>
              </a:rPr>
              <a:t>ARTICLE 1.1   ·   </a:t>
            </a:r>
            <a:pPr indent="0" marL="0">
              <a:buNone/>
            </a:pPr>
            <a:r>
              <a:rPr lang="en-US" sz="1050" b="1" spc="150" kern="0" dirty="0">
                <a:solidFill>
                  <a:srgbClr val="5C6672"/>
                </a:solidFill>
                <a:latin typeface="Calibri" pitchFamily="34" charset="0"/>
                <a:ea typeface="Calibri" pitchFamily="34" charset="-122"/>
                <a:cs typeface="Calibri" pitchFamily="34" charset="-120"/>
              </a:rPr>
              <a:t>FLAGSHIP NATIONAL-WIRE ANNOUNCEMENT</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0C2A43"/>
                </a:solidFill>
                <a:latin typeface="Calibri" pitchFamily="34" charset="0"/>
                <a:ea typeface="Calibri" pitchFamily="34" charset="-122"/>
                <a:cs typeface="Calibri" pitchFamily="34" charset="-120"/>
              </a:rPr>
              <a:t>PR Newswire (national wire) → Forbes / Bloomberg pickup</a:t>
            </a:r>
            <a:endParaRPr lang="en-US" sz="950" dirty="0"/>
          </a:p>
        </p:txBody>
      </p:sp>
      <p:sp>
        <p:nvSpPr>
          <p:cNvPr id="4" name="Text 2"/>
          <p:cNvSpPr/>
          <p:nvPr/>
        </p:nvSpPr>
        <p:spPr>
          <a:xfrm>
            <a:off x="640080" y="603504"/>
            <a:ext cx="10911535" cy="896112"/>
          </a:xfrm>
          <a:prstGeom prst="rect">
            <a:avLst/>
          </a:prstGeom>
          <a:noFill/>
          <a:ln/>
        </p:spPr>
        <p:txBody>
          <a:bodyPr wrap="square" rtlCol="0" anchor="t"/>
          <a:lstStyle/>
          <a:p>
            <a:pPr indent="0" marL="0">
              <a:lnSpc>
                <a:spcPct val="96000"/>
              </a:lnSpc>
              <a:buNone/>
            </a:pPr>
            <a:r>
              <a:rPr lang="en-US" sz="2600" b="1" dirty="0">
                <a:solidFill>
                  <a:srgbClr val="0C2A43"/>
                </a:solidFill>
                <a:latin typeface="Cambria" pitchFamily="34" charset="0"/>
                <a:ea typeface="Cambria" pitchFamily="34" charset="-122"/>
                <a:cs typeface="Cambria" pitchFamily="34" charset="-120"/>
              </a:rPr>
              <a:t>eTeacher Group Enters the $8 Trillion Longevity Market with Longevity Life Academy, Its Fifth Online School</a:t>
            </a:r>
            <a:endParaRPr lang="en-US" sz="2600" dirty="0"/>
          </a:p>
        </p:txBody>
      </p:sp>
      <p:sp>
        <p:nvSpPr>
          <p:cNvPr id="5" name="Text 3"/>
          <p:cNvSpPr/>
          <p:nvPr/>
        </p:nvSpPr>
        <p:spPr>
          <a:xfrm>
            <a:off x="640080" y="1572768"/>
            <a:ext cx="10911535" cy="512064"/>
          </a:xfrm>
          <a:prstGeom prst="rect">
            <a:avLst/>
          </a:prstGeom>
          <a:noFill/>
          <a:ln/>
        </p:spPr>
        <p:txBody>
          <a:bodyPr wrap="square" rtlCol="0" anchor="t"/>
          <a:lstStyle/>
          <a:p>
            <a:pPr indent="0" marL="0">
              <a:lnSpc>
                <a:spcPct val="110000"/>
              </a:lnSpc>
              <a:buNone/>
            </a:pPr>
            <a:r>
              <a:rPr lang="en-US" sz="1350" b="1" i="1" dirty="0">
                <a:solidFill>
                  <a:srgbClr val="1A1F26"/>
                </a:solidFill>
                <a:latin typeface="Calibri" pitchFamily="34" charset="0"/>
                <a:ea typeface="Calibri" pitchFamily="34" charset="-122"/>
                <a:cs typeface="Calibri" pitchFamily="34" charset="-120"/>
              </a:rPr>
              <a:t>After 25 years and 400,000+ courses delivered to students across nearly 200 countries, the Israeli EdTech veteran launches an 18-week live longevity program — with a glucose monitor shipped to every student.</a:t>
            </a:r>
            <a:endParaRPr lang="en-US" sz="1350" dirty="0"/>
          </a:p>
        </p:txBody>
      </p:sp>
      <p:sp>
        <p:nvSpPr>
          <p:cNvPr id="6" name="Shape 4"/>
          <p:cNvSpPr/>
          <p:nvPr/>
        </p:nvSpPr>
        <p:spPr>
          <a:xfrm>
            <a:off x="640080" y="2194560"/>
            <a:ext cx="10911535" cy="0"/>
          </a:xfrm>
          <a:prstGeom prst="line">
            <a:avLst/>
          </a:prstGeom>
          <a:noFill/>
          <a:ln w="12700">
            <a:solidFill>
              <a:srgbClr val="D9DDE2"/>
            </a:solidFill>
            <a:prstDash val="solid"/>
          </a:ln>
        </p:spPr>
      </p:sp>
      <p:sp>
        <p:nvSpPr>
          <p:cNvPr id="7" name="Text 5"/>
          <p:cNvSpPr/>
          <p:nvPr/>
        </p:nvSpPr>
        <p:spPr>
          <a:xfrm>
            <a:off x="64008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RAMAT GAN, Israel — eTeacher Group, one of the world's longest-running online-education companies, today announced its entry into the longevity market with Longevity Life Academy (LLA), its fifth proprietary online school. LLA brings eTeacher's signature model — live, teacher-led instruction paired with AI micro-learning — to the science of healthy aging.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timing is deliberate. UBS projects the longevity market will reach roughly $8 trillion by 2030, up from $5.3 trillion in 2023, yet most offerings sit at two extremes: costly concierge clinics or unvetted social-media advice. eTeacher enters the underserved middle, with more than 10,000 learners a year and roughly 70% of its customers in the US.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LLA's flagship program, “The Longevity Blueprint,” is an 18-week live course — 18 sessions across four phases, 50 minutes weekly, in groups of 8–15 — that turns healthy-aging science into one personalized protocol each student can live by. Every student receives an Abbott Lingo continuous glucose monitor, shipped to their US home before Lesson 5, so learning is grounded in their own body data.</a:t>
            </a:r>
            <a:endParaRPr lang="en-US" sz="1050" dirty="0"/>
          </a:p>
        </p:txBody>
      </p:sp>
      <p:sp>
        <p:nvSpPr>
          <p:cNvPr id="8" name="Text 6"/>
          <p:cNvSpPr/>
          <p:nvPr/>
        </p:nvSpPr>
        <p:spPr>
          <a:xfrm>
            <a:off x="649224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course is taught by named instructors, including researcher Natalie Blackbourne and UC Santa Barbara senior lecturer Amy Jamieson, on the same platform behind eTeacher's accredited work with the Hebrew University of Jerusalem.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world of education was stuck for hundreds of years, but in the age of artificial intelligence it is undergoing a dramatic transformation,” said Harel Tayeb, CEO of eTeacher Group. “We believe we can bring the world of longevity into every household in the United States and raise healthspan globally.”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Longevity Blueprint is enrolling now from $289 per month, and eTeacher says additional longevity courses and a companion practice app are on its roadmap for the year ahead.</a:t>
            </a:r>
            <a:endParaRPr lang="en-US" sz="1050" dirty="0"/>
          </a:p>
        </p:txBody>
      </p:sp>
      <p:sp>
        <p:nvSpPr>
          <p:cNvPr id="9" name="Shape 7"/>
          <p:cNvSpPr/>
          <p:nvPr/>
        </p:nvSpPr>
        <p:spPr>
          <a:xfrm>
            <a:off x="640080" y="4892040"/>
            <a:ext cx="10911535" cy="1399032"/>
          </a:xfrm>
          <a:prstGeom prst="roundRect">
            <a:avLst>
              <a:gd name="adj" fmla="val 3268"/>
            </a:avLst>
          </a:prstGeom>
          <a:solidFill>
            <a:srgbClr val="0C2A43"/>
          </a:solidFill>
          <a:ln w="25400">
            <a:solidFill>
              <a:srgbClr val="C08A2E"/>
            </a:solidFill>
            <a:prstDash val="solid"/>
          </a:ln>
        </p:spPr>
      </p:sp>
      <p:sp>
        <p:nvSpPr>
          <p:cNvPr id="10" name="Shape 8"/>
          <p:cNvSpPr/>
          <p:nvPr/>
        </p:nvSpPr>
        <p:spPr>
          <a:xfrm>
            <a:off x="658368" y="4910328"/>
            <a:ext cx="10874959" cy="310896"/>
          </a:xfrm>
          <a:prstGeom prst="rect">
            <a:avLst/>
          </a:prstGeom>
          <a:solidFill>
            <a:srgbClr val="C08A2E"/>
          </a:solidFill>
          <a:ln/>
        </p:spPr>
      </p:sp>
      <p:sp>
        <p:nvSpPr>
          <p:cNvPr id="11" name="Text 9"/>
          <p:cNvSpPr/>
          <p:nvPr/>
        </p:nvSpPr>
        <p:spPr>
          <a:xfrm>
            <a:off x="841248" y="4910328"/>
            <a:ext cx="10509199" cy="310896"/>
          </a:xfrm>
          <a:prstGeom prst="rect">
            <a:avLst/>
          </a:prstGeom>
          <a:noFill/>
          <a:ln/>
        </p:spPr>
        <p:txBody>
          <a:bodyPr wrap="square" rtlCol="0" anchor="ctr"/>
          <a:lstStyle/>
          <a:p>
            <a:pPr indent="0" marL="0">
              <a:buNone/>
            </a:pPr>
            <a:r>
              <a:rPr lang="en-US" sz="900" b="1" spc="80" kern="0" dirty="0">
                <a:solidFill>
                  <a:srgbClr val="0C2A43"/>
                </a:solidFill>
                <a:latin typeface="Calibri" pitchFamily="34" charset="0"/>
                <a:ea typeface="Calibri" pitchFamily="34" charset="-122"/>
                <a:cs typeface="Calibri" pitchFamily="34" charset="-120"/>
              </a:rPr>
              <a:t>HIGHLIGHTED QUOTE  ·  HAREL TAYEB, CEO, eTeacher Group</a:t>
            </a:r>
            <a:endParaRPr lang="en-US" sz="900" dirty="0"/>
          </a:p>
        </p:txBody>
      </p:sp>
      <p:sp>
        <p:nvSpPr>
          <p:cNvPr id="12" name="Text 10"/>
          <p:cNvSpPr/>
          <p:nvPr/>
        </p:nvSpPr>
        <p:spPr>
          <a:xfrm>
            <a:off x="859536" y="5294376"/>
            <a:ext cx="10472623" cy="466344"/>
          </a:xfrm>
          <a:prstGeom prst="rect">
            <a:avLst/>
          </a:prstGeom>
          <a:noFill/>
          <a:ln/>
        </p:spPr>
        <p:txBody>
          <a:bodyPr wrap="square" rtlCol="0" anchor="t"/>
          <a:lstStyle/>
          <a:p>
            <a:pPr indent="0" marL="0">
              <a:lnSpc>
                <a:spcPct val="108000"/>
              </a:lnSpc>
              <a:buNone/>
            </a:pPr>
            <a:r>
              <a:rPr lang="en-US" sz="1150" b="1" i="1" dirty="0">
                <a:solidFill>
                  <a:srgbClr val="FFF3DA"/>
                </a:solidFill>
                <a:latin typeface="Calibri" pitchFamily="34" charset="0"/>
                <a:ea typeface="Calibri" pitchFamily="34" charset="-122"/>
                <a:cs typeface="Calibri" pitchFamily="34" charset="-120"/>
              </a:rPr>
              <a:t>“The world of education was stuck for hundreds of years, but in the age of artificial intelligence it is undergoing a dramatic transformation. We believe we can bring the world of longevity into every household in the United States and raise healthspan globally.”</a:t>
            </a:r>
            <a:endParaRPr lang="en-US" sz="1150" dirty="0"/>
          </a:p>
        </p:txBody>
      </p:sp>
      <p:sp>
        <p:nvSpPr>
          <p:cNvPr id="13" name="Text 11"/>
          <p:cNvSpPr/>
          <p:nvPr/>
        </p:nvSpPr>
        <p:spPr>
          <a:xfrm>
            <a:off x="859536" y="5833872"/>
            <a:ext cx="10472623" cy="329184"/>
          </a:xfrm>
          <a:prstGeom prst="rect">
            <a:avLst/>
          </a:prstGeom>
          <a:noFill/>
          <a:ln/>
        </p:spPr>
        <p:txBody>
          <a:bodyPr wrap="square" rtlCol="0" anchor="b"/>
          <a:lstStyle/>
          <a:p>
            <a:pPr indent="0" marL="0">
              <a:lnSpc>
                <a:spcPct val="102000"/>
              </a:lnSpc>
              <a:buNone/>
            </a:pPr>
            <a:r>
              <a:rPr lang="en-US" sz="680" i="1" dirty="0">
                <a:solidFill>
                  <a:srgbClr val="C9B892"/>
                </a:solidFill>
                <a:latin typeface="Calibri" pitchFamily="34" charset="0"/>
                <a:ea typeface="Calibri" pitchFamily="34" charset="-122"/>
                <a:cs typeface="Calibri" pitchFamily="34" charset="-120"/>
              </a:rPr>
              <a:t>Sentence 1 is verbatim from TheMarker Labels (1 Feb 2026), Q3. Sentence 2 is the one voice-matched new line, drawn from the user's theme line — flagged for CEO approval.</a:t>
            </a:r>
            <a:endParaRPr lang="en-US" sz="68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0C2A43"/>
                </a:solidFill>
                <a:latin typeface="Calibri" pitchFamily="34" charset="0"/>
                <a:ea typeface="Calibri" pitchFamily="34" charset="-122"/>
                <a:cs typeface="Calibri" pitchFamily="34" charset="-120"/>
              </a:rPr>
              <a:t>ARTICLE 1.2   ·   </a:t>
            </a:r>
            <a:pPr indent="0" marL="0">
              <a:buNone/>
            </a:pPr>
            <a:r>
              <a:rPr lang="en-US" sz="1050" b="1" spc="150" kern="0" dirty="0">
                <a:solidFill>
                  <a:srgbClr val="5C6672"/>
                </a:solidFill>
                <a:latin typeface="Calibri" pitchFamily="34" charset="0"/>
                <a:ea typeface="Calibri" pitchFamily="34" charset="-122"/>
                <a:cs typeface="Calibri" pitchFamily="34" charset="-120"/>
              </a:rPr>
              <a:t>EDTECH TRADE STORY — THE LIVE-LEARNING METHOD APPLIED TO LONGEVITY</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0C2A43"/>
                </a:solidFill>
                <a:latin typeface="Calibri" pitchFamily="34" charset="0"/>
                <a:ea typeface="Calibri" pitchFamily="34" charset="-122"/>
                <a:cs typeface="Calibri" pitchFamily="34" charset="-120"/>
              </a:rPr>
              <a:t>EdSurge / EdTech Magazine / TechCrunch</a:t>
            </a:r>
            <a:endParaRPr lang="en-US" sz="950" dirty="0"/>
          </a:p>
        </p:txBody>
      </p:sp>
      <p:sp>
        <p:nvSpPr>
          <p:cNvPr id="4" name="Text 2"/>
          <p:cNvSpPr/>
          <p:nvPr/>
        </p:nvSpPr>
        <p:spPr>
          <a:xfrm>
            <a:off x="640080" y="603504"/>
            <a:ext cx="10911535" cy="896112"/>
          </a:xfrm>
          <a:prstGeom prst="rect">
            <a:avLst/>
          </a:prstGeom>
          <a:noFill/>
          <a:ln/>
        </p:spPr>
        <p:txBody>
          <a:bodyPr wrap="square" rtlCol="0" anchor="t"/>
          <a:lstStyle/>
          <a:p>
            <a:pPr indent="0" marL="0">
              <a:lnSpc>
                <a:spcPct val="96000"/>
              </a:lnSpc>
              <a:buNone/>
            </a:pPr>
            <a:r>
              <a:rPr lang="en-US" sz="2600" b="1" dirty="0">
                <a:solidFill>
                  <a:srgbClr val="0C2A43"/>
                </a:solidFill>
                <a:latin typeface="Cambria" pitchFamily="34" charset="0"/>
                <a:ea typeface="Cambria" pitchFamily="34" charset="-122"/>
                <a:cs typeface="Cambria" pitchFamily="34" charset="-120"/>
              </a:rPr>
              <a:t>eTeacher Brings Its 25-Year Live-Class Teaching Method to Longevity Life Academy</a:t>
            </a:r>
            <a:endParaRPr lang="en-US" sz="2600" dirty="0"/>
          </a:p>
        </p:txBody>
      </p:sp>
      <p:sp>
        <p:nvSpPr>
          <p:cNvPr id="5" name="Text 3"/>
          <p:cNvSpPr/>
          <p:nvPr/>
        </p:nvSpPr>
        <p:spPr>
          <a:xfrm>
            <a:off x="640080" y="1572768"/>
            <a:ext cx="10911535" cy="512064"/>
          </a:xfrm>
          <a:prstGeom prst="rect">
            <a:avLst/>
          </a:prstGeom>
          <a:noFill/>
          <a:ln/>
        </p:spPr>
        <p:txBody>
          <a:bodyPr wrap="square" rtlCol="0" anchor="t"/>
          <a:lstStyle/>
          <a:p>
            <a:pPr indent="0" marL="0">
              <a:lnSpc>
                <a:spcPct val="110000"/>
              </a:lnSpc>
              <a:buNone/>
            </a:pPr>
            <a:r>
              <a:rPr lang="en-US" sz="1350" b="1" i="1" dirty="0">
                <a:solidFill>
                  <a:srgbClr val="1A1F26"/>
                </a:solidFill>
                <a:latin typeface="Calibri" pitchFamily="34" charset="0"/>
                <a:ea typeface="Calibri" pitchFamily="34" charset="-122"/>
                <a:cs typeface="Calibri" pitchFamily="34" charset="-120"/>
              </a:rPr>
              <a:t>The company that taught languages to 400,000+ learners is betting its small-class, “gym for the brain” model can crack the hardest problem in wellness — sticking with it.</a:t>
            </a:r>
            <a:endParaRPr lang="en-US" sz="1350" dirty="0"/>
          </a:p>
        </p:txBody>
      </p:sp>
      <p:sp>
        <p:nvSpPr>
          <p:cNvPr id="6" name="Shape 4"/>
          <p:cNvSpPr/>
          <p:nvPr/>
        </p:nvSpPr>
        <p:spPr>
          <a:xfrm>
            <a:off x="640080" y="2194560"/>
            <a:ext cx="10911535" cy="0"/>
          </a:xfrm>
          <a:prstGeom prst="line">
            <a:avLst/>
          </a:prstGeom>
          <a:noFill/>
          <a:ln w="12700">
            <a:solidFill>
              <a:srgbClr val="D9DDE2"/>
            </a:solidFill>
            <a:prstDash val="solid"/>
          </a:ln>
        </p:spPr>
      </p:sp>
      <p:sp>
        <p:nvSpPr>
          <p:cNvPr id="7" name="Text 5"/>
          <p:cNvSpPr/>
          <p:nvPr/>
        </p:nvSpPr>
        <p:spPr>
          <a:xfrm>
            <a:off x="64008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RAMAT GAN, Israel — eTeacher Group built its 25-year reputation on one idea: real teachers, live, in small classes, backed by short daily AI practice between sessions. With Longevity Life Academy, the company is applying that methodology to a brand-new subject — living longer.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It is a pointed answer to an industry problem. Self-guided wellness content is abundant, but completion is not; eTeacher argues that longevity, like language, is a practice that fails without persistence. Its model pairs a weekly live “anchor” session with an expert and short daily AI micro-learning — what CEO Harel Tayeb calls a “gym for the brain.”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In Longevity Life Academy, that means an 18-week live cohort of 8–15 students, 50 minutes weekly across four phases, plus guided daily experiments tied to each student's own glucose, sleep, and movement data. An Abbott Lingo continuous glucose monitor ships to every US student before Lesson 5, turning abstract lessons into personal feedback loops.</a:t>
            </a:r>
            <a:endParaRPr lang="en-US" sz="1050" dirty="0"/>
          </a:p>
        </p:txBody>
      </p:sp>
      <p:sp>
        <p:nvSpPr>
          <p:cNvPr id="8" name="Text 6"/>
          <p:cNvSpPr/>
          <p:nvPr/>
        </p:nvSpPr>
        <p:spPr>
          <a:xfrm>
            <a:off x="649224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academy runs on eTeacher's purpose-built platform and small-cohort structure — the same infrastructure behind its accredited courses with the Hebrew University of Jerusalem — taught by named instructors such as nutrition coach Courtney Donofrio and behavioral specialist Jordan Lattimore.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“In a world where excessive asynchronous learning leads to dropout and lack of commitment, eTeacher offers a ‘gym for the brain,’ keeping motivation and learning levels high, so that at the next session you can take a meaningful step forward,” Tayeb said. “Longevity is a practice, not a lecture — and that is exactly where our model wins.”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eTeacher says an AI longevity tutor and a companion practice app are on the roadmap, extending the daily-engagement layer across its five schools.</a:t>
            </a:r>
            <a:endParaRPr lang="en-US" sz="1050" dirty="0"/>
          </a:p>
        </p:txBody>
      </p:sp>
      <p:sp>
        <p:nvSpPr>
          <p:cNvPr id="9" name="Shape 7"/>
          <p:cNvSpPr/>
          <p:nvPr/>
        </p:nvSpPr>
        <p:spPr>
          <a:xfrm>
            <a:off x="640080" y="4892040"/>
            <a:ext cx="10911535" cy="1399032"/>
          </a:xfrm>
          <a:prstGeom prst="roundRect">
            <a:avLst>
              <a:gd name="adj" fmla="val 3268"/>
            </a:avLst>
          </a:prstGeom>
          <a:solidFill>
            <a:srgbClr val="0C2A43"/>
          </a:solidFill>
          <a:ln w="25400">
            <a:solidFill>
              <a:srgbClr val="C08A2E"/>
            </a:solidFill>
            <a:prstDash val="solid"/>
          </a:ln>
        </p:spPr>
      </p:sp>
      <p:sp>
        <p:nvSpPr>
          <p:cNvPr id="10" name="Shape 8"/>
          <p:cNvSpPr/>
          <p:nvPr/>
        </p:nvSpPr>
        <p:spPr>
          <a:xfrm>
            <a:off x="658368" y="4910328"/>
            <a:ext cx="10874959" cy="310896"/>
          </a:xfrm>
          <a:prstGeom prst="rect">
            <a:avLst/>
          </a:prstGeom>
          <a:solidFill>
            <a:srgbClr val="C08A2E"/>
          </a:solidFill>
          <a:ln/>
        </p:spPr>
      </p:sp>
      <p:sp>
        <p:nvSpPr>
          <p:cNvPr id="11" name="Text 9"/>
          <p:cNvSpPr/>
          <p:nvPr/>
        </p:nvSpPr>
        <p:spPr>
          <a:xfrm>
            <a:off x="841248" y="4910328"/>
            <a:ext cx="10509199" cy="310896"/>
          </a:xfrm>
          <a:prstGeom prst="rect">
            <a:avLst/>
          </a:prstGeom>
          <a:noFill/>
          <a:ln/>
        </p:spPr>
        <p:txBody>
          <a:bodyPr wrap="square" rtlCol="0" anchor="ctr"/>
          <a:lstStyle/>
          <a:p>
            <a:pPr indent="0" marL="0">
              <a:buNone/>
            </a:pPr>
            <a:r>
              <a:rPr lang="en-US" sz="900" b="1" spc="80" kern="0" dirty="0">
                <a:solidFill>
                  <a:srgbClr val="0C2A43"/>
                </a:solidFill>
                <a:latin typeface="Calibri" pitchFamily="34" charset="0"/>
                <a:ea typeface="Calibri" pitchFamily="34" charset="-122"/>
                <a:cs typeface="Calibri" pitchFamily="34" charset="-120"/>
              </a:rPr>
              <a:t>HIGHLIGHTED QUOTE  ·  HAREL TAYEB, CEO, eTeacher Group</a:t>
            </a:r>
            <a:endParaRPr lang="en-US" sz="900" dirty="0"/>
          </a:p>
        </p:txBody>
      </p:sp>
      <p:sp>
        <p:nvSpPr>
          <p:cNvPr id="12" name="Text 10"/>
          <p:cNvSpPr/>
          <p:nvPr/>
        </p:nvSpPr>
        <p:spPr>
          <a:xfrm>
            <a:off x="859536" y="5294376"/>
            <a:ext cx="10472623" cy="466344"/>
          </a:xfrm>
          <a:prstGeom prst="rect">
            <a:avLst/>
          </a:prstGeom>
          <a:noFill/>
          <a:ln/>
        </p:spPr>
        <p:txBody>
          <a:bodyPr wrap="square" rtlCol="0" anchor="t"/>
          <a:lstStyle/>
          <a:p>
            <a:pPr indent="0" marL="0">
              <a:lnSpc>
                <a:spcPct val="108000"/>
              </a:lnSpc>
              <a:buNone/>
            </a:pPr>
            <a:r>
              <a:rPr lang="en-US" sz="1150" b="1" i="1" dirty="0">
                <a:solidFill>
                  <a:srgbClr val="FFF3DA"/>
                </a:solidFill>
                <a:latin typeface="Calibri" pitchFamily="34" charset="0"/>
                <a:ea typeface="Calibri" pitchFamily="34" charset="-122"/>
                <a:cs typeface="Calibri" pitchFamily="34" charset="-120"/>
              </a:rPr>
              <a:t>“In a world where excessive asynchronous learning leads to dropout and lack of commitment, eTeacher offers a ‘gym for the brain,’ keeping motivation and learning levels high, so that at the next session you can take a meaningful step forward. Longevity is a practice, not a lecture — and that is exactly where our model wins.”</a:t>
            </a:r>
            <a:endParaRPr lang="en-US" sz="1150" dirty="0"/>
          </a:p>
        </p:txBody>
      </p:sp>
      <p:sp>
        <p:nvSpPr>
          <p:cNvPr id="13" name="Text 11"/>
          <p:cNvSpPr/>
          <p:nvPr/>
        </p:nvSpPr>
        <p:spPr>
          <a:xfrm>
            <a:off x="859536" y="5833872"/>
            <a:ext cx="10472623" cy="329184"/>
          </a:xfrm>
          <a:prstGeom prst="rect">
            <a:avLst/>
          </a:prstGeom>
          <a:noFill/>
          <a:ln/>
        </p:spPr>
        <p:txBody>
          <a:bodyPr wrap="square" rtlCol="0" anchor="b"/>
          <a:lstStyle/>
          <a:p>
            <a:pPr indent="0" marL="0">
              <a:lnSpc>
                <a:spcPct val="102000"/>
              </a:lnSpc>
              <a:buNone/>
            </a:pPr>
            <a:r>
              <a:rPr lang="en-US" sz="680" i="1" dirty="0">
                <a:solidFill>
                  <a:srgbClr val="C9B892"/>
                </a:solidFill>
                <a:latin typeface="Calibri" pitchFamily="34" charset="0"/>
                <a:ea typeface="Calibri" pitchFamily="34" charset="-122"/>
                <a:cs typeface="Calibri" pitchFamily="34" charset="-120"/>
              </a:rPr>
              <a:t>Sentence 1 is verbatim from TheMarker Labels (1 Feb 2026), Q4. Sentence 2 is the one voice-matched new line applying the method to longevity — flagged for CEO approval.</a:t>
            </a:r>
            <a:endParaRPr lang="en-US" sz="68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0C2A43"/>
                </a:solidFill>
                <a:latin typeface="Calibri" pitchFamily="34" charset="0"/>
                <a:ea typeface="Calibri" pitchFamily="34" charset="-122"/>
                <a:cs typeface="Calibri" pitchFamily="34" charset="-120"/>
              </a:rPr>
              <a:t>ARTICLE 1.3   ·   </a:t>
            </a:r>
            <a:pPr indent="0" marL="0">
              <a:buNone/>
            </a:pPr>
            <a:r>
              <a:rPr lang="en-US" sz="1050" b="1" spc="150" kern="0" dirty="0">
                <a:solidFill>
                  <a:srgbClr val="5C6672"/>
                </a:solidFill>
                <a:latin typeface="Calibri" pitchFamily="34" charset="0"/>
                <a:ea typeface="Calibri" pitchFamily="34" charset="-122"/>
                <a:cs typeface="Calibri" pitchFamily="34" charset="-120"/>
              </a:rPr>
              <a:t>BUSINESS / MARKET-ENTRY — THE GAP BETWEEN $2M CLINICS AND FREE ADVICE</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0C2A43"/>
                </a:solidFill>
                <a:latin typeface="Calibri" pitchFamily="34" charset="0"/>
                <a:ea typeface="Calibri" pitchFamily="34" charset="-122"/>
                <a:cs typeface="Calibri" pitchFamily="34" charset="-120"/>
              </a:rPr>
              <a:t>Bloomberg / Business Insider / CNBC</a:t>
            </a:r>
            <a:endParaRPr lang="en-US" sz="950" dirty="0"/>
          </a:p>
        </p:txBody>
      </p:sp>
      <p:sp>
        <p:nvSpPr>
          <p:cNvPr id="4" name="Text 2"/>
          <p:cNvSpPr/>
          <p:nvPr/>
        </p:nvSpPr>
        <p:spPr>
          <a:xfrm>
            <a:off x="640080" y="603504"/>
            <a:ext cx="10911535" cy="896112"/>
          </a:xfrm>
          <a:prstGeom prst="rect">
            <a:avLst/>
          </a:prstGeom>
          <a:noFill/>
          <a:ln/>
        </p:spPr>
        <p:txBody>
          <a:bodyPr wrap="square" rtlCol="0" anchor="t"/>
          <a:lstStyle/>
          <a:p>
            <a:pPr indent="0" marL="0">
              <a:lnSpc>
                <a:spcPct val="96000"/>
              </a:lnSpc>
              <a:buNone/>
            </a:pPr>
            <a:r>
              <a:rPr lang="en-US" sz="2600" b="1" dirty="0">
                <a:solidFill>
                  <a:srgbClr val="0C2A43"/>
                </a:solidFill>
                <a:latin typeface="Cambria" pitchFamily="34" charset="0"/>
                <a:ea typeface="Cambria" pitchFamily="34" charset="-122"/>
                <a:cs typeface="Cambria" pitchFamily="34" charset="-120"/>
              </a:rPr>
              <a:t>eTeacher Launches Longevity Life Academy to Serve the Middle of the $8 Trillion Longevity Market</a:t>
            </a:r>
            <a:endParaRPr lang="en-US" sz="2600" dirty="0"/>
          </a:p>
        </p:txBody>
      </p:sp>
      <p:sp>
        <p:nvSpPr>
          <p:cNvPr id="5" name="Text 3"/>
          <p:cNvSpPr/>
          <p:nvPr/>
        </p:nvSpPr>
        <p:spPr>
          <a:xfrm>
            <a:off x="640080" y="1572768"/>
            <a:ext cx="10911535" cy="512064"/>
          </a:xfrm>
          <a:prstGeom prst="rect">
            <a:avLst/>
          </a:prstGeom>
          <a:noFill/>
          <a:ln/>
        </p:spPr>
        <p:txBody>
          <a:bodyPr wrap="square" rtlCol="0" anchor="t"/>
          <a:lstStyle/>
          <a:p>
            <a:pPr indent="0" marL="0">
              <a:lnSpc>
                <a:spcPct val="110000"/>
              </a:lnSpc>
              <a:buNone/>
            </a:pPr>
            <a:r>
              <a:rPr lang="en-US" sz="1350" b="1" i="1" dirty="0">
                <a:solidFill>
                  <a:srgbClr val="1A1F26"/>
                </a:solidFill>
                <a:latin typeface="Calibri" pitchFamily="34" charset="0"/>
                <a:ea typeface="Calibri" pitchFamily="34" charset="-122"/>
                <a:cs typeface="Calibri" pitchFamily="34" charset="-120"/>
              </a:rPr>
              <a:t>With 70% of its customers already in the US, eTeacher is positioning Longevity Life Academy in the underserved middle of an $8 trillion market, starting at $289 a month.</a:t>
            </a:r>
            <a:endParaRPr lang="en-US" sz="1350" dirty="0"/>
          </a:p>
        </p:txBody>
      </p:sp>
      <p:sp>
        <p:nvSpPr>
          <p:cNvPr id="6" name="Shape 4"/>
          <p:cNvSpPr/>
          <p:nvPr/>
        </p:nvSpPr>
        <p:spPr>
          <a:xfrm>
            <a:off x="640080" y="2194560"/>
            <a:ext cx="10911535" cy="0"/>
          </a:xfrm>
          <a:prstGeom prst="line">
            <a:avLst/>
          </a:prstGeom>
          <a:noFill/>
          <a:ln w="12700">
            <a:solidFill>
              <a:srgbClr val="D9DDE2"/>
            </a:solidFill>
            <a:prstDash val="solid"/>
          </a:ln>
        </p:spPr>
      </p:sp>
      <p:sp>
        <p:nvSpPr>
          <p:cNvPr id="7" name="Text 5"/>
          <p:cNvSpPr/>
          <p:nvPr/>
        </p:nvSpPr>
        <p:spPr>
          <a:xfrm>
            <a:off x="64008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RAMAT GAN, Israel — eTeacher Group is entering one of consumer health's fastest-growing categories, launching Longevity Life Academy to occupy a gap its CEO argues no one serves well: the space between expensive concierge clinics and free, unverified online advice.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opportunity is large and split. UBS values the longevity market at $5.3 trillion in 2023, rising toward $8 trillion by 2030, while the narrower healthspan-product market is estimated at $25 billion-plus today, growing toward roughly $63 billion by 2035, per Market Research Future. Yet affordability and rigor rarely coexist in one offering.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eTeacher enters with advantages rivals would take years to build: roughly 70% of its customers are already in the US, it runs a proven billing and retention engine (payments partner Nuvei), and it has 25 years operating small live cohorts at global scale — 400,000+ courses across nearly 200 countries.</a:t>
            </a:r>
            <a:endParaRPr lang="en-US" sz="1050" dirty="0"/>
          </a:p>
        </p:txBody>
      </p:sp>
      <p:sp>
        <p:nvSpPr>
          <p:cNvPr id="8" name="Text 6"/>
          <p:cNvSpPr/>
          <p:nvPr/>
        </p:nvSpPr>
        <p:spPr>
          <a:xfrm>
            <a:off x="649224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Its flagship Longevity Blueprint starts at $289 per month and includes all 18 live sessions, the learning platform, and an Abbott Lingo continuous glucose monitor shipped to the student's US home — a bundle priced for the mainstream, not the wealthy.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“Israel is well known in cyber and technology, but in edtech — which combines technology with education — it is still not at center stage. My vision is to turn eTeacher into the ‘Wiz’ of the education world,” said CEO Harel Tayeb. “Longevity is where that vision meets the largest consumer opportunity of our time.”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eTeacher plans to broaden the catalog with additional longevity courses over the coming year, deepening its position in the mainstream tier of the market.</a:t>
            </a:r>
            <a:endParaRPr lang="en-US" sz="1050" dirty="0"/>
          </a:p>
        </p:txBody>
      </p:sp>
      <p:sp>
        <p:nvSpPr>
          <p:cNvPr id="9" name="Shape 7"/>
          <p:cNvSpPr/>
          <p:nvPr/>
        </p:nvSpPr>
        <p:spPr>
          <a:xfrm>
            <a:off x="640080" y="4892040"/>
            <a:ext cx="10911535" cy="1399032"/>
          </a:xfrm>
          <a:prstGeom prst="roundRect">
            <a:avLst>
              <a:gd name="adj" fmla="val 3268"/>
            </a:avLst>
          </a:prstGeom>
          <a:solidFill>
            <a:srgbClr val="0C2A43"/>
          </a:solidFill>
          <a:ln w="25400">
            <a:solidFill>
              <a:srgbClr val="C08A2E"/>
            </a:solidFill>
            <a:prstDash val="solid"/>
          </a:ln>
        </p:spPr>
      </p:sp>
      <p:sp>
        <p:nvSpPr>
          <p:cNvPr id="10" name="Shape 8"/>
          <p:cNvSpPr/>
          <p:nvPr/>
        </p:nvSpPr>
        <p:spPr>
          <a:xfrm>
            <a:off x="658368" y="4910328"/>
            <a:ext cx="10874959" cy="310896"/>
          </a:xfrm>
          <a:prstGeom prst="rect">
            <a:avLst/>
          </a:prstGeom>
          <a:solidFill>
            <a:srgbClr val="C08A2E"/>
          </a:solidFill>
          <a:ln/>
        </p:spPr>
      </p:sp>
      <p:sp>
        <p:nvSpPr>
          <p:cNvPr id="11" name="Text 9"/>
          <p:cNvSpPr/>
          <p:nvPr/>
        </p:nvSpPr>
        <p:spPr>
          <a:xfrm>
            <a:off x="841248" y="4910328"/>
            <a:ext cx="10509199" cy="310896"/>
          </a:xfrm>
          <a:prstGeom prst="rect">
            <a:avLst/>
          </a:prstGeom>
          <a:noFill/>
          <a:ln/>
        </p:spPr>
        <p:txBody>
          <a:bodyPr wrap="square" rtlCol="0" anchor="ctr"/>
          <a:lstStyle/>
          <a:p>
            <a:pPr indent="0" marL="0">
              <a:buNone/>
            </a:pPr>
            <a:r>
              <a:rPr lang="en-US" sz="900" b="1" spc="80" kern="0" dirty="0">
                <a:solidFill>
                  <a:srgbClr val="0C2A43"/>
                </a:solidFill>
                <a:latin typeface="Calibri" pitchFamily="34" charset="0"/>
                <a:ea typeface="Calibri" pitchFamily="34" charset="-122"/>
                <a:cs typeface="Calibri" pitchFamily="34" charset="-120"/>
              </a:rPr>
              <a:t>HIGHLIGHTED QUOTE  ·  HAREL TAYEB, CEO, eTeacher Group</a:t>
            </a:r>
            <a:endParaRPr lang="en-US" sz="900" dirty="0"/>
          </a:p>
        </p:txBody>
      </p:sp>
      <p:sp>
        <p:nvSpPr>
          <p:cNvPr id="12" name="Text 10"/>
          <p:cNvSpPr/>
          <p:nvPr/>
        </p:nvSpPr>
        <p:spPr>
          <a:xfrm>
            <a:off x="859536" y="5294376"/>
            <a:ext cx="10472623" cy="466344"/>
          </a:xfrm>
          <a:prstGeom prst="rect">
            <a:avLst/>
          </a:prstGeom>
          <a:noFill/>
          <a:ln/>
        </p:spPr>
        <p:txBody>
          <a:bodyPr wrap="square" rtlCol="0" anchor="t"/>
          <a:lstStyle/>
          <a:p>
            <a:pPr indent="0" marL="0">
              <a:lnSpc>
                <a:spcPct val="108000"/>
              </a:lnSpc>
              <a:buNone/>
            </a:pPr>
            <a:r>
              <a:rPr lang="en-US" sz="1150" b="1" i="1" dirty="0">
                <a:solidFill>
                  <a:srgbClr val="FFF3DA"/>
                </a:solidFill>
                <a:latin typeface="Calibri" pitchFamily="34" charset="0"/>
                <a:ea typeface="Calibri" pitchFamily="34" charset="-122"/>
                <a:cs typeface="Calibri" pitchFamily="34" charset="-120"/>
              </a:rPr>
              <a:t>“Israel is well known in cyber and technology, but in edtech — which combines technology with education — it is still not at center stage. My vision is to turn eTeacher into the ‘Wiz’ of the education world. Longevity is where that vision meets the largest consumer opportunity of our time.”</a:t>
            </a:r>
            <a:endParaRPr lang="en-US" sz="1150" dirty="0"/>
          </a:p>
        </p:txBody>
      </p:sp>
      <p:sp>
        <p:nvSpPr>
          <p:cNvPr id="13" name="Text 11"/>
          <p:cNvSpPr/>
          <p:nvPr/>
        </p:nvSpPr>
        <p:spPr>
          <a:xfrm>
            <a:off x="859536" y="5833872"/>
            <a:ext cx="10472623" cy="329184"/>
          </a:xfrm>
          <a:prstGeom prst="rect">
            <a:avLst/>
          </a:prstGeom>
          <a:noFill/>
          <a:ln/>
        </p:spPr>
        <p:txBody>
          <a:bodyPr wrap="square" rtlCol="0" anchor="b"/>
          <a:lstStyle/>
          <a:p>
            <a:pPr indent="0" marL="0">
              <a:lnSpc>
                <a:spcPct val="102000"/>
              </a:lnSpc>
              <a:buNone/>
            </a:pPr>
            <a:r>
              <a:rPr lang="en-US" sz="680" i="1" dirty="0">
                <a:solidFill>
                  <a:srgbClr val="C9B892"/>
                </a:solidFill>
                <a:latin typeface="Calibri" pitchFamily="34" charset="0"/>
                <a:ea typeface="Calibri" pitchFamily="34" charset="-122"/>
                <a:cs typeface="Calibri" pitchFamily="34" charset="-120"/>
              </a:rPr>
              <a:t>Sentences 1–2 are verbatim from TheMarker Labels (1 Feb 2026), Q8. Sentence 3 is the one voice-matched new line tying the vision to longevity — flagged for CEO approval.</a:t>
            </a:r>
            <a:endParaRPr lang="en-US" sz="68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0C2A43"/>
                </a:solidFill>
                <a:latin typeface="Calibri" pitchFamily="34" charset="0"/>
                <a:ea typeface="Calibri" pitchFamily="34" charset="-122"/>
                <a:cs typeface="Calibri" pitchFamily="34" charset="-120"/>
              </a:rPr>
              <a:t>ARTICLE 1.4   ·   </a:t>
            </a:r>
            <a:pPr indent="0" marL="0">
              <a:buNone/>
            </a:pPr>
            <a:r>
              <a:rPr lang="en-US" sz="1050" b="1" spc="150" kern="0" dirty="0">
                <a:solidFill>
                  <a:srgbClr val="5C6672"/>
                </a:solidFill>
                <a:latin typeface="Calibri" pitchFamily="34" charset="0"/>
                <a:ea typeface="Calibri" pitchFamily="34" charset="-122"/>
                <a:cs typeface="Calibri" pitchFamily="34" charset="-120"/>
              </a:rPr>
              <a:t>HEALTH / LONGEVITY VERTICAL — CGM IN EVERY HAND, BIOMARKER-DRIVEN</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0C2A43"/>
                </a:solidFill>
                <a:latin typeface="Calibri" pitchFamily="34" charset="0"/>
                <a:ea typeface="Calibri" pitchFamily="34" charset="-122"/>
                <a:cs typeface="Calibri" pitchFamily="34" charset="-120"/>
              </a:rPr>
              <a:t>Longevity.Technology / Fierce Healthcare / MedCity News</a:t>
            </a:r>
            <a:endParaRPr lang="en-US" sz="950" dirty="0"/>
          </a:p>
        </p:txBody>
      </p:sp>
      <p:sp>
        <p:nvSpPr>
          <p:cNvPr id="4" name="Text 2"/>
          <p:cNvSpPr/>
          <p:nvPr/>
        </p:nvSpPr>
        <p:spPr>
          <a:xfrm>
            <a:off x="640080" y="603504"/>
            <a:ext cx="10911535" cy="896112"/>
          </a:xfrm>
          <a:prstGeom prst="rect">
            <a:avLst/>
          </a:prstGeom>
          <a:noFill/>
          <a:ln/>
        </p:spPr>
        <p:txBody>
          <a:bodyPr wrap="square" rtlCol="0" anchor="t"/>
          <a:lstStyle/>
          <a:p>
            <a:pPr indent="0" marL="0">
              <a:lnSpc>
                <a:spcPct val="96000"/>
              </a:lnSpc>
              <a:buNone/>
            </a:pPr>
            <a:r>
              <a:rPr lang="en-US" sz="2600" b="1" dirty="0">
                <a:solidFill>
                  <a:srgbClr val="0C2A43"/>
                </a:solidFill>
                <a:latin typeface="Cambria" pitchFamily="34" charset="0"/>
                <a:ea typeface="Cambria" pitchFamily="34" charset="-122"/>
                <a:cs typeface="Cambria" pitchFamily="34" charset="-120"/>
              </a:rPr>
              <a:t>Longevity Life Academy Puts a Continuous Glucose Monitor in Every Student's Hands</a:t>
            </a:r>
            <a:endParaRPr lang="en-US" sz="2600" dirty="0"/>
          </a:p>
        </p:txBody>
      </p:sp>
      <p:sp>
        <p:nvSpPr>
          <p:cNvPr id="5" name="Text 3"/>
          <p:cNvSpPr/>
          <p:nvPr/>
        </p:nvSpPr>
        <p:spPr>
          <a:xfrm>
            <a:off x="640080" y="1572768"/>
            <a:ext cx="10911535" cy="512064"/>
          </a:xfrm>
          <a:prstGeom prst="rect">
            <a:avLst/>
          </a:prstGeom>
          <a:noFill/>
          <a:ln/>
        </p:spPr>
        <p:txBody>
          <a:bodyPr wrap="square" rtlCol="0" anchor="t"/>
          <a:lstStyle/>
          <a:p>
            <a:pPr indent="0" marL="0">
              <a:lnSpc>
                <a:spcPct val="110000"/>
              </a:lnSpc>
              <a:buNone/>
            </a:pPr>
            <a:r>
              <a:rPr lang="en-US" sz="1350" b="1" i="1" dirty="0">
                <a:solidFill>
                  <a:srgbClr val="1A1F26"/>
                </a:solidFill>
                <a:latin typeface="Calibri" pitchFamily="34" charset="0"/>
                <a:ea typeface="Calibri" pitchFamily="34" charset="-122"/>
                <a:cs typeface="Calibri" pitchFamily="34" charset="-120"/>
              </a:rPr>
              <a:t>eTeacher's new school makes personal biomarker data — not generic advice — the core of an 18-week, six-pillar curriculum.</a:t>
            </a:r>
            <a:endParaRPr lang="en-US" sz="1350" dirty="0"/>
          </a:p>
        </p:txBody>
      </p:sp>
      <p:sp>
        <p:nvSpPr>
          <p:cNvPr id="6" name="Shape 4"/>
          <p:cNvSpPr/>
          <p:nvPr/>
        </p:nvSpPr>
        <p:spPr>
          <a:xfrm>
            <a:off x="640080" y="2194560"/>
            <a:ext cx="10911535" cy="0"/>
          </a:xfrm>
          <a:prstGeom prst="line">
            <a:avLst/>
          </a:prstGeom>
          <a:noFill/>
          <a:ln w="12700">
            <a:solidFill>
              <a:srgbClr val="D9DDE2"/>
            </a:solidFill>
            <a:prstDash val="solid"/>
          </a:ln>
        </p:spPr>
      </p:sp>
      <p:sp>
        <p:nvSpPr>
          <p:cNvPr id="7" name="Text 5"/>
          <p:cNvSpPr/>
          <p:nvPr/>
        </p:nvSpPr>
        <p:spPr>
          <a:xfrm>
            <a:off x="64008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RAMAT GAN, Israel — Longevity Life Academy is built on a Medicine 3.0 premise: your protocol should come from your own biology, not a generic checklist. To make that concrete, eTeacher Group is shipping an Abbott Lingo continuous glucose monitor, plus full Lingo app access, to every student — included with the course and arriving before the CGM module in Lesson 5.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That biomarker-first design sets the program apart. Where much longevity content offers one-size-fits-all rules, LLA teaches across six pillars — Nutrition, Sleep, Exercise &amp; Movement, Supplements &amp; Wearables, Stress Management, and a personal Longevity Protocol — with students reading their own glucose, HRV, and sleep data as a live feedback loop.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18-week structure moves through four phases, from Foundation to a written Blueprint tested against each student's body, in live cohorts of 8–15. Instruction comes from named practitioners including researcher Natalie Blackbourne and UC Santa Barbara senior lecturer and NASM-certified trainer Amy Jamieson.</a:t>
            </a:r>
            <a:endParaRPr lang="en-US" sz="1050" dirty="0"/>
          </a:p>
        </p:txBody>
      </p:sp>
      <p:sp>
        <p:nvSpPr>
          <p:cNvPr id="8" name="Text 6"/>
          <p:cNvSpPr/>
          <p:nvPr/>
        </p:nvSpPr>
        <p:spPr>
          <a:xfrm>
            <a:off x="649224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Lingo device is a 14-day, painless biosensor, available without a prescription and FSA/HSA-eligible; it is intended for adults 18+, is not for insulin users, and is not a diagnostic tool — grounding the curriculum in real data.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“We want to keep the mind and body active and vital in a world where technology may cause cognitive atrophy,” said CEO Harel Tayeb. “Generic health advice ends where personal data begins — so we put a glucose monitor in every student's hands and teach them to build a protocol from their own biology.”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eTeacher says wearable integration will deepen as its longevity courses expand over the coming year, with advanced biomarker content on the roadmap.</a:t>
            </a:r>
            <a:endParaRPr lang="en-US" sz="1050" dirty="0"/>
          </a:p>
        </p:txBody>
      </p:sp>
      <p:sp>
        <p:nvSpPr>
          <p:cNvPr id="9" name="Shape 7"/>
          <p:cNvSpPr/>
          <p:nvPr/>
        </p:nvSpPr>
        <p:spPr>
          <a:xfrm>
            <a:off x="640080" y="4892040"/>
            <a:ext cx="10911535" cy="1399032"/>
          </a:xfrm>
          <a:prstGeom prst="roundRect">
            <a:avLst>
              <a:gd name="adj" fmla="val 3268"/>
            </a:avLst>
          </a:prstGeom>
          <a:solidFill>
            <a:srgbClr val="0C2A43"/>
          </a:solidFill>
          <a:ln w="25400">
            <a:solidFill>
              <a:srgbClr val="C08A2E"/>
            </a:solidFill>
            <a:prstDash val="solid"/>
          </a:ln>
        </p:spPr>
      </p:sp>
      <p:sp>
        <p:nvSpPr>
          <p:cNvPr id="10" name="Shape 8"/>
          <p:cNvSpPr/>
          <p:nvPr/>
        </p:nvSpPr>
        <p:spPr>
          <a:xfrm>
            <a:off x="658368" y="4910328"/>
            <a:ext cx="10874959" cy="310896"/>
          </a:xfrm>
          <a:prstGeom prst="rect">
            <a:avLst/>
          </a:prstGeom>
          <a:solidFill>
            <a:srgbClr val="C08A2E"/>
          </a:solidFill>
          <a:ln/>
        </p:spPr>
      </p:sp>
      <p:sp>
        <p:nvSpPr>
          <p:cNvPr id="11" name="Text 9"/>
          <p:cNvSpPr/>
          <p:nvPr/>
        </p:nvSpPr>
        <p:spPr>
          <a:xfrm>
            <a:off x="841248" y="4910328"/>
            <a:ext cx="10509199" cy="310896"/>
          </a:xfrm>
          <a:prstGeom prst="rect">
            <a:avLst/>
          </a:prstGeom>
          <a:noFill/>
          <a:ln/>
        </p:spPr>
        <p:txBody>
          <a:bodyPr wrap="square" rtlCol="0" anchor="ctr"/>
          <a:lstStyle/>
          <a:p>
            <a:pPr indent="0" marL="0">
              <a:buNone/>
            </a:pPr>
            <a:r>
              <a:rPr lang="en-US" sz="900" b="1" spc="80" kern="0" dirty="0">
                <a:solidFill>
                  <a:srgbClr val="0C2A43"/>
                </a:solidFill>
                <a:latin typeface="Calibri" pitchFamily="34" charset="0"/>
                <a:ea typeface="Calibri" pitchFamily="34" charset="-122"/>
                <a:cs typeface="Calibri" pitchFamily="34" charset="-120"/>
              </a:rPr>
              <a:t>HIGHLIGHTED QUOTE  ·  HAREL TAYEB, CEO, eTeacher Group</a:t>
            </a:r>
            <a:endParaRPr lang="en-US" sz="900" dirty="0"/>
          </a:p>
        </p:txBody>
      </p:sp>
      <p:sp>
        <p:nvSpPr>
          <p:cNvPr id="12" name="Text 10"/>
          <p:cNvSpPr/>
          <p:nvPr/>
        </p:nvSpPr>
        <p:spPr>
          <a:xfrm>
            <a:off x="859536" y="5294376"/>
            <a:ext cx="10472623" cy="466344"/>
          </a:xfrm>
          <a:prstGeom prst="rect">
            <a:avLst/>
          </a:prstGeom>
          <a:noFill/>
          <a:ln/>
        </p:spPr>
        <p:txBody>
          <a:bodyPr wrap="square" rtlCol="0" anchor="t"/>
          <a:lstStyle/>
          <a:p>
            <a:pPr indent="0" marL="0">
              <a:lnSpc>
                <a:spcPct val="108000"/>
              </a:lnSpc>
              <a:buNone/>
            </a:pPr>
            <a:r>
              <a:rPr lang="en-US" sz="1150" b="1" i="1" dirty="0">
                <a:solidFill>
                  <a:srgbClr val="FFF3DA"/>
                </a:solidFill>
                <a:latin typeface="Calibri" pitchFamily="34" charset="0"/>
                <a:ea typeface="Calibri" pitchFamily="34" charset="-122"/>
                <a:cs typeface="Calibri" pitchFamily="34" charset="-120"/>
              </a:rPr>
              <a:t>“We want to keep the mind and body active and vital in a world where technology may cause cognitive atrophy. Generic health advice ends where personal data begins — so we put a glucose monitor in every student's hands and teach them to build a protocol from their own biology.”</a:t>
            </a:r>
            <a:endParaRPr lang="en-US" sz="1150" dirty="0"/>
          </a:p>
        </p:txBody>
      </p:sp>
      <p:sp>
        <p:nvSpPr>
          <p:cNvPr id="13" name="Text 11"/>
          <p:cNvSpPr/>
          <p:nvPr/>
        </p:nvSpPr>
        <p:spPr>
          <a:xfrm>
            <a:off x="859536" y="5833872"/>
            <a:ext cx="10472623" cy="329184"/>
          </a:xfrm>
          <a:prstGeom prst="rect">
            <a:avLst/>
          </a:prstGeom>
          <a:noFill/>
          <a:ln/>
        </p:spPr>
        <p:txBody>
          <a:bodyPr wrap="square" rtlCol="0" anchor="b"/>
          <a:lstStyle/>
          <a:p>
            <a:pPr indent="0" marL="0">
              <a:lnSpc>
                <a:spcPct val="102000"/>
              </a:lnSpc>
              <a:buNone/>
            </a:pPr>
            <a:r>
              <a:rPr lang="en-US" sz="680" i="1" dirty="0">
                <a:solidFill>
                  <a:srgbClr val="C9B892"/>
                </a:solidFill>
                <a:latin typeface="Calibri" pitchFamily="34" charset="0"/>
                <a:ea typeface="Calibri" pitchFamily="34" charset="-122"/>
                <a:cs typeface="Calibri" pitchFamily="34" charset="-120"/>
              </a:rPr>
              <a:t>Sentence 1 adapts his verbatim “active and vital / cognitive atrophy” language from TheMarker Labels (1 Feb 2026), Q9. Sentence 2 is the one voice-matched new line — flagged for CEO approval.</a:t>
            </a:r>
            <a:endParaRPr lang="en-US" sz="68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0C2A43"/>
                </a:solidFill>
                <a:latin typeface="Calibri" pitchFamily="34" charset="0"/>
                <a:ea typeface="Calibri" pitchFamily="34" charset="-122"/>
                <a:cs typeface="Calibri" pitchFamily="34" charset="-120"/>
              </a:rPr>
              <a:t>ARTICLE 1.5   ·   </a:t>
            </a:r>
            <a:pPr indent="0" marL="0">
              <a:buNone/>
            </a:pPr>
            <a:r>
              <a:rPr lang="en-US" sz="1050" b="1" spc="150" kern="0" dirty="0">
                <a:solidFill>
                  <a:srgbClr val="5C6672"/>
                </a:solidFill>
                <a:latin typeface="Calibri" pitchFamily="34" charset="0"/>
                <a:ea typeface="Calibri" pitchFamily="34" charset="-122"/>
                <a:cs typeface="Calibri" pitchFamily="34" charset="-120"/>
              </a:rPr>
              <a:t>ISRAEL INNOVATION-NATION — “WIZ OF EDTECH” + ISRAEL IMAGE</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0C2A43"/>
                </a:solidFill>
                <a:latin typeface="Calibri" pitchFamily="34" charset="0"/>
                <a:ea typeface="Calibri" pitchFamily="34" charset="-122"/>
                <a:cs typeface="Calibri" pitchFamily="34" charset="-120"/>
              </a:rPr>
              <a:t>TheMarker / Calcalist / Globes / Times of Israel</a:t>
            </a:r>
            <a:endParaRPr lang="en-US" sz="950" dirty="0"/>
          </a:p>
        </p:txBody>
      </p:sp>
      <p:sp>
        <p:nvSpPr>
          <p:cNvPr id="4" name="Text 2"/>
          <p:cNvSpPr/>
          <p:nvPr/>
        </p:nvSpPr>
        <p:spPr>
          <a:xfrm>
            <a:off x="640080" y="603504"/>
            <a:ext cx="10911535" cy="896112"/>
          </a:xfrm>
          <a:prstGeom prst="rect">
            <a:avLst/>
          </a:prstGeom>
          <a:noFill/>
          <a:ln/>
        </p:spPr>
        <p:txBody>
          <a:bodyPr wrap="square" rtlCol="0" anchor="t"/>
          <a:lstStyle/>
          <a:p>
            <a:pPr indent="0" marL="0">
              <a:lnSpc>
                <a:spcPct val="96000"/>
              </a:lnSpc>
              <a:buNone/>
            </a:pPr>
            <a:r>
              <a:rPr lang="en-US" sz="2600" b="1" dirty="0">
                <a:solidFill>
                  <a:srgbClr val="0C2A43"/>
                </a:solidFill>
                <a:latin typeface="Cambria" pitchFamily="34" charset="0"/>
                <a:ea typeface="Cambria" pitchFamily="34" charset="-122"/>
                <a:cs typeface="Cambria" pitchFamily="34" charset="-120"/>
              </a:rPr>
              <a:t>Israel's 25-Year-Old eTeacher Group Opens Longevity Life Academy, Its Fifth Online School</a:t>
            </a:r>
            <a:endParaRPr lang="en-US" sz="2600" dirty="0"/>
          </a:p>
        </p:txBody>
      </p:sp>
      <p:sp>
        <p:nvSpPr>
          <p:cNvPr id="5" name="Text 3"/>
          <p:cNvSpPr/>
          <p:nvPr/>
        </p:nvSpPr>
        <p:spPr>
          <a:xfrm>
            <a:off x="640080" y="1572768"/>
            <a:ext cx="10911535" cy="512064"/>
          </a:xfrm>
          <a:prstGeom prst="rect">
            <a:avLst/>
          </a:prstGeom>
          <a:noFill/>
          <a:ln/>
        </p:spPr>
        <p:txBody>
          <a:bodyPr wrap="square" rtlCol="0" anchor="t"/>
          <a:lstStyle/>
          <a:p>
            <a:pPr indent="0" marL="0">
              <a:lnSpc>
                <a:spcPct val="110000"/>
              </a:lnSpc>
              <a:buNone/>
            </a:pPr>
            <a:r>
              <a:rPr lang="en-US" sz="1350" b="1" i="1" dirty="0">
                <a:solidFill>
                  <a:srgbClr val="1A1F26"/>
                </a:solidFill>
                <a:latin typeface="Calibri" pitchFamily="34" charset="0"/>
                <a:ea typeface="Calibri" pitchFamily="34" charset="-122"/>
                <a:cs typeface="Calibri" pitchFamily="34" charset="-120"/>
              </a:rPr>
              <a:t>The company behind five global online schools — and an ambition to become the “Wiz of edtech” — brings Israeli education technology to the world's fastest-growing wellness market.</a:t>
            </a:r>
            <a:endParaRPr lang="en-US" sz="1350" dirty="0"/>
          </a:p>
        </p:txBody>
      </p:sp>
      <p:sp>
        <p:nvSpPr>
          <p:cNvPr id="6" name="Shape 4"/>
          <p:cNvSpPr/>
          <p:nvPr/>
        </p:nvSpPr>
        <p:spPr>
          <a:xfrm>
            <a:off x="640080" y="2194560"/>
            <a:ext cx="10911535" cy="0"/>
          </a:xfrm>
          <a:prstGeom prst="line">
            <a:avLst/>
          </a:prstGeom>
          <a:noFill/>
          <a:ln w="12700">
            <a:solidFill>
              <a:srgbClr val="D9DDE2"/>
            </a:solidFill>
            <a:prstDash val="solid"/>
          </a:ln>
        </p:spPr>
      </p:sp>
      <p:sp>
        <p:nvSpPr>
          <p:cNvPr id="7" name="Text 5"/>
          <p:cNvSpPr/>
          <p:nvPr/>
        </p:nvSpPr>
        <p:spPr>
          <a:xfrm>
            <a:off x="64008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RAMAT GAN, Israel — eTeacher Group, the 25-year-old Israeli education company profiled by TheMarker earlier this year, is extending its “Wiz of edtech” ambition into longevity with the launch of Longevity Life Academy, its fifth online school.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move plants an Israeli flag in a category UBS projects will reach $8 trillion by 2030. eTeacher already serves more than 10,000 learners a year across five schools — from Biblical Hebrew and modern Hebrew to French culture — and now healthspan, with roughly 70% of its customers in the United States.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eTeacher's differentiator is a model built in Israel and exported worldwide: live experts in small groups of 8–15, paired with AI micro-learning, and courses developed in an academic-partnership tradition that includes the Hebrew University of Jerusalem. In longevity, that method anchors an 18-week live program with an Abbott Lingo glucose monitor shipped to every US student.</a:t>
            </a:r>
            <a:endParaRPr lang="en-US" sz="1050" dirty="0"/>
          </a:p>
        </p:txBody>
      </p:sp>
      <p:sp>
        <p:nvSpPr>
          <p:cNvPr id="8" name="Text 6"/>
          <p:cNvSpPr/>
          <p:nvPr/>
        </p:nvSpPr>
        <p:spPr>
          <a:xfrm>
            <a:off x="649224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For CEO Harel Tayeb, the company's global reach is also a form of soft power. He has described how eTeacher's work abroad “generates discourse about our deep roots” and creates “positive sentiment and wonderful image reinforcement for Israel.”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“Our aspiration is to be the leading platform for meaningful and personalized learning for the adult audience — to keep the mind active and vital in a world where technology may cause cognitive atrophy,” Tayeb said. “Longevity is the most human expression of that mission.”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eTeacher says a companion practice app and additional longevity courses are on the roadmap for the coming year, deepening the school's Israeli-built technology stack.</a:t>
            </a:r>
            <a:endParaRPr lang="en-US" sz="1050" dirty="0"/>
          </a:p>
        </p:txBody>
      </p:sp>
      <p:sp>
        <p:nvSpPr>
          <p:cNvPr id="9" name="Shape 7"/>
          <p:cNvSpPr/>
          <p:nvPr/>
        </p:nvSpPr>
        <p:spPr>
          <a:xfrm>
            <a:off x="640080" y="4892040"/>
            <a:ext cx="10911535" cy="1399032"/>
          </a:xfrm>
          <a:prstGeom prst="roundRect">
            <a:avLst>
              <a:gd name="adj" fmla="val 3268"/>
            </a:avLst>
          </a:prstGeom>
          <a:solidFill>
            <a:srgbClr val="0C2A43"/>
          </a:solidFill>
          <a:ln w="25400">
            <a:solidFill>
              <a:srgbClr val="C08A2E"/>
            </a:solidFill>
            <a:prstDash val="solid"/>
          </a:ln>
        </p:spPr>
      </p:sp>
      <p:sp>
        <p:nvSpPr>
          <p:cNvPr id="10" name="Shape 8"/>
          <p:cNvSpPr/>
          <p:nvPr/>
        </p:nvSpPr>
        <p:spPr>
          <a:xfrm>
            <a:off x="658368" y="4910328"/>
            <a:ext cx="10874959" cy="310896"/>
          </a:xfrm>
          <a:prstGeom prst="rect">
            <a:avLst/>
          </a:prstGeom>
          <a:solidFill>
            <a:srgbClr val="C08A2E"/>
          </a:solidFill>
          <a:ln/>
        </p:spPr>
      </p:sp>
      <p:sp>
        <p:nvSpPr>
          <p:cNvPr id="11" name="Text 9"/>
          <p:cNvSpPr/>
          <p:nvPr/>
        </p:nvSpPr>
        <p:spPr>
          <a:xfrm>
            <a:off x="841248" y="4910328"/>
            <a:ext cx="10509199" cy="310896"/>
          </a:xfrm>
          <a:prstGeom prst="rect">
            <a:avLst/>
          </a:prstGeom>
          <a:noFill/>
          <a:ln/>
        </p:spPr>
        <p:txBody>
          <a:bodyPr wrap="square" rtlCol="0" anchor="ctr"/>
          <a:lstStyle/>
          <a:p>
            <a:pPr indent="0" marL="0">
              <a:buNone/>
            </a:pPr>
            <a:r>
              <a:rPr lang="en-US" sz="900" b="1" spc="80" kern="0" dirty="0">
                <a:solidFill>
                  <a:srgbClr val="0C2A43"/>
                </a:solidFill>
                <a:latin typeface="Calibri" pitchFamily="34" charset="0"/>
                <a:ea typeface="Calibri" pitchFamily="34" charset="-122"/>
                <a:cs typeface="Calibri" pitchFamily="34" charset="-120"/>
              </a:rPr>
              <a:t>HIGHLIGHTED QUOTE  ·  HAREL TAYEB, CEO, eTeacher Group</a:t>
            </a:r>
            <a:endParaRPr lang="en-US" sz="900" dirty="0"/>
          </a:p>
        </p:txBody>
      </p:sp>
      <p:sp>
        <p:nvSpPr>
          <p:cNvPr id="12" name="Text 10"/>
          <p:cNvSpPr/>
          <p:nvPr/>
        </p:nvSpPr>
        <p:spPr>
          <a:xfrm>
            <a:off x="859536" y="5294376"/>
            <a:ext cx="10472623" cy="466344"/>
          </a:xfrm>
          <a:prstGeom prst="rect">
            <a:avLst/>
          </a:prstGeom>
          <a:noFill/>
          <a:ln/>
        </p:spPr>
        <p:txBody>
          <a:bodyPr wrap="square" rtlCol="0" anchor="t"/>
          <a:lstStyle/>
          <a:p>
            <a:pPr indent="0" marL="0">
              <a:lnSpc>
                <a:spcPct val="108000"/>
              </a:lnSpc>
              <a:buNone/>
            </a:pPr>
            <a:r>
              <a:rPr lang="en-US" sz="1150" b="1" i="1" dirty="0">
                <a:solidFill>
                  <a:srgbClr val="FFF3DA"/>
                </a:solidFill>
                <a:latin typeface="Calibri" pitchFamily="34" charset="0"/>
                <a:ea typeface="Calibri" pitchFamily="34" charset="-122"/>
                <a:cs typeface="Calibri" pitchFamily="34" charset="-120"/>
              </a:rPr>
              <a:t>“Our aspiration is to be the leading platform for meaningful and personalized learning for the adult audience — to keep the mind active and vital in a world where technology may cause cognitive atrophy. Longevity is the most human expression of that mission.”</a:t>
            </a:r>
            <a:endParaRPr lang="en-US" sz="1150" dirty="0"/>
          </a:p>
        </p:txBody>
      </p:sp>
      <p:sp>
        <p:nvSpPr>
          <p:cNvPr id="13" name="Text 11"/>
          <p:cNvSpPr/>
          <p:nvPr/>
        </p:nvSpPr>
        <p:spPr>
          <a:xfrm>
            <a:off x="859536" y="5833872"/>
            <a:ext cx="10472623" cy="329184"/>
          </a:xfrm>
          <a:prstGeom prst="rect">
            <a:avLst/>
          </a:prstGeom>
          <a:noFill/>
          <a:ln/>
        </p:spPr>
        <p:txBody>
          <a:bodyPr wrap="square" rtlCol="0" anchor="b"/>
          <a:lstStyle/>
          <a:p>
            <a:pPr indent="0" marL="0">
              <a:lnSpc>
                <a:spcPct val="102000"/>
              </a:lnSpc>
              <a:buNone/>
            </a:pPr>
            <a:r>
              <a:rPr lang="en-US" sz="680" i="1" dirty="0">
                <a:solidFill>
                  <a:srgbClr val="C9B892"/>
                </a:solidFill>
                <a:latin typeface="Calibri" pitchFamily="34" charset="0"/>
                <a:ea typeface="Calibri" pitchFamily="34" charset="-122"/>
                <a:cs typeface="Calibri" pitchFamily="34" charset="-120"/>
              </a:rPr>
              <a:t>Sentence 1 is verbatim from TheMarker Labels (1 Feb 2026), Q9. Sentence 2 is the one voice-matched new line — flagged for CEO approval. The mid-body “image reinforcement for Israel” phrase is verbatim from Q7.</a:t>
            </a:r>
            <a:endParaRPr lang="en-US" sz="68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0C2A43"/>
                </a:solidFill>
                <a:latin typeface="Calibri" pitchFamily="34" charset="0"/>
                <a:ea typeface="Calibri" pitchFamily="34" charset="-122"/>
                <a:cs typeface="Calibri" pitchFamily="34" charset="-120"/>
              </a:rPr>
              <a:t>ARTICLE 1.6   ·   </a:t>
            </a:r>
            <a:pPr indent="0" marL="0">
              <a:buNone/>
            </a:pPr>
            <a:r>
              <a:rPr lang="en-US" sz="1050" b="1" spc="150" kern="0" dirty="0">
                <a:solidFill>
                  <a:srgbClr val="5C6672"/>
                </a:solidFill>
                <a:latin typeface="Calibri" pitchFamily="34" charset="0"/>
                <a:ea typeface="Calibri" pitchFamily="34" charset="-122"/>
                <a:cs typeface="Calibri" pitchFamily="34" charset="-120"/>
              </a:rPr>
              <a:t>CONSUMER / HUMAN — LONGEVITY FOR EVERY HOUSEHOLD, ACCESSIBILITY</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0C2A43"/>
                </a:solidFill>
                <a:latin typeface="Calibri" pitchFamily="34" charset="0"/>
                <a:ea typeface="Calibri" pitchFamily="34" charset="-122"/>
                <a:cs typeface="Calibri" pitchFamily="34" charset="-120"/>
              </a:rPr>
              <a:t>Well+Good / mindbodygreen / Today / People</a:t>
            </a:r>
            <a:endParaRPr lang="en-US" sz="950" dirty="0"/>
          </a:p>
        </p:txBody>
      </p:sp>
      <p:sp>
        <p:nvSpPr>
          <p:cNvPr id="4" name="Text 2"/>
          <p:cNvSpPr/>
          <p:nvPr/>
        </p:nvSpPr>
        <p:spPr>
          <a:xfrm>
            <a:off x="640080" y="603504"/>
            <a:ext cx="10911535" cy="896112"/>
          </a:xfrm>
          <a:prstGeom prst="rect">
            <a:avLst/>
          </a:prstGeom>
          <a:noFill/>
          <a:ln/>
        </p:spPr>
        <p:txBody>
          <a:bodyPr wrap="square" rtlCol="0" anchor="t"/>
          <a:lstStyle/>
          <a:p>
            <a:pPr indent="0" marL="0">
              <a:lnSpc>
                <a:spcPct val="96000"/>
              </a:lnSpc>
              <a:buNone/>
            </a:pPr>
            <a:r>
              <a:rPr lang="en-US" sz="2600" b="1" dirty="0">
                <a:solidFill>
                  <a:srgbClr val="0C2A43"/>
                </a:solidFill>
                <a:latin typeface="Cambria" pitchFamily="34" charset="0"/>
                <a:ea typeface="Cambria" pitchFamily="34" charset="-122"/>
                <a:cs typeface="Cambria" pitchFamily="34" charset="-120"/>
              </a:rPr>
              <a:t>Longevity Life Academy Offers an 18-Week Live Longevity Class From $289 a Month, Glucose Monitor Included</a:t>
            </a:r>
            <a:endParaRPr lang="en-US" sz="2600" dirty="0"/>
          </a:p>
        </p:txBody>
      </p:sp>
      <p:sp>
        <p:nvSpPr>
          <p:cNvPr id="5" name="Text 3"/>
          <p:cNvSpPr/>
          <p:nvPr/>
        </p:nvSpPr>
        <p:spPr>
          <a:xfrm>
            <a:off x="640080" y="1572768"/>
            <a:ext cx="10911535" cy="512064"/>
          </a:xfrm>
          <a:prstGeom prst="rect">
            <a:avLst/>
          </a:prstGeom>
          <a:noFill/>
          <a:ln/>
        </p:spPr>
        <p:txBody>
          <a:bodyPr wrap="square" rtlCol="0" anchor="t"/>
          <a:lstStyle/>
          <a:p>
            <a:pPr indent="0" marL="0">
              <a:lnSpc>
                <a:spcPct val="110000"/>
              </a:lnSpc>
              <a:buNone/>
            </a:pPr>
            <a:r>
              <a:rPr lang="en-US" sz="1350" b="1" i="1" dirty="0">
                <a:solidFill>
                  <a:srgbClr val="1A1F26"/>
                </a:solidFill>
                <a:latin typeface="Calibri" pitchFamily="34" charset="0"/>
                <a:ea typeface="Calibri" pitchFamily="34" charset="-122"/>
                <a:cs typeface="Calibri" pitchFamily="34" charset="-120"/>
              </a:rPr>
              <a:t>Longevity Life Academy wants to make the science of healthy aging as approachable as a weekly class — for 8–15 students at a time, glucose monitor included.</a:t>
            </a:r>
            <a:endParaRPr lang="en-US" sz="1350" dirty="0"/>
          </a:p>
        </p:txBody>
      </p:sp>
      <p:sp>
        <p:nvSpPr>
          <p:cNvPr id="6" name="Shape 4"/>
          <p:cNvSpPr/>
          <p:nvPr/>
        </p:nvSpPr>
        <p:spPr>
          <a:xfrm>
            <a:off x="640080" y="2194560"/>
            <a:ext cx="10911535" cy="0"/>
          </a:xfrm>
          <a:prstGeom prst="line">
            <a:avLst/>
          </a:prstGeom>
          <a:noFill/>
          <a:ln w="12700">
            <a:solidFill>
              <a:srgbClr val="D9DDE2"/>
            </a:solidFill>
            <a:prstDash val="solid"/>
          </a:ln>
        </p:spPr>
      </p:sp>
      <p:sp>
        <p:nvSpPr>
          <p:cNvPr id="7" name="Text 5"/>
          <p:cNvSpPr/>
          <p:nvPr/>
        </p:nvSpPr>
        <p:spPr>
          <a:xfrm>
            <a:off x="64008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RAMAT GAN, Israel — Longevity has a reputation for being expensive and intimidating. Longevity Life Academy, the new fifth school from 25-year education company eTeacher Group, is built to be the opposite: a live, 18-week course in groups of 8–15, with an instructor who knows your name and a glucose monitor shipped to your door.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pitch lands against a stark backdrop. As the longevity market races toward $8 trillion by 2030 (UBS), its highest-profile figures spend fortunes chasing extra years — leaving most households watching from the sidelines. LLA is designed for those households, with tuition starting from $289 per month.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Instead of memorizing facts about glucose or sleep, students watch those numbers move in their own bodies. Every US student receives an Abbott Lingo continuous glucose monitor before Lesson 5, then builds a personal protocol across nutrition, movement, sleep, stress, and supplements — a plan meant to be kept for life, not for a 10-week challenge.</a:t>
            </a:r>
            <a:endParaRPr lang="en-US" sz="1050" dirty="0"/>
          </a:p>
        </p:txBody>
      </p:sp>
      <p:sp>
        <p:nvSpPr>
          <p:cNvPr id="8" name="Text 6"/>
          <p:cNvSpPr/>
          <p:nvPr/>
        </p:nvSpPr>
        <p:spPr>
          <a:xfrm>
            <a:off x="649224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format is eTeacher's proven method, refined over decades of teaching languages to 400,000+ learners across nearly 200 countries and now adapted for healthspan, taught by named instructors such as Courtney Donofrio and Jordan Lattimore.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“When the content is compelling and the teacher creates a personal connection, there are no real barriers and learning occurs naturally, without pressure or coercion,” said CEO Harel Tayeb. “Our goal is to simplify and democratize longevity so anyone, whatever their background, can start their own routine.”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A companion practice app is on eTeacher's roadmap, intended to bring the same daily, low-pressure guidance into students' pockets.</a:t>
            </a:r>
            <a:endParaRPr lang="en-US" sz="1050" dirty="0"/>
          </a:p>
        </p:txBody>
      </p:sp>
      <p:sp>
        <p:nvSpPr>
          <p:cNvPr id="9" name="Shape 7"/>
          <p:cNvSpPr/>
          <p:nvPr/>
        </p:nvSpPr>
        <p:spPr>
          <a:xfrm>
            <a:off x="640080" y="4892040"/>
            <a:ext cx="10911535" cy="1399032"/>
          </a:xfrm>
          <a:prstGeom prst="roundRect">
            <a:avLst>
              <a:gd name="adj" fmla="val 3268"/>
            </a:avLst>
          </a:prstGeom>
          <a:solidFill>
            <a:srgbClr val="0C2A43"/>
          </a:solidFill>
          <a:ln w="25400">
            <a:solidFill>
              <a:srgbClr val="C08A2E"/>
            </a:solidFill>
            <a:prstDash val="solid"/>
          </a:ln>
        </p:spPr>
      </p:sp>
      <p:sp>
        <p:nvSpPr>
          <p:cNvPr id="10" name="Shape 8"/>
          <p:cNvSpPr/>
          <p:nvPr/>
        </p:nvSpPr>
        <p:spPr>
          <a:xfrm>
            <a:off x="658368" y="4910328"/>
            <a:ext cx="10874959" cy="310896"/>
          </a:xfrm>
          <a:prstGeom prst="rect">
            <a:avLst/>
          </a:prstGeom>
          <a:solidFill>
            <a:srgbClr val="C08A2E"/>
          </a:solidFill>
          <a:ln/>
        </p:spPr>
      </p:sp>
      <p:sp>
        <p:nvSpPr>
          <p:cNvPr id="11" name="Text 9"/>
          <p:cNvSpPr/>
          <p:nvPr/>
        </p:nvSpPr>
        <p:spPr>
          <a:xfrm>
            <a:off x="841248" y="4910328"/>
            <a:ext cx="10509199" cy="310896"/>
          </a:xfrm>
          <a:prstGeom prst="rect">
            <a:avLst/>
          </a:prstGeom>
          <a:noFill/>
          <a:ln/>
        </p:spPr>
        <p:txBody>
          <a:bodyPr wrap="square" rtlCol="0" anchor="ctr"/>
          <a:lstStyle/>
          <a:p>
            <a:pPr indent="0" marL="0">
              <a:buNone/>
            </a:pPr>
            <a:r>
              <a:rPr lang="en-US" sz="900" b="1" spc="80" kern="0" dirty="0">
                <a:solidFill>
                  <a:srgbClr val="0C2A43"/>
                </a:solidFill>
                <a:latin typeface="Calibri" pitchFamily="34" charset="0"/>
                <a:ea typeface="Calibri" pitchFamily="34" charset="-122"/>
                <a:cs typeface="Calibri" pitchFamily="34" charset="-120"/>
              </a:rPr>
              <a:t>HIGHLIGHTED QUOTE  ·  HAREL TAYEB, CEO, eTeacher Group</a:t>
            </a:r>
            <a:endParaRPr lang="en-US" sz="900" dirty="0"/>
          </a:p>
        </p:txBody>
      </p:sp>
      <p:sp>
        <p:nvSpPr>
          <p:cNvPr id="12" name="Text 10"/>
          <p:cNvSpPr/>
          <p:nvPr/>
        </p:nvSpPr>
        <p:spPr>
          <a:xfrm>
            <a:off x="859536" y="5294376"/>
            <a:ext cx="10472623" cy="466344"/>
          </a:xfrm>
          <a:prstGeom prst="rect">
            <a:avLst/>
          </a:prstGeom>
          <a:noFill/>
          <a:ln/>
        </p:spPr>
        <p:txBody>
          <a:bodyPr wrap="square" rtlCol="0" anchor="t"/>
          <a:lstStyle/>
          <a:p>
            <a:pPr indent="0" marL="0">
              <a:lnSpc>
                <a:spcPct val="108000"/>
              </a:lnSpc>
              <a:buNone/>
            </a:pPr>
            <a:r>
              <a:rPr lang="en-US" sz="1150" b="1" i="1" dirty="0">
                <a:solidFill>
                  <a:srgbClr val="FFF3DA"/>
                </a:solidFill>
                <a:latin typeface="Calibri" pitchFamily="34" charset="0"/>
                <a:ea typeface="Calibri" pitchFamily="34" charset="-122"/>
                <a:cs typeface="Calibri" pitchFamily="34" charset="-120"/>
              </a:rPr>
              <a:t>“When the content is compelling and the teacher creates a personal connection, there are no real barriers and learning occurs naturally, without pressure or coercion. Our goal is to simplify and democratize longevity so anyone, whatever their background, can start their own routine.”</a:t>
            </a:r>
            <a:endParaRPr lang="en-US" sz="1150" dirty="0"/>
          </a:p>
        </p:txBody>
      </p:sp>
      <p:sp>
        <p:nvSpPr>
          <p:cNvPr id="13" name="Text 11"/>
          <p:cNvSpPr/>
          <p:nvPr/>
        </p:nvSpPr>
        <p:spPr>
          <a:xfrm>
            <a:off x="859536" y="5833872"/>
            <a:ext cx="10472623" cy="329184"/>
          </a:xfrm>
          <a:prstGeom prst="rect">
            <a:avLst/>
          </a:prstGeom>
          <a:noFill/>
          <a:ln/>
        </p:spPr>
        <p:txBody>
          <a:bodyPr wrap="square" rtlCol="0" anchor="b"/>
          <a:lstStyle/>
          <a:p>
            <a:pPr indent="0" marL="0">
              <a:lnSpc>
                <a:spcPct val="102000"/>
              </a:lnSpc>
              <a:buNone/>
            </a:pPr>
            <a:r>
              <a:rPr lang="en-US" sz="680" i="1" dirty="0">
                <a:solidFill>
                  <a:srgbClr val="C9B892"/>
                </a:solidFill>
                <a:latin typeface="Calibri" pitchFamily="34" charset="0"/>
                <a:ea typeface="Calibri" pitchFamily="34" charset="-122"/>
                <a:cs typeface="Calibri" pitchFamily="34" charset="-120"/>
              </a:rPr>
              <a:t>Sentence 1 is verbatim from TheMarker Labels (1 Feb 2026), Q5. Sentence 2 is the one voice-matched new line incorporating the user's “every household” brief — flagged for CEO approval.</a:t>
            </a:r>
            <a:endParaRPr lang="en-US" sz="68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C2A43"/>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C08A2E"/>
          </a:solidFill>
          <a:ln/>
        </p:spPr>
      </p:sp>
      <p:sp>
        <p:nvSpPr>
          <p:cNvPr id="3" name="Text 1"/>
          <p:cNvSpPr/>
          <p:nvPr/>
        </p:nvSpPr>
        <p:spPr>
          <a:xfrm>
            <a:off x="640080" y="1965960"/>
            <a:ext cx="10911535" cy="365760"/>
          </a:xfrm>
          <a:prstGeom prst="rect">
            <a:avLst/>
          </a:prstGeom>
          <a:noFill/>
          <a:ln/>
        </p:spPr>
        <p:txBody>
          <a:bodyPr wrap="square" rtlCol="0" anchor="ctr"/>
          <a:lstStyle/>
          <a:p>
            <a:pPr indent="0" marL="0">
              <a:buNone/>
            </a:pPr>
            <a:r>
              <a:rPr lang="en-US" sz="1500" b="1" spc="400" kern="0" dirty="0">
                <a:solidFill>
                  <a:srgbClr val="C08A2E"/>
                </a:solidFill>
                <a:latin typeface="Calibri" pitchFamily="34" charset="0"/>
                <a:ea typeface="Calibri" pitchFamily="34" charset="-122"/>
                <a:cs typeface="Calibri" pitchFamily="34" charset="-120"/>
              </a:rPr>
              <a:t>CHAPTER 2 OF 4</a:t>
            </a:r>
            <a:endParaRPr lang="en-US" sz="1500" dirty="0"/>
          </a:p>
        </p:txBody>
      </p:sp>
      <p:sp>
        <p:nvSpPr>
          <p:cNvPr id="4" name="Text 2"/>
          <p:cNvSpPr/>
          <p:nvPr/>
        </p:nvSpPr>
        <p:spPr>
          <a:xfrm>
            <a:off x="640080" y="2514600"/>
            <a:ext cx="10911535" cy="1463040"/>
          </a:xfrm>
          <a:prstGeom prst="rect">
            <a:avLst/>
          </a:prstGeom>
          <a:noFill/>
          <a:ln/>
        </p:spPr>
        <p:txBody>
          <a:bodyPr wrap="square" rtlCol="0" anchor="ctr"/>
          <a:lstStyle/>
          <a:p>
            <a:pPr indent="0" marL="0">
              <a:lnSpc>
                <a:spcPct val="100000"/>
              </a:lnSpc>
              <a:buNone/>
            </a:pPr>
            <a:r>
              <a:rPr lang="en-US" sz="4200" b="1" dirty="0">
                <a:solidFill>
                  <a:srgbClr val="FFFFFF"/>
                </a:solidFill>
                <a:latin typeface="Cambria" pitchFamily="34" charset="0"/>
                <a:ea typeface="Cambria" pitchFamily="34" charset="-122"/>
                <a:cs typeface="Cambria" pitchFamily="34" charset="-120"/>
              </a:rPr>
              <a:t>Julie Joins eTeacher's Longevity Life Academy</a:t>
            </a:r>
            <a:endParaRPr lang="en-US" sz="4200" dirty="0"/>
          </a:p>
        </p:txBody>
      </p:sp>
      <p:sp>
        <p:nvSpPr>
          <p:cNvPr id="5" name="Text 3"/>
          <p:cNvSpPr/>
          <p:nvPr/>
        </p:nvSpPr>
        <p:spPr>
          <a:xfrm>
            <a:off x="640080" y="4297680"/>
            <a:ext cx="10241280" cy="914400"/>
          </a:xfrm>
          <a:prstGeom prst="rect">
            <a:avLst/>
          </a:prstGeom>
          <a:noFill/>
          <a:ln/>
        </p:spPr>
        <p:txBody>
          <a:bodyPr wrap="square" rtlCol="0" anchor="ctr"/>
          <a:lstStyle/>
          <a:p>
            <a:pPr indent="0" marL="0">
              <a:lnSpc>
                <a:spcPct val="120000"/>
              </a:lnSpc>
              <a:buNone/>
            </a:pPr>
            <a:r>
              <a:rPr lang="en-US" sz="1700" dirty="0">
                <a:solidFill>
                  <a:srgbClr val="C9D3DD"/>
                </a:solidFill>
                <a:latin typeface="Calibri" pitchFamily="34" charset="0"/>
                <a:ea typeface="Calibri" pitchFamily="34" charset="-122"/>
                <a:cs typeface="Calibri" pitchFamily="34" charset="-120"/>
              </a:rPr>
              <a:t>One message: the single mom who out-aged the billionaires now teaches live for eTeacher.</a:t>
            </a:r>
            <a:endParaRPr lang="en-US" sz="1700" dirty="0"/>
          </a:p>
        </p:txBody>
      </p:sp>
      <p:sp>
        <p:nvSpPr>
          <p:cNvPr id="6" name="Text 4"/>
          <p:cNvSpPr/>
          <p:nvPr/>
        </p:nvSpPr>
        <p:spPr>
          <a:xfrm>
            <a:off x="640080" y="5394960"/>
            <a:ext cx="3657600" cy="365760"/>
          </a:xfrm>
          <a:prstGeom prst="rect">
            <a:avLst/>
          </a:prstGeom>
          <a:noFill/>
          <a:ln/>
        </p:spPr>
        <p:txBody>
          <a:bodyPr wrap="square" rtlCol="0" anchor="ctr"/>
          <a:lstStyle/>
          <a:p>
            <a:pPr indent="0" marL="0">
              <a:buNone/>
            </a:pPr>
            <a:r>
              <a:rPr lang="en-US" sz="1300" b="1" spc="200" kern="0" dirty="0">
                <a:solidFill>
                  <a:srgbClr val="C08A2E"/>
                </a:solidFill>
                <a:latin typeface="Calibri" pitchFamily="34" charset="0"/>
                <a:ea typeface="Calibri" pitchFamily="34" charset="-122"/>
                <a:cs typeface="Calibri" pitchFamily="34" charset="-120"/>
              </a:rPr>
              <a:t>7 ARTICLES</a:t>
            </a:r>
            <a:endParaRPr lang="en-US" sz="1300" dirty="0"/>
          </a:p>
        </p:txBody>
      </p:sp>
      <p:sp>
        <p:nvSpPr>
          <p:cNvPr id="7" name="Text 5"/>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C08A2E"/>
                </a:solidFill>
                <a:latin typeface="Calibri" pitchFamily="34" charset="0"/>
                <a:ea typeface="Calibri" pitchFamily="34" charset="-122"/>
                <a:cs typeface="Calibri" pitchFamily="34" charset="-120"/>
              </a:rPr>
              <a:t>ARTICLE 2.1   ·   </a:t>
            </a:r>
            <a:pPr indent="0" marL="0">
              <a:buNone/>
            </a:pPr>
            <a:r>
              <a:rPr lang="en-US" sz="1050" b="1" spc="150" kern="0" dirty="0">
                <a:solidFill>
                  <a:srgbClr val="5C6672"/>
                </a:solidFill>
                <a:latin typeface="Calibri" pitchFamily="34" charset="0"/>
                <a:ea typeface="Calibri" pitchFamily="34" charset="-122"/>
                <a:cs typeface="Calibri" pitchFamily="34" charset="-120"/>
              </a:rPr>
              <a:t>THE SIGNING ANNOUNCEMENT — JULIE JOINS THE FACULTY</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C08A2E"/>
                </a:solidFill>
                <a:latin typeface="Calibri" pitchFamily="34" charset="0"/>
                <a:ea typeface="Calibri" pitchFamily="34" charset="-122"/>
                <a:cs typeface="Calibri" pitchFamily="34" charset="-120"/>
              </a:rPr>
              <a:t>PR Newswire → Fortune Well / Forbes</a:t>
            </a:r>
            <a:endParaRPr lang="en-US" sz="950" dirty="0"/>
          </a:p>
        </p:txBody>
      </p:sp>
      <p:sp>
        <p:nvSpPr>
          <p:cNvPr id="4" name="Text 2"/>
          <p:cNvSpPr/>
          <p:nvPr/>
        </p:nvSpPr>
        <p:spPr>
          <a:xfrm>
            <a:off x="640080" y="603504"/>
            <a:ext cx="10911535" cy="896112"/>
          </a:xfrm>
          <a:prstGeom prst="rect">
            <a:avLst/>
          </a:prstGeom>
          <a:noFill/>
          <a:ln/>
        </p:spPr>
        <p:txBody>
          <a:bodyPr wrap="square" rtlCol="0" anchor="t"/>
          <a:lstStyle/>
          <a:p>
            <a:pPr indent="0" marL="0">
              <a:lnSpc>
                <a:spcPct val="96000"/>
              </a:lnSpc>
              <a:buNone/>
            </a:pPr>
            <a:r>
              <a:rPr lang="en-US" sz="2600" b="1" dirty="0">
                <a:solidFill>
                  <a:srgbClr val="0C2A43"/>
                </a:solidFill>
                <a:latin typeface="Cambria" pitchFamily="34" charset="0"/>
                <a:ea typeface="Cambria" pitchFamily="34" charset="-122"/>
                <a:cs typeface="Cambria" pitchFamily="34" charset="-120"/>
              </a:rPr>
              <a:t>Julie Gibson Clark — Who Out-Aged Bryan Johnson at the Rejuvenation Olympics — Joins eTeacher's Longevity Life Academy Faculty</a:t>
            </a:r>
            <a:endParaRPr lang="en-US" sz="2600" dirty="0"/>
          </a:p>
        </p:txBody>
      </p:sp>
      <p:sp>
        <p:nvSpPr>
          <p:cNvPr id="5" name="Text 3"/>
          <p:cNvSpPr/>
          <p:nvPr/>
        </p:nvSpPr>
        <p:spPr>
          <a:xfrm>
            <a:off x="640080" y="1572768"/>
            <a:ext cx="10911535" cy="512064"/>
          </a:xfrm>
          <a:prstGeom prst="rect">
            <a:avLst/>
          </a:prstGeom>
          <a:noFill/>
          <a:ln/>
        </p:spPr>
        <p:txBody>
          <a:bodyPr wrap="square" rtlCol="0" anchor="t"/>
          <a:lstStyle/>
          <a:p>
            <a:pPr indent="0" marL="0">
              <a:lnSpc>
                <a:spcPct val="110000"/>
              </a:lnSpc>
              <a:buNone/>
            </a:pPr>
            <a:r>
              <a:rPr lang="en-US" sz="1350" b="1" i="1" dirty="0">
                <a:solidFill>
                  <a:srgbClr val="1A1F26"/>
                </a:solidFill>
                <a:latin typeface="Calibri" pitchFamily="34" charset="0"/>
                <a:ea typeface="Calibri" pitchFamily="34" charset="-122"/>
                <a:cs typeface="Calibri" pitchFamily="34" charset="-120"/>
              </a:rPr>
              <a:t>The Phoenix single mom who held second place on the Rejuvenation Olympics for over a year — ahead of Bryan Johnson — will teach live cohorts inside the 18-week Longevity Blueprint.</a:t>
            </a:r>
            <a:endParaRPr lang="en-US" sz="1350" dirty="0"/>
          </a:p>
        </p:txBody>
      </p:sp>
      <p:sp>
        <p:nvSpPr>
          <p:cNvPr id="6" name="Shape 4"/>
          <p:cNvSpPr/>
          <p:nvPr/>
        </p:nvSpPr>
        <p:spPr>
          <a:xfrm>
            <a:off x="640080" y="2194560"/>
            <a:ext cx="10911535" cy="0"/>
          </a:xfrm>
          <a:prstGeom prst="line">
            <a:avLst/>
          </a:prstGeom>
          <a:noFill/>
          <a:ln w="12700">
            <a:solidFill>
              <a:srgbClr val="D9DDE2"/>
            </a:solidFill>
            <a:prstDash val="solid"/>
          </a:ln>
        </p:spPr>
      </p:sp>
      <p:sp>
        <p:nvSpPr>
          <p:cNvPr id="7" name="Text 5"/>
          <p:cNvSpPr/>
          <p:nvPr/>
        </p:nvSpPr>
        <p:spPr>
          <a:xfrm>
            <a:off x="64008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PHOENIX — eTeacher Group today announced that Julie Gibson Clark — who held the #2 spot on the Rejuvenation Olympics leaderboard for more than a year, ahead of the contest's own founder, Bryan Johnson — has joined the live faculty of Longevity Life Academy.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Her results are the headline. Gibson Clark, 56, a corporate recruiter and former structural engineer, recorded a DunedinPACE score of 0.665 — meaning she ages roughly 65 days for every 100, about 34% slower than average — achieved on a routine costing around $100–150 a month, versus the roughly $2 million a year spent by the best-funded biohackers.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At LLA she will teach live cohorts of 8–15 students inside The Longevity Blueprint, an 18-week program that guides students to build personalized protocols from their own Abbott Lingo glucose monitor and wearable data across six pillars.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Her signing is a proof point for the school's core thesis — that elite outcomes come from consistent, science-backed habits, not spending — and gives eTeacher a nationally recognizable, relatable face for a US audience where 70% of its customers already live.</a:t>
            </a:r>
            <a:endParaRPr lang="en-US" sz="1050" dirty="0"/>
          </a:p>
        </p:txBody>
      </p:sp>
      <p:sp>
        <p:nvSpPr>
          <p:cNvPr id="8" name="Text 6"/>
          <p:cNvSpPr/>
          <p:nvPr/>
        </p:nvSpPr>
        <p:spPr>
          <a:xfrm>
            <a:off x="649224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“I'm going to introduce one new habit and practice it until it becomes as routine as brushing my teeth,” Gibson Clark said, describing the approach she'll teach. “Getting to do that live, with real people who want to change their lives, is a dream.”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“We are focused on impact and results, and Julie's results speak for themselves,” said eTeacher CEO Harel Tayeb. “She is living proof that world-class longevity is about consistent, teachable habits — not spending millions — and that is exactly the school we are building.” Gibson Clark begins teaching with the current enrollment cohort.</a:t>
            </a:r>
            <a:endParaRPr lang="en-US" sz="1050" dirty="0"/>
          </a:p>
        </p:txBody>
      </p:sp>
      <p:sp>
        <p:nvSpPr>
          <p:cNvPr id="9" name="Shape 7"/>
          <p:cNvSpPr/>
          <p:nvPr/>
        </p:nvSpPr>
        <p:spPr>
          <a:xfrm>
            <a:off x="640080" y="4892040"/>
            <a:ext cx="5318608" cy="1399032"/>
          </a:xfrm>
          <a:prstGeom prst="roundRect">
            <a:avLst>
              <a:gd name="adj" fmla="val 3268"/>
            </a:avLst>
          </a:prstGeom>
          <a:solidFill>
            <a:srgbClr val="0C2A43"/>
          </a:solidFill>
          <a:ln w="25400">
            <a:solidFill>
              <a:srgbClr val="C08A2E"/>
            </a:solidFill>
            <a:prstDash val="solid"/>
          </a:ln>
        </p:spPr>
      </p:sp>
      <p:sp>
        <p:nvSpPr>
          <p:cNvPr id="10" name="Shape 8"/>
          <p:cNvSpPr/>
          <p:nvPr/>
        </p:nvSpPr>
        <p:spPr>
          <a:xfrm>
            <a:off x="658368" y="4910328"/>
            <a:ext cx="5282032" cy="310896"/>
          </a:xfrm>
          <a:prstGeom prst="rect">
            <a:avLst/>
          </a:prstGeom>
          <a:solidFill>
            <a:srgbClr val="C08A2E"/>
          </a:solidFill>
          <a:ln/>
        </p:spPr>
      </p:sp>
      <p:sp>
        <p:nvSpPr>
          <p:cNvPr id="11" name="Text 9"/>
          <p:cNvSpPr/>
          <p:nvPr/>
        </p:nvSpPr>
        <p:spPr>
          <a:xfrm>
            <a:off x="841248" y="4910328"/>
            <a:ext cx="4916272" cy="310896"/>
          </a:xfrm>
          <a:prstGeom prst="rect">
            <a:avLst/>
          </a:prstGeom>
          <a:noFill/>
          <a:ln/>
        </p:spPr>
        <p:txBody>
          <a:bodyPr wrap="square" rtlCol="0" anchor="ctr"/>
          <a:lstStyle/>
          <a:p>
            <a:pPr indent="0" marL="0">
              <a:buNone/>
            </a:pPr>
            <a:r>
              <a:rPr lang="en-US" sz="900" b="1" spc="80" kern="0" dirty="0">
                <a:solidFill>
                  <a:srgbClr val="0C2A43"/>
                </a:solidFill>
                <a:latin typeface="Calibri" pitchFamily="34" charset="0"/>
                <a:ea typeface="Calibri" pitchFamily="34" charset="-122"/>
                <a:cs typeface="Calibri" pitchFamily="34" charset="-120"/>
              </a:rPr>
              <a:t>HAREL TAYEB, CEO, eTeacher Group</a:t>
            </a:r>
            <a:endParaRPr lang="en-US" sz="900" dirty="0"/>
          </a:p>
        </p:txBody>
      </p:sp>
      <p:sp>
        <p:nvSpPr>
          <p:cNvPr id="12" name="Text 10"/>
          <p:cNvSpPr/>
          <p:nvPr/>
        </p:nvSpPr>
        <p:spPr>
          <a:xfrm>
            <a:off x="859536" y="5294376"/>
            <a:ext cx="4879696" cy="466344"/>
          </a:xfrm>
          <a:prstGeom prst="rect">
            <a:avLst/>
          </a:prstGeom>
          <a:noFill/>
          <a:ln/>
        </p:spPr>
        <p:txBody>
          <a:bodyPr wrap="square" rtlCol="0" anchor="ctr"/>
          <a:lstStyle/>
          <a:p>
            <a:pPr indent="0" marL="0">
              <a:lnSpc>
                <a:spcPct val="108000"/>
              </a:lnSpc>
              <a:buNone/>
            </a:pPr>
            <a:r>
              <a:rPr lang="en-US" sz="1000" b="1" i="1" dirty="0">
                <a:solidFill>
                  <a:srgbClr val="FFF3DA"/>
                </a:solidFill>
                <a:latin typeface="Calibri" pitchFamily="34" charset="0"/>
                <a:ea typeface="Calibri" pitchFamily="34" charset="-122"/>
                <a:cs typeface="Calibri" pitchFamily="34" charset="-120"/>
              </a:rPr>
              <a:t>“We are focused on impact and results, and Julie's results speak for themselves. She is living proof that world-class longevity is about consistent, teachable habits — not spending millions — and that is exactly the school we are building.”</a:t>
            </a:r>
            <a:endParaRPr lang="en-US" sz="1000" dirty="0"/>
          </a:p>
        </p:txBody>
      </p:sp>
      <p:sp>
        <p:nvSpPr>
          <p:cNvPr id="13" name="Text 11"/>
          <p:cNvSpPr/>
          <p:nvPr/>
        </p:nvSpPr>
        <p:spPr>
          <a:xfrm>
            <a:off x="859536" y="5833872"/>
            <a:ext cx="4879696" cy="329184"/>
          </a:xfrm>
          <a:prstGeom prst="rect">
            <a:avLst/>
          </a:prstGeom>
          <a:noFill/>
          <a:ln/>
        </p:spPr>
        <p:txBody>
          <a:bodyPr wrap="square" rtlCol="0" anchor="b"/>
          <a:lstStyle/>
          <a:p>
            <a:pPr indent="0" marL="0">
              <a:lnSpc>
                <a:spcPct val="102000"/>
              </a:lnSpc>
              <a:buNone/>
            </a:pPr>
            <a:r>
              <a:rPr lang="en-US" sz="680" i="1" dirty="0">
                <a:solidFill>
                  <a:srgbClr val="C9B892"/>
                </a:solidFill>
                <a:latin typeface="Calibri" pitchFamily="34" charset="0"/>
                <a:ea typeface="Calibri" pitchFamily="34" charset="-122"/>
                <a:cs typeface="Calibri" pitchFamily="34" charset="-120"/>
              </a:rPr>
              <a:t>Sentence 1 is verbatim from TheMarker Labels (1 Feb 2026), Q2. Sentence 2 is the one voice-matched new line — flagged for CEO approval.</a:t>
            </a:r>
            <a:endParaRPr lang="en-US" sz="680" dirty="0"/>
          </a:p>
        </p:txBody>
      </p:sp>
      <p:sp>
        <p:nvSpPr>
          <p:cNvPr id="14" name="Shape 12"/>
          <p:cNvSpPr/>
          <p:nvPr/>
        </p:nvSpPr>
        <p:spPr>
          <a:xfrm>
            <a:off x="6233008" y="4892040"/>
            <a:ext cx="5318608" cy="1399032"/>
          </a:xfrm>
          <a:prstGeom prst="roundRect">
            <a:avLst>
              <a:gd name="adj" fmla="val 3268"/>
            </a:avLst>
          </a:prstGeom>
          <a:solidFill>
            <a:srgbClr val="FFFFFF"/>
          </a:solidFill>
          <a:ln w="15875">
            <a:solidFill>
              <a:srgbClr val="C08A2E"/>
            </a:solidFill>
            <a:prstDash val="solid"/>
          </a:ln>
        </p:spPr>
      </p:sp>
      <p:sp>
        <p:nvSpPr>
          <p:cNvPr id="15" name="Shape 13"/>
          <p:cNvSpPr/>
          <p:nvPr/>
        </p:nvSpPr>
        <p:spPr>
          <a:xfrm>
            <a:off x="6233008" y="4946904"/>
            <a:ext cx="73152" cy="1289304"/>
          </a:xfrm>
          <a:prstGeom prst="rect">
            <a:avLst/>
          </a:prstGeom>
          <a:solidFill>
            <a:srgbClr val="C08A2E"/>
          </a:solidFill>
          <a:ln/>
        </p:spPr>
      </p:sp>
      <p:sp>
        <p:nvSpPr>
          <p:cNvPr id="16" name="Text 14"/>
          <p:cNvSpPr/>
          <p:nvPr/>
        </p:nvSpPr>
        <p:spPr>
          <a:xfrm>
            <a:off x="6452464" y="4965192"/>
            <a:ext cx="4916272" cy="201168"/>
          </a:xfrm>
          <a:prstGeom prst="rect">
            <a:avLst/>
          </a:prstGeom>
          <a:noFill/>
          <a:ln/>
        </p:spPr>
        <p:txBody>
          <a:bodyPr wrap="square" rtlCol="0" anchor="ctr"/>
          <a:lstStyle/>
          <a:p>
            <a:pPr indent="0" marL="0">
              <a:buNone/>
            </a:pPr>
            <a:r>
              <a:rPr lang="en-US" sz="800" b="1" spc="80" kern="0" dirty="0">
                <a:solidFill>
                  <a:srgbClr val="6E4A12"/>
                </a:solidFill>
                <a:latin typeface="Calibri" pitchFamily="34" charset="0"/>
                <a:ea typeface="Calibri" pitchFamily="34" charset="-122"/>
                <a:cs typeface="Calibri" pitchFamily="34" charset="-120"/>
              </a:rPr>
              <a:t>JULIE GIBSON CLARK, LLA Faculty</a:t>
            </a:r>
            <a:endParaRPr lang="en-US" sz="800" dirty="0"/>
          </a:p>
        </p:txBody>
      </p:sp>
      <p:sp>
        <p:nvSpPr>
          <p:cNvPr id="17" name="Text 15"/>
          <p:cNvSpPr/>
          <p:nvPr/>
        </p:nvSpPr>
        <p:spPr>
          <a:xfrm>
            <a:off x="6452464" y="5166360"/>
            <a:ext cx="4916272" cy="649224"/>
          </a:xfrm>
          <a:prstGeom prst="rect">
            <a:avLst/>
          </a:prstGeom>
          <a:noFill/>
          <a:ln/>
        </p:spPr>
        <p:txBody>
          <a:bodyPr wrap="square" rtlCol="0" anchor="ctr"/>
          <a:lstStyle/>
          <a:p>
            <a:pPr indent="0" marL="0">
              <a:lnSpc>
                <a:spcPct val="106000"/>
              </a:lnSpc>
              <a:buNone/>
            </a:pPr>
            <a:r>
              <a:rPr lang="en-US" sz="900" i="1" dirty="0">
                <a:solidFill>
                  <a:srgbClr val="1A1F26"/>
                </a:solidFill>
                <a:latin typeface="Calibri" pitchFamily="34" charset="0"/>
                <a:ea typeface="Calibri" pitchFamily="34" charset="-122"/>
                <a:cs typeface="Calibri" pitchFamily="34" charset="-120"/>
              </a:rPr>
              <a:t>“I'm going to introduce one new habit and practice it until it becomes as routine as brushing my teeth. Getting to do that live, with real people who want to change their lives, is a dream.”</a:t>
            </a:r>
            <a:endParaRPr lang="en-US" sz="900" dirty="0"/>
          </a:p>
        </p:txBody>
      </p:sp>
      <p:sp>
        <p:nvSpPr>
          <p:cNvPr id="18" name="Text 16"/>
          <p:cNvSpPr/>
          <p:nvPr/>
        </p:nvSpPr>
        <p:spPr>
          <a:xfrm>
            <a:off x="6452464" y="5833872"/>
            <a:ext cx="4916272" cy="329184"/>
          </a:xfrm>
          <a:prstGeom prst="rect">
            <a:avLst/>
          </a:prstGeom>
          <a:noFill/>
          <a:ln/>
        </p:spPr>
        <p:txBody>
          <a:bodyPr wrap="square" rtlCol="0" anchor="b"/>
          <a:lstStyle/>
          <a:p>
            <a:pPr indent="0" marL="0">
              <a:lnSpc>
                <a:spcPct val="102000"/>
              </a:lnSpc>
              <a:buNone/>
            </a:pPr>
            <a:r>
              <a:rPr lang="en-US" sz="660" i="1" dirty="0">
                <a:solidFill>
                  <a:srgbClr val="5C6672"/>
                </a:solidFill>
                <a:latin typeface="Calibri" pitchFamily="34" charset="0"/>
                <a:ea typeface="Calibri" pitchFamily="34" charset="-122"/>
                <a:cs typeface="Calibri" pitchFamily="34" charset="-120"/>
              </a:rPr>
              <a:t>Sentence 1 is verbatim from Business Insider/Yahoo. Sentence 2 is the one voice-matched new line about teaching — flagged for approval.</a:t>
            </a:r>
            <a:endParaRPr lang="en-US" sz="660" dirty="0"/>
          </a:p>
        </p:txBody>
      </p:sp>
      <p:sp>
        <p:nvSpPr>
          <p:cNvPr id="19" name="Text 17"/>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C08A2E"/>
                </a:solidFill>
                <a:latin typeface="Calibri" pitchFamily="34" charset="0"/>
                <a:ea typeface="Calibri" pitchFamily="34" charset="-122"/>
                <a:cs typeface="Calibri" pitchFamily="34" charset="-120"/>
              </a:rPr>
              <a:t>ARTICLE 2.2   ·   </a:t>
            </a:r>
            <a:pPr indent="0" marL="0">
              <a:buNone/>
            </a:pPr>
            <a:r>
              <a:rPr lang="en-US" sz="1050" b="1" spc="150" kern="0" dirty="0">
                <a:solidFill>
                  <a:srgbClr val="5C6672"/>
                </a:solidFill>
                <a:latin typeface="Calibri" pitchFamily="34" charset="0"/>
                <a:ea typeface="Calibri" pitchFamily="34" charset="-122"/>
                <a:cs typeface="Calibri" pitchFamily="34" charset="-120"/>
              </a:rPr>
              <a:t>DAVID-VS-GOLIATH COST STORY — ~$100/MO VS $2M/YR</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C08A2E"/>
                </a:solidFill>
                <a:latin typeface="Calibri" pitchFamily="34" charset="0"/>
                <a:ea typeface="Calibri" pitchFamily="34" charset="-122"/>
                <a:cs typeface="Calibri" pitchFamily="34" charset="-120"/>
              </a:rPr>
              <a:t>Business Insider / CNBC Make It</a:t>
            </a:r>
            <a:endParaRPr lang="en-US" sz="950" dirty="0"/>
          </a:p>
        </p:txBody>
      </p:sp>
      <p:sp>
        <p:nvSpPr>
          <p:cNvPr id="4" name="Text 2"/>
          <p:cNvSpPr/>
          <p:nvPr/>
        </p:nvSpPr>
        <p:spPr>
          <a:xfrm>
            <a:off x="640080" y="603504"/>
            <a:ext cx="10911535" cy="896112"/>
          </a:xfrm>
          <a:prstGeom prst="rect">
            <a:avLst/>
          </a:prstGeom>
          <a:noFill/>
          <a:ln/>
        </p:spPr>
        <p:txBody>
          <a:bodyPr wrap="square" rtlCol="0" anchor="t"/>
          <a:lstStyle/>
          <a:p>
            <a:pPr indent="0" marL="0">
              <a:lnSpc>
                <a:spcPct val="96000"/>
              </a:lnSpc>
              <a:buNone/>
            </a:pPr>
            <a:r>
              <a:rPr lang="en-US" sz="2600" b="1" dirty="0">
                <a:solidFill>
                  <a:srgbClr val="0C2A43"/>
                </a:solidFill>
                <a:latin typeface="Cambria" pitchFamily="34" charset="0"/>
                <a:ea typeface="Cambria" pitchFamily="34" charset="-122"/>
                <a:cs typeface="Cambria" pitchFamily="34" charset="-120"/>
              </a:rPr>
              <a:t>Longevity Life Academy Hires Julie Gibson Clark, Who Out-Aged a $2M-a-Year Biohacker on $12 a Day</a:t>
            </a:r>
            <a:endParaRPr lang="en-US" sz="2600" dirty="0"/>
          </a:p>
        </p:txBody>
      </p:sp>
      <p:sp>
        <p:nvSpPr>
          <p:cNvPr id="5" name="Text 3"/>
          <p:cNvSpPr/>
          <p:nvPr/>
        </p:nvSpPr>
        <p:spPr>
          <a:xfrm>
            <a:off x="640080" y="1572768"/>
            <a:ext cx="10911535" cy="512064"/>
          </a:xfrm>
          <a:prstGeom prst="rect">
            <a:avLst/>
          </a:prstGeom>
          <a:noFill/>
          <a:ln/>
        </p:spPr>
        <p:txBody>
          <a:bodyPr wrap="square" rtlCol="0" anchor="t"/>
          <a:lstStyle/>
          <a:p>
            <a:pPr indent="0" marL="0">
              <a:lnSpc>
                <a:spcPct val="110000"/>
              </a:lnSpc>
              <a:buNone/>
            </a:pPr>
            <a:r>
              <a:rPr lang="en-US" sz="1350" b="1" i="1" dirty="0">
                <a:solidFill>
                  <a:srgbClr val="1A1F26"/>
                </a:solidFill>
                <a:latin typeface="Calibri" pitchFamily="34" charset="0"/>
                <a:ea typeface="Calibri" pitchFamily="34" charset="-122"/>
                <a:cs typeface="Calibri" pitchFamily="34" charset="-120"/>
              </a:rPr>
              <a:t>Julie Gibson Clark's budget longevity results ranked her #2 in the world; now she's teaching the method inside a course that starts at $289 a month.</a:t>
            </a:r>
            <a:endParaRPr lang="en-US" sz="1350" dirty="0"/>
          </a:p>
        </p:txBody>
      </p:sp>
      <p:sp>
        <p:nvSpPr>
          <p:cNvPr id="6" name="Shape 4"/>
          <p:cNvSpPr/>
          <p:nvPr/>
        </p:nvSpPr>
        <p:spPr>
          <a:xfrm>
            <a:off x="640080" y="2194560"/>
            <a:ext cx="10911535" cy="0"/>
          </a:xfrm>
          <a:prstGeom prst="line">
            <a:avLst/>
          </a:prstGeom>
          <a:noFill/>
          <a:ln w="12700">
            <a:solidFill>
              <a:srgbClr val="D9DDE2"/>
            </a:solidFill>
            <a:prstDash val="solid"/>
          </a:ln>
        </p:spPr>
      </p:sp>
      <p:sp>
        <p:nvSpPr>
          <p:cNvPr id="7" name="Text 5"/>
          <p:cNvSpPr/>
          <p:nvPr/>
        </p:nvSpPr>
        <p:spPr>
          <a:xfrm>
            <a:off x="64008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PHOENIX — Julie Gibson Clark became a global story for a simple, provocative reason: she achieved elite anti-aging results without an elite budget, ranking second worldwide on roughly $100–150 a month — about $12 a day — while Bryan Johnson reportedly spends around $2 million a year.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gap is the point. Her DunedinPACE score of 0.665 puts her among the slowest-aging people measured, yet her routine leans on inexpensive fundamentals: a pound of vegetables daily, 100–130g of protein, strength plus VO2-max and Zone 2 training, sauna and cold, 7–8 hours of sleep, and a roughly $79-a-month supplement stack.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Now that philosophy has an institution behind it. As a Longevity Life Academy instructor, Gibson Clark brings her low-cost, high-consistency method into eTeacher's live cohorts of 8–15, where The Longevity Blueprint starts at $289 per month and includes an Abbott Lingo glucose monitor shipped to every US student.</a:t>
            </a:r>
            <a:endParaRPr lang="en-US" sz="1050" dirty="0"/>
          </a:p>
        </p:txBody>
      </p:sp>
      <p:sp>
        <p:nvSpPr>
          <p:cNvPr id="8" name="Text 6"/>
          <p:cNvSpPr/>
          <p:nvPr/>
        </p:nvSpPr>
        <p:spPr>
          <a:xfrm>
            <a:off x="649224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For eTeacher, whose model already democratizes education across nearly 200 countries, Gibson Clark is a natural fit: living evidence that healthspan can be a mainstream purchase rather than a luxury service.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“You have to think, ‘This is the rest of my life.’ It's not about a 10-week program for a beach body,” Gibson Clark said. “The budget was never the barrier — the missing piece was someone teaching you what actually works.”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“We are focused on impact and results, and Julie's results speak for themselves,” said CEO Harel Tayeb. “Our whole mission is to democratize what used to be a luxury — and a $12-a-day protocol that beats a $2-million-a-year one is the clearest case we could ask for.”</a:t>
            </a:r>
            <a:endParaRPr lang="en-US" sz="1050" dirty="0"/>
          </a:p>
        </p:txBody>
      </p:sp>
      <p:sp>
        <p:nvSpPr>
          <p:cNvPr id="9" name="Shape 7"/>
          <p:cNvSpPr/>
          <p:nvPr/>
        </p:nvSpPr>
        <p:spPr>
          <a:xfrm>
            <a:off x="640080" y="4892040"/>
            <a:ext cx="5318608" cy="1399032"/>
          </a:xfrm>
          <a:prstGeom prst="roundRect">
            <a:avLst>
              <a:gd name="adj" fmla="val 3268"/>
            </a:avLst>
          </a:prstGeom>
          <a:solidFill>
            <a:srgbClr val="0C2A43"/>
          </a:solidFill>
          <a:ln w="25400">
            <a:solidFill>
              <a:srgbClr val="C08A2E"/>
            </a:solidFill>
            <a:prstDash val="solid"/>
          </a:ln>
        </p:spPr>
      </p:sp>
      <p:sp>
        <p:nvSpPr>
          <p:cNvPr id="10" name="Shape 8"/>
          <p:cNvSpPr/>
          <p:nvPr/>
        </p:nvSpPr>
        <p:spPr>
          <a:xfrm>
            <a:off x="658368" y="4910328"/>
            <a:ext cx="5282032" cy="310896"/>
          </a:xfrm>
          <a:prstGeom prst="rect">
            <a:avLst/>
          </a:prstGeom>
          <a:solidFill>
            <a:srgbClr val="C08A2E"/>
          </a:solidFill>
          <a:ln/>
        </p:spPr>
      </p:sp>
      <p:sp>
        <p:nvSpPr>
          <p:cNvPr id="11" name="Text 9"/>
          <p:cNvSpPr/>
          <p:nvPr/>
        </p:nvSpPr>
        <p:spPr>
          <a:xfrm>
            <a:off x="841248" y="4910328"/>
            <a:ext cx="4916272" cy="310896"/>
          </a:xfrm>
          <a:prstGeom prst="rect">
            <a:avLst/>
          </a:prstGeom>
          <a:noFill/>
          <a:ln/>
        </p:spPr>
        <p:txBody>
          <a:bodyPr wrap="square" rtlCol="0" anchor="ctr"/>
          <a:lstStyle/>
          <a:p>
            <a:pPr indent="0" marL="0">
              <a:buNone/>
            </a:pPr>
            <a:r>
              <a:rPr lang="en-US" sz="900" b="1" spc="80" kern="0" dirty="0">
                <a:solidFill>
                  <a:srgbClr val="0C2A43"/>
                </a:solidFill>
                <a:latin typeface="Calibri" pitchFamily="34" charset="0"/>
                <a:ea typeface="Calibri" pitchFamily="34" charset="-122"/>
                <a:cs typeface="Calibri" pitchFamily="34" charset="-120"/>
              </a:rPr>
              <a:t>HAREL TAYEB, CEO, eTeacher Group</a:t>
            </a:r>
            <a:endParaRPr lang="en-US" sz="900" dirty="0"/>
          </a:p>
        </p:txBody>
      </p:sp>
      <p:sp>
        <p:nvSpPr>
          <p:cNvPr id="12" name="Text 10"/>
          <p:cNvSpPr/>
          <p:nvPr/>
        </p:nvSpPr>
        <p:spPr>
          <a:xfrm>
            <a:off x="859536" y="5294376"/>
            <a:ext cx="4879696" cy="466344"/>
          </a:xfrm>
          <a:prstGeom prst="rect">
            <a:avLst/>
          </a:prstGeom>
          <a:noFill/>
          <a:ln/>
        </p:spPr>
        <p:txBody>
          <a:bodyPr wrap="square" rtlCol="0" anchor="ctr"/>
          <a:lstStyle/>
          <a:p>
            <a:pPr indent="0" marL="0">
              <a:lnSpc>
                <a:spcPct val="108000"/>
              </a:lnSpc>
              <a:buNone/>
            </a:pPr>
            <a:r>
              <a:rPr lang="en-US" sz="1000" b="1" i="1" dirty="0">
                <a:solidFill>
                  <a:srgbClr val="FFF3DA"/>
                </a:solidFill>
                <a:latin typeface="Calibri" pitchFamily="34" charset="0"/>
                <a:ea typeface="Calibri" pitchFamily="34" charset="-122"/>
                <a:cs typeface="Calibri" pitchFamily="34" charset="-120"/>
              </a:rPr>
              <a:t>“We are focused on impact and results, and Julie's results speak for themselves. Our whole mission is to democratize what used to be a luxury — and a $12-a-day protocol that beats a $2-million-a-year one is the clearest case we could ask for.”</a:t>
            </a:r>
            <a:endParaRPr lang="en-US" sz="1000" dirty="0"/>
          </a:p>
        </p:txBody>
      </p:sp>
      <p:sp>
        <p:nvSpPr>
          <p:cNvPr id="13" name="Text 11"/>
          <p:cNvSpPr/>
          <p:nvPr/>
        </p:nvSpPr>
        <p:spPr>
          <a:xfrm>
            <a:off x="859536" y="5833872"/>
            <a:ext cx="4879696" cy="329184"/>
          </a:xfrm>
          <a:prstGeom prst="rect">
            <a:avLst/>
          </a:prstGeom>
          <a:noFill/>
          <a:ln/>
        </p:spPr>
        <p:txBody>
          <a:bodyPr wrap="square" rtlCol="0" anchor="b"/>
          <a:lstStyle/>
          <a:p>
            <a:pPr indent="0" marL="0">
              <a:lnSpc>
                <a:spcPct val="102000"/>
              </a:lnSpc>
              <a:buNone/>
            </a:pPr>
            <a:r>
              <a:rPr lang="en-US" sz="680" i="1" dirty="0">
                <a:solidFill>
                  <a:srgbClr val="C9B892"/>
                </a:solidFill>
                <a:latin typeface="Calibri" pitchFamily="34" charset="0"/>
                <a:ea typeface="Calibri" pitchFamily="34" charset="-122"/>
                <a:cs typeface="Calibri" pitchFamily="34" charset="-120"/>
              </a:rPr>
              <a:t>Sentence 1 is verbatim from TheMarker Labels (1 Feb 2026), Q2. Sentence 2 is the one voice-matched new line — flagged for CEO approval.</a:t>
            </a:r>
            <a:endParaRPr lang="en-US" sz="680" dirty="0"/>
          </a:p>
        </p:txBody>
      </p:sp>
      <p:sp>
        <p:nvSpPr>
          <p:cNvPr id="14" name="Shape 12"/>
          <p:cNvSpPr/>
          <p:nvPr/>
        </p:nvSpPr>
        <p:spPr>
          <a:xfrm>
            <a:off x="6233008" y="4892040"/>
            <a:ext cx="5318608" cy="1399032"/>
          </a:xfrm>
          <a:prstGeom prst="roundRect">
            <a:avLst>
              <a:gd name="adj" fmla="val 3268"/>
            </a:avLst>
          </a:prstGeom>
          <a:solidFill>
            <a:srgbClr val="FFFFFF"/>
          </a:solidFill>
          <a:ln w="15875">
            <a:solidFill>
              <a:srgbClr val="C08A2E"/>
            </a:solidFill>
            <a:prstDash val="solid"/>
          </a:ln>
        </p:spPr>
      </p:sp>
      <p:sp>
        <p:nvSpPr>
          <p:cNvPr id="15" name="Shape 13"/>
          <p:cNvSpPr/>
          <p:nvPr/>
        </p:nvSpPr>
        <p:spPr>
          <a:xfrm>
            <a:off x="6233008" y="4946904"/>
            <a:ext cx="73152" cy="1289304"/>
          </a:xfrm>
          <a:prstGeom prst="rect">
            <a:avLst/>
          </a:prstGeom>
          <a:solidFill>
            <a:srgbClr val="C08A2E"/>
          </a:solidFill>
          <a:ln/>
        </p:spPr>
      </p:sp>
      <p:sp>
        <p:nvSpPr>
          <p:cNvPr id="16" name="Text 14"/>
          <p:cNvSpPr/>
          <p:nvPr/>
        </p:nvSpPr>
        <p:spPr>
          <a:xfrm>
            <a:off x="6452464" y="4965192"/>
            <a:ext cx="4916272" cy="201168"/>
          </a:xfrm>
          <a:prstGeom prst="rect">
            <a:avLst/>
          </a:prstGeom>
          <a:noFill/>
          <a:ln/>
        </p:spPr>
        <p:txBody>
          <a:bodyPr wrap="square" rtlCol="0" anchor="ctr"/>
          <a:lstStyle/>
          <a:p>
            <a:pPr indent="0" marL="0">
              <a:buNone/>
            </a:pPr>
            <a:r>
              <a:rPr lang="en-US" sz="800" b="1" spc="80" kern="0" dirty="0">
                <a:solidFill>
                  <a:srgbClr val="6E4A12"/>
                </a:solidFill>
                <a:latin typeface="Calibri" pitchFamily="34" charset="0"/>
                <a:ea typeface="Calibri" pitchFamily="34" charset="-122"/>
                <a:cs typeface="Calibri" pitchFamily="34" charset="-120"/>
              </a:rPr>
              <a:t>JULIE GIBSON CLARK, LLA Faculty</a:t>
            </a:r>
            <a:endParaRPr lang="en-US" sz="800" dirty="0"/>
          </a:p>
        </p:txBody>
      </p:sp>
      <p:sp>
        <p:nvSpPr>
          <p:cNvPr id="17" name="Text 15"/>
          <p:cNvSpPr/>
          <p:nvPr/>
        </p:nvSpPr>
        <p:spPr>
          <a:xfrm>
            <a:off x="6452464" y="5166360"/>
            <a:ext cx="4916272" cy="649224"/>
          </a:xfrm>
          <a:prstGeom prst="rect">
            <a:avLst/>
          </a:prstGeom>
          <a:noFill/>
          <a:ln/>
        </p:spPr>
        <p:txBody>
          <a:bodyPr wrap="square" rtlCol="0" anchor="ctr"/>
          <a:lstStyle/>
          <a:p>
            <a:pPr indent="0" marL="0">
              <a:lnSpc>
                <a:spcPct val="106000"/>
              </a:lnSpc>
              <a:buNone/>
            </a:pPr>
            <a:r>
              <a:rPr lang="en-US" sz="900" i="1" dirty="0">
                <a:solidFill>
                  <a:srgbClr val="1A1F26"/>
                </a:solidFill>
                <a:latin typeface="Calibri" pitchFamily="34" charset="0"/>
                <a:ea typeface="Calibri" pitchFamily="34" charset="-122"/>
                <a:cs typeface="Calibri" pitchFamily="34" charset="-120"/>
              </a:rPr>
              <a:t>“You have to think, ‘This is the rest of my life.’ It's not about a 10-week program for a beach body. The budget was never the barrier — the missing piece was someone teaching you what actually works.”</a:t>
            </a:r>
            <a:endParaRPr lang="en-US" sz="900" dirty="0"/>
          </a:p>
        </p:txBody>
      </p:sp>
      <p:sp>
        <p:nvSpPr>
          <p:cNvPr id="18" name="Text 16"/>
          <p:cNvSpPr/>
          <p:nvPr/>
        </p:nvSpPr>
        <p:spPr>
          <a:xfrm>
            <a:off x="6452464" y="5833872"/>
            <a:ext cx="4916272" cy="329184"/>
          </a:xfrm>
          <a:prstGeom prst="rect">
            <a:avLst/>
          </a:prstGeom>
          <a:noFill/>
          <a:ln/>
        </p:spPr>
        <p:txBody>
          <a:bodyPr wrap="square" rtlCol="0" anchor="b"/>
          <a:lstStyle/>
          <a:p>
            <a:pPr indent="0" marL="0">
              <a:lnSpc>
                <a:spcPct val="102000"/>
              </a:lnSpc>
              <a:buNone/>
            </a:pPr>
            <a:r>
              <a:rPr lang="en-US" sz="660" i="1" dirty="0">
                <a:solidFill>
                  <a:srgbClr val="5C6672"/>
                </a:solidFill>
                <a:latin typeface="Calibri" pitchFamily="34" charset="0"/>
                <a:ea typeface="Calibri" pitchFamily="34" charset="-122"/>
                <a:cs typeface="Calibri" pitchFamily="34" charset="-120"/>
              </a:rPr>
              <a:t>Sentences 1–2 are verbatim from Yahoo. Sentence 3 is the one voice-matched new line — flagged for approval.</a:t>
            </a:r>
            <a:endParaRPr lang="en-US" sz="660" dirty="0"/>
          </a:p>
        </p:txBody>
      </p:sp>
      <p:sp>
        <p:nvSpPr>
          <p:cNvPr id="19" name="Text 17"/>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C08A2E"/>
                </a:solidFill>
                <a:latin typeface="Calibri" pitchFamily="34" charset="0"/>
                <a:ea typeface="Calibri" pitchFamily="34" charset="-122"/>
                <a:cs typeface="Calibri" pitchFamily="34" charset="-120"/>
              </a:rPr>
              <a:t>ARTICLE 2.3   ·   </a:t>
            </a:r>
            <a:pPr indent="0" marL="0">
              <a:buNone/>
            </a:pPr>
            <a:r>
              <a:rPr lang="en-US" sz="1050" b="1" spc="150" kern="0" dirty="0">
                <a:solidFill>
                  <a:srgbClr val="5C6672"/>
                </a:solidFill>
                <a:latin typeface="Calibri" pitchFamily="34" charset="0"/>
                <a:ea typeface="Calibri" pitchFamily="34" charset="-122"/>
                <a:cs typeface="Calibri" pitchFamily="34" charset="-120"/>
              </a:rPr>
              <a:t>SINGLE-MOM HUMAN INTEREST — “MY WHY IS MY SON”</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C08A2E"/>
                </a:solidFill>
                <a:latin typeface="Calibri" pitchFamily="34" charset="0"/>
                <a:ea typeface="Calibri" pitchFamily="34" charset="-122"/>
                <a:cs typeface="Calibri" pitchFamily="34" charset="-120"/>
              </a:rPr>
              <a:t>Today / People / Yahoo Life</a:t>
            </a:r>
            <a:endParaRPr lang="en-US" sz="950" dirty="0"/>
          </a:p>
        </p:txBody>
      </p:sp>
      <p:sp>
        <p:nvSpPr>
          <p:cNvPr id="4" name="Text 2"/>
          <p:cNvSpPr/>
          <p:nvPr/>
        </p:nvSpPr>
        <p:spPr>
          <a:xfrm>
            <a:off x="640080" y="603504"/>
            <a:ext cx="10911535" cy="896112"/>
          </a:xfrm>
          <a:prstGeom prst="rect">
            <a:avLst/>
          </a:prstGeom>
          <a:noFill/>
          <a:ln/>
        </p:spPr>
        <p:txBody>
          <a:bodyPr wrap="square" rtlCol="0" anchor="t"/>
          <a:lstStyle/>
          <a:p>
            <a:pPr indent="0" marL="0">
              <a:lnSpc>
                <a:spcPct val="96000"/>
              </a:lnSpc>
              <a:buNone/>
            </a:pPr>
            <a:r>
              <a:rPr lang="en-US" sz="2600" b="1" dirty="0">
                <a:solidFill>
                  <a:srgbClr val="0C2A43"/>
                </a:solidFill>
                <a:latin typeface="Cambria" pitchFamily="34" charset="0"/>
                <a:ea typeface="Cambria" pitchFamily="34" charset="-122"/>
                <a:cs typeface="Cambria" pitchFamily="34" charset="-120"/>
              </a:rPr>
              <a:t>Single Mom Who Slowed Her Own Aging Joins Longevity Life Academy to Teach American Families</a:t>
            </a:r>
            <a:endParaRPr lang="en-US" sz="2600" dirty="0"/>
          </a:p>
        </p:txBody>
      </p:sp>
      <p:sp>
        <p:nvSpPr>
          <p:cNvPr id="5" name="Text 3"/>
          <p:cNvSpPr/>
          <p:nvPr/>
        </p:nvSpPr>
        <p:spPr>
          <a:xfrm>
            <a:off x="640080" y="1572768"/>
            <a:ext cx="10911535" cy="512064"/>
          </a:xfrm>
          <a:prstGeom prst="rect">
            <a:avLst/>
          </a:prstGeom>
          <a:noFill/>
          <a:ln/>
        </p:spPr>
        <p:txBody>
          <a:bodyPr wrap="square" rtlCol="0" anchor="t"/>
          <a:lstStyle/>
          <a:p>
            <a:pPr indent="0" marL="0">
              <a:lnSpc>
                <a:spcPct val="110000"/>
              </a:lnSpc>
              <a:buNone/>
            </a:pPr>
            <a:r>
              <a:rPr lang="en-US" sz="1350" b="1" i="1" dirty="0">
                <a:solidFill>
                  <a:srgbClr val="1A1F26"/>
                </a:solidFill>
                <a:latin typeface="Calibri" pitchFamily="34" charset="0"/>
                <a:ea typeface="Calibri" pitchFamily="34" charset="-122"/>
                <a:cs typeface="Calibri" pitchFamily="34" charset="-120"/>
              </a:rPr>
              <a:t>Julie Gibson Clark's motivation was never a leaderboard — it was being there for her son. Now she's helping thousands find their own why.</a:t>
            </a:r>
            <a:endParaRPr lang="en-US" sz="1350" dirty="0"/>
          </a:p>
        </p:txBody>
      </p:sp>
      <p:sp>
        <p:nvSpPr>
          <p:cNvPr id="6" name="Shape 4"/>
          <p:cNvSpPr/>
          <p:nvPr/>
        </p:nvSpPr>
        <p:spPr>
          <a:xfrm>
            <a:off x="640080" y="2194560"/>
            <a:ext cx="10911535" cy="0"/>
          </a:xfrm>
          <a:prstGeom prst="line">
            <a:avLst/>
          </a:prstGeom>
          <a:noFill/>
          <a:ln w="12700">
            <a:solidFill>
              <a:srgbClr val="D9DDE2"/>
            </a:solidFill>
            <a:prstDash val="solid"/>
          </a:ln>
        </p:spPr>
      </p:sp>
      <p:sp>
        <p:nvSpPr>
          <p:cNvPr id="7" name="Text 5"/>
          <p:cNvSpPr/>
          <p:nvPr/>
        </p:nvSpPr>
        <p:spPr>
          <a:xfrm>
            <a:off x="64008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PHOENIX — Before she was a longevity figure ranked second in the world, Julie Gibson Clark was a single mom who simply wanted more healthy years with her son. That personal “why” became the foundation of a routine that placed her among the slowest-aging people ever measured.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human story resonates because it inverts the usual longevity narrative. Where the field's headliners chase optimization for its own sake, Gibson Clark, 56, built her practice — a DunedinPACE of 0.665, roughly 34% slower aging — around a reason to be here, not a number to beat.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At Longevity Life Academy, that same philosophy anchors her live teaching: start with your why, then build one sustainable habit at a time until it sticks. She'll lead small cohorts of 8–15 through the 18-week Longevity Blueprint, each student working from their own glucose and wearable data.</a:t>
            </a:r>
            <a:endParaRPr lang="en-US" sz="1050" dirty="0"/>
          </a:p>
        </p:txBody>
      </p:sp>
      <p:sp>
        <p:nvSpPr>
          <p:cNvPr id="8" name="Text 6"/>
          <p:cNvSpPr/>
          <p:nvPr/>
        </p:nvSpPr>
        <p:spPr>
          <a:xfrm>
            <a:off x="649224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It's a message that fits eTeacher's belief that learning holds when it's personal and meaningful — the same conviction behind 400,000+ courses delivered across nearly 200 countries.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“I want to be here for my son — when he gets married and has kids, I want to be able to help in any way I can, and I just want to have that energy forever,” Gibson Clark said. “Helping other parents find that same why is the most meaningful work I've done.”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“When the teacher creates a personal connection, there are no real barriers and learning happens naturally,” added CEO Harel Tayeb. “Julie starts from why, not from numbers — and that is why she will reach people a leaderboard never could.”</a:t>
            </a:r>
            <a:endParaRPr lang="en-US" sz="1050" dirty="0"/>
          </a:p>
        </p:txBody>
      </p:sp>
      <p:sp>
        <p:nvSpPr>
          <p:cNvPr id="9" name="Shape 7"/>
          <p:cNvSpPr/>
          <p:nvPr/>
        </p:nvSpPr>
        <p:spPr>
          <a:xfrm>
            <a:off x="640080" y="4892040"/>
            <a:ext cx="5318608" cy="1399032"/>
          </a:xfrm>
          <a:prstGeom prst="roundRect">
            <a:avLst>
              <a:gd name="adj" fmla="val 3268"/>
            </a:avLst>
          </a:prstGeom>
          <a:solidFill>
            <a:srgbClr val="0C2A43"/>
          </a:solidFill>
          <a:ln w="25400">
            <a:solidFill>
              <a:srgbClr val="C08A2E"/>
            </a:solidFill>
            <a:prstDash val="solid"/>
          </a:ln>
        </p:spPr>
      </p:sp>
      <p:sp>
        <p:nvSpPr>
          <p:cNvPr id="10" name="Shape 8"/>
          <p:cNvSpPr/>
          <p:nvPr/>
        </p:nvSpPr>
        <p:spPr>
          <a:xfrm>
            <a:off x="658368" y="4910328"/>
            <a:ext cx="5282032" cy="310896"/>
          </a:xfrm>
          <a:prstGeom prst="rect">
            <a:avLst/>
          </a:prstGeom>
          <a:solidFill>
            <a:srgbClr val="C08A2E"/>
          </a:solidFill>
          <a:ln/>
        </p:spPr>
      </p:sp>
      <p:sp>
        <p:nvSpPr>
          <p:cNvPr id="11" name="Text 9"/>
          <p:cNvSpPr/>
          <p:nvPr/>
        </p:nvSpPr>
        <p:spPr>
          <a:xfrm>
            <a:off x="841248" y="4910328"/>
            <a:ext cx="4916272" cy="310896"/>
          </a:xfrm>
          <a:prstGeom prst="rect">
            <a:avLst/>
          </a:prstGeom>
          <a:noFill/>
          <a:ln/>
        </p:spPr>
        <p:txBody>
          <a:bodyPr wrap="square" rtlCol="0" anchor="ctr"/>
          <a:lstStyle/>
          <a:p>
            <a:pPr indent="0" marL="0">
              <a:buNone/>
            </a:pPr>
            <a:r>
              <a:rPr lang="en-US" sz="900" b="1" spc="80" kern="0" dirty="0">
                <a:solidFill>
                  <a:srgbClr val="0C2A43"/>
                </a:solidFill>
                <a:latin typeface="Calibri" pitchFamily="34" charset="0"/>
                <a:ea typeface="Calibri" pitchFamily="34" charset="-122"/>
                <a:cs typeface="Calibri" pitchFamily="34" charset="-120"/>
              </a:rPr>
              <a:t>HAREL TAYEB, CEO, eTeacher Group</a:t>
            </a:r>
            <a:endParaRPr lang="en-US" sz="900" dirty="0"/>
          </a:p>
        </p:txBody>
      </p:sp>
      <p:sp>
        <p:nvSpPr>
          <p:cNvPr id="12" name="Text 10"/>
          <p:cNvSpPr/>
          <p:nvPr/>
        </p:nvSpPr>
        <p:spPr>
          <a:xfrm>
            <a:off x="859536" y="5294376"/>
            <a:ext cx="4879696" cy="466344"/>
          </a:xfrm>
          <a:prstGeom prst="rect">
            <a:avLst/>
          </a:prstGeom>
          <a:noFill/>
          <a:ln/>
        </p:spPr>
        <p:txBody>
          <a:bodyPr wrap="square" rtlCol="0" anchor="ctr"/>
          <a:lstStyle/>
          <a:p>
            <a:pPr indent="0" marL="0">
              <a:lnSpc>
                <a:spcPct val="108000"/>
              </a:lnSpc>
              <a:buNone/>
            </a:pPr>
            <a:r>
              <a:rPr lang="en-US" sz="1000" b="1" i="1" dirty="0">
                <a:solidFill>
                  <a:srgbClr val="FFF3DA"/>
                </a:solidFill>
                <a:latin typeface="Calibri" pitchFamily="34" charset="0"/>
                <a:ea typeface="Calibri" pitchFamily="34" charset="-122"/>
                <a:cs typeface="Calibri" pitchFamily="34" charset="-120"/>
              </a:rPr>
              <a:t>“When the teacher creates a personal connection, there are no real barriers and learning happens naturally. Julie starts from why, not from numbers — and that is why she will reach people a leaderboard never could.”</a:t>
            </a:r>
            <a:endParaRPr lang="en-US" sz="1000" dirty="0"/>
          </a:p>
        </p:txBody>
      </p:sp>
      <p:sp>
        <p:nvSpPr>
          <p:cNvPr id="13" name="Text 11"/>
          <p:cNvSpPr/>
          <p:nvPr/>
        </p:nvSpPr>
        <p:spPr>
          <a:xfrm>
            <a:off x="859536" y="5833872"/>
            <a:ext cx="4879696" cy="329184"/>
          </a:xfrm>
          <a:prstGeom prst="rect">
            <a:avLst/>
          </a:prstGeom>
          <a:noFill/>
          <a:ln/>
        </p:spPr>
        <p:txBody>
          <a:bodyPr wrap="square" rtlCol="0" anchor="b"/>
          <a:lstStyle/>
          <a:p>
            <a:pPr indent="0" marL="0">
              <a:lnSpc>
                <a:spcPct val="102000"/>
              </a:lnSpc>
              <a:buNone/>
            </a:pPr>
            <a:r>
              <a:rPr lang="en-US" sz="680" i="1" dirty="0">
                <a:solidFill>
                  <a:srgbClr val="C9B892"/>
                </a:solidFill>
                <a:latin typeface="Calibri" pitchFamily="34" charset="0"/>
                <a:ea typeface="Calibri" pitchFamily="34" charset="-122"/>
                <a:cs typeface="Calibri" pitchFamily="34" charset="-120"/>
              </a:rPr>
              <a:t>Sentence 1 is verbatim from TheMarker Labels (1 Feb 2026), Q5. Sentence 2 is the one voice-matched new line — flagged for CEO approval.</a:t>
            </a:r>
            <a:endParaRPr lang="en-US" sz="680" dirty="0"/>
          </a:p>
        </p:txBody>
      </p:sp>
      <p:sp>
        <p:nvSpPr>
          <p:cNvPr id="14" name="Shape 12"/>
          <p:cNvSpPr/>
          <p:nvPr/>
        </p:nvSpPr>
        <p:spPr>
          <a:xfrm>
            <a:off x="6233008" y="4892040"/>
            <a:ext cx="5318608" cy="1399032"/>
          </a:xfrm>
          <a:prstGeom prst="roundRect">
            <a:avLst>
              <a:gd name="adj" fmla="val 3268"/>
            </a:avLst>
          </a:prstGeom>
          <a:solidFill>
            <a:srgbClr val="FFFFFF"/>
          </a:solidFill>
          <a:ln w="15875">
            <a:solidFill>
              <a:srgbClr val="C08A2E"/>
            </a:solidFill>
            <a:prstDash val="solid"/>
          </a:ln>
        </p:spPr>
      </p:sp>
      <p:sp>
        <p:nvSpPr>
          <p:cNvPr id="15" name="Shape 13"/>
          <p:cNvSpPr/>
          <p:nvPr/>
        </p:nvSpPr>
        <p:spPr>
          <a:xfrm>
            <a:off x="6233008" y="4946904"/>
            <a:ext cx="73152" cy="1289304"/>
          </a:xfrm>
          <a:prstGeom prst="rect">
            <a:avLst/>
          </a:prstGeom>
          <a:solidFill>
            <a:srgbClr val="C08A2E"/>
          </a:solidFill>
          <a:ln/>
        </p:spPr>
      </p:sp>
      <p:sp>
        <p:nvSpPr>
          <p:cNvPr id="16" name="Text 14"/>
          <p:cNvSpPr/>
          <p:nvPr/>
        </p:nvSpPr>
        <p:spPr>
          <a:xfrm>
            <a:off x="6452464" y="4965192"/>
            <a:ext cx="4916272" cy="201168"/>
          </a:xfrm>
          <a:prstGeom prst="rect">
            <a:avLst/>
          </a:prstGeom>
          <a:noFill/>
          <a:ln/>
        </p:spPr>
        <p:txBody>
          <a:bodyPr wrap="square" rtlCol="0" anchor="ctr"/>
          <a:lstStyle/>
          <a:p>
            <a:pPr indent="0" marL="0">
              <a:buNone/>
            </a:pPr>
            <a:r>
              <a:rPr lang="en-US" sz="800" b="1" spc="80" kern="0" dirty="0">
                <a:solidFill>
                  <a:srgbClr val="6E4A12"/>
                </a:solidFill>
                <a:latin typeface="Calibri" pitchFamily="34" charset="0"/>
                <a:ea typeface="Calibri" pitchFamily="34" charset="-122"/>
                <a:cs typeface="Calibri" pitchFamily="34" charset="-120"/>
              </a:rPr>
              <a:t>JULIE GIBSON CLARK, LLA Faculty</a:t>
            </a:r>
            <a:endParaRPr lang="en-US" sz="800" dirty="0"/>
          </a:p>
        </p:txBody>
      </p:sp>
      <p:sp>
        <p:nvSpPr>
          <p:cNvPr id="17" name="Text 15"/>
          <p:cNvSpPr/>
          <p:nvPr/>
        </p:nvSpPr>
        <p:spPr>
          <a:xfrm>
            <a:off x="6452464" y="5166360"/>
            <a:ext cx="4916272" cy="649224"/>
          </a:xfrm>
          <a:prstGeom prst="rect">
            <a:avLst/>
          </a:prstGeom>
          <a:noFill/>
          <a:ln/>
        </p:spPr>
        <p:txBody>
          <a:bodyPr wrap="square" rtlCol="0" anchor="ctr"/>
          <a:lstStyle/>
          <a:p>
            <a:pPr indent="0" marL="0">
              <a:lnSpc>
                <a:spcPct val="106000"/>
              </a:lnSpc>
              <a:buNone/>
            </a:pPr>
            <a:r>
              <a:rPr lang="en-US" sz="900" i="1" dirty="0">
                <a:solidFill>
                  <a:srgbClr val="1A1F26"/>
                </a:solidFill>
                <a:latin typeface="Calibri" pitchFamily="34" charset="0"/>
                <a:ea typeface="Calibri" pitchFamily="34" charset="-122"/>
                <a:cs typeface="Calibri" pitchFamily="34" charset="-120"/>
              </a:rPr>
              <a:t>“I want to be here for my son — when he gets married and has kids, I want to be able to help in any way I can, and I just want to have that energy forever. Helping other parents find that same why is the most meaningful work I've done.”</a:t>
            </a:r>
            <a:endParaRPr lang="en-US" sz="900" dirty="0"/>
          </a:p>
        </p:txBody>
      </p:sp>
      <p:sp>
        <p:nvSpPr>
          <p:cNvPr id="18" name="Text 16"/>
          <p:cNvSpPr/>
          <p:nvPr/>
        </p:nvSpPr>
        <p:spPr>
          <a:xfrm>
            <a:off x="6452464" y="5833872"/>
            <a:ext cx="4916272" cy="329184"/>
          </a:xfrm>
          <a:prstGeom prst="rect">
            <a:avLst/>
          </a:prstGeom>
          <a:noFill/>
          <a:ln/>
        </p:spPr>
        <p:txBody>
          <a:bodyPr wrap="square" rtlCol="0" anchor="b"/>
          <a:lstStyle/>
          <a:p>
            <a:pPr indent="0" marL="0">
              <a:lnSpc>
                <a:spcPct val="102000"/>
              </a:lnSpc>
              <a:buNone/>
            </a:pPr>
            <a:r>
              <a:rPr lang="en-US" sz="660" i="1" dirty="0">
                <a:solidFill>
                  <a:srgbClr val="5C6672"/>
                </a:solidFill>
                <a:latin typeface="Calibri" pitchFamily="34" charset="0"/>
                <a:ea typeface="Calibri" pitchFamily="34" charset="-122"/>
                <a:cs typeface="Calibri" pitchFamily="34" charset="-120"/>
              </a:rPr>
              <a:t>Sentence 1 is verbatim from NOVOS. Sentence 2 is the one voice-matched new line — flagged for approval.</a:t>
            </a:r>
            <a:endParaRPr lang="en-US" sz="660" dirty="0"/>
          </a:p>
        </p:txBody>
      </p:sp>
      <p:sp>
        <p:nvSpPr>
          <p:cNvPr id="19" name="Text 17"/>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C08A2E"/>
                </a:solidFill>
                <a:latin typeface="Calibri" pitchFamily="34" charset="0"/>
                <a:ea typeface="Calibri" pitchFamily="34" charset="-122"/>
                <a:cs typeface="Calibri" pitchFamily="34" charset="-120"/>
              </a:rPr>
              <a:t>ARTICLE 2.4   ·   </a:t>
            </a:r>
            <a:pPr indent="0" marL="0">
              <a:buNone/>
            </a:pPr>
            <a:r>
              <a:rPr lang="en-US" sz="1050" b="1" spc="150" kern="0" dirty="0">
                <a:solidFill>
                  <a:srgbClr val="5C6672"/>
                </a:solidFill>
                <a:latin typeface="Calibri" pitchFamily="34" charset="0"/>
                <a:ea typeface="Calibri" pitchFamily="34" charset="-122"/>
                <a:cs typeface="Calibri" pitchFamily="34" charset="-120"/>
              </a:rPr>
              <a:t>SCIENCE / DATA STORY — DUNEDINPACE AND WHAT HER PROTOCOL PROVES</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C08A2E"/>
                </a:solidFill>
                <a:latin typeface="Calibri" pitchFamily="34" charset="0"/>
                <a:ea typeface="Calibri" pitchFamily="34" charset="-122"/>
                <a:cs typeface="Calibri" pitchFamily="34" charset="-120"/>
              </a:rPr>
              <a:t>Longevity.Technology / Well+Good / Women's Health</a:t>
            </a:r>
            <a:endParaRPr lang="en-US" sz="950" dirty="0"/>
          </a:p>
        </p:txBody>
      </p:sp>
      <p:sp>
        <p:nvSpPr>
          <p:cNvPr id="4" name="Text 2"/>
          <p:cNvSpPr/>
          <p:nvPr/>
        </p:nvSpPr>
        <p:spPr>
          <a:xfrm>
            <a:off x="640080" y="603504"/>
            <a:ext cx="10911535" cy="896112"/>
          </a:xfrm>
          <a:prstGeom prst="rect">
            <a:avLst/>
          </a:prstGeom>
          <a:noFill/>
          <a:ln/>
        </p:spPr>
        <p:txBody>
          <a:bodyPr wrap="square" rtlCol="0" anchor="t"/>
          <a:lstStyle/>
          <a:p>
            <a:pPr indent="0" marL="0">
              <a:lnSpc>
                <a:spcPct val="96000"/>
              </a:lnSpc>
              <a:buNone/>
            </a:pPr>
            <a:r>
              <a:rPr lang="en-US" sz="2600" b="1" dirty="0">
                <a:solidFill>
                  <a:srgbClr val="0C2A43"/>
                </a:solidFill>
                <a:latin typeface="Cambria" pitchFamily="34" charset="0"/>
                <a:ea typeface="Cambria" pitchFamily="34" charset="-122"/>
                <a:cs typeface="Cambria" pitchFamily="34" charset="-120"/>
              </a:rPr>
              <a:t>Longevity Life Academy Instructor Julie Gibson Clark to Teach the Habits Behind Her 34%-Slower Aging</a:t>
            </a:r>
            <a:endParaRPr lang="en-US" sz="2600" dirty="0"/>
          </a:p>
        </p:txBody>
      </p:sp>
      <p:sp>
        <p:nvSpPr>
          <p:cNvPr id="5" name="Text 3"/>
          <p:cNvSpPr/>
          <p:nvPr/>
        </p:nvSpPr>
        <p:spPr>
          <a:xfrm>
            <a:off x="640080" y="1572768"/>
            <a:ext cx="10911535" cy="512064"/>
          </a:xfrm>
          <a:prstGeom prst="rect">
            <a:avLst/>
          </a:prstGeom>
          <a:noFill/>
          <a:ln/>
        </p:spPr>
        <p:txBody>
          <a:bodyPr wrap="square" rtlCol="0" anchor="t"/>
          <a:lstStyle/>
          <a:p>
            <a:pPr indent="0" marL="0">
              <a:lnSpc>
                <a:spcPct val="110000"/>
              </a:lnSpc>
              <a:buNone/>
            </a:pPr>
            <a:r>
              <a:rPr lang="en-US" sz="1350" b="1" i="1" dirty="0">
                <a:solidFill>
                  <a:srgbClr val="1A1F26"/>
                </a:solidFill>
                <a:latin typeface="Calibri" pitchFamily="34" charset="0"/>
                <a:ea typeface="Calibri" pitchFamily="34" charset="-122"/>
                <a:cs typeface="Calibri" pitchFamily="34" charset="-120"/>
              </a:rPr>
              <a:t>Her biomarker data suggests she ages about 34% slower than average; at Longevity Life Academy she'll teach the strength, protein, and VO2-max fundamentals behind it.</a:t>
            </a:r>
            <a:endParaRPr lang="en-US" sz="1350" dirty="0"/>
          </a:p>
        </p:txBody>
      </p:sp>
      <p:sp>
        <p:nvSpPr>
          <p:cNvPr id="6" name="Shape 4"/>
          <p:cNvSpPr/>
          <p:nvPr/>
        </p:nvSpPr>
        <p:spPr>
          <a:xfrm>
            <a:off x="640080" y="2194560"/>
            <a:ext cx="10911535" cy="0"/>
          </a:xfrm>
          <a:prstGeom prst="line">
            <a:avLst/>
          </a:prstGeom>
          <a:noFill/>
          <a:ln w="12700">
            <a:solidFill>
              <a:srgbClr val="D9DDE2"/>
            </a:solidFill>
            <a:prstDash val="solid"/>
          </a:ln>
        </p:spPr>
      </p:sp>
      <p:sp>
        <p:nvSpPr>
          <p:cNvPr id="7" name="Text 5"/>
          <p:cNvSpPr/>
          <p:nvPr/>
        </p:nvSpPr>
        <p:spPr>
          <a:xfrm>
            <a:off x="64008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PHOENIX — The number that made Julie Gibson Clark famous is a DunedinPACE score of 0.665 — a measure of the pace of biological aging suggesting she ages roughly 65 days for every 100, or about 34% slower than average. She now brings the science behind that number to Longevity Life Academy.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It matters because it reframes the debate. Gibson Clark, 56, reached that result not through exotic interventions but through measurable, repeatable fundamentals: strength training, 100–130g of protein daily, VO2-max work via the Norwegian 4x4 protocol plus Zone 2, sauna and cold exposure, and 7–8 hours of sleep.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That evidence-based, data-driven approach maps directly onto LLA's method, which puts an Abbott Lingo continuous glucose monitor in every student's hands before Lesson 5 and teaches them to read glucose, HRV, and sleep as a live feedback loop across the six pillars.</a:t>
            </a:r>
            <a:endParaRPr lang="en-US" sz="1050" dirty="0"/>
          </a:p>
        </p:txBody>
      </p:sp>
      <p:sp>
        <p:nvSpPr>
          <p:cNvPr id="8" name="Text 6"/>
          <p:cNvSpPr/>
          <p:nvPr/>
        </p:nvSpPr>
        <p:spPr>
          <a:xfrm>
            <a:off x="649224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Her focus areas align with the curriculum's Exercise &amp; Movement, Nutrition, Sleep, and Stress Management pillars — alongside named instructors such as UC Santa Barbara senior lecturer and NASM-certified trainer Amy Jamieson — grounding the program in verifiable outcomes rather than trends.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“I think the biggest bang for your buck right now is eating right, exercising and sleeping — that alone will optimize your cells,” Gibson Clark said. “The data just confirms what the fundamentals were doing all along.”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eTeacher says a dedicated Biomarkers &amp; Advanced Wearables course is on its roadmap, extending the data-first teaching Gibson Clark exemplifies.</a:t>
            </a:r>
            <a:endParaRPr lang="en-US" sz="1050" dirty="0"/>
          </a:p>
        </p:txBody>
      </p:sp>
      <p:sp>
        <p:nvSpPr>
          <p:cNvPr id="9" name="Shape 7"/>
          <p:cNvSpPr/>
          <p:nvPr/>
        </p:nvSpPr>
        <p:spPr>
          <a:xfrm>
            <a:off x="640080" y="4892040"/>
            <a:ext cx="10911535" cy="1399032"/>
          </a:xfrm>
          <a:prstGeom prst="roundRect">
            <a:avLst>
              <a:gd name="adj" fmla="val 3268"/>
            </a:avLst>
          </a:prstGeom>
          <a:solidFill>
            <a:srgbClr val="FFFFFF"/>
          </a:solidFill>
          <a:ln w="15875">
            <a:solidFill>
              <a:srgbClr val="C08A2E"/>
            </a:solidFill>
            <a:prstDash val="solid"/>
          </a:ln>
        </p:spPr>
      </p:sp>
      <p:sp>
        <p:nvSpPr>
          <p:cNvPr id="10" name="Shape 8"/>
          <p:cNvSpPr/>
          <p:nvPr/>
        </p:nvSpPr>
        <p:spPr>
          <a:xfrm>
            <a:off x="640080" y="4946904"/>
            <a:ext cx="73152" cy="1289304"/>
          </a:xfrm>
          <a:prstGeom prst="rect">
            <a:avLst/>
          </a:prstGeom>
          <a:solidFill>
            <a:srgbClr val="C08A2E"/>
          </a:solidFill>
          <a:ln/>
        </p:spPr>
      </p:sp>
      <p:sp>
        <p:nvSpPr>
          <p:cNvPr id="11" name="Text 9"/>
          <p:cNvSpPr/>
          <p:nvPr/>
        </p:nvSpPr>
        <p:spPr>
          <a:xfrm>
            <a:off x="859536" y="4965192"/>
            <a:ext cx="10509199" cy="201168"/>
          </a:xfrm>
          <a:prstGeom prst="rect">
            <a:avLst/>
          </a:prstGeom>
          <a:noFill/>
          <a:ln/>
        </p:spPr>
        <p:txBody>
          <a:bodyPr wrap="square" rtlCol="0" anchor="ctr"/>
          <a:lstStyle/>
          <a:p>
            <a:pPr indent="0" marL="0">
              <a:buNone/>
            </a:pPr>
            <a:r>
              <a:rPr lang="en-US" sz="800" b="1" spc="80" kern="0" dirty="0">
                <a:solidFill>
                  <a:srgbClr val="6E4A12"/>
                </a:solidFill>
                <a:latin typeface="Calibri" pitchFamily="34" charset="0"/>
                <a:ea typeface="Calibri" pitchFamily="34" charset="-122"/>
                <a:cs typeface="Calibri" pitchFamily="34" charset="-120"/>
              </a:rPr>
              <a:t>HIGHLIGHTED QUOTE  ·  JULIE GIBSON CLARK, LLA Faculty</a:t>
            </a:r>
            <a:endParaRPr lang="en-US" sz="800" dirty="0"/>
          </a:p>
        </p:txBody>
      </p:sp>
      <p:sp>
        <p:nvSpPr>
          <p:cNvPr id="12" name="Text 10"/>
          <p:cNvSpPr/>
          <p:nvPr/>
        </p:nvSpPr>
        <p:spPr>
          <a:xfrm>
            <a:off x="859536" y="5166360"/>
            <a:ext cx="10509199" cy="649224"/>
          </a:xfrm>
          <a:prstGeom prst="rect">
            <a:avLst/>
          </a:prstGeom>
          <a:noFill/>
          <a:ln/>
        </p:spPr>
        <p:txBody>
          <a:bodyPr wrap="square" rtlCol="0" anchor="t"/>
          <a:lstStyle/>
          <a:p>
            <a:pPr indent="0" marL="0">
              <a:lnSpc>
                <a:spcPct val="106000"/>
              </a:lnSpc>
              <a:buNone/>
            </a:pPr>
            <a:r>
              <a:rPr lang="en-US" sz="1000" i="1" dirty="0">
                <a:solidFill>
                  <a:srgbClr val="1A1F26"/>
                </a:solidFill>
                <a:latin typeface="Calibri" pitchFamily="34" charset="0"/>
                <a:ea typeface="Calibri" pitchFamily="34" charset="-122"/>
                <a:cs typeface="Calibri" pitchFamily="34" charset="-120"/>
              </a:rPr>
              <a:t>“I think the biggest bang for your buck right now is eating right, exercising and sleeping — that alone will optimize your cells. The data just confirms what the fundamentals were doing all along.”</a:t>
            </a:r>
            <a:endParaRPr lang="en-US" sz="1000" dirty="0"/>
          </a:p>
        </p:txBody>
      </p:sp>
      <p:sp>
        <p:nvSpPr>
          <p:cNvPr id="13" name="Text 11"/>
          <p:cNvSpPr/>
          <p:nvPr/>
        </p:nvSpPr>
        <p:spPr>
          <a:xfrm>
            <a:off x="859536" y="5833872"/>
            <a:ext cx="10509199" cy="329184"/>
          </a:xfrm>
          <a:prstGeom prst="rect">
            <a:avLst/>
          </a:prstGeom>
          <a:noFill/>
          <a:ln/>
        </p:spPr>
        <p:txBody>
          <a:bodyPr wrap="square" rtlCol="0" anchor="b"/>
          <a:lstStyle/>
          <a:p>
            <a:pPr indent="0" marL="0">
              <a:lnSpc>
                <a:spcPct val="102000"/>
              </a:lnSpc>
              <a:buNone/>
            </a:pPr>
            <a:r>
              <a:rPr lang="en-US" sz="660" i="1" dirty="0">
                <a:solidFill>
                  <a:srgbClr val="5C6672"/>
                </a:solidFill>
                <a:latin typeface="Calibri" pitchFamily="34" charset="0"/>
                <a:ea typeface="Calibri" pitchFamily="34" charset="-122"/>
                <a:cs typeface="Calibri" pitchFamily="34" charset="-120"/>
              </a:rPr>
              <a:t>Sentence 1 is verbatim from The Sun. Sentence 2 is the one voice-matched new line — flagged for approval.</a:t>
            </a:r>
            <a:endParaRPr lang="en-US" sz="66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C08A2E"/>
                </a:solidFill>
                <a:latin typeface="Calibri" pitchFamily="34" charset="0"/>
                <a:ea typeface="Calibri" pitchFamily="34" charset="-122"/>
                <a:cs typeface="Calibri" pitchFamily="34" charset="-120"/>
              </a:rPr>
              <a:t>ARTICLE 2.5   ·   </a:t>
            </a:r>
            <a:pPr indent="0" marL="0">
              <a:buNone/>
            </a:pPr>
            <a:r>
              <a:rPr lang="en-US" sz="1050" b="1" spc="150" kern="0" dirty="0">
                <a:solidFill>
                  <a:srgbClr val="5C6672"/>
                </a:solidFill>
                <a:latin typeface="Calibri" pitchFamily="34" charset="0"/>
                <a:ea typeface="Calibri" pitchFamily="34" charset="-122"/>
                <a:cs typeface="Calibri" pitchFamily="34" charset="-120"/>
              </a:rPr>
              <a:t>ACCESSIBLE-LONGEVITY MISSION FIT WITH LLA</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C08A2E"/>
                </a:solidFill>
                <a:latin typeface="Calibri" pitchFamily="34" charset="0"/>
                <a:ea typeface="Calibri" pitchFamily="34" charset="-122"/>
                <a:cs typeface="Calibri" pitchFamily="34" charset="-120"/>
              </a:rPr>
              <a:t>Fast Company / TIME / The Atlantic (contributed)</a:t>
            </a:r>
            <a:endParaRPr lang="en-US" sz="950" dirty="0"/>
          </a:p>
        </p:txBody>
      </p:sp>
      <p:sp>
        <p:nvSpPr>
          <p:cNvPr id="4" name="Text 2"/>
          <p:cNvSpPr/>
          <p:nvPr/>
        </p:nvSpPr>
        <p:spPr>
          <a:xfrm>
            <a:off x="640080" y="603504"/>
            <a:ext cx="10911535" cy="896112"/>
          </a:xfrm>
          <a:prstGeom prst="rect">
            <a:avLst/>
          </a:prstGeom>
          <a:noFill/>
          <a:ln/>
        </p:spPr>
        <p:txBody>
          <a:bodyPr wrap="square" rtlCol="0" anchor="t"/>
          <a:lstStyle/>
          <a:p>
            <a:pPr indent="0" marL="0">
              <a:lnSpc>
                <a:spcPct val="96000"/>
              </a:lnSpc>
              <a:buNone/>
            </a:pPr>
            <a:r>
              <a:rPr lang="en-US" sz="2600" b="1" dirty="0">
                <a:solidFill>
                  <a:srgbClr val="0C2A43"/>
                </a:solidFill>
                <a:latin typeface="Cambria" pitchFamily="34" charset="0"/>
                <a:ea typeface="Cambria" pitchFamily="34" charset="-122"/>
                <a:cs typeface="Cambria" pitchFamily="34" charset="-120"/>
              </a:rPr>
              <a:t>eTeacher's Longevity Life Academy Recruits Julie Gibson Clark to Make Longevity Affordable for Mainstream Families</a:t>
            </a:r>
            <a:endParaRPr lang="en-US" sz="2600" dirty="0"/>
          </a:p>
        </p:txBody>
      </p:sp>
      <p:sp>
        <p:nvSpPr>
          <p:cNvPr id="5" name="Text 3"/>
          <p:cNvSpPr/>
          <p:nvPr/>
        </p:nvSpPr>
        <p:spPr>
          <a:xfrm>
            <a:off x="640080" y="1572768"/>
            <a:ext cx="10911535" cy="512064"/>
          </a:xfrm>
          <a:prstGeom prst="rect">
            <a:avLst/>
          </a:prstGeom>
          <a:noFill/>
          <a:ln/>
        </p:spPr>
        <p:txBody>
          <a:bodyPr wrap="square" rtlCol="0" anchor="t"/>
          <a:lstStyle/>
          <a:p>
            <a:pPr indent="0" marL="0">
              <a:lnSpc>
                <a:spcPct val="110000"/>
              </a:lnSpc>
              <a:buNone/>
            </a:pPr>
            <a:r>
              <a:rPr lang="en-US" sz="1350" b="1" i="1" dirty="0">
                <a:solidFill>
                  <a:srgbClr val="1A1F26"/>
                </a:solidFill>
                <a:latin typeface="Calibri" pitchFamily="34" charset="0"/>
                <a:ea typeface="Calibri" pitchFamily="34" charset="-122"/>
                <a:cs typeface="Calibri" pitchFamily="34" charset="-120"/>
              </a:rPr>
              <a:t>An accessible-longevity advocate on $12 a day and a 25-year education company are betting healthspan can be democratized — in an $8 trillion market that mostly serves the wealthy.</a:t>
            </a:r>
            <a:endParaRPr lang="en-US" sz="1350" dirty="0"/>
          </a:p>
        </p:txBody>
      </p:sp>
      <p:sp>
        <p:nvSpPr>
          <p:cNvPr id="6" name="Shape 4"/>
          <p:cNvSpPr/>
          <p:nvPr/>
        </p:nvSpPr>
        <p:spPr>
          <a:xfrm>
            <a:off x="640080" y="2194560"/>
            <a:ext cx="10911535" cy="0"/>
          </a:xfrm>
          <a:prstGeom prst="line">
            <a:avLst/>
          </a:prstGeom>
          <a:noFill/>
          <a:ln w="12700">
            <a:solidFill>
              <a:srgbClr val="D9DDE2"/>
            </a:solidFill>
            <a:prstDash val="solid"/>
          </a:ln>
        </p:spPr>
      </p:sp>
      <p:sp>
        <p:nvSpPr>
          <p:cNvPr id="7" name="Text 5"/>
          <p:cNvSpPr/>
          <p:nvPr/>
        </p:nvSpPr>
        <p:spPr>
          <a:xfrm>
            <a:off x="64008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PHOENIX — The promise of longevity science risks becoming a privilege of the wealthy. The partnership between Julie Gibson Clark and eTeacher's Longevity Life Academy is a deliberate bet against that outcome — pairing a practitioner who ranked #2 in the world on about $12 a day with a platform that already teaches across nearly 200 countries.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stakes are set by the market itself: UBS projects longevity will reach $8 trillion by 2030, yet its most visible offerings remain concierge clinics and $2-million-a-year regimens. Gibson Clark's story is the counterexample the category needs — elite results built from affordable fundamentals.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LLA operationalizes that counterexample. By combining a relatable, low-cost instructor with a proven live-education model — small cohorts of 8–15, an included Abbott Lingo glucose monitor, tuition from $289 a month — it aims to make personalized longevity available to mainstream American families.</a:t>
            </a:r>
            <a:endParaRPr lang="en-US" sz="1050" dirty="0"/>
          </a:p>
        </p:txBody>
      </p:sp>
      <p:sp>
        <p:nvSpPr>
          <p:cNvPr id="8" name="Text 6"/>
          <p:cNvSpPr/>
          <p:nvPr/>
        </p:nvSpPr>
        <p:spPr>
          <a:xfrm>
            <a:off x="649224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thesis is simple and testable: if millions can learn a language online in small live classes, millions can learn to extend their healthspan the same way, taught by named instructors and grounded in their own data.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“It really comes down to sleep, food, movement and connection,” Gibson Clark said. “I don't want to add one more thing to people's lives — I want to simplify, and make this reachable for the household that never thought longevity was for them.”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“We want to make accessible content with meaning that will touch the heart and the human core of each person,” added CEO Harel Tayeb.</a:t>
            </a:r>
            <a:endParaRPr lang="en-US" sz="1050" dirty="0"/>
          </a:p>
        </p:txBody>
      </p:sp>
      <p:sp>
        <p:nvSpPr>
          <p:cNvPr id="9" name="Shape 7"/>
          <p:cNvSpPr/>
          <p:nvPr/>
        </p:nvSpPr>
        <p:spPr>
          <a:xfrm>
            <a:off x="640080" y="4892040"/>
            <a:ext cx="5318608" cy="1399032"/>
          </a:xfrm>
          <a:prstGeom prst="roundRect">
            <a:avLst>
              <a:gd name="adj" fmla="val 3268"/>
            </a:avLst>
          </a:prstGeom>
          <a:solidFill>
            <a:srgbClr val="0C2A43"/>
          </a:solidFill>
          <a:ln w="25400">
            <a:solidFill>
              <a:srgbClr val="C08A2E"/>
            </a:solidFill>
            <a:prstDash val="solid"/>
          </a:ln>
        </p:spPr>
      </p:sp>
      <p:sp>
        <p:nvSpPr>
          <p:cNvPr id="10" name="Shape 8"/>
          <p:cNvSpPr/>
          <p:nvPr/>
        </p:nvSpPr>
        <p:spPr>
          <a:xfrm>
            <a:off x="658368" y="4910328"/>
            <a:ext cx="5282032" cy="310896"/>
          </a:xfrm>
          <a:prstGeom prst="rect">
            <a:avLst/>
          </a:prstGeom>
          <a:solidFill>
            <a:srgbClr val="C08A2E"/>
          </a:solidFill>
          <a:ln/>
        </p:spPr>
      </p:sp>
      <p:sp>
        <p:nvSpPr>
          <p:cNvPr id="11" name="Text 9"/>
          <p:cNvSpPr/>
          <p:nvPr/>
        </p:nvSpPr>
        <p:spPr>
          <a:xfrm>
            <a:off x="841248" y="4910328"/>
            <a:ext cx="4916272" cy="310896"/>
          </a:xfrm>
          <a:prstGeom prst="rect">
            <a:avLst/>
          </a:prstGeom>
          <a:noFill/>
          <a:ln/>
        </p:spPr>
        <p:txBody>
          <a:bodyPr wrap="square" rtlCol="0" anchor="ctr"/>
          <a:lstStyle/>
          <a:p>
            <a:pPr indent="0" marL="0">
              <a:buNone/>
            </a:pPr>
            <a:r>
              <a:rPr lang="en-US" sz="900" b="1" spc="80" kern="0" dirty="0">
                <a:solidFill>
                  <a:srgbClr val="0C2A43"/>
                </a:solidFill>
                <a:latin typeface="Calibri" pitchFamily="34" charset="0"/>
                <a:ea typeface="Calibri" pitchFamily="34" charset="-122"/>
                <a:cs typeface="Calibri" pitchFamily="34" charset="-120"/>
              </a:rPr>
              <a:t>HAREL TAYEB, CEO, eTeacher Group</a:t>
            </a:r>
            <a:endParaRPr lang="en-US" sz="900" dirty="0"/>
          </a:p>
        </p:txBody>
      </p:sp>
      <p:sp>
        <p:nvSpPr>
          <p:cNvPr id="12" name="Text 10"/>
          <p:cNvSpPr/>
          <p:nvPr/>
        </p:nvSpPr>
        <p:spPr>
          <a:xfrm>
            <a:off x="859536" y="5294376"/>
            <a:ext cx="4879696" cy="466344"/>
          </a:xfrm>
          <a:prstGeom prst="rect">
            <a:avLst/>
          </a:prstGeom>
          <a:noFill/>
          <a:ln/>
        </p:spPr>
        <p:txBody>
          <a:bodyPr wrap="square" rtlCol="0" anchor="ctr"/>
          <a:lstStyle/>
          <a:p>
            <a:pPr indent="0" marL="0">
              <a:lnSpc>
                <a:spcPct val="108000"/>
              </a:lnSpc>
              <a:buNone/>
            </a:pPr>
            <a:r>
              <a:rPr lang="en-US" sz="1000" b="1" i="1" dirty="0">
                <a:solidFill>
                  <a:srgbClr val="FFF3DA"/>
                </a:solidFill>
                <a:latin typeface="Calibri" pitchFamily="34" charset="0"/>
                <a:ea typeface="Calibri" pitchFamily="34" charset="-122"/>
                <a:cs typeface="Calibri" pitchFamily="34" charset="-120"/>
              </a:rPr>
              <a:t>“We want to make accessible content with meaning that will touch the heart and the human core of each person. Julie gives that mission a face — real, relatable, and living proof that a longer, healthier life is within reach for anyone.”</a:t>
            </a:r>
            <a:endParaRPr lang="en-US" sz="1000" dirty="0"/>
          </a:p>
        </p:txBody>
      </p:sp>
      <p:sp>
        <p:nvSpPr>
          <p:cNvPr id="13" name="Text 11"/>
          <p:cNvSpPr/>
          <p:nvPr/>
        </p:nvSpPr>
        <p:spPr>
          <a:xfrm>
            <a:off x="859536" y="5833872"/>
            <a:ext cx="4879696" cy="329184"/>
          </a:xfrm>
          <a:prstGeom prst="rect">
            <a:avLst/>
          </a:prstGeom>
          <a:noFill/>
          <a:ln/>
        </p:spPr>
        <p:txBody>
          <a:bodyPr wrap="square" rtlCol="0" anchor="b"/>
          <a:lstStyle/>
          <a:p>
            <a:pPr indent="0" marL="0">
              <a:lnSpc>
                <a:spcPct val="102000"/>
              </a:lnSpc>
              <a:buNone/>
            </a:pPr>
            <a:r>
              <a:rPr lang="en-US" sz="680" i="1" dirty="0">
                <a:solidFill>
                  <a:srgbClr val="C9B892"/>
                </a:solidFill>
                <a:latin typeface="Calibri" pitchFamily="34" charset="0"/>
                <a:ea typeface="Calibri" pitchFamily="34" charset="-122"/>
                <a:cs typeface="Calibri" pitchFamily="34" charset="-120"/>
              </a:rPr>
              <a:t>Sentence 1 is verbatim from TheMarker Labels (1 Feb 2026), Q9. Sentence 2 is the one voice-matched new line — flagged for CEO approval.</a:t>
            </a:r>
            <a:endParaRPr lang="en-US" sz="680" dirty="0"/>
          </a:p>
        </p:txBody>
      </p:sp>
      <p:sp>
        <p:nvSpPr>
          <p:cNvPr id="14" name="Shape 12"/>
          <p:cNvSpPr/>
          <p:nvPr/>
        </p:nvSpPr>
        <p:spPr>
          <a:xfrm>
            <a:off x="6233008" y="4892040"/>
            <a:ext cx="5318608" cy="1399032"/>
          </a:xfrm>
          <a:prstGeom prst="roundRect">
            <a:avLst>
              <a:gd name="adj" fmla="val 3268"/>
            </a:avLst>
          </a:prstGeom>
          <a:solidFill>
            <a:srgbClr val="FFFFFF"/>
          </a:solidFill>
          <a:ln w="15875">
            <a:solidFill>
              <a:srgbClr val="C08A2E"/>
            </a:solidFill>
            <a:prstDash val="solid"/>
          </a:ln>
        </p:spPr>
      </p:sp>
      <p:sp>
        <p:nvSpPr>
          <p:cNvPr id="15" name="Shape 13"/>
          <p:cNvSpPr/>
          <p:nvPr/>
        </p:nvSpPr>
        <p:spPr>
          <a:xfrm>
            <a:off x="6233008" y="4946904"/>
            <a:ext cx="73152" cy="1289304"/>
          </a:xfrm>
          <a:prstGeom prst="rect">
            <a:avLst/>
          </a:prstGeom>
          <a:solidFill>
            <a:srgbClr val="C08A2E"/>
          </a:solidFill>
          <a:ln/>
        </p:spPr>
      </p:sp>
      <p:sp>
        <p:nvSpPr>
          <p:cNvPr id="16" name="Text 14"/>
          <p:cNvSpPr/>
          <p:nvPr/>
        </p:nvSpPr>
        <p:spPr>
          <a:xfrm>
            <a:off x="6452464" y="4965192"/>
            <a:ext cx="4916272" cy="201168"/>
          </a:xfrm>
          <a:prstGeom prst="rect">
            <a:avLst/>
          </a:prstGeom>
          <a:noFill/>
          <a:ln/>
        </p:spPr>
        <p:txBody>
          <a:bodyPr wrap="square" rtlCol="0" anchor="ctr"/>
          <a:lstStyle/>
          <a:p>
            <a:pPr indent="0" marL="0">
              <a:buNone/>
            </a:pPr>
            <a:r>
              <a:rPr lang="en-US" sz="800" b="1" spc="80" kern="0" dirty="0">
                <a:solidFill>
                  <a:srgbClr val="6E4A12"/>
                </a:solidFill>
                <a:latin typeface="Calibri" pitchFamily="34" charset="0"/>
                <a:ea typeface="Calibri" pitchFamily="34" charset="-122"/>
                <a:cs typeface="Calibri" pitchFamily="34" charset="-120"/>
              </a:rPr>
              <a:t>JULIE GIBSON CLARK, LLA Faculty</a:t>
            </a:r>
            <a:endParaRPr lang="en-US" sz="800" dirty="0"/>
          </a:p>
        </p:txBody>
      </p:sp>
      <p:sp>
        <p:nvSpPr>
          <p:cNvPr id="17" name="Text 15"/>
          <p:cNvSpPr/>
          <p:nvPr/>
        </p:nvSpPr>
        <p:spPr>
          <a:xfrm>
            <a:off x="6452464" y="5166360"/>
            <a:ext cx="4916272" cy="649224"/>
          </a:xfrm>
          <a:prstGeom prst="rect">
            <a:avLst/>
          </a:prstGeom>
          <a:noFill/>
          <a:ln/>
        </p:spPr>
        <p:txBody>
          <a:bodyPr wrap="square" rtlCol="0" anchor="ctr"/>
          <a:lstStyle/>
          <a:p>
            <a:pPr indent="0" marL="0">
              <a:lnSpc>
                <a:spcPct val="106000"/>
              </a:lnSpc>
              <a:buNone/>
            </a:pPr>
            <a:r>
              <a:rPr lang="en-US" sz="900" i="1" dirty="0">
                <a:solidFill>
                  <a:srgbClr val="1A1F26"/>
                </a:solidFill>
                <a:latin typeface="Calibri" pitchFamily="34" charset="0"/>
                <a:ea typeface="Calibri" pitchFamily="34" charset="-122"/>
                <a:cs typeface="Calibri" pitchFamily="34" charset="-120"/>
              </a:rPr>
              <a:t>“It really comes down to sleep, food, movement and connection. I don't want to add one more thing to people's lives — I want to simplify, and make this reachable for the household that never thought longevity was for them.”</a:t>
            </a:r>
            <a:endParaRPr lang="en-US" sz="900" dirty="0"/>
          </a:p>
        </p:txBody>
      </p:sp>
      <p:sp>
        <p:nvSpPr>
          <p:cNvPr id="18" name="Text 16"/>
          <p:cNvSpPr/>
          <p:nvPr/>
        </p:nvSpPr>
        <p:spPr>
          <a:xfrm>
            <a:off x="6452464" y="5833872"/>
            <a:ext cx="4916272" cy="329184"/>
          </a:xfrm>
          <a:prstGeom prst="rect">
            <a:avLst/>
          </a:prstGeom>
          <a:noFill/>
          <a:ln/>
        </p:spPr>
        <p:txBody>
          <a:bodyPr wrap="square" rtlCol="0" anchor="b"/>
          <a:lstStyle/>
          <a:p>
            <a:pPr indent="0" marL="0">
              <a:lnSpc>
                <a:spcPct val="102000"/>
              </a:lnSpc>
              <a:buNone/>
            </a:pPr>
            <a:r>
              <a:rPr lang="en-US" sz="660" i="1" dirty="0">
                <a:solidFill>
                  <a:srgbClr val="5C6672"/>
                </a:solidFill>
                <a:latin typeface="Calibri" pitchFamily="34" charset="0"/>
                <a:ea typeface="Calibri" pitchFamily="34" charset="-122"/>
                <a:cs typeface="Calibri" pitchFamily="34" charset="-120"/>
              </a:rPr>
              <a:t>Sentence 1 is verbatim from her 2026 YouTube interview. Sentence 2 is the one voice-matched new line — flagged for approval.</a:t>
            </a:r>
            <a:endParaRPr lang="en-US" sz="660" dirty="0"/>
          </a:p>
        </p:txBody>
      </p:sp>
      <p:sp>
        <p:nvSpPr>
          <p:cNvPr id="19" name="Text 17"/>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C08A2E"/>
                </a:solidFill>
                <a:latin typeface="Calibri" pitchFamily="34" charset="0"/>
                <a:ea typeface="Calibri" pitchFamily="34" charset="-122"/>
                <a:cs typeface="Calibri" pitchFamily="34" charset="-120"/>
              </a:rPr>
              <a:t>ARTICLE 2.6   ·   </a:t>
            </a:r>
            <a:pPr indent="0" marL="0">
              <a:buNone/>
            </a:pPr>
            <a:r>
              <a:rPr lang="en-US" sz="1050" b="1" spc="150" kern="0" dirty="0">
                <a:solidFill>
                  <a:srgbClr val="5C6672"/>
                </a:solidFill>
                <a:latin typeface="Calibri" pitchFamily="34" charset="0"/>
                <a:ea typeface="Calibri" pitchFamily="34" charset="-122"/>
                <a:cs typeface="Calibri" pitchFamily="34" charset="-120"/>
              </a:rPr>
              <a:t>HER CURRICULUM CONTRIBUTION — WHAT SHE'LL TEACH</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C08A2E"/>
                </a:solidFill>
                <a:latin typeface="Calibri" pitchFamily="34" charset="0"/>
                <a:ea typeface="Calibri" pitchFamily="34" charset="-122"/>
                <a:cs typeface="Calibri" pitchFamily="34" charset="-120"/>
              </a:rPr>
              <a:t>Well+Good / Women's Health / mindbodygreen</a:t>
            </a:r>
            <a:endParaRPr lang="en-US" sz="950" dirty="0"/>
          </a:p>
        </p:txBody>
      </p:sp>
      <p:sp>
        <p:nvSpPr>
          <p:cNvPr id="4" name="Text 2"/>
          <p:cNvSpPr/>
          <p:nvPr/>
        </p:nvSpPr>
        <p:spPr>
          <a:xfrm>
            <a:off x="640080" y="603504"/>
            <a:ext cx="10911535" cy="896112"/>
          </a:xfrm>
          <a:prstGeom prst="rect">
            <a:avLst/>
          </a:prstGeom>
          <a:noFill/>
          <a:ln/>
        </p:spPr>
        <p:txBody>
          <a:bodyPr wrap="square" rtlCol="0" anchor="t"/>
          <a:lstStyle/>
          <a:p>
            <a:pPr indent="0" marL="0">
              <a:lnSpc>
                <a:spcPct val="96000"/>
              </a:lnSpc>
              <a:buNone/>
            </a:pPr>
            <a:r>
              <a:rPr lang="en-US" sz="2600" b="1" dirty="0">
                <a:solidFill>
                  <a:srgbClr val="0C2A43"/>
                </a:solidFill>
                <a:latin typeface="Cambria" pitchFamily="34" charset="0"/>
                <a:ea typeface="Cambria" pitchFamily="34" charset="-122"/>
                <a:cs typeface="Cambria" pitchFamily="34" charset="-120"/>
              </a:rPr>
              <a:t>Julie Gibson Clark Joins Longevity Life Academy to Teach Its 18-Week Live Longevity Blueprint</a:t>
            </a:r>
            <a:endParaRPr lang="en-US" sz="2600" dirty="0"/>
          </a:p>
        </p:txBody>
      </p:sp>
      <p:sp>
        <p:nvSpPr>
          <p:cNvPr id="5" name="Text 3"/>
          <p:cNvSpPr/>
          <p:nvPr/>
        </p:nvSpPr>
        <p:spPr>
          <a:xfrm>
            <a:off x="640080" y="1572768"/>
            <a:ext cx="10911535" cy="512064"/>
          </a:xfrm>
          <a:prstGeom prst="rect">
            <a:avLst/>
          </a:prstGeom>
          <a:noFill/>
          <a:ln/>
        </p:spPr>
        <p:txBody>
          <a:bodyPr wrap="square" rtlCol="0" anchor="t"/>
          <a:lstStyle/>
          <a:p>
            <a:pPr indent="0" marL="0">
              <a:lnSpc>
                <a:spcPct val="110000"/>
              </a:lnSpc>
              <a:buNone/>
            </a:pPr>
            <a:r>
              <a:rPr lang="en-US" sz="1350" b="1" i="1" dirty="0">
                <a:solidFill>
                  <a:srgbClr val="1A1F26"/>
                </a:solidFill>
                <a:latin typeface="Calibri" pitchFamily="34" charset="0"/>
                <a:ea typeface="Calibri" pitchFamily="34" charset="-122"/>
                <a:cs typeface="Calibri" pitchFamily="34" charset="-120"/>
              </a:rPr>
              <a:t>The recruiter who held the Rejuvenation Olympics #2 spot for over a year joins Longevity Life Academy to teach strength, protein, and sleep as the trainable foundations of a longer life.</a:t>
            </a:r>
            <a:endParaRPr lang="en-US" sz="1350" dirty="0"/>
          </a:p>
        </p:txBody>
      </p:sp>
      <p:sp>
        <p:nvSpPr>
          <p:cNvPr id="6" name="Shape 4"/>
          <p:cNvSpPr/>
          <p:nvPr/>
        </p:nvSpPr>
        <p:spPr>
          <a:xfrm>
            <a:off x="640080" y="2194560"/>
            <a:ext cx="10911535" cy="0"/>
          </a:xfrm>
          <a:prstGeom prst="line">
            <a:avLst/>
          </a:prstGeom>
          <a:noFill/>
          <a:ln w="12700">
            <a:solidFill>
              <a:srgbClr val="D9DDE2"/>
            </a:solidFill>
            <a:prstDash val="solid"/>
          </a:ln>
        </p:spPr>
      </p:sp>
      <p:sp>
        <p:nvSpPr>
          <p:cNvPr id="7" name="Text 5"/>
          <p:cNvSpPr/>
          <p:nvPr/>
        </p:nvSpPr>
        <p:spPr>
          <a:xfrm>
            <a:off x="64008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PHOENIX — As Julie Gibson Clark joins Longevity Life Academy's live faculty, the practical question is what, exactly, she'll teach — and the answer mirrors the routine that made her a global story: build one sustainable habit at a time until it becomes automatic.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Her curriculum contribution slots directly into LLA's six pillars. Gibson Clark's expertise — strength training, 100–130g of protein daily, VO2-max and Zone 2 conditioning, sauna and cold, and disciplined 7–8-hour sleep — maps onto the Exercise &amp; Movement, Nutrition, Sleep, and Stress Management pillars of the 18-week program.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Within the four-phase Longevity Blueprint, she'll guide small cohorts of 8–15 as they move from Foundation through Data &amp; Discovery — the phase where each student's Abbott Lingo glucose monitor arrives before Lesson 5 — to a written protocol tested against their own biology.</a:t>
            </a:r>
            <a:endParaRPr lang="en-US" sz="1050" dirty="0"/>
          </a:p>
        </p:txBody>
      </p:sp>
      <p:sp>
        <p:nvSpPr>
          <p:cNvPr id="8" name="Text 6"/>
          <p:cNvSpPr/>
          <p:nvPr/>
        </p:nvSpPr>
        <p:spPr>
          <a:xfrm>
            <a:off x="649224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She joins a named faculty that includes longevity researcher Natalie Blackbourne, integrative nutrition coach Courtney Donofrio, and behavioral specialist Jordan Lattimore, adding a practitioner's real-world track record to their academic credentials.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“I'm going to introduce one new habit and practice it until it becomes as routine as brushing my teeth,” Gibson Clark said of her teaching approach. “In the classroom, I get to do that alongside students, week by week, instead of them going it alone.”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eTeacher says a continuation course, Longevity Blueprint 2, is on the roadmap, giving graduates a next step in the same live, cohort-based format.</a:t>
            </a:r>
            <a:endParaRPr lang="en-US" sz="1050" dirty="0"/>
          </a:p>
        </p:txBody>
      </p:sp>
      <p:sp>
        <p:nvSpPr>
          <p:cNvPr id="9" name="Shape 7"/>
          <p:cNvSpPr/>
          <p:nvPr/>
        </p:nvSpPr>
        <p:spPr>
          <a:xfrm>
            <a:off x="640080" y="4892040"/>
            <a:ext cx="10911535" cy="1399032"/>
          </a:xfrm>
          <a:prstGeom prst="roundRect">
            <a:avLst>
              <a:gd name="adj" fmla="val 3268"/>
            </a:avLst>
          </a:prstGeom>
          <a:solidFill>
            <a:srgbClr val="FFFFFF"/>
          </a:solidFill>
          <a:ln w="15875">
            <a:solidFill>
              <a:srgbClr val="C08A2E"/>
            </a:solidFill>
            <a:prstDash val="solid"/>
          </a:ln>
        </p:spPr>
      </p:sp>
      <p:sp>
        <p:nvSpPr>
          <p:cNvPr id="10" name="Shape 8"/>
          <p:cNvSpPr/>
          <p:nvPr/>
        </p:nvSpPr>
        <p:spPr>
          <a:xfrm>
            <a:off x="640080" y="4946904"/>
            <a:ext cx="73152" cy="1289304"/>
          </a:xfrm>
          <a:prstGeom prst="rect">
            <a:avLst/>
          </a:prstGeom>
          <a:solidFill>
            <a:srgbClr val="C08A2E"/>
          </a:solidFill>
          <a:ln/>
        </p:spPr>
      </p:sp>
      <p:sp>
        <p:nvSpPr>
          <p:cNvPr id="11" name="Text 9"/>
          <p:cNvSpPr/>
          <p:nvPr/>
        </p:nvSpPr>
        <p:spPr>
          <a:xfrm>
            <a:off x="859536" y="4965192"/>
            <a:ext cx="10509199" cy="201168"/>
          </a:xfrm>
          <a:prstGeom prst="rect">
            <a:avLst/>
          </a:prstGeom>
          <a:noFill/>
          <a:ln/>
        </p:spPr>
        <p:txBody>
          <a:bodyPr wrap="square" rtlCol="0" anchor="ctr"/>
          <a:lstStyle/>
          <a:p>
            <a:pPr indent="0" marL="0">
              <a:buNone/>
            </a:pPr>
            <a:r>
              <a:rPr lang="en-US" sz="800" b="1" spc="80" kern="0" dirty="0">
                <a:solidFill>
                  <a:srgbClr val="6E4A12"/>
                </a:solidFill>
                <a:latin typeface="Calibri" pitchFamily="34" charset="0"/>
                <a:ea typeface="Calibri" pitchFamily="34" charset="-122"/>
                <a:cs typeface="Calibri" pitchFamily="34" charset="-120"/>
              </a:rPr>
              <a:t>HIGHLIGHTED QUOTE  ·  JULIE GIBSON CLARK, LLA Faculty</a:t>
            </a:r>
            <a:endParaRPr lang="en-US" sz="800" dirty="0"/>
          </a:p>
        </p:txBody>
      </p:sp>
      <p:sp>
        <p:nvSpPr>
          <p:cNvPr id="12" name="Text 10"/>
          <p:cNvSpPr/>
          <p:nvPr/>
        </p:nvSpPr>
        <p:spPr>
          <a:xfrm>
            <a:off x="859536" y="5166360"/>
            <a:ext cx="10509199" cy="649224"/>
          </a:xfrm>
          <a:prstGeom prst="rect">
            <a:avLst/>
          </a:prstGeom>
          <a:noFill/>
          <a:ln/>
        </p:spPr>
        <p:txBody>
          <a:bodyPr wrap="square" rtlCol="0" anchor="t"/>
          <a:lstStyle/>
          <a:p>
            <a:pPr indent="0" marL="0">
              <a:lnSpc>
                <a:spcPct val="106000"/>
              </a:lnSpc>
              <a:buNone/>
            </a:pPr>
            <a:r>
              <a:rPr lang="en-US" sz="1000" i="1" dirty="0">
                <a:solidFill>
                  <a:srgbClr val="1A1F26"/>
                </a:solidFill>
                <a:latin typeface="Calibri" pitchFamily="34" charset="0"/>
                <a:ea typeface="Calibri" pitchFamily="34" charset="-122"/>
                <a:cs typeface="Calibri" pitchFamily="34" charset="-120"/>
              </a:rPr>
              <a:t>“I'm going to introduce one new habit and practice it until it becomes as routine as brushing my teeth. In the classroom, I get to do that alongside students, week by week, instead of them going it alone.”</a:t>
            </a:r>
            <a:endParaRPr lang="en-US" sz="1000" dirty="0"/>
          </a:p>
        </p:txBody>
      </p:sp>
      <p:sp>
        <p:nvSpPr>
          <p:cNvPr id="13" name="Text 11"/>
          <p:cNvSpPr/>
          <p:nvPr/>
        </p:nvSpPr>
        <p:spPr>
          <a:xfrm>
            <a:off x="859536" y="5833872"/>
            <a:ext cx="10509199" cy="329184"/>
          </a:xfrm>
          <a:prstGeom prst="rect">
            <a:avLst/>
          </a:prstGeom>
          <a:noFill/>
          <a:ln/>
        </p:spPr>
        <p:txBody>
          <a:bodyPr wrap="square" rtlCol="0" anchor="b"/>
          <a:lstStyle/>
          <a:p>
            <a:pPr indent="0" marL="0">
              <a:lnSpc>
                <a:spcPct val="102000"/>
              </a:lnSpc>
              <a:buNone/>
            </a:pPr>
            <a:r>
              <a:rPr lang="en-US" sz="660" i="1" dirty="0">
                <a:solidFill>
                  <a:srgbClr val="5C6672"/>
                </a:solidFill>
                <a:latin typeface="Calibri" pitchFamily="34" charset="0"/>
                <a:ea typeface="Calibri" pitchFamily="34" charset="-122"/>
                <a:cs typeface="Calibri" pitchFamily="34" charset="-120"/>
              </a:rPr>
              <a:t>Sentence 1 is verbatim from Business Insider/Yahoo. Sentence 2 is the one voice-matched new line — flagged for approval.</a:t>
            </a:r>
            <a:endParaRPr lang="en-US" sz="66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C08A2E"/>
                </a:solidFill>
                <a:latin typeface="Calibri" pitchFamily="34" charset="0"/>
                <a:ea typeface="Calibri" pitchFamily="34" charset="-122"/>
                <a:cs typeface="Calibri" pitchFamily="34" charset="-120"/>
              </a:rPr>
              <a:t>ARTICLE 2.7   ·   </a:t>
            </a:r>
            <a:pPr indent="0" marL="0">
              <a:buNone/>
            </a:pPr>
            <a:r>
              <a:rPr lang="en-US" sz="1050" b="1" spc="150" kern="0" dirty="0">
                <a:solidFill>
                  <a:srgbClr val="5C6672"/>
                </a:solidFill>
                <a:latin typeface="Calibri" pitchFamily="34" charset="0"/>
                <a:ea typeface="Calibri" pitchFamily="34" charset="-122"/>
                <a:cs typeface="Calibri" pitchFamily="34" charset="-120"/>
              </a:rPr>
              <a:t>BROADCAST SEGMENT PITCH — JULIE + CGM DEMO</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C08A2E"/>
                </a:solidFill>
                <a:latin typeface="Calibri" pitchFamily="34" charset="0"/>
                <a:ea typeface="Calibri" pitchFamily="34" charset="-122"/>
                <a:cs typeface="Calibri" pitchFamily="34" charset="-120"/>
              </a:rPr>
              <a:t>Fox News Health / Good Morning America / network AM shows</a:t>
            </a:r>
            <a:endParaRPr lang="en-US" sz="950" dirty="0"/>
          </a:p>
        </p:txBody>
      </p:sp>
      <p:sp>
        <p:nvSpPr>
          <p:cNvPr id="4" name="Text 2"/>
          <p:cNvSpPr/>
          <p:nvPr/>
        </p:nvSpPr>
        <p:spPr>
          <a:xfrm>
            <a:off x="640080" y="603504"/>
            <a:ext cx="10911535" cy="896112"/>
          </a:xfrm>
          <a:prstGeom prst="rect">
            <a:avLst/>
          </a:prstGeom>
          <a:noFill/>
          <a:ln/>
        </p:spPr>
        <p:txBody>
          <a:bodyPr wrap="square" rtlCol="0" anchor="t"/>
          <a:lstStyle/>
          <a:p>
            <a:pPr indent="0" marL="0">
              <a:lnSpc>
                <a:spcPct val="96000"/>
              </a:lnSpc>
              <a:buNone/>
            </a:pPr>
            <a:r>
              <a:rPr lang="en-US" sz="2600" b="1" dirty="0">
                <a:solidFill>
                  <a:srgbClr val="0C2A43"/>
                </a:solidFill>
                <a:latin typeface="Cambria" pitchFamily="34" charset="0"/>
                <a:ea typeface="Cambria" pitchFamily="34" charset="-122"/>
                <a:cs typeface="Cambria" pitchFamily="34" charset="-120"/>
              </a:rPr>
              <a:t>Longevity Life Academy Instructor Julie Gibson Clark Demonstrates Her $12-a-Day Longevity Routine Live</a:t>
            </a:r>
            <a:endParaRPr lang="en-US" sz="2600" dirty="0"/>
          </a:p>
        </p:txBody>
      </p:sp>
      <p:sp>
        <p:nvSpPr>
          <p:cNvPr id="5" name="Text 3"/>
          <p:cNvSpPr/>
          <p:nvPr/>
        </p:nvSpPr>
        <p:spPr>
          <a:xfrm>
            <a:off x="640080" y="1572768"/>
            <a:ext cx="10911535" cy="512064"/>
          </a:xfrm>
          <a:prstGeom prst="rect">
            <a:avLst/>
          </a:prstGeom>
          <a:noFill/>
          <a:ln/>
        </p:spPr>
        <p:txBody>
          <a:bodyPr wrap="square" rtlCol="0" anchor="t"/>
          <a:lstStyle/>
          <a:p>
            <a:pPr indent="0" marL="0">
              <a:lnSpc>
                <a:spcPct val="110000"/>
              </a:lnSpc>
              <a:buNone/>
            </a:pPr>
            <a:r>
              <a:rPr lang="en-US" sz="1350" b="1" i="1" dirty="0">
                <a:solidFill>
                  <a:srgbClr val="1A1F26"/>
                </a:solidFill>
                <a:latin typeface="Calibri" pitchFamily="34" charset="0"/>
                <a:ea typeface="Calibri" pitchFamily="34" charset="-122"/>
                <a:cs typeface="Calibri" pitchFamily="34" charset="-120"/>
              </a:rPr>
              <a:t>A ready-made morning-show segment: a $12-a-day routine that beat a $2-million budget, a glucose-monitor demo, and daily rituals viewers can start today.</a:t>
            </a:r>
            <a:endParaRPr lang="en-US" sz="1350" dirty="0"/>
          </a:p>
        </p:txBody>
      </p:sp>
      <p:sp>
        <p:nvSpPr>
          <p:cNvPr id="6" name="Shape 4"/>
          <p:cNvSpPr/>
          <p:nvPr/>
        </p:nvSpPr>
        <p:spPr>
          <a:xfrm>
            <a:off x="640080" y="2194560"/>
            <a:ext cx="10911535" cy="0"/>
          </a:xfrm>
          <a:prstGeom prst="line">
            <a:avLst/>
          </a:prstGeom>
          <a:noFill/>
          <a:ln w="12700">
            <a:solidFill>
              <a:srgbClr val="D9DDE2"/>
            </a:solidFill>
            <a:prstDash val="solid"/>
          </a:ln>
        </p:spPr>
      </p:sp>
      <p:sp>
        <p:nvSpPr>
          <p:cNvPr id="7" name="Text 5"/>
          <p:cNvSpPr/>
          <p:nvPr/>
        </p:nvSpPr>
        <p:spPr>
          <a:xfrm>
            <a:off x="64008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PHOENIX — Julie Gibson Clark's story is tailor-made for broadcast: a 56-year-old Phoenix single mom and former structural engineer who ranked #2 on a global longevity leaderboard — ahead of Bryan Johnson — on roughly $100–150 a month, and who has now taken a live teaching role at eTeacher's Longevity Life Academy.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visual hook is built in. Gibson Clark can demonstrate the Abbott Lingo continuous glucose monitor — the same painless, 14-day biosensor shipped to every LLA student — showing on camera how a meal moves her blood sugar in real time, then contrasting longevity myth versus reality on cost.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relatability is the draw for a general audience: her DunedinPACE score of 0.665 suggests roughly 34% slower aging, but her method is ordinary — a pound of vegetables a day, protein, strength work, sleep — rituals any viewer can start that morning.</a:t>
            </a:r>
            <a:endParaRPr lang="en-US" sz="1050" dirty="0"/>
          </a:p>
        </p:txBody>
      </p:sp>
      <p:sp>
        <p:nvSpPr>
          <p:cNvPr id="8" name="Text 6"/>
          <p:cNvSpPr/>
          <p:nvPr/>
        </p:nvSpPr>
        <p:spPr>
          <a:xfrm>
            <a:off x="649224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eTeacher can offer both Gibson Clark and a company spokesperson for interviews, plus b-roll of a live class of 8–15 students, positioning LLA as the accessible, teach-don't-sell alternative in a market UBS values at $8 trillion by 2030.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“It's not the years in your life, but the life in your years,” Gibson Clark said. “Anyone watching can start today — that's exactly what I love about teaching this live.”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Segment availability aligns with LLA's current enrollment window, with the glucose-monitor demo available in-studio or remote.</a:t>
            </a:r>
            <a:endParaRPr lang="en-US" sz="1050" dirty="0"/>
          </a:p>
        </p:txBody>
      </p:sp>
      <p:sp>
        <p:nvSpPr>
          <p:cNvPr id="9" name="Shape 7"/>
          <p:cNvSpPr/>
          <p:nvPr/>
        </p:nvSpPr>
        <p:spPr>
          <a:xfrm>
            <a:off x="640080" y="4892040"/>
            <a:ext cx="10911535" cy="1399032"/>
          </a:xfrm>
          <a:prstGeom prst="roundRect">
            <a:avLst>
              <a:gd name="adj" fmla="val 3268"/>
            </a:avLst>
          </a:prstGeom>
          <a:solidFill>
            <a:srgbClr val="FFFFFF"/>
          </a:solidFill>
          <a:ln w="15875">
            <a:solidFill>
              <a:srgbClr val="C08A2E"/>
            </a:solidFill>
            <a:prstDash val="solid"/>
          </a:ln>
        </p:spPr>
      </p:sp>
      <p:sp>
        <p:nvSpPr>
          <p:cNvPr id="10" name="Shape 8"/>
          <p:cNvSpPr/>
          <p:nvPr/>
        </p:nvSpPr>
        <p:spPr>
          <a:xfrm>
            <a:off x="640080" y="4946904"/>
            <a:ext cx="73152" cy="1289304"/>
          </a:xfrm>
          <a:prstGeom prst="rect">
            <a:avLst/>
          </a:prstGeom>
          <a:solidFill>
            <a:srgbClr val="C08A2E"/>
          </a:solidFill>
          <a:ln/>
        </p:spPr>
      </p:sp>
      <p:sp>
        <p:nvSpPr>
          <p:cNvPr id="11" name="Text 9"/>
          <p:cNvSpPr/>
          <p:nvPr/>
        </p:nvSpPr>
        <p:spPr>
          <a:xfrm>
            <a:off x="859536" y="4965192"/>
            <a:ext cx="10509199" cy="201168"/>
          </a:xfrm>
          <a:prstGeom prst="rect">
            <a:avLst/>
          </a:prstGeom>
          <a:noFill/>
          <a:ln/>
        </p:spPr>
        <p:txBody>
          <a:bodyPr wrap="square" rtlCol="0" anchor="ctr"/>
          <a:lstStyle/>
          <a:p>
            <a:pPr indent="0" marL="0">
              <a:buNone/>
            </a:pPr>
            <a:r>
              <a:rPr lang="en-US" sz="800" b="1" spc="80" kern="0" dirty="0">
                <a:solidFill>
                  <a:srgbClr val="6E4A12"/>
                </a:solidFill>
                <a:latin typeface="Calibri" pitchFamily="34" charset="0"/>
                <a:ea typeface="Calibri" pitchFamily="34" charset="-122"/>
                <a:cs typeface="Calibri" pitchFamily="34" charset="-120"/>
              </a:rPr>
              <a:t>HIGHLIGHTED QUOTE  ·  JULIE GIBSON CLARK, LLA Faculty</a:t>
            </a:r>
            <a:endParaRPr lang="en-US" sz="800" dirty="0"/>
          </a:p>
        </p:txBody>
      </p:sp>
      <p:sp>
        <p:nvSpPr>
          <p:cNvPr id="12" name="Text 10"/>
          <p:cNvSpPr/>
          <p:nvPr/>
        </p:nvSpPr>
        <p:spPr>
          <a:xfrm>
            <a:off x="859536" y="5166360"/>
            <a:ext cx="10509199" cy="649224"/>
          </a:xfrm>
          <a:prstGeom prst="rect">
            <a:avLst/>
          </a:prstGeom>
          <a:noFill/>
          <a:ln/>
        </p:spPr>
        <p:txBody>
          <a:bodyPr wrap="square" rtlCol="0" anchor="t"/>
          <a:lstStyle/>
          <a:p>
            <a:pPr indent="0" marL="0">
              <a:lnSpc>
                <a:spcPct val="106000"/>
              </a:lnSpc>
              <a:buNone/>
            </a:pPr>
            <a:r>
              <a:rPr lang="en-US" sz="1000" i="1" dirty="0">
                <a:solidFill>
                  <a:srgbClr val="1A1F26"/>
                </a:solidFill>
                <a:latin typeface="Calibri" pitchFamily="34" charset="0"/>
                <a:ea typeface="Calibri" pitchFamily="34" charset="-122"/>
                <a:cs typeface="Calibri" pitchFamily="34" charset="-120"/>
              </a:rPr>
              <a:t>“It's not the years in your life, but the life in your years. Anyone watching can start today — that's exactly what I love about teaching this live.”</a:t>
            </a:r>
            <a:endParaRPr lang="en-US" sz="1000" dirty="0"/>
          </a:p>
        </p:txBody>
      </p:sp>
      <p:sp>
        <p:nvSpPr>
          <p:cNvPr id="13" name="Text 11"/>
          <p:cNvSpPr/>
          <p:nvPr/>
        </p:nvSpPr>
        <p:spPr>
          <a:xfrm>
            <a:off x="859536" y="5833872"/>
            <a:ext cx="10509199" cy="329184"/>
          </a:xfrm>
          <a:prstGeom prst="rect">
            <a:avLst/>
          </a:prstGeom>
          <a:noFill/>
          <a:ln/>
        </p:spPr>
        <p:txBody>
          <a:bodyPr wrap="square" rtlCol="0" anchor="b"/>
          <a:lstStyle/>
          <a:p>
            <a:pPr indent="0" marL="0">
              <a:lnSpc>
                <a:spcPct val="102000"/>
              </a:lnSpc>
              <a:buNone/>
            </a:pPr>
            <a:r>
              <a:rPr lang="en-US" sz="660" i="1" dirty="0">
                <a:solidFill>
                  <a:srgbClr val="5C6672"/>
                </a:solidFill>
                <a:latin typeface="Calibri" pitchFamily="34" charset="0"/>
                <a:ea typeface="Calibri" pitchFamily="34" charset="-122"/>
                <a:cs typeface="Calibri" pitchFamily="34" charset="-120"/>
              </a:rPr>
              <a:t>Sentence 1 is verbatim from Fox News. Sentence 2 is the one voice-matched new line — flagged for approval.</a:t>
            </a:r>
            <a:endParaRPr lang="en-US" sz="66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C2A43"/>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12395C"/>
          </a:solidFill>
          <a:ln/>
        </p:spPr>
      </p:sp>
      <p:sp>
        <p:nvSpPr>
          <p:cNvPr id="3" name="Text 1"/>
          <p:cNvSpPr/>
          <p:nvPr/>
        </p:nvSpPr>
        <p:spPr>
          <a:xfrm>
            <a:off x="640080" y="1965960"/>
            <a:ext cx="10911535" cy="365760"/>
          </a:xfrm>
          <a:prstGeom prst="rect">
            <a:avLst/>
          </a:prstGeom>
          <a:noFill/>
          <a:ln/>
        </p:spPr>
        <p:txBody>
          <a:bodyPr wrap="square" rtlCol="0" anchor="ctr"/>
          <a:lstStyle/>
          <a:p>
            <a:pPr indent="0" marL="0">
              <a:buNone/>
            </a:pPr>
            <a:r>
              <a:rPr lang="en-US" sz="1500" b="1" spc="400" kern="0" dirty="0">
                <a:solidFill>
                  <a:srgbClr val="C08A2E"/>
                </a:solidFill>
                <a:latin typeface="Calibri" pitchFamily="34" charset="0"/>
                <a:ea typeface="Calibri" pitchFamily="34" charset="-122"/>
                <a:cs typeface="Calibri" pitchFamily="34" charset="-120"/>
              </a:rPr>
              <a:t>CHAPTER 3 OF 4</a:t>
            </a:r>
            <a:endParaRPr lang="en-US" sz="1500" dirty="0"/>
          </a:p>
        </p:txBody>
      </p:sp>
      <p:sp>
        <p:nvSpPr>
          <p:cNvPr id="4" name="Text 2"/>
          <p:cNvSpPr/>
          <p:nvPr/>
        </p:nvSpPr>
        <p:spPr>
          <a:xfrm>
            <a:off x="640080" y="2514600"/>
            <a:ext cx="10911535" cy="1463040"/>
          </a:xfrm>
          <a:prstGeom prst="rect">
            <a:avLst/>
          </a:prstGeom>
          <a:noFill/>
          <a:ln/>
        </p:spPr>
        <p:txBody>
          <a:bodyPr wrap="square" rtlCol="0" anchor="ctr"/>
          <a:lstStyle/>
          <a:p>
            <a:pPr indent="0" marL="0">
              <a:lnSpc>
                <a:spcPct val="100000"/>
              </a:lnSpc>
              <a:buNone/>
            </a:pPr>
            <a:r>
              <a:rPr lang="en-US" sz="4200" b="1" dirty="0">
                <a:solidFill>
                  <a:srgbClr val="FFFFFF"/>
                </a:solidFill>
                <a:latin typeface="Cambria" pitchFamily="34" charset="0"/>
                <a:ea typeface="Cambria" pitchFamily="34" charset="-122"/>
                <a:cs typeface="Cambria" pitchFamily="34" charset="-120"/>
              </a:rPr>
              <a:t>The Longevity Hub App (Roadmap)</a:t>
            </a:r>
            <a:endParaRPr lang="en-US" sz="4200" dirty="0"/>
          </a:p>
        </p:txBody>
      </p:sp>
      <p:sp>
        <p:nvSpPr>
          <p:cNvPr id="5" name="Text 3"/>
          <p:cNvSpPr/>
          <p:nvPr/>
        </p:nvSpPr>
        <p:spPr>
          <a:xfrm>
            <a:off x="640080" y="4297680"/>
            <a:ext cx="10241280" cy="914400"/>
          </a:xfrm>
          <a:prstGeom prst="rect">
            <a:avLst/>
          </a:prstGeom>
          <a:noFill/>
          <a:ln/>
        </p:spPr>
        <p:txBody>
          <a:bodyPr wrap="square" rtlCol="0" anchor="ctr"/>
          <a:lstStyle/>
          <a:p>
            <a:pPr indent="0" marL="0">
              <a:lnSpc>
                <a:spcPct val="120000"/>
              </a:lnSpc>
              <a:buNone/>
            </a:pPr>
            <a:r>
              <a:rPr lang="en-US" sz="1700" dirty="0">
                <a:solidFill>
                  <a:srgbClr val="C9D3DD"/>
                </a:solidFill>
                <a:latin typeface="Calibri" pitchFamily="34" charset="0"/>
                <a:ea typeface="Calibri" pitchFamily="34" charset="-122"/>
                <a:cs typeface="Calibri" pitchFamily="34" charset="-120"/>
              </a:rPr>
              <a:t>One message: eTeacher's longevity practice, in your pocket — a planned AI tutor and daily rituals, the 'gym for the brain' for healthspan.</a:t>
            </a:r>
            <a:endParaRPr lang="en-US" sz="1700" dirty="0"/>
          </a:p>
        </p:txBody>
      </p:sp>
      <p:sp>
        <p:nvSpPr>
          <p:cNvPr id="6" name="Text 4"/>
          <p:cNvSpPr/>
          <p:nvPr/>
        </p:nvSpPr>
        <p:spPr>
          <a:xfrm>
            <a:off x="640080" y="5394960"/>
            <a:ext cx="3657600" cy="365760"/>
          </a:xfrm>
          <a:prstGeom prst="rect">
            <a:avLst/>
          </a:prstGeom>
          <a:noFill/>
          <a:ln/>
        </p:spPr>
        <p:txBody>
          <a:bodyPr wrap="square" rtlCol="0" anchor="ctr"/>
          <a:lstStyle/>
          <a:p>
            <a:pPr indent="0" marL="0">
              <a:buNone/>
            </a:pPr>
            <a:r>
              <a:rPr lang="en-US" sz="1300" b="1" spc="200" kern="0" dirty="0">
                <a:solidFill>
                  <a:srgbClr val="C08A2E"/>
                </a:solidFill>
                <a:latin typeface="Calibri" pitchFamily="34" charset="0"/>
                <a:ea typeface="Calibri" pitchFamily="34" charset="-122"/>
                <a:cs typeface="Calibri" pitchFamily="34" charset="-120"/>
              </a:rPr>
              <a:t>2 ARTICLES</a:t>
            </a:r>
            <a:endParaRPr lang="en-US" sz="1300" dirty="0"/>
          </a:p>
        </p:txBody>
      </p:sp>
      <p:sp>
        <p:nvSpPr>
          <p:cNvPr id="7" name="Text 5"/>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12395C"/>
                </a:solidFill>
                <a:latin typeface="Calibri" pitchFamily="34" charset="0"/>
                <a:ea typeface="Calibri" pitchFamily="34" charset="-122"/>
                <a:cs typeface="Calibri" pitchFamily="34" charset="-120"/>
              </a:rPr>
              <a:t>ARTICLE 3.1   ·   </a:t>
            </a:r>
            <a:pPr indent="0" marL="0">
              <a:buNone/>
            </a:pPr>
            <a:r>
              <a:rPr lang="en-US" sz="1050" b="1" spc="150" kern="0" dirty="0">
                <a:solidFill>
                  <a:srgbClr val="5C6672"/>
                </a:solidFill>
                <a:latin typeface="Calibri" pitchFamily="34" charset="0"/>
                <a:ea typeface="Calibri" pitchFamily="34" charset="-122"/>
                <a:cs typeface="Calibri" pitchFamily="34" charset="-120"/>
              </a:rPr>
              <a:t>PRODUCT ANNOUNCEMENT — TAILORED PRACTICE, AI TUTOR, DAILY RITUALS, TRACKING</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12395C"/>
                </a:solidFill>
                <a:latin typeface="Calibri" pitchFamily="34" charset="0"/>
                <a:ea typeface="Calibri" pitchFamily="34" charset="-122"/>
                <a:cs typeface="Calibri" pitchFamily="34" charset="-120"/>
              </a:rPr>
              <a:t>TechCrunch / The Verge / PR Newswire</a:t>
            </a:r>
            <a:endParaRPr lang="en-US" sz="950" dirty="0"/>
          </a:p>
        </p:txBody>
      </p:sp>
      <p:sp>
        <p:nvSpPr>
          <p:cNvPr id="4" name="Text 2"/>
          <p:cNvSpPr/>
          <p:nvPr/>
        </p:nvSpPr>
        <p:spPr>
          <a:xfrm>
            <a:off x="640080" y="603504"/>
            <a:ext cx="10911535" cy="896112"/>
          </a:xfrm>
          <a:prstGeom prst="rect">
            <a:avLst/>
          </a:prstGeom>
          <a:noFill/>
          <a:ln/>
        </p:spPr>
        <p:txBody>
          <a:bodyPr wrap="square" rtlCol="0" anchor="t"/>
          <a:lstStyle/>
          <a:p>
            <a:pPr indent="0" marL="0">
              <a:lnSpc>
                <a:spcPct val="96000"/>
              </a:lnSpc>
              <a:buNone/>
            </a:pPr>
            <a:r>
              <a:rPr lang="en-US" sz="2600" b="1" dirty="0">
                <a:solidFill>
                  <a:srgbClr val="0C2A43"/>
                </a:solidFill>
                <a:latin typeface="Cambria" pitchFamily="34" charset="0"/>
                <a:ea typeface="Cambria" pitchFamily="34" charset="-122"/>
                <a:cs typeface="Cambria" pitchFamily="34" charset="-120"/>
              </a:rPr>
              <a:t>eTeacher to Launch the Longevity Hub: A Planned AI Tutor and Daily-Ritual Engine for Healthspan</a:t>
            </a:r>
            <a:endParaRPr lang="en-US" sz="2600" dirty="0"/>
          </a:p>
        </p:txBody>
      </p:sp>
      <p:sp>
        <p:nvSpPr>
          <p:cNvPr id="5" name="Text 3"/>
          <p:cNvSpPr/>
          <p:nvPr/>
        </p:nvSpPr>
        <p:spPr>
          <a:xfrm>
            <a:off x="640080" y="1572768"/>
            <a:ext cx="10911535" cy="512064"/>
          </a:xfrm>
          <a:prstGeom prst="rect">
            <a:avLst/>
          </a:prstGeom>
          <a:noFill/>
          <a:ln/>
        </p:spPr>
        <p:txBody>
          <a:bodyPr wrap="square" rtlCol="0" anchor="t"/>
          <a:lstStyle/>
          <a:p>
            <a:pPr indent="0" marL="0">
              <a:lnSpc>
                <a:spcPct val="110000"/>
              </a:lnSpc>
              <a:buNone/>
            </a:pPr>
            <a:r>
              <a:rPr lang="en-US" sz="1350" b="1" i="1" dirty="0">
                <a:solidFill>
                  <a:srgbClr val="1A1F26"/>
                </a:solidFill>
                <a:latin typeface="Calibri" pitchFamily="34" charset="0"/>
                <a:ea typeface="Calibri" pitchFamily="34" charset="-122"/>
                <a:cs typeface="Calibri" pitchFamily="34" charset="-120"/>
              </a:rPr>
              <a:t>The upcoming companion app will turn the 18-week Longevity Blueprint into simple, trackable daily rituals — guided by an AI longevity tutor built on eTeacher's “gym for the brain” model.</a:t>
            </a:r>
            <a:endParaRPr lang="en-US" sz="1350" dirty="0"/>
          </a:p>
        </p:txBody>
      </p:sp>
      <p:sp>
        <p:nvSpPr>
          <p:cNvPr id="6" name="Shape 4"/>
          <p:cNvSpPr/>
          <p:nvPr/>
        </p:nvSpPr>
        <p:spPr>
          <a:xfrm>
            <a:off x="640080" y="2194560"/>
            <a:ext cx="10911535" cy="0"/>
          </a:xfrm>
          <a:prstGeom prst="line">
            <a:avLst/>
          </a:prstGeom>
          <a:noFill/>
          <a:ln w="12700">
            <a:solidFill>
              <a:srgbClr val="D9DDE2"/>
            </a:solidFill>
            <a:prstDash val="solid"/>
          </a:ln>
        </p:spPr>
      </p:sp>
      <p:sp>
        <p:nvSpPr>
          <p:cNvPr id="7" name="Text 5"/>
          <p:cNvSpPr/>
          <p:nvPr/>
        </p:nvSpPr>
        <p:spPr>
          <a:xfrm>
            <a:off x="64008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RAMAT GAN, Israel — eTeacher Group today previewed the Longevity Hub, a companion app on its roadmap that will extend Longevity Life Academy beyond the weekly live class. The Hub is designed to deliver a personalized longevity practice as bite-size daily rituals, integrated tracking, and lifestyle guidance.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app targets the field's real failure point. Longevity advice is everywhere, but daily follow-through is rare; eTeacher plans to attack that gap the same way it does in language learning — through short, engaging daily practice rather than more content to ignore.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At the Hub's center will be an AI longevity tutor — the same “gym for the brain” approach eTeacher pioneered across its five schools — intended to check in daily, adapt to each user's data, and keep them progressing between live sessions. The company plans for the Hub to connect with CGM, sleep, and wearable data so each user's biology becomes a personal feedback loop.</a:t>
            </a:r>
            <a:endParaRPr lang="en-US" sz="1050" dirty="0"/>
          </a:p>
        </p:txBody>
      </p:sp>
      <p:sp>
        <p:nvSpPr>
          <p:cNvPr id="8" name="Text 6"/>
          <p:cNvSpPr/>
          <p:nvPr/>
        </p:nvSpPr>
        <p:spPr>
          <a:xfrm>
            <a:off x="649224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Hub is being built to complement, not replace, the live 18-week Longevity Blueprint and its cohorts of 8–15, reinforcing eTeacher's live-expert-plus-AI model rather than substituting for the teacher.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‘professor’ is available 24/7 with reliable information and tools that connect learning to your everyday life,” said CEO Harel Tayeb, describing the app's intent. “The Longevity Hub will be that professor for healthspan — a quarter-hour of light practice with your morning coffee.”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eTeacher says the Longevity Hub is planned for release in the year ahead, with timing to follow the expansion of its live course catalog.</a:t>
            </a:r>
            <a:endParaRPr lang="en-US" sz="1050" dirty="0"/>
          </a:p>
        </p:txBody>
      </p:sp>
      <p:sp>
        <p:nvSpPr>
          <p:cNvPr id="9" name="Shape 7"/>
          <p:cNvSpPr/>
          <p:nvPr/>
        </p:nvSpPr>
        <p:spPr>
          <a:xfrm>
            <a:off x="640080" y="4892040"/>
            <a:ext cx="10911535" cy="1399032"/>
          </a:xfrm>
          <a:prstGeom prst="roundRect">
            <a:avLst>
              <a:gd name="adj" fmla="val 3268"/>
            </a:avLst>
          </a:prstGeom>
          <a:solidFill>
            <a:srgbClr val="0C2A43"/>
          </a:solidFill>
          <a:ln w="25400">
            <a:solidFill>
              <a:srgbClr val="C08A2E"/>
            </a:solidFill>
            <a:prstDash val="solid"/>
          </a:ln>
        </p:spPr>
      </p:sp>
      <p:sp>
        <p:nvSpPr>
          <p:cNvPr id="10" name="Shape 8"/>
          <p:cNvSpPr/>
          <p:nvPr/>
        </p:nvSpPr>
        <p:spPr>
          <a:xfrm>
            <a:off x="658368" y="4910328"/>
            <a:ext cx="10874959" cy="310896"/>
          </a:xfrm>
          <a:prstGeom prst="rect">
            <a:avLst/>
          </a:prstGeom>
          <a:solidFill>
            <a:srgbClr val="C08A2E"/>
          </a:solidFill>
          <a:ln/>
        </p:spPr>
      </p:sp>
      <p:sp>
        <p:nvSpPr>
          <p:cNvPr id="11" name="Text 9"/>
          <p:cNvSpPr/>
          <p:nvPr/>
        </p:nvSpPr>
        <p:spPr>
          <a:xfrm>
            <a:off x="841248" y="4910328"/>
            <a:ext cx="10509199" cy="310896"/>
          </a:xfrm>
          <a:prstGeom prst="rect">
            <a:avLst/>
          </a:prstGeom>
          <a:noFill/>
          <a:ln/>
        </p:spPr>
        <p:txBody>
          <a:bodyPr wrap="square" rtlCol="0" anchor="ctr"/>
          <a:lstStyle/>
          <a:p>
            <a:pPr indent="0" marL="0">
              <a:buNone/>
            </a:pPr>
            <a:r>
              <a:rPr lang="en-US" sz="900" b="1" spc="80" kern="0" dirty="0">
                <a:solidFill>
                  <a:srgbClr val="0C2A43"/>
                </a:solidFill>
                <a:latin typeface="Calibri" pitchFamily="34" charset="0"/>
                <a:ea typeface="Calibri" pitchFamily="34" charset="-122"/>
                <a:cs typeface="Calibri" pitchFamily="34" charset="-120"/>
              </a:rPr>
              <a:t>HIGHLIGHTED QUOTE  ·  HAREL TAYEB, CEO, eTeacher Group</a:t>
            </a:r>
            <a:endParaRPr lang="en-US" sz="900" dirty="0"/>
          </a:p>
        </p:txBody>
      </p:sp>
      <p:sp>
        <p:nvSpPr>
          <p:cNvPr id="12" name="Text 10"/>
          <p:cNvSpPr/>
          <p:nvPr/>
        </p:nvSpPr>
        <p:spPr>
          <a:xfrm>
            <a:off x="859536" y="5294376"/>
            <a:ext cx="10472623" cy="466344"/>
          </a:xfrm>
          <a:prstGeom prst="rect">
            <a:avLst/>
          </a:prstGeom>
          <a:noFill/>
          <a:ln/>
        </p:spPr>
        <p:txBody>
          <a:bodyPr wrap="square" rtlCol="0" anchor="t"/>
          <a:lstStyle/>
          <a:p>
            <a:pPr indent="0" marL="0">
              <a:lnSpc>
                <a:spcPct val="108000"/>
              </a:lnSpc>
              <a:buNone/>
            </a:pPr>
            <a:r>
              <a:rPr lang="en-US" sz="1150" b="1" i="1" dirty="0">
                <a:solidFill>
                  <a:srgbClr val="FFF3DA"/>
                </a:solidFill>
                <a:latin typeface="Calibri" pitchFamily="34" charset="0"/>
                <a:ea typeface="Calibri" pitchFamily="34" charset="-122"/>
                <a:cs typeface="Calibri" pitchFamily="34" charset="-120"/>
              </a:rPr>
              <a:t>“The ‘professor’ is available 24/7 with reliable information and tools that connect learning to your everyday life. The Longevity Hub will be that professor for healthspan — a quarter-hour of light practice with your morning coffee.”</a:t>
            </a:r>
            <a:endParaRPr lang="en-US" sz="1150" dirty="0"/>
          </a:p>
        </p:txBody>
      </p:sp>
      <p:sp>
        <p:nvSpPr>
          <p:cNvPr id="13" name="Text 11"/>
          <p:cNvSpPr/>
          <p:nvPr/>
        </p:nvSpPr>
        <p:spPr>
          <a:xfrm>
            <a:off x="859536" y="5833872"/>
            <a:ext cx="10472623" cy="329184"/>
          </a:xfrm>
          <a:prstGeom prst="rect">
            <a:avLst/>
          </a:prstGeom>
          <a:noFill/>
          <a:ln/>
        </p:spPr>
        <p:txBody>
          <a:bodyPr wrap="square" rtlCol="0" anchor="b"/>
          <a:lstStyle/>
          <a:p>
            <a:pPr indent="0" marL="0">
              <a:lnSpc>
                <a:spcPct val="102000"/>
              </a:lnSpc>
              <a:buNone/>
            </a:pPr>
            <a:r>
              <a:rPr lang="en-US" sz="680" i="1" dirty="0">
                <a:solidFill>
                  <a:srgbClr val="C9B892"/>
                </a:solidFill>
                <a:latin typeface="Calibri" pitchFamily="34" charset="0"/>
                <a:ea typeface="Calibri" pitchFamily="34" charset="-122"/>
                <a:cs typeface="Calibri" pitchFamily="34" charset="-120"/>
              </a:rPr>
              <a:t>Sentence 1 is verbatim from TheMarker Labels (1 Feb 2026), Q6; the “quarter-hour with your coffee” phrasing echoes Q4. Sentence 2 is the one voice-matched new line — flagged for approval.</a:t>
            </a:r>
            <a:endParaRPr lang="en-US" sz="68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12395C"/>
                </a:solidFill>
                <a:latin typeface="Calibri" pitchFamily="34" charset="0"/>
                <a:ea typeface="Calibri" pitchFamily="34" charset="-122"/>
                <a:cs typeface="Calibri" pitchFamily="34" charset="-120"/>
              </a:rPr>
              <a:t>ARTICLE 3.2   ·   </a:t>
            </a:r>
            <a:pPr indent="0" marL="0">
              <a:buNone/>
            </a:pPr>
            <a:r>
              <a:rPr lang="en-US" sz="1050" b="1" spc="150" kern="0" dirty="0">
                <a:solidFill>
                  <a:srgbClr val="5C6672"/>
                </a:solidFill>
                <a:latin typeface="Calibri" pitchFamily="34" charset="0"/>
                <a:ea typeface="Calibri" pitchFamily="34" charset="-122"/>
                <a:cs typeface="Calibri" pitchFamily="34" charset="-120"/>
              </a:rPr>
              <a:t>TECH / AI-IN-HEALTH ANGLE — THE PERSISTENCE PROBLEM</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12395C"/>
                </a:solidFill>
                <a:latin typeface="Calibri" pitchFamily="34" charset="0"/>
                <a:ea typeface="Calibri" pitchFamily="34" charset="-122"/>
                <a:cs typeface="Calibri" pitchFamily="34" charset="-120"/>
              </a:rPr>
              <a:t>Fast Company / Wired / mindbodygreen</a:t>
            </a:r>
            <a:endParaRPr lang="en-US" sz="950" dirty="0"/>
          </a:p>
        </p:txBody>
      </p:sp>
      <p:sp>
        <p:nvSpPr>
          <p:cNvPr id="4" name="Text 2"/>
          <p:cNvSpPr/>
          <p:nvPr/>
        </p:nvSpPr>
        <p:spPr>
          <a:xfrm>
            <a:off x="640080" y="603504"/>
            <a:ext cx="10911535" cy="896112"/>
          </a:xfrm>
          <a:prstGeom prst="rect">
            <a:avLst/>
          </a:prstGeom>
          <a:noFill/>
          <a:ln/>
        </p:spPr>
        <p:txBody>
          <a:bodyPr wrap="square" rtlCol="0" anchor="t"/>
          <a:lstStyle/>
          <a:p>
            <a:pPr indent="0" marL="0">
              <a:lnSpc>
                <a:spcPct val="96000"/>
              </a:lnSpc>
              <a:buNone/>
            </a:pPr>
            <a:r>
              <a:rPr lang="en-US" sz="2600" b="1" dirty="0">
                <a:solidFill>
                  <a:srgbClr val="0C2A43"/>
                </a:solidFill>
                <a:latin typeface="Cambria" pitchFamily="34" charset="0"/>
                <a:ea typeface="Cambria" pitchFamily="34" charset="-122"/>
                <a:cs typeface="Cambria" pitchFamily="34" charset="-120"/>
              </a:rPr>
              <a:t>eTeacher's Planned Longevity Hub App Will Use AI to Turn the Longevity Blueprint Into Daily Habits</a:t>
            </a:r>
            <a:endParaRPr lang="en-US" sz="2600" dirty="0"/>
          </a:p>
        </p:txBody>
      </p:sp>
      <p:sp>
        <p:nvSpPr>
          <p:cNvPr id="5" name="Text 3"/>
          <p:cNvSpPr/>
          <p:nvPr/>
        </p:nvSpPr>
        <p:spPr>
          <a:xfrm>
            <a:off x="640080" y="1572768"/>
            <a:ext cx="10911535" cy="512064"/>
          </a:xfrm>
          <a:prstGeom prst="rect">
            <a:avLst/>
          </a:prstGeom>
          <a:noFill/>
          <a:ln/>
        </p:spPr>
        <p:txBody>
          <a:bodyPr wrap="square" rtlCol="0" anchor="t"/>
          <a:lstStyle/>
          <a:p>
            <a:pPr indent="0" marL="0">
              <a:lnSpc>
                <a:spcPct val="110000"/>
              </a:lnSpc>
              <a:buNone/>
            </a:pPr>
            <a:r>
              <a:rPr lang="en-US" sz="1350" b="1" i="1" dirty="0">
                <a:solidFill>
                  <a:srgbClr val="1A1F26"/>
                </a:solidFill>
                <a:latin typeface="Calibri" pitchFamily="34" charset="0"/>
                <a:ea typeface="Calibri" pitchFamily="34" charset="-122"/>
                <a:cs typeface="Calibri" pitchFamily="34" charset="-120"/>
              </a:rPr>
              <a:t>The upcoming Longevity Hub will break healthspan into daily micro-rituals — because the science only works if you actually stick with it.</a:t>
            </a:r>
            <a:endParaRPr lang="en-US" sz="1350" dirty="0"/>
          </a:p>
        </p:txBody>
      </p:sp>
      <p:sp>
        <p:nvSpPr>
          <p:cNvPr id="6" name="Shape 4"/>
          <p:cNvSpPr/>
          <p:nvPr/>
        </p:nvSpPr>
        <p:spPr>
          <a:xfrm>
            <a:off x="640080" y="2194560"/>
            <a:ext cx="10911535" cy="0"/>
          </a:xfrm>
          <a:prstGeom prst="line">
            <a:avLst/>
          </a:prstGeom>
          <a:noFill/>
          <a:ln w="12700">
            <a:solidFill>
              <a:srgbClr val="D9DDE2"/>
            </a:solidFill>
            <a:prstDash val="solid"/>
          </a:ln>
        </p:spPr>
      </p:sp>
      <p:sp>
        <p:nvSpPr>
          <p:cNvPr id="7" name="Text 5"/>
          <p:cNvSpPr/>
          <p:nvPr/>
        </p:nvSpPr>
        <p:spPr>
          <a:xfrm>
            <a:off x="64008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RAMAT GAN, Israel — The hardest part of longevity isn't knowing what to do — it's doing it every day. eTeacher Group's planned Longevity Hub app is being designed squarely around that persistence problem, converting the 18-week Longevity Blueprint into small, daily, trackable actions.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It is a bet grounded in the company's own data across five schools: eTeacher argues that engagement, not information, is the real bottleneck in adult learning, and that unlimited self-guided content is precisely what drives people to quit.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proposed solution is an AI tutor built on eTeacher's micro-learning model — the “gym for the brain” — that will deliver relevant, personalized prompts, recognize streaks, and re-engage users who drift. The company plans for it to draw on each user's glucose, sleep, and movement data so the nudges reflect real biology, not generic reminders.</a:t>
            </a:r>
            <a:endParaRPr lang="en-US" sz="1050" dirty="0"/>
          </a:p>
        </p:txBody>
      </p:sp>
      <p:sp>
        <p:nvSpPr>
          <p:cNvPr id="8" name="Text 6"/>
          <p:cNvSpPr/>
          <p:nvPr/>
        </p:nvSpPr>
        <p:spPr>
          <a:xfrm>
            <a:off x="649224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This AI layer is on eTeacher's roadmap rather than live today; the current program remains live-expert-led, with the Hub intended to strengthen daily adherence between weekly sessions.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“In a world where excessive asynchronous learning leads to dropout and lack of commitment, eTeacher offers a ‘gym for the brain,’” said CEO Harel Tayeb. “That same engine — applied to healthspan — is how we plan to make persistence stop being the hard part.”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eTeacher expects to roll out the Longevity Hub in the year ahead, alongside a broader expansion of its longevity curriculum.</a:t>
            </a:r>
            <a:endParaRPr lang="en-US" sz="1050" dirty="0"/>
          </a:p>
        </p:txBody>
      </p:sp>
      <p:sp>
        <p:nvSpPr>
          <p:cNvPr id="9" name="Shape 7"/>
          <p:cNvSpPr/>
          <p:nvPr/>
        </p:nvSpPr>
        <p:spPr>
          <a:xfrm>
            <a:off x="640080" y="4892040"/>
            <a:ext cx="10911535" cy="1399032"/>
          </a:xfrm>
          <a:prstGeom prst="roundRect">
            <a:avLst>
              <a:gd name="adj" fmla="val 3268"/>
            </a:avLst>
          </a:prstGeom>
          <a:solidFill>
            <a:srgbClr val="0C2A43"/>
          </a:solidFill>
          <a:ln w="25400">
            <a:solidFill>
              <a:srgbClr val="C08A2E"/>
            </a:solidFill>
            <a:prstDash val="solid"/>
          </a:ln>
        </p:spPr>
      </p:sp>
      <p:sp>
        <p:nvSpPr>
          <p:cNvPr id="10" name="Shape 8"/>
          <p:cNvSpPr/>
          <p:nvPr/>
        </p:nvSpPr>
        <p:spPr>
          <a:xfrm>
            <a:off x="658368" y="4910328"/>
            <a:ext cx="10874959" cy="310896"/>
          </a:xfrm>
          <a:prstGeom prst="rect">
            <a:avLst/>
          </a:prstGeom>
          <a:solidFill>
            <a:srgbClr val="C08A2E"/>
          </a:solidFill>
          <a:ln/>
        </p:spPr>
      </p:sp>
      <p:sp>
        <p:nvSpPr>
          <p:cNvPr id="11" name="Text 9"/>
          <p:cNvSpPr/>
          <p:nvPr/>
        </p:nvSpPr>
        <p:spPr>
          <a:xfrm>
            <a:off x="841248" y="4910328"/>
            <a:ext cx="10509199" cy="310896"/>
          </a:xfrm>
          <a:prstGeom prst="rect">
            <a:avLst/>
          </a:prstGeom>
          <a:noFill/>
          <a:ln/>
        </p:spPr>
        <p:txBody>
          <a:bodyPr wrap="square" rtlCol="0" anchor="ctr"/>
          <a:lstStyle/>
          <a:p>
            <a:pPr indent="0" marL="0">
              <a:buNone/>
            </a:pPr>
            <a:r>
              <a:rPr lang="en-US" sz="900" b="1" spc="80" kern="0" dirty="0">
                <a:solidFill>
                  <a:srgbClr val="0C2A43"/>
                </a:solidFill>
                <a:latin typeface="Calibri" pitchFamily="34" charset="0"/>
                <a:ea typeface="Calibri" pitchFamily="34" charset="-122"/>
                <a:cs typeface="Calibri" pitchFamily="34" charset="-120"/>
              </a:rPr>
              <a:t>HIGHLIGHTED QUOTE  ·  HAREL TAYEB, CEO, eTeacher Group</a:t>
            </a:r>
            <a:endParaRPr lang="en-US" sz="900" dirty="0"/>
          </a:p>
        </p:txBody>
      </p:sp>
      <p:sp>
        <p:nvSpPr>
          <p:cNvPr id="12" name="Text 10"/>
          <p:cNvSpPr/>
          <p:nvPr/>
        </p:nvSpPr>
        <p:spPr>
          <a:xfrm>
            <a:off x="859536" y="5294376"/>
            <a:ext cx="10472623" cy="466344"/>
          </a:xfrm>
          <a:prstGeom prst="rect">
            <a:avLst/>
          </a:prstGeom>
          <a:noFill/>
          <a:ln/>
        </p:spPr>
        <p:txBody>
          <a:bodyPr wrap="square" rtlCol="0" anchor="t"/>
          <a:lstStyle/>
          <a:p>
            <a:pPr indent="0" marL="0">
              <a:lnSpc>
                <a:spcPct val="108000"/>
              </a:lnSpc>
              <a:buNone/>
            </a:pPr>
            <a:r>
              <a:rPr lang="en-US" sz="1150" b="1" i="1" dirty="0">
                <a:solidFill>
                  <a:srgbClr val="FFF3DA"/>
                </a:solidFill>
                <a:latin typeface="Calibri" pitchFamily="34" charset="0"/>
                <a:ea typeface="Calibri" pitchFamily="34" charset="-122"/>
                <a:cs typeface="Calibri" pitchFamily="34" charset="-120"/>
              </a:rPr>
              <a:t>“In a world where excessive asynchronous learning leads to dropout and lack of commitment, eTeacher offers a ‘gym for the brain.’ That same engine — applied to healthspan — is how we plan to make persistence stop being the hard part.”</a:t>
            </a:r>
            <a:endParaRPr lang="en-US" sz="1150" dirty="0"/>
          </a:p>
        </p:txBody>
      </p:sp>
      <p:sp>
        <p:nvSpPr>
          <p:cNvPr id="13" name="Text 11"/>
          <p:cNvSpPr/>
          <p:nvPr/>
        </p:nvSpPr>
        <p:spPr>
          <a:xfrm>
            <a:off x="859536" y="5833872"/>
            <a:ext cx="10472623" cy="329184"/>
          </a:xfrm>
          <a:prstGeom prst="rect">
            <a:avLst/>
          </a:prstGeom>
          <a:noFill/>
          <a:ln/>
        </p:spPr>
        <p:txBody>
          <a:bodyPr wrap="square" rtlCol="0" anchor="b"/>
          <a:lstStyle/>
          <a:p>
            <a:pPr indent="0" marL="0">
              <a:lnSpc>
                <a:spcPct val="102000"/>
              </a:lnSpc>
              <a:buNone/>
            </a:pPr>
            <a:r>
              <a:rPr lang="en-US" sz="680" i="1" dirty="0">
                <a:solidFill>
                  <a:srgbClr val="C9B892"/>
                </a:solidFill>
                <a:latin typeface="Calibri" pitchFamily="34" charset="0"/>
                <a:ea typeface="Calibri" pitchFamily="34" charset="-122"/>
                <a:cs typeface="Calibri" pitchFamily="34" charset="-120"/>
              </a:rPr>
              <a:t>Sentence 1 is verbatim from TheMarker Labels (1 Feb 2026), Q4. Sentence 2 is the one voice-matched new line — flagged for approval.</a:t>
            </a:r>
            <a:endParaRPr lang="en-US" sz="68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C2A43"/>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6E4A12"/>
          </a:solidFill>
          <a:ln/>
        </p:spPr>
      </p:sp>
      <p:sp>
        <p:nvSpPr>
          <p:cNvPr id="3" name="Text 1"/>
          <p:cNvSpPr/>
          <p:nvPr/>
        </p:nvSpPr>
        <p:spPr>
          <a:xfrm>
            <a:off x="640080" y="1965960"/>
            <a:ext cx="10911535" cy="365760"/>
          </a:xfrm>
          <a:prstGeom prst="rect">
            <a:avLst/>
          </a:prstGeom>
          <a:noFill/>
          <a:ln/>
        </p:spPr>
        <p:txBody>
          <a:bodyPr wrap="square" rtlCol="0" anchor="ctr"/>
          <a:lstStyle/>
          <a:p>
            <a:pPr indent="0" marL="0">
              <a:buNone/>
            </a:pPr>
            <a:r>
              <a:rPr lang="en-US" sz="1500" b="1" spc="400" kern="0" dirty="0">
                <a:solidFill>
                  <a:srgbClr val="C08A2E"/>
                </a:solidFill>
                <a:latin typeface="Calibri" pitchFamily="34" charset="0"/>
                <a:ea typeface="Calibri" pitchFamily="34" charset="-122"/>
                <a:cs typeface="Calibri" pitchFamily="34" charset="-120"/>
              </a:rPr>
              <a:t>CHAPTER 4 OF 4</a:t>
            </a:r>
            <a:endParaRPr lang="en-US" sz="1500" dirty="0"/>
          </a:p>
        </p:txBody>
      </p:sp>
      <p:sp>
        <p:nvSpPr>
          <p:cNvPr id="4" name="Text 2"/>
          <p:cNvSpPr/>
          <p:nvPr/>
        </p:nvSpPr>
        <p:spPr>
          <a:xfrm>
            <a:off x="640080" y="2514600"/>
            <a:ext cx="10911535" cy="1463040"/>
          </a:xfrm>
          <a:prstGeom prst="rect">
            <a:avLst/>
          </a:prstGeom>
          <a:noFill/>
          <a:ln/>
        </p:spPr>
        <p:txBody>
          <a:bodyPr wrap="square" rtlCol="0" anchor="ctr"/>
          <a:lstStyle/>
          <a:p>
            <a:pPr indent="0" marL="0">
              <a:lnSpc>
                <a:spcPct val="100000"/>
              </a:lnSpc>
              <a:buNone/>
            </a:pPr>
            <a:r>
              <a:rPr lang="en-US" sz="4200" b="1" dirty="0">
                <a:solidFill>
                  <a:srgbClr val="FFFFFF"/>
                </a:solidFill>
                <a:latin typeface="Cambria" pitchFamily="34" charset="0"/>
                <a:ea typeface="Cambria" pitchFamily="34" charset="-122"/>
                <a:cs typeface="Cambria" pitchFamily="34" charset="-120"/>
              </a:rPr>
              <a:t>Six New Longevity Courses (Roadmap)</a:t>
            </a:r>
            <a:endParaRPr lang="en-US" sz="4200" dirty="0"/>
          </a:p>
        </p:txBody>
      </p:sp>
      <p:sp>
        <p:nvSpPr>
          <p:cNvPr id="5" name="Text 3"/>
          <p:cNvSpPr/>
          <p:nvPr/>
        </p:nvSpPr>
        <p:spPr>
          <a:xfrm>
            <a:off x="640080" y="4297680"/>
            <a:ext cx="10241280" cy="914400"/>
          </a:xfrm>
          <a:prstGeom prst="rect">
            <a:avLst/>
          </a:prstGeom>
          <a:noFill/>
          <a:ln/>
        </p:spPr>
        <p:txBody>
          <a:bodyPr wrap="square" rtlCol="0" anchor="ctr"/>
          <a:lstStyle/>
          <a:p>
            <a:pPr indent="0" marL="0">
              <a:lnSpc>
                <a:spcPct val="120000"/>
              </a:lnSpc>
              <a:buNone/>
            </a:pPr>
            <a:r>
              <a:rPr lang="en-US" sz="1700" dirty="0">
                <a:solidFill>
                  <a:srgbClr val="C9D3DD"/>
                </a:solidFill>
                <a:latin typeface="Calibri" pitchFamily="34" charset="0"/>
                <a:ea typeface="Calibri" pitchFamily="34" charset="-122"/>
                <a:cs typeface="Calibri" pitchFamily="34" charset="-120"/>
              </a:rPr>
              <a:t>One message: eTeacher is building a full longevity college — not a single course.</a:t>
            </a:r>
            <a:endParaRPr lang="en-US" sz="1700" dirty="0"/>
          </a:p>
        </p:txBody>
      </p:sp>
      <p:sp>
        <p:nvSpPr>
          <p:cNvPr id="6" name="Text 4"/>
          <p:cNvSpPr/>
          <p:nvPr/>
        </p:nvSpPr>
        <p:spPr>
          <a:xfrm>
            <a:off x="640080" y="5394960"/>
            <a:ext cx="3657600" cy="365760"/>
          </a:xfrm>
          <a:prstGeom prst="rect">
            <a:avLst/>
          </a:prstGeom>
          <a:noFill/>
          <a:ln/>
        </p:spPr>
        <p:txBody>
          <a:bodyPr wrap="square" rtlCol="0" anchor="ctr"/>
          <a:lstStyle/>
          <a:p>
            <a:pPr indent="0" marL="0">
              <a:buNone/>
            </a:pPr>
            <a:r>
              <a:rPr lang="en-US" sz="1300" b="1" spc="200" kern="0" dirty="0">
                <a:solidFill>
                  <a:srgbClr val="C08A2E"/>
                </a:solidFill>
                <a:latin typeface="Calibri" pitchFamily="34" charset="0"/>
                <a:ea typeface="Calibri" pitchFamily="34" charset="-122"/>
                <a:cs typeface="Calibri" pitchFamily="34" charset="-120"/>
              </a:rPr>
              <a:t>2 ARTICLES</a:t>
            </a:r>
            <a:endParaRPr lang="en-US" sz="1300" dirty="0"/>
          </a:p>
        </p:txBody>
      </p:sp>
      <p:sp>
        <p:nvSpPr>
          <p:cNvPr id="7" name="Text 5"/>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6E4A12"/>
                </a:solidFill>
                <a:latin typeface="Calibri" pitchFamily="34" charset="0"/>
                <a:ea typeface="Calibri" pitchFamily="34" charset="-122"/>
                <a:cs typeface="Calibri" pitchFamily="34" charset="-120"/>
              </a:rPr>
              <a:t>ARTICLE 4.1   ·   </a:t>
            </a:r>
            <a:pPr indent="0" marL="0">
              <a:buNone/>
            </a:pPr>
            <a:r>
              <a:rPr lang="en-US" sz="1050" b="1" spc="150" kern="0" dirty="0">
                <a:solidFill>
                  <a:srgbClr val="5C6672"/>
                </a:solidFill>
                <a:latin typeface="Calibri" pitchFamily="34" charset="0"/>
                <a:ea typeface="Calibri" pitchFamily="34" charset="-122"/>
                <a:cs typeface="Calibri" pitchFamily="34" charset="-120"/>
              </a:rPr>
              <a:t>THE EXPANSION ANNOUNCEMENT — ALL SIX COURSES</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6E4A12"/>
                </a:solidFill>
                <a:latin typeface="Calibri" pitchFamily="34" charset="0"/>
                <a:ea typeface="Calibri" pitchFamily="34" charset="-122"/>
                <a:cs typeface="Calibri" pitchFamily="34" charset="-120"/>
              </a:rPr>
              <a:t>PR Newswire → EdSurge / Longevity.Technology</a:t>
            </a:r>
            <a:endParaRPr lang="en-US" sz="950" dirty="0"/>
          </a:p>
        </p:txBody>
      </p:sp>
      <p:sp>
        <p:nvSpPr>
          <p:cNvPr id="4" name="Text 2"/>
          <p:cNvSpPr/>
          <p:nvPr/>
        </p:nvSpPr>
        <p:spPr>
          <a:xfrm>
            <a:off x="640080" y="603504"/>
            <a:ext cx="10911535" cy="896112"/>
          </a:xfrm>
          <a:prstGeom prst="rect">
            <a:avLst/>
          </a:prstGeom>
          <a:noFill/>
          <a:ln/>
        </p:spPr>
        <p:txBody>
          <a:bodyPr wrap="square" rtlCol="0" anchor="t"/>
          <a:lstStyle/>
          <a:p>
            <a:pPr indent="0" marL="0">
              <a:lnSpc>
                <a:spcPct val="96000"/>
              </a:lnSpc>
              <a:buNone/>
            </a:pPr>
            <a:r>
              <a:rPr lang="en-US" sz="2600" b="1" dirty="0">
                <a:solidFill>
                  <a:srgbClr val="0C2A43"/>
                </a:solidFill>
                <a:latin typeface="Cambria" pitchFamily="34" charset="0"/>
                <a:ea typeface="Cambria" pitchFamily="34" charset="-122"/>
                <a:cs typeface="Cambria" pitchFamily="34" charset="-120"/>
              </a:rPr>
              <a:t>eTeacher to Add Six New Longevity Courses Following Its Q2 Longevity Life Academy Debut</a:t>
            </a:r>
            <a:endParaRPr lang="en-US" sz="2600" dirty="0"/>
          </a:p>
        </p:txBody>
      </p:sp>
      <p:sp>
        <p:nvSpPr>
          <p:cNvPr id="5" name="Text 3"/>
          <p:cNvSpPr/>
          <p:nvPr/>
        </p:nvSpPr>
        <p:spPr>
          <a:xfrm>
            <a:off x="640080" y="1572768"/>
            <a:ext cx="10911535" cy="512064"/>
          </a:xfrm>
          <a:prstGeom prst="rect">
            <a:avLst/>
          </a:prstGeom>
          <a:noFill/>
          <a:ln/>
        </p:spPr>
        <p:txBody>
          <a:bodyPr wrap="square" rtlCol="0" anchor="t"/>
          <a:lstStyle/>
          <a:p>
            <a:pPr indent="0" marL="0">
              <a:lnSpc>
                <a:spcPct val="110000"/>
              </a:lnSpc>
              <a:buNone/>
            </a:pPr>
            <a:r>
              <a:rPr lang="en-US" sz="1350" b="1" i="1" dirty="0">
                <a:solidFill>
                  <a:srgbClr val="1A1F26"/>
                </a:solidFill>
                <a:latin typeface="Calibri" pitchFamily="34" charset="0"/>
                <a:ea typeface="Calibri" pitchFamily="34" charset="-122"/>
                <a:cs typeface="Calibri" pitchFamily="34" charset="-120"/>
              </a:rPr>
              <a:t>The planned expansion turns a single flagship course into a full longevity curriculum — six new programs spanning metabolic health, movement, biomarkers, and brain training.</a:t>
            </a:r>
            <a:endParaRPr lang="en-US" sz="1350" dirty="0"/>
          </a:p>
        </p:txBody>
      </p:sp>
      <p:sp>
        <p:nvSpPr>
          <p:cNvPr id="6" name="Shape 4"/>
          <p:cNvSpPr/>
          <p:nvPr/>
        </p:nvSpPr>
        <p:spPr>
          <a:xfrm>
            <a:off x="640080" y="2194560"/>
            <a:ext cx="10911535" cy="0"/>
          </a:xfrm>
          <a:prstGeom prst="line">
            <a:avLst/>
          </a:prstGeom>
          <a:noFill/>
          <a:ln w="12700">
            <a:solidFill>
              <a:srgbClr val="D9DDE2"/>
            </a:solidFill>
            <a:prstDash val="solid"/>
          </a:ln>
        </p:spPr>
      </p:sp>
      <p:sp>
        <p:nvSpPr>
          <p:cNvPr id="7" name="Text 5"/>
          <p:cNvSpPr/>
          <p:nvPr/>
        </p:nvSpPr>
        <p:spPr>
          <a:xfrm>
            <a:off x="64008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RAMAT GAN, Israel — Building on the Q2 launch of its flagship 18-week course, The Longevity Blueprint, eTeacher Group today announced six new Longevity Life Academy courses planned to roll out over the coming year.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expansion answers demand created by a market UBS projects will reach $8 trillion by 2030, and it reflects eTeacher's view that longevity is a lifelong practice rather than a single class. The six upcoming courses are: Emotional Resilience &amp; Stress; Metabolic Mastery; Activities &amp; Movement: Athlete-Level Performance; Longevity Blueprint 2, a continuation of the flagship; Biomarkers &amp; Advanced Wearables; and Longevity Brain, which trains the brain like the body and adds social health and relationships.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Each new course is planned to keep the LLA format that defines the flagship: live, small-group sessions of 8–15, instructor-led across multiple phases, with personal-data integration and named expert faculty.</a:t>
            </a:r>
            <a:endParaRPr lang="en-US" sz="1050" dirty="0"/>
          </a:p>
        </p:txBody>
      </p:sp>
      <p:sp>
        <p:nvSpPr>
          <p:cNvPr id="8" name="Text 6"/>
          <p:cNvSpPr/>
          <p:nvPr/>
        </p:nvSpPr>
        <p:spPr>
          <a:xfrm>
            <a:off x="649224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lineup is designed to deepen, not dilute, the model — with the Biomarkers &amp; Advanced Wearables course, in particular, extending the Abbott Lingo glucose-monitor foundation into a wider set of measurable inputs.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“Our aspiration is to be the leading platform for meaningful and personalized learning for the adult audience,” said CEO Harel Tayeb. “Longevity is not one course — it is a lifelong practice, and we are building the school for it.”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eTeacher says the six courses are on its roadmap for the year following the Q2 debut, with instructors and enrollment dates to be announced.</a:t>
            </a:r>
            <a:endParaRPr lang="en-US" sz="1050" dirty="0"/>
          </a:p>
        </p:txBody>
      </p:sp>
      <p:sp>
        <p:nvSpPr>
          <p:cNvPr id="9" name="Shape 7"/>
          <p:cNvSpPr/>
          <p:nvPr/>
        </p:nvSpPr>
        <p:spPr>
          <a:xfrm>
            <a:off x="640080" y="4892040"/>
            <a:ext cx="10911535" cy="1399032"/>
          </a:xfrm>
          <a:prstGeom prst="roundRect">
            <a:avLst>
              <a:gd name="adj" fmla="val 3268"/>
            </a:avLst>
          </a:prstGeom>
          <a:solidFill>
            <a:srgbClr val="0C2A43"/>
          </a:solidFill>
          <a:ln w="25400">
            <a:solidFill>
              <a:srgbClr val="C08A2E"/>
            </a:solidFill>
            <a:prstDash val="solid"/>
          </a:ln>
        </p:spPr>
      </p:sp>
      <p:sp>
        <p:nvSpPr>
          <p:cNvPr id="10" name="Shape 8"/>
          <p:cNvSpPr/>
          <p:nvPr/>
        </p:nvSpPr>
        <p:spPr>
          <a:xfrm>
            <a:off x="658368" y="4910328"/>
            <a:ext cx="10874959" cy="310896"/>
          </a:xfrm>
          <a:prstGeom prst="rect">
            <a:avLst/>
          </a:prstGeom>
          <a:solidFill>
            <a:srgbClr val="C08A2E"/>
          </a:solidFill>
          <a:ln/>
        </p:spPr>
      </p:sp>
      <p:sp>
        <p:nvSpPr>
          <p:cNvPr id="11" name="Text 9"/>
          <p:cNvSpPr/>
          <p:nvPr/>
        </p:nvSpPr>
        <p:spPr>
          <a:xfrm>
            <a:off x="841248" y="4910328"/>
            <a:ext cx="10509199" cy="310896"/>
          </a:xfrm>
          <a:prstGeom prst="rect">
            <a:avLst/>
          </a:prstGeom>
          <a:noFill/>
          <a:ln/>
        </p:spPr>
        <p:txBody>
          <a:bodyPr wrap="square" rtlCol="0" anchor="ctr"/>
          <a:lstStyle/>
          <a:p>
            <a:pPr indent="0" marL="0">
              <a:buNone/>
            </a:pPr>
            <a:r>
              <a:rPr lang="en-US" sz="900" b="1" spc="80" kern="0" dirty="0">
                <a:solidFill>
                  <a:srgbClr val="0C2A43"/>
                </a:solidFill>
                <a:latin typeface="Calibri" pitchFamily="34" charset="0"/>
                <a:ea typeface="Calibri" pitchFamily="34" charset="-122"/>
                <a:cs typeface="Calibri" pitchFamily="34" charset="-120"/>
              </a:rPr>
              <a:t>HIGHLIGHTED QUOTE  ·  HAREL TAYEB, CEO, eTeacher Group</a:t>
            </a:r>
            <a:endParaRPr lang="en-US" sz="900" dirty="0"/>
          </a:p>
        </p:txBody>
      </p:sp>
      <p:sp>
        <p:nvSpPr>
          <p:cNvPr id="12" name="Text 10"/>
          <p:cNvSpPr/>
          <p:nvPr/>
        </p:nvSpPr>
        <p:spPr>
          <a:xfrm>
            <a:off x="859536" y="5294376"/>
            <a:ext cx="10472623" cy="466344"/>
          </a:xfrm>
          <a:prstGeom prst="rect">
            <a:avLst/>
          </a:prstGeom>
          <a:noFill/>
          <a:ln/>
        </p:spPr>
        <p:txBody>
          <a:bodyPr wrap="square" rtlCol="0" anchor="t"/>
          <a:lstStyle/>
          <a:p>
            <a:pPr indent="0" marL="0">
              <a:lnSpc>
                <a:spcPct val="108000"/>
              </a:lnSpc>
              <a:buNone/>
            </a:pPr>
            <a:r>
              <a:rPr lang="en-US" sz="1150" b="1" i="1" dirty="0">
                <a:solidFill>
                  <a:srgbClr val="FFF3DA"/>
                </a:solidFill>
                <a:latin typeface="Calibri" pitchFamily="34" charset="0"/>
                <a:ea typeface="Calibri" pitchFamily="34" charset="-122"/>
                <a:cs typeface="Calibri" pitchFamily="34" charset="-120"/>
              </a:rPr>
              <a:t>“Our aspiration is to be the leading platform for meaningful and personalized learning for the adult audience. Longevity is not one course — it is a lifelong practice, and we are building the school for it.”</a:t>
            </a:r>
            <a:endParaRPr lang="en-US" sz="1150" dirty="0"/>
          </a:p>
        </p:txBody>
      </p:sp>
      <p:sp>
        <p:nvSpPr>
          <p:cNvPr id="13" name="Text 11"/>
          <p:cNvSpPr/>
          <p:nvPr/>
        </p:nvSpPr>
        <p:spPr>
          <a:xfrm>
            <a:off x="859536" y="5833872"/>
            <a:ext cx="10472623" cy="329184"/>
          </a:xfrm>
          <a:prstGeom prst="rect">
            <a:avLst/>
          </a:prstGeom>
          <a:noFill/>
          <a:ln/>
        </p:spPr>
        <p:txBody>
          <a:bodyPr wrap="square" rtlCol="0" anchor="b"/>
          <a:lstStyle/>
          <a:p>
            <a:pPr indent="0" marL="0">
              <a:lnSpc>
                <a:spcPct val="102000"/>
              </a:lnSpc>
              <a:buNone/>
            </a:pPr>
            <a:r>
              <a:rPr lang="en-US" sz="680" i="1" dirty="0">
                <a:solidFill>
                  <a:srgbClr val="C9B892"/>
                </a:solidFill>
                <a:latin typeface="Calibri" pitchFamily="34" charset="0"/>
                <a:ea typeface="Calibri" pitchFamily="34" charset="-122"/>
                <a:cs typeface="Calibri" pitchFamily="34" charset="-120"/>
              </a:rPr>
              <a:t>Sentence 1 is verbatim from TheMarker Labels (1 Feb 2026), Q9. Sentence 2 is the one voice-matched new line — flagged for approval.</a:t>
            </a:r>
            <a:endParaRPr lang="en-US" sz="68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31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6E4A12"/>
                </a:solidFill>
                <a:latin typeface="Calibri" pitchFamily="34" charset="0"/>
                <a:ea typeface="Calibri" pitchFamily="34" charset="-122"/>
                <a:cs typeface="Calibri" pitchFamily="34" charset="-120"/>
              </a:rPr>
              <a:t>ARTICLE 4.2   ·   </a:t>
            </a:r>
            <a:pPr indent="0" marL="0">
              <a:buNone/>
            </a:pPr>
            <a:r>
              <a:rPr lang="en-US" sz="1050" b="1" spc="150" kern="0" dirty="0">
                <a:solidFill>
                  <a:srgbClr val="5C6672"/>
                </a:solidFill>
                <a:latin typeface="Calibri" pitchFamily="34" charset="0"/>
                <a:ea typeface="Calibri" pitchFamily="34" charset="-122"/>
                <a:cs typeface="Calibri" pitchFamily="34" charset="-120"/>
              </a:rPr>
              <a:t>CURRICULUM DEPTH / “LEARNING JOURNEY” — LONGEVITY BRAIN FEATURE</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6E4A12"/>
                </a:solidFill>
                <a:latin typeface="Calibri" pitchFamily="34" charset="0"/>
                <a:ea typeface="Calibri" pitchFamily="34" charset="-122"/>
                <a:cs typeface="Calibri" pitchFamily="34" charset="-120"/>
              </a:rPr>
              <a:t>Well+Good / mindbodygreen / psychology-forward outlets</a:t>
            </a:r>
            <a:endParaRPr lang="en-US" sz="950" dirty="0"/>
          </a:p>
        </p:txBody>
      </p:sp>
      <p:sp>
        <p:nvSpPr>
          <p:cNvPr id="4" name="Text 2"/>
          <p:cNvSpPr/>
          <p:nvPr/>
        </p:nvSpPr>
        <p:spPr>
          <a:xfrm>
            <a:off x="640080" y="603504"/>
            <a:ext cx="10911535" cy="896112"/>
          </a:xfrm>
          <a:prstGeom prst="rect">
            <a:avLst/>
          </a:prstGeom>
          <a:noFill/>
          <a:ln/>
        </p:spPr>
        <p:txBody>
          <a:bodyPr wrap="square" rtlCol="0" anchor="t"/>
          <a:lstStyle/>
          <a:p>
            <a:pPr indent="0" marL="0">
              <a:lnSpc>
                <a:spcPct val="96000"/>
              </a:lnSpc>
              <a:buNone/>
            </a:pPr>
            <a:r>
              <a:rPr lang="en-US" sz="2600" b="1" dirty="0">
                <a:solidFill>
                  <a:srgbClr val="0C2A43"/>
                </a:solidFill>
                <a:latin typeface="Cambria" pitchFamily="34" charset="0"/>
                <a:ea typeface="Cambria" pitchFamily="34" charset="-122"/>
                <a:cs typeface="Cambria" pitchFamily="34" charset="-120"/>
              </a:rPr>
              <a:t>eTeacher Plans Six New Longevity Life Academy Courses in Brain Training, Metabolism, Movement and Biomarkers</a:t>
            </a:r>
            <a:endParaRPr lang="en-US" sz="2600" dirty="0"/>
          </a:p>
        </p:txBody>
      </p:sp>
      <p:sp>
        <p:nvSpPr>
          <p:cNvPr id="5" name="Text 3"/>
          <p:cNvSpPr/>
          <p:nvPr/>
        </p:nvSpPr>
        <p:spPr>
          <a:xfrm>
            <a:off x="640080" y="1572768"/>
            <a:ext cx="10911535" cy="512064"/>
          </a:xfrm>
          <a:prstGeom prst="rect">
            <a:avLst/>
          </a:prstGeom>
          <a:noFill/>
          <a:ln/>
        </p:spPr>
        <p:txBody>
          <a:bodyPr wrap="square" rtlCol="0" anchor="t"/>
          <a:lstStyle/>
          <a:p>
            <a:pPr indent="0" marL="0">
              <a:lnSpc>
                <a:spcPct val="110000"/>
              </a:lnSpc>
              <a:buNone/>
            </a:pPr>
            <a:r>
              <a:rPr lang="en-US" sz="1350" b="1" i="1" dirty="0">
                <a:solidFill>
                  <a:srgbClr val="1A1F26"/>
                </a:solidFill>
                <a:latin typeface="Calibri" pitchFamily="34" charset="0"/>
                <a:ea typeface="Calibri" pitchFamily="34" charset="-122"/>
                <a:cs typeface="Calibri" pitchFamily="34" charset="-120"/>
              </a:rPr>
              <a:t>The upcoming curriculum treats memory, focus, emotional health, and relationships as trainable longevity levers — turning a single course into a multi-phase journey.</a:t>
            </a:r>
            <a:endParaRPr lang="en-US" sz="1350" dirty="0"/>
          </a:p>
        </p:txBody>
      </p:sp>
      <p:sp>
        <p:nvSpPr>
          <p:cNvPr id="6" name="Shape 4"/>
          <p:cNvSpPr/>
          <p:nvPr/>
        </p:nvSpPr>
        <p:spPr>
          <a:xfrm>
            <a:off x="640080" y="2194560"/>
            <a:ext cx="10911535" cy="0"/>
          </a:xfrm>
          <a:prstGeom prst="line">
            <a:avLst/>
          </a:prstGeom>
          <a:noFill/>
          <a:ln w="12700">
            <a:solidFill>
              <a:srgbClr val="D9DDE2"/>
            </a:solidFill>
            <a:prstDash val="solid"/>
          </a:ln>
        </p:spPr>
      </p:sp>
      <p:sp>
        <p:nvSpPr>
          <p:cNvPr id="7" name="Text 5"/>
          <p:cNvSpPr/>
          <p:nvPr/>
        </p:nvSpPr>
        <p:spPr>
          <a:xfrm>
            <a:off x="64008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RAMAT GAN, Israel — As eTeacher Group maps out its six planned Longevity Life Academy courses, one stands out as the most distinctly eTeacher: Longevity Brain, a program that will treat cognitive and social health as core longevity practices rather than afterthoughts.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design reflects a broader idea about how longevity should be taught — as a sequenced journey, not a one-off. Students would begin with the flagship 18-week Longevity Blueprint, then progress through specialized courses like Metabolic Mastery, Athlete-Level Performance, and Biomarkers &amp; Advanced Wearables, each in the same live, 8–15-student cohort format.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Longevity Brain is planned to cover memory, focus, emotional resilience, and the science of relationships and social connection — directly answering eTeacher's founding concern about keeping the adult mind engaged. Emotional Resilience &amp; Stress and Longevity Blueprint 2 round out the mental-and-continuation track.</a:t>
            </a:r>
            <a:endParaRPr lang="en-US" sz="1050" dirty="0"/>
          </a:p>
        </p:txBody>
      </p:sp>
      <p:sp>
        <p:nvSpPr>
          <p:cNvPr id="8" name="Text 6"/>
          <p:cNvSpPr/>
          <p:nvPr/>
        </p:nvSpPr>
        <p:spPr>
          <a:xfrm>
            <a:off x="649224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through-line is the company's live-expert-plus-AI method, refined over 25 years and 400,000+ courses, now organized so a student can build a complete healthspan practice over time rather than in a single term.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“We want communities in small groups that keep the mind active and vital in a world where technology may cause cognitive atrophy,” said CEO Harel Tayeb. “Longevity Brain will make that explicit — you can train your brain like you train your body, and social connection is one of the strongest longevity levers we have.”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eTeacher says the full learning journey is planned for the year following the Q2 launch, with course sequencing and faculty to be confirmed.</a:t>
            </a:r>
            <a:endParaRPr lang="en-US" sz="1050" dirty="0"/>
          </a:p>
        </p:txBody>
      </p:sp>
      <p:sp>
        <p:nvSpPr>
          <p:cNvPr id="9" name="Shape 7"/>
          <p:cNvSpPr/>
          <p:nvPr/>
        </p:nvSpPr>
        <p:spPr>
          <a:xfrm>
            <a:off x="640080" y="4892040"/>
            <a:ext cx="10911535" cy="1399032"/>
          </a:xfrm>
          <a:prstGeom prst="roundRect">
            <a:avLst>
              <a:gd name="adj" fmla="val 3268"/>
            </a:avLst>
          </a:prstGeom>
          <a:solidFill>
            <a:srgbClr val="0C2A43"/>
          </a:solidFill>
          <a:ln w="25400">
            <a:solidFill>
              <a:srgbClr val="C08A2E"/>
            </a:solidFill>
            <a:prstDash val="solid"/>
          </a:ln>
        </p:spPr>
      </p:sp>
      <p:sp>
        <p:nvSpPr>
          <p:cNvPr id="10" name="Shape 8"/>
          <p:cNvSpPr/>
          <p:nvPr/>
        </p:nvSpPr>
        <p:spPr>
          <a:xfrm>
            <a:off x="658368" y="4910328"/>
            <a:ext cx="10874959" cy="310896"/>
          </a:xfrm>
          <a:prstGeom prst="rect">
            <a:avLst/>
          </a:prstGeom>
          <a:solidFill>
            <a:srgbClr val="C08A2E"/>
          </a:solidFill>
          <a:ln/>
        </p:spPr>
      </p:sp>
      <p:sp>
        <p:nvSpPr>
          <p:cNvPr id="11" name="Text 9"/>
          <p:cNvSpPr/>
          <p:nvPr/>
        </p:nvSpPr>
        <p:spPr>
          <a:xfrm>
            <a:off x="841248" y="4910328"/>
            <a:ext cx="10509199" cy="310896"/>
          </a:xfrm>
          <a:prstGeom prst="rect">
            <a:avLst/>
          </a:prstGeom>
          <a:noFill/>
          <a:ln/>
        </p:spPr>
        <p:txBody>
          <a:bodyPr wrap="square" rtlCol="0" anchor="ctr"/>
          <a:lstStyle/>
          <a:p>
            <a:pPr indent="0" marL="0">
              <a:buNone/>
            </a:pPr>
            <a:r>
              <a:rPr lang="en-US" sz="900" b="1" spc="80" kern="0" dirty="0">
                <a:solidFill>
                  <a:srgbClr val="0C2A43"/>
                </a:solidFill>
                <a:latin typeface="Calibri" pitchFamily="34" charset="0"/>
                <a:ea typeface="Calibri" pitchFamily="34" charset="-122"/>
                <a:cs typeface="Calibri" pitchFamily="34" charset="-120"/>
              </a:rPr>
              <a:t>HIGHLIGHTED QUOTE  ·  HAREL TAYEB, CEO, eTeacher Group</a:t>
            </a:r>
            <a:endParaRPr lang="en-US" sz="900" dirty="0"/>
          </a:p>
        </p:txBody>
      </p:sp>
      <p:sp>
        <p:nvSpPr>
          <p:cNvPr id="12" name="Text 10"/>
          <p:cNvSpPr/>
          <p:nvPr/>
        </p:nvSpPr>
        <p:spPr>
          <a:xfrm>
            <a:off x="859536" y="5294376"/>
            <a:ext cx="10472623" cy="466344"/>
          </a:xfrm>
          <a:prstGeom prst="rect">
            <a:avLst/>
          </a:prstGeom>
          <a:noFill/>
          <a:ln/>
        </p:spPr>
        <p:txBody>
          <a:bodyPr wrap="square" rtlCol="0" anchor="t"/>
          <a:lstStyle/>
          <a:p>
            <a:pPr indent="0" marL="0">
              <a:lnSpc>
                <a:spcPct val="108000"/>
              </a:lnSpc>
              <a:buNone/>
            </a:pPr>
            <a:r>
              <a:rPr lang="en-US" sz="1150" b="1" i="1" dirty="0">
                <a:solidFill>
                  <a:srgbClr val="FFF3DA"/>
                </a:solidFill>
                <a:latin typeface="Calibri" pitchFamily="34" charset="0"/>
                <a:ea typeface="Calibri" pitchFamily="34" charset="-122"/>
                <a:cs typeface="Calibri" pitchFamily="34" charset="-120"/>
              </a:rPr>
              <a:t>“We want communities in small groups that keep the mind active and vital in a world where technology may cause cognitive atrophy. Longevity Brain will make that explicit — you can train your brain like you train your body, and social connection is one of the strongest longevity levers we have.”</a:t>
            </a:r>
            <a:endParaRPr lang="en-US" sz="1150" dirty="0"/>
          </a:p>
        </p:txBody>
      </p:sp>
      <p:sp>
        <p:nvSpPr>
          <p:cNvPr id="13" name="Text 11"/>
          <p:cNvSpPr/>
          <p:nvPr/>
        </p:nvSpPr>
        <p:spPr>
          <a:xfrm>
            <a:off x="859536" y="5833872"/>
            <a:ext cx="10472623" cy="329184"/>
          </a:xfrm>
          <a:prstGeom prst="rect">
            <a:avLst/>
          </a:prstGeom>
          <a:noFill/>
          <a:ln/>
        </p:spPr>
        <p:txBody>
          <a:bodyPr wrap="square" rtlCol="0" anchor="b"/>
          <a:lstStyle/>
          <a:p>
            <a:pPr indent="0" marL="0">
              <a:lnSpc>
                <a:spcPct val="102000"/>
              </a:lnSpc>
              <a:buNone/>
            </a:pPr>
            <a:r>
              <a:rPr lang="en-US" sz="680" i="1" dirty="0">
                <a:solidFill>
                  <a:srgbClr val="C9B892"/>
                </a:solidFill>
                <a:latin typeface="Calibri" pitchFamily="34" charset="0"/>
                <a:ea typeface="Calibri" pitchFamily="34" charset="-122"/>
                <a:cs typeface="Calibri" pitchFamily="34" charset="-120"/>
              </a:rPr>
              <a:t>Sentence 1 adapts his verbatim “active and vital / cognitive atrophy / communities in small groups” language from TheMarker Labels (1 Feb 2026), Q9. Sentence 2 is the one voice-matched new line — flagged for approval.</a:t>
            </a:r>
            <a:endParaRPr lang="en-US" sz="68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32</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C2A43"/>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C08A2E"/>
          </a:solidFill>
          <a:ln/>
        </p:spPr>
      </p:sp>
      <p:sp>
        <p:nvSpPr>
          <p:cNvPr id="3" name="Text 1"/>
          <p:cNvSpPr/>
          <p:nvPr/>
        </p:nvSpPr>
        <p:spPr>
          <a:xfrm>
            <a:off x="640080" y="1280160"/>
            <a:ext cx="10911535" cy="365760"/>
          </a:xfrm>
          <a:prstGeom prst="rect">
            <a:avLst/>
          </a:prstGeom>
          <a:noFill/>
          <a:ln/>
        </p:spPr>
        <p:txBody>
          <a:bodyPr wrap="square" rtlCol="0" anchor="ctr"/>
          <a:lstStyle/>
          <a:p>
            <a:pPr indent="0" marL="0">
              <a:buNone/>
            </a:pPr>
            <a:r>
              <a:rPr lang="en-US" sz="1400" b="1" spc="300" kern="0" dirty="0">
                <a:solidFill>
                  <a:srgbClr val="C08A2E"/>
                </a:solidFill>
                <a:latin typeface="Calibri" pitchFamily="34" charset="0"/>
                <a:ea typeface="Calibri" pitchFamily="34" charset="-122"/>
                <a:cs typeface="Calibri" pitchFamily="34" charset="-120"/>
              </a:rPr>
              <a:t>NEXT STEPS</a:t>
            </a:r>
            <a:endParaRPr lang="en-US" sz="1400" dirty="0"/>
          </a:p>
        </p:txBody>
      </p:sp>
      <p:sp>
        <p:nvSpPr>
          <p:cNvPr id="4" name="Text 2"/>
          <p:cNvSpPr/>
          <p:nvPr/>
        </p:nvSpPr>
        <p:spPr>
          <a:xfrm>
            <a:off x="640080" y="1783080"/>
            <a:ext cx="10911535" cy="822960"/>
          </a:xfrm>
          <a:prstGeom prst="rect">
            <a:avLst/>
          </a:prstGeom>
          <a:noFill/>
          <a:ln/>
        </p:spPr>
        <p:txBody>
          <a:bodyPr wrap="square"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Your approval turns this into coverage</a:t>
            </a:r>
            <a:endParaRPr lang="en-US" sz="3200" dirty="0"/>
          </a:p>
        </p:txBody>
      </p:sp>
      <p:sp>
        <p:nvSpPr>
          <p:cNvPr id="5" name="Text 3"/>
          <p:cNvSpPr/>
          <p:nvPr/>
        </p:nvSpPr>
        <p:spPr>
          <a:xfrm>
            <a:off x="640080" y="2788920"/>
            <a:ext cx="10241280" cy="2834640"/>
          </a:xfrm>
          <a:prstGeom prst="rect">
            <a:avLst/>
          </a:prstGeom>
          <a:noFill/>
          <a:ln/>
        </p:spPr>
        <p:txBody>
          <a:bodyPr wrap="square" rtlCol="0" anchor="t"/>
          <a:lstStyle/>
          <a:p>
            <a:pPr indent="0" marL="0">
              <a:lnSpc>
                <a:spcPct val="110000"/>
              </a:lnSpc>
              <a:buNone/>
            </a:pPr>
            <a:r>
              <a:rPr lang="en-US" sz="1400" dirty="0">
                <a:solidFill>
                  <a:srgbClr val="DCE3EA"/>
                </a:solidFill>
                <a:latin typeface="Calibri" pitchFamily="34" charset="0"/>
                <a:ea typeface="Calibri" pitchFamily="34" charset="-122"/>
                <a:cs typeface="Calibri" pitchFamily="34" charset="-120"/>
              </a:rPr>
              <a:t>1.  Approve or edit the Harel Tayeb quotes — each leads with a verbatim published line and adds one voice-matched sentence, flagged per slide for sign-off.
</a:t>
            </a:r>
            <a:pPr indent="0" marL="0">
              <a:lnSpc>
                <a:spcPct val="110000"/>
              </a:lnSpc>
              <a:buNone/>
            </a:pPr>
            <a:r>
              <a:rPr lang="en-US" sz="1400" dirty="0">
                <a:solidFill>
                  <a:srgbClr val="DCE3EA"/>
                </a:solidFill>
                <a:latin typeface="Calibri" pitchFamily="34" charset="0"/>
                <a:ea typeface="Calibri" pitchFamily="34" charset="-122"/>
                <a:cs typeface="Calibri" pitchFamily="34" charset="-120"/>
              </a:rPr>
              <a:t>2.  Confirm the Julie Gibson Clark quotes and finalize her instructor agreement and title. Note: her #2 ranking is stated in the past tense throughout — she held #2 for over a year before a 2024 rule change — so every claim stays accurate if a reporter checks the live leaderboard.
</a:t>
            </a:r>
            <a:pPr indent="0" marL="0">
              <a:lnSpc>
                <a:spcPct val="110000"/>
              </a:lnSpc>
              <a:buNone/>
            </a:pPr>
            <a:r>
              <a:rPr lang="en-US" sz="1400" dirty="0">
                <a:solidFill>
                  <a:srgbClr val="DCE3EA"/>
                </a:solidFill>
                <a:latin typeface="Calibri" pitchFamily="34" charset="0"/>
                <a:ea typeface="Calibri" pitchFamily="34" charset="-122"/>
                <a:cs typeface="Calibri" pitchFamily="34" charset="-120"/>
              </a:rPr>
              <a:t>3.  Confirm forward-looking items before the wire: the AI tutor / Longevity Hub positioning and the six planned courses are framed as roadmap; confirm the exact “countries” figure (site shows 197; deck uses the safe “nearly 200”).
</a:t>
            </a:r>
            <a:pPr indent="0" marL="0">
              <a:lnSpc>
                <a:spcPct val="110000"/>
              </a:lnSpc>
              <a:buNone/>
            </a:pPr>
            <a:r>
              <a:rPr lang="en-US" sz="1400" dirty="0">
                <a:solidFill>
                  <a:srgbClr val="DCE3EA"/>
                </a:solidFill>
                <a:latin typeface="Calibri" pitchFamily="34" charset="0"/>
                <a:ea typeface="Calibri" pitchFamily="34" charset="-122"/>
                <a:cs typeface="Calibri" pitchFamily="34" charset="-120"/>
              </a:rPr>
              <a:t>4.  Provide the live press contact (name, email, phone) to replace the current placeholder before distribution.
</a:t>
            </a:r>
            <a:pPr indent="0" marL="0">
              <a:lnSpc>
                <a:spcPct val="110000"/>
              </a:lnSpc>
              <a:buNone/>
            </a:pPr>
            <a:r>
              <a:rPr lang="en-US" sz="1400" dirty="0">
                <a:solidFill>
                  <a:srgbClr val="DCE3EA"/>
                </a:solidFill>
                <a:latin typeface="Calibri" pitchFamily="34" charset="0"/>
                <a:ea typeface="Calibri" pitchFamily="34" charset="-122"/>
                <a:cs typeface="Calibri" pitchFamily="34" charset="-120"/>
              </a:rPr>
              <a:t>5.  Lock the calendar: approve quotes this week so Wave 1 wires Monday, July 13 — the full four-wave program then runs about eight weeks, wrapping by early September.</a:t>
            </a:r>
            <a:endParaRPr lang="en-US" sz="1400" dirty="0"/>
          </a:p>
        </p:txBody>
      </p:sp>
      <p:sp>
        <p:nvSpPr>
          <p:cNvPr id="6" name="Text 4"/>
          <p:cNvSpPr/>
          <p:nvPr/>
        </p:nvSpPr>
        <p:spPr>
          <a:xfrm>
            <a:off x="640080" y="6309360"/>
            <a:ext cx="10911535" cy="274320"/>
          </a:xfrm>
          <a:prstGeom prst="rect">
            <a:avLst/>
          </a:prstGeom>
          <a:noFill/>
          <a:ln/>
        </p:spPr>
        <p:txBody>
          <a:bodyPr wrap="square" rtlCol="0" anchor="ctr"/>
          <a:lstStyle/>
          <a:p>
            <a:pPr indent="0" marL="0">
              <a:buNone/>
            </a:pPr>
            <a:r>
              <a:rPr lang="en-US" sz="1000" dirty="0">
                <a:solidFill>
                  <a:srgbClr val="9AA4AF"/>
                </a:solidFill>
                <a:latin typeface="Calibri" pitchFamily="34" charset="0"/>
                <a:ea typeface="Calibri" pitchFamily="34" charset="-122"/>
                <a:cs typeface="Calibri" pitchFamily="34" charset="-120"/>
              </a:rPr>
              <a:t>eTeacher Group  ·  Longevity Life Academy  ·  Confidential communications plan</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2026-07-08T06:40:10Z</dcterms:created>
  <dcterms:modified xsi:type="dcterms:W3CDTF">2026-07-08T06:40:10Z</dcterms:modified>
</cp:coreProperties>
</file>