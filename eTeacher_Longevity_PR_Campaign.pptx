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buzzstream.com/blog/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475488"/>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THE PLAN ON ONE PAGE</a:t>
            </a:r>
            <a:endParaRPr lang="en-US" sz="1500" dirty="0"/>
          </a:p>
        </p:txBody>
      </p:sp>
      <p:sp>
        <p:nvSpPr>
          <p:cNvPr id="4" name="Text 2"/>
          <p:cNvSpPr/>
          <p:nvPr/>
        </p:nvSpPr>
        <p:spPr>
          <a:xfrm>
            <a:off x="640080" y="896112"/>
            <a:ext cx="10911535" cy="64008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we are actually going to do</a:t>
            </a:r>
            <a:endParaRPr lang="en-US" sz="3000" dirty="0"/>
          </a:p>
        </p:txBody>
      </p:sp>
      <p:sp>
        <p:nvSpPr>
          <p:cNvPr id="5" name="Shape 3"/>
          <p:cNvSpPr/>
          <p:nvPr/>
        </p:nvSpPr>
        <p:spPr>
          <a:xfrm>
            <a:off x="640080" y="1700784"/>
            <a:ext cx="10911535" cy="731520"/>
          </a:xfrm>
          <a:prstGeom prst="roundRect">
            <a:avLst>
              <a:gd name="adj" fmla="val 7500"/>
            </a:avLst>
          </a:prstGeom>
          <a:solidFill>
            <a:srgbClr val="12395C"/>
          </a:solidFill>
          <a:ln w="12700">
            <a:solidFill>
              <a:srgbClr val="27506F"/>
            </a:solidFill>
            <a:prstDash val="solid"/>
          </a:ln>
        </p:spPr>
      </p:sp>
      <p:sp>
        <p:nvSpPr>
          <p:cNvPr id="6" name="Text 4"/>
          <p:cNvSpPr/>
          <p:nvPr/>
        </p:nvSpPr>
        <p:spPr>
          <a:xfrm>
            <a:off x="914400" y="1700784"/>
            <a:ext cx="10362895" cy="731520"/>
          </a:xfrm>
          <a:prstGeom prst="rect">
            <a:avLst/>
          </a:prstGeom>
          <a:noFill/>
          <a:ln/>
        </p:spPr>
        <p:txBody>
          <a:bodyPr wrap="square" rtlCol="0" anchor="ctr"/>
          <a:lstStyle/>
          <a:p>
            <a:pPr indent="0" marL="0">
              <a:lnSpc>
                <a:spcPct val="108000"/>
              </a:lnSpc>
              <a:buNone/>
            </a:pPr>
            <a:r>
              <a:rPr lang="en-US" sz="1550" b="1" dirty="0">
                <a:solidFill>
                  <a:srgbClr val="C08A2E"/>
                </a:solidFill>
                <a:latin typeface="Calibri" pitchFamily="34" charset="0"/>
                <a:ea typeface="Calibri" pitchFamily="34" charset="-122"/>
                <a:cs typeface="Calibri" pitchFamily="34" charset="-120"/>
              </a:rPr>
              <a:t>THE GOAL:   </a:t>
            </a:r>
            <a:pPr indent="0" marL="0">
              <a:lnSpc>
                <a:spcPct val="108000"/>
              </a:lnSpc>
              <a:buNone/>
            </a:pPr>
            <a:r>
              <a:rPr lang="en-US" sz="1550" dirty="0">
                <a:solidFill>
                  <a:srgbClr val="DCE3EA"/>
                </a:solidFill>
                <a:latin typeface="Calibri" pitchFamily="34" charset="0"/>
                <a:ea typeface="Calibri" pitchFamily="34" charset="-122"/>
                <a:cs typeface="Calibri" pitchFamily="34" charset="-120"/>
              </a:rPr>
              <a:t>Get Longevity Life Academy real press — 1 guaranteed wire story per wave + 3–6 earned stories over 4 waves, run by one person for under $700.</a:t>
            </a:r>
            <a:endParaRPr lang="en-US" sz="1550" dirty="0"/>
          </a:p>
        </p:txBody>
      </p:sp>
      <p:sp>
        <p:nvSpPr>
          <p:cNvPr id="7" name="Shape 5"/>
          <p:cNvSpPr/>
          <p:nvPr/>
        </p:nvSpPr>
        <p:spPr>
          <a:xfrm>
            <a:off x="640080" y="2697480"/>
            <a:ext cx="1999427" cy="3246120"/>
          </a:xfrm>
          <a:prstGeom prst="roundRect">
            <a:avLst>
              <a:gd name="adj" fmla="val 2744"/>
            </a:avLst>
          </a:prstGeom>
          <a:solidFill>
            <a:srgbClr val="12395C"/>
          </a:solidFill>
          <a:ln w="12700">
            <a:solidFill>
              <a:srgbClr val="27506F"/>
            </a:solidFill>
            <a:prstDash val="solid"/>
          </a:ln>
        </p:spPr>
      </p:sp>
      <p:sp>
        <p:nvSpPr>
          <p:cNvPr id="8" name="Shape 6"/>
          <p:cNvSpPr/>
          <p:nvPr/>
        </p:nvSpPr>
        <p:spPr>
          <a:xfrm>
            <a:off x="640080" y="2697480"/>
            <a:ext cx="1999427" cy="54864"/>
          </a:xfrm>
          <a:prstGeom prst="rect">
            <a:avLst/>
          </a:prstGeom>
          <a:solidFill>
            <a:srgbClr val="C08A2E"/>
          </a:solidFill>
          <a:ln/>
        </p:spPr>
      </p:sp>
      <p:sp>
        <p:nvSpPr>
          <p:cNvPr id="9" name="Text 7"/>
          <p:cNvSpPr/>
          <p:nvPr/>
        </p:nvSpPr>
        <p:spPr>
          <a:xfrm>
            <a:off x="786384"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WHERE</a:t>
            </a:r>
            <a:endParaRPr lang="en-US" sz="1300" dirty="0"/>
          </a:p>
        </p:txBody>
      </p:sp>
      <p:sp>
        <p:nvSpPr>
          <p:cNvPr id="10" name="Text 8"/>
          <p:cNvSpPr/>
          <p:nvPr/>
        </p:nvSpPr>
        <p:spPr>
          <a:xfrm>
            <a:off x="786384"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US + Israel</a:t>
            </a:r>
            <a:endParaRPr lang="en-US" sz="1900" dirty="0"/>
          </a:p>
        </p:txBody>
      </p:sp>
      <p:sp>
        <p:nvSpPr>
          <p:cNvPr id="11" name="Text 9"/>
          <p:cNvSpPr/>
          <p:nvPr/>
        </p:nvSpPr>
        <p:spPr>
          <a:xfrm>
            <a:off x="786384"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Two fronts: US health &amp; consumer press, Israeli business press.</a:t>
            </a:r>
            <a:endParaRPr lang="en-US" sz="1250" dirty="0"/>
          </a:p>
        </p:txBody>
      </p:sp>
      <p:sp>
        <p:nvSpPr>
          <p:cNvPr id="12" name="Shape 10"/>
          <p:cNvSpPr/>
          <p:nvPr/>
        </p:nvSpPr>
        <p:spPr>
          <a:xfrm>
            <a:off x="2868107" y="2697480"/>
            <a:ext cx="1999427" cy="3246120"/>
          </a:xfrm>
          <a:prstGeom prst="roundRect">
            <a:avLst>
              <a:gd name="adj" fmla="val 2744"/>
            </a:avLst>
          </a:prstGeom>
          <a:solidFill>
            <a:srgbClr val="12395C"/>
          </a:solidFill>
          <a:ln w="12700">
            <a:solidFill>
              <a:srgbClr val="27506F"/>
            </a:solidFill>
            <a:prstDash val="solid"/>
          </a:ln>
        </p:spPr>
      </p:sp>
      <p:sp>
        <p:nvSpPr>
          <p:cNvPr id="13" name="Shape 11"/>
          <p:cNvSpPr/>
          <p:nvPr/>
        </p:nvSpPr>
        <p:spPr>
          <a:xfrm>
            <a:off x="2868107" y="2697480"/>
            <a:ext cx="1999427" cy="54864"/>
          </a:xfrm>
          <a:prstGeom prst="rect">
            <a:avLst/>
          </a:prstGeom>
          <a:solidFill>
            <a:srgbClr val="C08A2E"/>
          </a:solidFill>
          <a:ln/>
        </p:spPr>
      </p:sp>
      <p:sp>
        <p:nvSpPr>
          <p:cNvPr id="14" name="Text 12"/>
          <p:cNvSpPr/>
          <p:nvPr/>
        </p:nvSpPr>
        <p:spPr>
          <a:xfrm>
            <a:off x="3014411"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HOW</a:t>
            </a:r>
            <a:endParaRPr lang="en-US" sz="1300" dirty="0"/>
          </a:p>
        </p:txBody>
      </p:sp>
      <p:sp>
        <p:nvSpPr>
          <p:cNvPr id="15" name="Text 13"/>
          <p:cNvSpPr/>
          <p:nvPr/>
        </p:nvSpPr>
        <p:spPr>
          <a:xfrm>
            <a:off x="3014411"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Free + paid</a:t>
            </a:r>
            <a:endParaRPr lang="en-US" sz="1900" dirty="0"/>
          </a:p>
        </p:txBody>
      </p:sp>
      <p:sp>
        <p:nvSpPr>
          <p:cNvPr id="16" name="Text 14"/>
          <p:cNvSpPr/>
          <p:nvPr/>
        </p:nvSpPr>
        <p:spPr>
          <a:xfrm>
            <a:off x="3014411"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Pitch reporters (free) and buy a guaranteed news-wire slot (paid).</a:t>
            </a:r>
            <a:endParaRPr lang="en-US" sz="1250" dirty="0"/>
          </a:p>
        </p:txBody>
      </p:sp>
      <p:sp>
        <p:nvSpPr>
          <p:cNvPr id="17" name="Shape 15"/>
          <p:cNvSpPr/>
          <p:nvPr/>
        </p:nvSpPr>
        <p:spPr>
          <a:xfrm>
            <a:off x="5096134" y="2697480"/>
            <a:ext cx="1999427" cy="3246120"/>
          </a:xfrm>
          <a:prstGeom prst="roundRect">
            <a:avLst>
              <a:gd name="adj" fmla="val 2744"/>
            </a:avLst>
          </a:prstGeom>
          <a:solidFill>
            <a:srgbClr val="12395C"/>
          </a:solidFill>
          <a:ln w="12700">
            <a:solidFill>
              <a:srgbClr val="27506F"/>
            </a:solidFill>
            <a:prstDash val="solid"/>
          </a:ln>
        </p:spPr>
      </p:sp>
      <p:sp>
        <p:nvSpPr>
          <p:cNvPr id="18" name="Shape 16"/>
          <p:cNvSpPr/>
          <p:nvPr/>
        </p:nvSpPr>
        <p:spPr>
          <a:xfrm>
            <a:off x="5096134" y="2697480"/>
            <a:ext cx="1999427" cy="54864"/>
          </a:xfrm>
          <a:prstGeom prst="rect">
            <a:avLst/>
          </a:prstGeom>
          <a:solidFill>
            <a:srgbClr val="C08A2E"/>
          </a:solidFill>
          <a:ln/>
        </p:spPr>
      </p:sp>
      <p:sp>
        <p:nvSpPr>
          <p:cNvPr id="19" name="Text 17"/>
          <p:cNvSpPr/>
          <p:nvPr/>
        </p:nvSpPr>
        <p:spPr>
          <a:xfrm>
            <a:off x="5242438"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COST</a:t>
            </a:r>
            <a:endParaRPr lang="en-US" sz="1300" dirty="0"/>
          </a:p>
        </p:txBody>
      </p:sp>
      <p:sp>
        <p:nvSpPr>
          <p:cNvPr id="20" name="Text 18"/>
          <p:cNvSpPr/>
          <p:nvPr/>
        </p:nvSpPr>
        <p:spPr>
          <a:xfrm>
            <a:off x="5242438"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Under $700</a:t>
            </a:r>
            <a:endParaRPr lang="en-US" sz="1900" dirty="0"/>
          </a:p>
        </p:txBody>
      </p:sp>
      <p:sp>
        <p:nvSpPr>
          <p:cNvPr id="21" name="Text 19"/>
          <p:cNvSpPr/>
          <p:nvPr/>
        </p:nvSpPr>
        <p:spPr>
          <a:xfrm>
            <a:off x="5242438"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Lean plan for all 4 waves. Premium option runs $3.5–5K if wanted.</a:t>
            </a:r>
            <a:endParaRPr lang="en-US" sz="1250" dirty="0"/>
          </a:p>
        </p:txBody>
      </p:sp>
      <p:sp>
        <p:nvSpPr>
          <p:cNvPr id="22" name="Shape 20"/>
          <p:cNvSpPr/>
          <p:nvPr/>
        </p:nvSpPr>
        <p:spPr>
          <a:xfrm>
            <a:off x="7324161" y="2697480"/>
            <a:ext cx="1999427" cy="3246120"/>
          </a:xfrm>
          <a:prstGeom prst="roundRect">
            <a:avLst>
              <a:gd name="adj" fmla="val 2744"/>
            </a:avLst>
          </a:prstGeom>
          <a:solidFill>
            <a:srgbClr val="12395C"/>
          </a:solidFill>
          <a:ln w="12700">
            <a:solidFill>
              <a:srgbClr val="27506F"/>
            </a:solidFill>
            <a:prstDash val="solid"/>
          </a:ln>
        </p:spPr>
      </p:sp>
      <p:sp>
        <p:nvSpPr>
          <p:cNvPr id="23" name="Shape 21"/>
          <p:cNvSpPr/>
          <p:nvPr/>
        </p:nvSpPr>
        <p:spPr>
          <a:xfrm>
            <a:off x="7324161" y="2697480"/>
            <a:ext cx="1999427" cy="54864"/>
          </a:xfrm>
          <a:prstGeom prst="rect">
            <a:avLst/>
          </a:prstGeom>
          <a:solidFill>
            <a:srgbClr val="C08A2E"/>
          </a:solidFill>
          <a:ln/>
        </p:spPr>
      </p:sp>
      <p:sp>
        <p:nvSpPr>
          <p:cNvPr id="24" name="Text 22"/>
          <p:cNvSpPr/>
          <p:nvPr/>
        </p:nvSpPr>
        <p:spPr>
          <a:xfrm>
            <a:off x="7470465"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ODDS</a:t>
            </a:r>
            <a:endParaRPr lang="en-US" sz="1300" dirty="0"/>
          </a:p>
        </p:txBody>
      </p:sp>
      <p:sp>
        <p:nvSpPr>
          <p:cNvPr id="25" name="Text 23"/>
          <p:cNvSpPr/>
          <p:nvPr/>
        </p:nvSpPr>
        <p:spPr>
          <a:xfrm>
            <a:off x="7470465"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1 wire + 3–6 earned</a:t>
            </a:r>
            <a:endParaRPr lang="en-US" sz="1900" dirty="0"/>
          </a:p>
        </p:txBody>
      </p:sp>
      <p:sp>
        <p:nvSpPr>
          <p:cNvPr id="26" name="Text 24"/>
          <p:cNvSpPr/>
          <p:nvPr/>
        </p:nvSpPr>
        <p:spPr>
          <a:xfrm>
            <a:off x="7470465"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Wire pickup is guaranteed; 3–6 earned stories are likely.</a:t>
            </a:r>
            <a:endParaRPr lang="en-US" sz="1250" dirty="0"/>
          </a:p>
        </p:txBody>
      </p:sp>
      <p:sp>
        <p:nvSpPr>
          <p:cNvPr id="27" name="Shape 25"/>
          <p:cNvSpPr/>
          <p:nvPr/>
        </p:nvSpPr>
        <p:spPr>
          <a:xfrm>
            <a:off x="9552188" y="2697480"/>
            <a:ext cx="1999427" cy="3246120"/>
          </a:xfrm>
          <a:prstGeom prst="roundRect">
            <a:avLst>
              <a:gd name="adj" fmla="val 2744"/>
            </a:avLst>
          </a:prstGeom>
          <a:solidFill>
            <a:srgbClr val="12395C"/>
          </a:solidFill>
          <a:ln w="12700">
            <a:solidFill>
              <a:srgbClr val="27506F"/>
            </a:solidFill>
            <a:prstDash val="solid"/>
          </a:ln>
        </p:spPr>
      </p:sp>
      <p:sp>
        <p:nvSpPr>
          <p:cNvPr id="28" name="Shape 26"/>
          <p:cNvSpPr/>
          <p:nvPr/>
        </p:nvSpPr>
        <p:spPr>
          <a:xfrm>
            <a:off x="9552188" y="2697480"/>
            <a:ext cx="1999427" cy="54864"/>
          </a:xfrm>
          <a:prstGeom prst="rect">
            <a:avLst/>
          </a:prstGeom>
          <a:solidFill>
            <a:srgbClr val="C08A2E"/>
          </a:solidFill>
          <a:ln/>
        </p:spPr>
      </p:sp>
      <p:sp>
        <p:nvSpPr>
          <p:cNvPr id="29" name="Text 27"/>
          <p:cNvSpPr/>
          <p:nvPr/>
        </p:nvSpPr>
        <p:spPr>
          <a:xfrm>
            <a:off x="9698492"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WHEN</a:t>
            </a:r>
            <a:endParaRPr lang="en-US" sz="1300" dirty="0"/>
          </a:p>
        </p:txBody>
      </p:sp>
      <p:sp>
        <p:nvSpPr>
          <p:cNvPr id="30" name="Text 28"/>
          <p:cNvSpPr/>
          <p:nvPr/>
        </p:nvSpPr>
        <p:spPr>
          <a:xfrm>
            <a:off x="9698492"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4 waves, 8 weeks</a:t>
            </a:r>
            <a:endParaRPr lang="en-US" sz="1900" dirty="0"/>
          </a:p>
        </p:txBody>
      </p:sp>
      <p:sp>
        <p:nvSpPr>
          <p:cNvPr id="31" name="Text 29"/>
          <p:cNvSpPr/>
          <p:nvPr/>
        </p:nvSpPr>
        <p:spPr>
          <a:xfrm>
            <a:off x="9698492"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Jul 13 · Jul 30 · Aug 17 · Sep 3, ~2.5 weeks apart.</a:t>
            </a:r>
            <a:endParaRPr lang="en-US" sz="1250" dirty="0"/>
          </a:p>
        </p:txBody>
      </p:sp>
      <p:sp>
        <p:nvSpPr>
          <p:cNvPr id="32" name="Text 30"/>
          <p:cNvSpPr/>
          <p:nvPr/>
        </p:nvSpPr>
        <p:spPr>
          <a:xfrm>
            <a:off x="640080" y="6144768"/>
            <a:ext cx="10911535" cy="320040"/>
          </a:xfrm>
          <a:prstGeom prst="rect">
            <a:avLst/>
          </a:prstGeom>
          <a:noFill/>
          <a:ln/>
        </p:spPr>
        <p:txBody>
          <a:bodyPr wrap="square" rtlCol="0" anchor="ctr"/>
          <a:lstStyle/>
          <a:p>
            <a:pPr indent="0" marL="0">
              <a:buNone/>
            </a:pPr>
            <a:r>
              <a:rPr lang="en-US" sz="1250" i="1" dirty="0">
                <a:solidFill>
                  <a:srgbClr val="9AA4AF"/>
                </a:solidFill>
                <a:latin typeface="Calibri" pitchFamily="34" charset="0"/>
                <a:ea typeface="Calibri" pitchFamily="34" charset="-122"/>
                <a:cs typeface="Calibri" pitchFamily="34" charset="-120"/>
              </a:rPr>
              <a:t>The next 5 slides each go one level deeper: where, how, cost, odds, and what to do this week.</a:t>
            </a:r>
            <a:endParaRPr lang="en-US" sz="125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Where we go: two press pushes at once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2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Which countries, which readers, and which publications we aim at.</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UNITED STATES  —  our biggest market</a:t>
            </a:r>
            <a:endParaRPr lang="en-US" sz="1600" dirty="0"/>
          </a:p>
        </p:txBody>
      </p:sp>
      <p:sp>
        <p:nvSpPr>
          <p:cNvPr id="8" name="Text 6"/>
          <p:cNvSpPr/>
          <p:nvPr/>
        </p:nvSpPr>
        <p:spPr>
          <a:xfrm>
            <a:off x="896112"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About 70% of eTeacher customers are American. This is where sign-ups and growth happen.</a:t>
            </a:r>
            <a:endParaRPr lang="en-US" sz="1350" dirty="0"/>
          </a:p>
        </p:txBody>
      </p:sp>
      <p:sp>
        <p:nvSpPr>
          <p:cNvPr id="9" name="Text 7"/>
          <p:cNvSpPr/>
          <p:nvPr/>
        </p:nvSpPr>
        <p:spPr>
          <a:xfrm>
            <a:off x="896112" y="3694176"/>
            <a:ext cx="4760824" cy="713232"/>
          </a:xfrm>
          <a:prstGeom prst="rect">
            <a:avLst/>
          </a:prstGeom>
          <a:noFill/>
          <a:ln/>
        </p:spPr>
        <p:txBody>
          <a:bodyPr wrap="square" rtlCol="0" anchor="t"/>
          <a:lstStyle/>
          <a:p>
            <a:pPr indent="0" marL="0">
              <a:lnSpc>
                <a:spcPct val="114000"/>
              </a:lnSpc>
              <a:buNone/>
            </a:pPr>
            <a:r>
              <a:rPr lang="en-US" sz="1300" i="1" dirty="0">
                <a:solidFill>
                  <a:srgbClr val="0C2A43"/>
                </a:solidFill>
                <a:latin typeface="Calibri" pitchFamily="34" charset="0"/>
                <a:ea typeface="Calibri" pitchFamily="34" charset="-122"/>
                <a:cs typeface="Calibri" pitchFamily="34" charset="-120"/>
              </a:rPr>
              <a:t>THE STORY: health &amp; consumer. “Julie — the mom who out-scored a billionaire — joins an affordable longevity school.”</a:t>
            </a:r>
            <a:endParaRPr lang="en-US" sz="1300" dirty="0"/>
          </a:p>
        </p:txBody>
      </p:sp>
      <p:sp>
        <p:nvSpPr>
          <p:cNvPr id="10" name="Text 8"/>
          <p:cNvSpPr/>
          <p:nvPr/>
        </p:nvSpPr>
        <p:spPr>
          <a:xfrm>
            <a:off x="896112"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1" name="Text 9"/>
          <p:cNvSpPr/>
          <p:nvPr/>
        </p:nvSpPr>
        <p:spPr>
          <a:xfrm>
            <a:off x="896112"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People, Today, Well+Good, Business Insider</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Fox News Health, GMA, local morning TV</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Longevity.Technology, Fierce Healthcare</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EdSurge, TechCrunch (product angle)</a:t>
            </a:r>
            <a:endParaRPr lang="en-US" sz="1250" dirty="0"/>
          </a:p>
        </p:txBody>
      </p:sp>
      <p:sp>
        <p:nvSpPr>
          <p:cNvPr id="12" name="Text 10"/>
          <p:cNvSpPr/>
          <p:nvPr/>
        </p:nvSpPr>
        <p:spPr>
          <a:xfrm>
            <a:off x="896112" y="5687568"/>
            <a:ext cx="4760824" cy="329184"/>
          </a:xfrm>
          <a:prstGeom prst="rect">
            <a:avLst/>
          </a:prstGeom>
          <a:noFill/>
          <a:ln/>
        </p:spPr>
        <p:txBody>
          <a:bodyPr wrap="square" rtlCol="0" anchor="ctr"/>
          <a:lstStyle/>
          <a:p>
            <a:pPr indent="0" marL="0">
              <a:buNone/>
            </a:pPr>
            <a:r>
              <a:rPr lang="en-US" sz="1300" b="1" dirty="0">
                <a:solidFill>
                  <a:srgbClr val="0C2A43"/>
                </a:solidFill>
                <a:latin typeface="Calibri" pitchFamily="34" charset="0"/>
                <a:ea typeface="Calibri" pitchFamily="34" charset="-122"/>
                <a:cs typeface="Calibri" pitchFamily="34" charset="-120"/>
              </a:rPr>
              <a:t>TARGET: 2–4 US press stories + one TV segment</a:t>
            </a:r>
            <a:endParaRPr lang="en-US" sz="1300" dirty="0"/>
          </a:p>
        </p:txBody>
      </p:sp>
      <p:sp>
        <p:nvSpPr>
          <p:cNvPr id="13" name="Shape 11"/>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14" name="Shape 12"/>
          <p:cNvSpPr/>
          <p:nvPr/>
        </p:nvSpPr>
        <p:spPr>
          <a:xfrm>
            <a:off x="6278728" y="2286000"/>
            <a:ext cx="5272888" cy="603504"/>
          </a:xfrm>
          <a:prstGeom prst="rect">
            <a:avLst/>
          </a:prstGeom>
          <a:solidFill>
            <a:srgbClr val="6E4A12"/>
          </a:solidFill>
          <a:ln/>
        </p:spPr>
      </p:sp>
      <p:sp>
        <p:nvSpPr>
          <p:cNvPr id="15" name="Text 13"/>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ISRAEL  —  our home country</a:t>
            </a:r>
            <a:endParaRPr lang="en-US" sz="1600" dirty="0"/>
          </a:p>
        </p:txBody>
      </p:sp>
      <p:sp>
        <p:nvSpPr>
          <p:cNvPr id="16" name="Text 14"/>
          <p:cNvSpPr/>
          <p:nvPr/>
        </p:nvSpPr>
        <p:spPr>
          <a:xfrm>
            <a:off x="6534760"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eTeacher is a 25-year-old Israeli company that press already know and have covered before.</a:t>
            </a:r>
            <a:endParaRPr lang="en-US" sz="1350" dirty="0"/>
          </a:p>
        </p:txBody>
      </p:sp>
      <p:sp>
        <p:nvSpPr>
          <p:cNvPr id="17" name="Text 15"/>
          <p:cNvSpPr/>
          <p:nvPr/>
        </p:nvSpPr>
        <p:spPr>
          <a:xfrm>
            <a:off x="6534760" y="3694176"/>
            <a:ext cx="4760824" cy="713232"/>
          </a:xfrm>
          <a:prstGeom prst="rect">
            <a:avLst/>
          </a:prstGeom>
          <a:noFill/>
          <a:ln/>
        </p:spPr>
        <p:txBody>
          <a:bodyPr wrap="square" rtlCol="0" anchor="t"/>
          <a:lstStyle/>
          <a:p>
            <a:pPr indent="0" marL="0">
              <a:lnSpc>
                <a:spcPct val="114000"/>
              </a:lnSpc>
              <a:buNone/>
            </a:pPr>
            <a:r>
              <a:rPr lang="en-US" sz="1300" i="1" dirty="0">
                <a:solidFill>
                  <a:srgbClr val="6E4A12"/>
                </a:solidFill>
                <a:latin typeface="Calibri" pitchFamily="34" charset="0"/>
                <a:ea typeface="Calibri" pitchFamily="34" charset="-122"/>
                <a:cs typeface="Calibri" pitchFamily="34" charset="-120"/>
              </a:rPr>
              <a:t>THE STORY: business &amp; national pride. “Veteran Israeli EdTech enters the $8T global longevity market.”</a:t>
            </a:r>
            <a:endParaRPr lang="en-US" sz="1300" dirty="0"/>
          </a:p>
        </p:txBody>
      </p:sp>
      <p:sp>
        <p:nvSpPr>
          <p:cNvPr id="18" name="Text 16"/>
          <p:cNvSpPr/>
          <p:nvPr/>
        </p:nvSpPr>
        <p:spPr>
          <a:xfrm>
            <a:off x="6534760"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9" name="Text 17"/>
          <p:cNvSpPr/>
          <p:nvPr/>
        </p:nvSpPr>
        <p:spPr>
          <a:xfrm>
            <a:off x="6534760"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TheMarker, Globes, Calcalist</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Geektime, CTech (tech press)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Ynet, Mako lifestyle &amp; health desks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IVC, startup-nation newsletters</a:t>
            </a:r>
            <a:endParaRPr lang="en-US" sz="1250" dirty="0"/>
          </a:p>
        </p:txBody>
      </p:sp>
      <p:sp>
        <p:nvSpPr>
          <p:cNvPr id="20" name="Text 18"/>
          <p:cNvSpPr/>
          <p:nvPr/>
        </p:nvSpPr>
        <p:spPr>
          <a:xfrm>
            <a:off x="6534760" y="5687568"/>
            <a:ext cx="4760824" cy="329184"/>
          </a:xfrm>
          <a:prstGeom prst="rect">
            <a:avLst/>
          </a:prstGeom>
          <a:noFill/>
          <a:ln/>
        </p:spPr>
        <p:txBody>
          <a:bodyPr wrap="square" rtlCol="0" anchor="ctr"/>
          <a:lstStyle/>
          <a:p>
            <a:pPr indent="0" marL="0">
              <a:buNone/>
            </a:pPr>
            <a:r>
              <a:rPr lang="en-US" sz="1300" b="1" dirty="0">
                <a:solidFill>
                  <a:srgbClr val="6E4A12"/>
                </a:solidFill>
                <a:latin typeface="Calibri" pitchFamily="34" charset="0"/>
                <a:ea typeface="Calibri" pitchFamily="34" charset="-122"/>
                <a:cs typeface="Calibri" pitchFamily="34" charset="-120"/>
              </a:rPr>
              <a:t>TARGET: 1–2 Israeli business features</a:t>
            </a:r>
            <a:endParaRPr lang="en-US" sz="130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How we get covered: free work + one paid wire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3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two levers — free reporter outreach, plus a paid wire that guarantees one story per wave.</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FREE  —  earned coverage ($0)</a:t>
            </a:r>
            <a:endParaRPr lang="en-US" sz="1600" dirty="0"/>
          </a:p>
        </p:txBody>
      </p:sp>
      <p:sp>
        <p:nvSpPr>
          <p:cNvPr id="8" name="Text 6"/>
          <p:cNvSpPr/>
          <p:nvPr/>
        </p:nvSpPr>
        <p:spPr>
          <a:xfrm>
            <a:off x="896112" y="310896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Pitch reporters directly</a:t>
            </a:r>
            <a:endParaRPr lang="en-US" sz="1350" dirty="0"/>
          </a:p>
        </p:txBody>
      </p:sp>
      <p:sp>
        <p:nvSpPr>
          <p:cNvPr id="9" name="Text 7"/>
          <p:cNvSpPr/>
          <p:nvPr/>
        </p:nvSpPr>
        <p:spPr>
          <a:xfrm>
            <a:off x="896112" y="336499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Email a tailored story to reporters who already cover longevity / online learning.</a:t>
            </a:r>
            <a:endParaRPr lang="en-US" sz="1150" dirty="0"/>
          </a:p>
        </p:txBody>
      </p:sp>
      <p:sp>
        <p:nvSpPr>
          <p:cNvPr id="10" name="Text 8"/>
          <p:cNvSpPr/>
          <p:nvPr/>
        </p:nvSpPr>
        <p:spPr>
          <a:xfrm>
            <a:off x="4312768" y="3127248"/>
            <a:ext cx="1371600" cy="457200"/>
          </a:xfrm>
          <a:prstGeom prst="rect">
            <a:avLst/>
          </a:prstGeom>
          <a:noFill/>
          <a:ln/>
        </p:spPr>
        <p:txBody>
          <a:bodyPr wrap="square" rtlCol="0" anchor="t"/>
          <a:lstStyle/>
          <a:p>
            <a:pPr algn="r" indent="0" marL="0">
              <a:lnSpc>
                <a:spcPct val="105000"/>
              </a:lnSpc>
              <a:buNone/>
            </a:pPr>
            <a:r>
              <a:rPr lang="en-US" sz="1100" b="1" dirty="0">
                <a:solidFill>
                  <a:srgbClr val="437A22"/>
                </a:solidFill>
                <a:latin typeface="Calibri" pitchFamily="34" charset="0"/>
                <a:ea typeface="Calibri" pitchFamily="34" charset="-122"/>
                <a:cs typeface="Calibri" pitchFamily="34" charset="-120"/>
              </a:rPr>
              <a:t>Best odds — 40–60%</a:t>
            </a:r>
            <a:endParaRPr lang="en-US" sz="1100" dirty="0"/>
          </a:p>
        </p:txBody>
      </p:sp>
      <p:sp>
        <p:nvSpPr>
          <p:cNvPr id="11" name="Text 9"/>
          <p:cNvSpPr/>
          <p:nvPr/>
        </p:nvSpPr>
        <p:spPr>
          <a:xfrm>
            <a:off x="896112" y="384048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Answer reporter requests</a:t>
            </a:r>
            <a:endParaRPr lang="en-US" sz="1350" dirty="0"/>
          </a:p>
        </p:txBody>
      </p:sp>
      <p:sp>
        <p:nvSpPr>
          <p:cNvPr id="12" name="Text 10"/>
          <p:cNvSpPr/>
          <p:nvPr/>
        </p:nvSpPr>
        <p:spPr>
          <a:xfrm>
            <a:off x="896112" y="409651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Reply fast as the expert when reporters ask for sources (free daily lists).</a:t>
            </a:r>
            <a:endParaRPr lang="en-US" sz="1150" dirty="0"/>
          </a:p>
        </p:txBody>
      </p:sp>
      <p:sp>
        <p:nvSpPr>
          <p:cNvPr id="13" name="Text 11"/>
          <p:cNvSpPr/>
          <p:nvPr/>
        </p:nvSpPr>
        <p:spPr>
          <a:xfrm>
            <a:off x="4312768" y="3858768"/>
            <a:ext cx="1371600" cy="457200"/>
          </a:xfrm>
          <a:prstGeom prst="rect">
            <a:avLst/>
          </a:prstGeom>
          <a:noFill/>
          <a:ln/>
        </p:spPr>
        <p:txBody>
          <a:bodyPr wrap="square" rtlCol="0" anchor="t"/>
          <a:lstStyle/>
          <a:p>
            <a:pPr algn="r" indent="0" marL="0">
              <a:lnSpc>
                <a:spcPct val="105000"/>
              </a:lnSpc>
              <a:buNone/>
            </a:pPr>
            <a:r>
              <a:rPr lang="en-US" sz="1100" b="1" dirty="0">
                <a:solidFill>
                  <a:srgbClr val="437A22"/>
                </a:solidFill>
                <a:latin typeface="Calibri" pitchFamily="34" charset="0"/>
                <a:ea typeface="Calibri" pitchFamily="34" charset="-122"/>
                <a:cs typeface="Calibri" pitchFamily="34" charset="-120"/>
              </a:rPr>
              <a:t>Good — quotes &amp; mentions</a:t>
            </a:r>
            <a:endParaRPr lang="en-US" sz="1100" dirty="0"/>
          </a:p>
        </p:txBody>
      </p:sp>
      <p:sp>
        <p:nvSpPr>
          <p:cNvPr id="14" name="Text 12"/>
          <p:cNvSpPr/>
          <p:nvPr/>
        </p:nvSpPr>
        <p:spPr>
          <a:xfrm>
            <a:off x="896112" y="457200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Watch reporter hashtags on X</a:t>
            </a:r>
            <a:endParaRPr lang="en-US" sz="1350" dirty="0"/>
          </a:p>
        </p:txBody>
      </p:sp>
      <p:sp>
        <p:nvSpPr>
          <p:cNvPr id="15" name="Text 13"/>
          <p:cNvSpPr/>
          <p:nvPr/>
        </p:nvSpPr>
        <p:spPr>
          <a:xfrm>
            <a:off x="896112" y="482803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Reply within the hour when reporters post asking for sources.</a:t>
            </a:r>
            <a:endParaRPr lang="en-US" sz="1150" dirty="0"/>
          </a:p>
        </p:txBody>
      </p:sp>
      <p:sp>
        <p:nvSpPr>
          <p:cNvPr id="16" name="Text 14"/>
          <p:cNvSpPr/>
          <p:nvPr/>
        </p:nvSpPr>
        <p:spPr>
          <a:xfrm>
            <a:off x="4312768" y="4590288"/>
            <a:ext cx="1371600" cy="457200"/>
          </a:xfrm>
          <a:prstGeom prst="rect">
            <a:avLst/>
          </a:prstGeom>
          <a:noFill/>
          <a:ln/>
        </p:spPr>
        <p:txBody>
          <a:bodyPr wrap="square" rtlCol="0" anchor="t"/>
          <a:lstStyle/>
          <a:p>
            <a:pPr algn="r" indent="0" marL="0">
              <a:lnSpc>
                <a:spcPct val="105000"/>
              </a:lnSpc>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p>
        </p:txBody>
      </p:sp>
      <p:sp>
        <p:nvSpPr>
          <p:cNvPr id="17" name="Text 15"/>
          <p:cNvSpPr/>
          <p:nvPr/>
        </p:nvSpPr>
        <p:spPr>
          <a:xfrm>
            <a:off x="896112" y="530352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Free wire + our own channels</a:t>
            </a:r>
            <a:endParaRPr lang="en-US" sz="1350" dirty="0"/>
          </a:p>
        </p:txBody>
      </p:sp>
      <p:sp>
        <p:nvSpPr>
          <p:cNvPr id="18" name="Text 16"/>
          <p:cNvSpPr/>
          <p:nvPr/>
        </p:nvSpPr>
        <p:spPr>
          <a:xfrm>
            <a:off x="896112" y="555955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Free press-release posting + Harel posting on his own LinkedIn.</a:t>
            </a:r>
            <a:endParaRPr lang="en-US" sz="1150" dirty="0"/>
          </a:p>
        </p:txBody>
      </p:sp>
      <p:sp>
        <p:nvSpPr>
          <p:cNvPr id="19" name="Text 17"/>
          <p:cNvSpPr/>
          <p:nvPr/>
        </p:nvSpPr>
        <p:spPr>
          <a:xfrm>
            <a:off x="4312768" y="5321808"/>
            <a:ext cx="1371600" cy="457200"/>
          </a:xfrm>
          <a:prstGeom prst="rect">
            <a:avLst/>
          </a:prstGeom>
          <a:noFill/>
          <a:ln/>
        </p:spPr>
        <p:txBody>
          <a:bodyPr wrap="square" rtlCol="0" anchor="t"/>
          <a:lstStyle/>
          <a:p>
            <a:pPr algn="r" indent="0" marL="0">
              <a:lnSpc>
                <a:spcPct val="105000"/>
              </a:lnSpc>
              <a:buNone/>
            </a:pPr>
            <a:r>
              <a:rPr lang="en-US" sz="1100" b="1" dirty="0">
                <a:solidFill>
                  <a:srgbClr val="B07A16"/>
                </a:solidFill>
                <a:latin typeface="Calibri" pitchFamily="34" charset="0"/>
                <a:ea typeface="Calibri" pitchFamily="34" charset="-122"/>
                <a:cs typeface="Calibri" pitchFamily="34" charset="-120"/>
              </a:rPr>
              <a:t>Low reach, builds a trail</a:t>
            </a:r>
            <a:endParaRPr lang="en-US" sz="1100" dirty="0"/>
          </a:p>
        </p:txBody>
      </p:sp>
      <p:sp>
        <p:nvSpPr>
          <p:cNvPr id="20" name="Shape 18"/>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21" name="Shape 19"/>
          <p:cNvSpPr/>
          <p:nvPr/>
        </p:nvSpPr>
        <p:spPr>
          <a:xfrm>
            <a:off x="6278728" y="2286000"/>
            <a:ext cx="5272888" cy="603504"/>
          </a:xfrm>
          <a:prstGeom prst="rect">
            <a:avLst/>
          </a:prstGeom>
          <a:solidFill>
            <a:srgbClr val="6E4A12"/>
          </a:solidFill>
          <a:ln/>
        </p:spPr>
      </p:sp>
      <p:sp>
        <p:nvSpPr>
          <p:cNvPr id="22" name="Text 20"/>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PAID  —  guaranteed pickup</a:t>
            </a:r>
            <a:endParaRPr lang="en-US" sz="1600" dirty="0"/>
          </a:p>
        </p:txBody>
      </p:sp>
      <p:sp>
        <p:nvSpPr>
          <p:cNvPr id="23" name="Text 21"/>
          <p:cNvSpPr/>
          <p:nvPr/>
        </p:nvSpPr>
        <p:spPr>
          <a:xfrm>
            <a:off x="6534760" y="310896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EIN Presswire</a:t>
            </a:r>
            <a:pPr indent="0" marL="0">
              <a:buNone/>
            </a:pPr>
            <a:r>
              <a:rPr lang="en-US" sz="1150" b="1" dirty="0">
                <a:solidFill>
                  <a:srgbClr val="5C6672"/>
                </a:solidFill>
                <a:latin typeface="Calibri" pitchFamily="34" charset="0"/>
                <a:ea typeface="Calibri" pitchFamily="34" charset="-122"/>
                <a:cs typeface="Calibri" pitchFamily="34" charset="-120"/>
              </a:rPr>
              <a:t>   $100–150 (~$80 in a 5-pack)</a:t>
            </a:r>
            <a:endParaRPr lang="en-US" sz="1350" dirty="0"/>
          </a:p>
        </p:txBody>
      </p:sp>
      <p:sp>
        <p:nvSpPr>
          <p:cNvPr id="24" name="Text 22"/>
          <p:cNvSpPr/>
          <p:nvPr/>
        </p:nvSpPr>
        <p:spPr>
          <a:xfrm>
            <a:off x="6534760" y="340156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Our workhorse. 200+ countries, AP News, Google News. Runs every wave.</a:t>
            </a:r>
            <a:endParaRPr lang="en-US" sz="1200" dirty="0"/>
          </a:p>
        </p:txBody>
      </p:sp>
      <p:sp>
        <p:nvSpPr>
          <p:cNvPr id="25" name="Text 23"/>
          <p:cNvSpPr/>
          <p:nvPr/>
        </p:nvSpPr>
        <p:spPr>
          <a:xfrm>
            <a:off x="6534760" y="406908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PR Newswire</a:t>
            </a:r>
            <a:pPr indent="0" marL="0">
              <a:buNone/>
            </a:pPr>
            <a:r>
              <a:rPr lang="en-US" sz="1150" b="1" dirty="0">
                <a:solidFill>
                  <a:srgbClr val="5C6672"/>
                </a:solidFill>
                <a:latin typeface="Calibri" pitchFamily="34" charset="0"/>
                <a:ea typeface="Calibri" pitchFamily="34" charset="-122"/>
                <a:cs typeface="Calibri" pitchFamily="34" charset="-120"/>
              </a:rPr>
              <a:t>   $2,000–3,000+</a:t>
            </a:r>
            <a:endParaRPr lang="en-US" sz="1350" dirty="0"/>
          </a:p>
        </p:txBody>
      </p:sp>
      <p:sp>
        <p:nvSpPr>
          <p:cNvPr id="26" name="Text 24"/>
          <p:cNvSpPr/>
          <p:nvPr/>
        </p:nvSpPr>
        <p:spPr>
          <a:xfrm>
            <a:off x="6534760" y="436168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The big-name wire. Add for Wave 1 only if the CEO wants the premium dateline.</a:t>
            </a:r>
            <a:endParaRPr lang="en-US" sz="1200" dirty="0"/>
          </a:p>
        </p:txBody>
      </p:sp>
      <p:sp>
        <p:nvSpPr>
          <p:cNvPr id="27" name="Text 25"/>
          <p:cNvSpPr/>
          <p:nvPr/>
        </p:nvSpPr>
        <p:spPr>
          <a:xfrm>
            <a:off x="6534760" y="502920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Newswire / GlobeNewswire</a:t>
            </a:r>
            <a:pPr indent="0" marL="0">
              <a:buNone/>
            </a:pPr>
            <a:r>
              <a:rPr lang="en-US" sz="1150" b="1" dirty="0">
                <a:solidFill>
                  <a:srgbClr val="5C6672"/>
                </a:solidFill>
                <a:latin typeface="Calibri" pitchFamily="34" charset="0"/>
                <a:ea typeface="Calibri" pitchFamily="34" charset="-122"/>
                <a:cs typeface="Calibri" pitchFamily="34" charset="-120"/>
              </a:rPr>
              <a:t>   $299–1,200</a:t>
            </a:r>
            <a:endParaRPr lang="en-US" sz="1350" dirty="0"/>
          </a:p>
        </p:txBody>
      </p:sp>
      <p:sp>
        <p:nvSpPr>
          <p:cNvPr id="28" name="Text 26"/>
          <p:cNvSpPr/>
          <p:nvPr/>
        </p:nvSpPr>
        <p:spPr>
          <a:xfrm>
            <a:off x="6534760" y="532180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Solid mid-tier alternatives; we’ve used GlobeNewswire before (2020).</a:t>
            </a:r>
            <a:endParaRPr lang="en-US" sz="1200" dirty="0"/>
          </a:p>
        </p:txBody>
      </p:sp>
      <p:sp>
        <p:nvSpPr>
          <p:cNvPr id="29" name="Text 27"/>
          <p:cNvSpPr/>
          <p:nvPr/>
        </p:nvSpPr>
        <p:spPr>
          <a:xfrm>
            <a:off x="640080" y="6172200"/>
            <a:ext cx="10911535" cy="320040"/>
          </a:xfrm>
          <a:prstGeom prst="rect">
            <a:avLst/>
          </a:prstGeom>
          <a:noFill/>
          <a:ln/>
        </p:spPr>
        <p:txBody>
          <a:bodyPr wrap="square" rtlCol="0" anchor="ctr"/>
          <a:lstStyle/>
          <a:p>
            <a:pPr indent="0" marL="0">
              <a:buNone/>
            </a:pPr>
            <a:r>
              <a:rPr lang="en-US" sz="1250" b="1" dirty="0">
                <a:solidFill>
                  <a:srgbClr val="0C2A43"/>
                </a:solidFill>
                <a:latin typeface="Calibri" pitchFamily="34" charset="0"/>
                <a:ea typeface="Calibri" pitchFamily="34" charset="-122"/>
                <a:cs typeface="Calibri" pitchFamily="34" charset="-120"/>
              </a:rPr>
              <a:t>The paid wire guarantees one story lands every wave; free outreach is where the real, credible coverage comes from.</a:t>
            </a:r>
            <a:endParaRPr lang="en-US" sz="12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BuzzStream (HARO alternatives)</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What it costs: lean vs. premium</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4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total spend across all four waves — and what the extra money buys.</a:t>
            </a:r>
            <a:endParaRPr lang="en-US" sz="1500" dirty="0"/>
          </a:p>
        </p:txBody>
      </p:sp>
      <p:sp>
        <p:nvSpPr>
          <p:cNvPr id="5" name="Shape 3"/>
          <p:cNvSpPr/>
          <p:nvPr/>
        </p:nvSpPr>
        <p:spPr>
          <a:xfrm>
            <a:off x="640080" y="2240280"/>
            <a:ext cx="5272888" cy="3429000"/>
          </a:xfrm>
          <a:prstGeom prst="roundRect">
            <a:avLst>
              <a:gd name="adj" fmla="val 1600"/>
            </a:avLst>
          </a:prstGeom>
          <a:solidFill>
            <a:srgbClr val="FFFFFF"/>
          </a:solidFill>
          <a:ln w="12700">
            <a:solidFill>
              <a:srgbClr val="D9DDE2"/>
            </a:solidFill>
            <a:prstDash val="solid"/>
          </a:ln>
        </p:spPr>
      </p:sp>
      <p:sp>
        <p:nvSpPr>
          <p:cNvPr id="6" name="Shape 4"/>
          <p:cNvSpPr/>
          <p:nvPr/>
        </p:nvSpPr>
        <p:spPr>
          <a:xfrm>
            <a:off x="640080" y="2240280"/>
            <a:ext cx="5272888" cy="502920"/>
          </a:xfrm>
          <a:prstGeom prst="rect">
            <a:avLst/>
          </a:prstGeom>
          <a:solidFill>
            <a:srgbClr val="0C2A43"/>
          </a:solidFill>
          <a:ln/>
        </p:spPr>
      </p:sp>
      <p:sp>
        <p:nvSpPr>
          <p:cNvPr id="7" name="Text 5"/>
          <p:cNvSpPr/>
          <p:nvPr/>
        </p:nvSpPr>
        <p:spPr>
          <a:xfrm>
            <a:off x="868680"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what we recommend</a:t>
            </a:r>
            <a:endParaRPr lang="en-US" sz="1350" dirty="0"/>
          </a:p>
        </p:txBody>
      </p:sp>
      <p:sp>
        <p:nvSpPr>
          <p:cNvPr id="8" name="Text 6"/>
          <p:cNvSpPr/>
          <p:nvPr/>
        </p:nvSpPr>
        <p:spPr>
          <a:xfrm>
            <a:off x="868680" y="2843784"/>
            <a:ext cx="4815688" cy="640080"/>
          </a:xfrm>
          <a:prstGeom prst="rect">
            <a:avLst/>
          </a:prstGeom>
          <a:noFill/>
          <a:ln/>
        </p:spPr>
        <p:txBody>
          <a:bodyPr wrap="square" rtlCol="0" anchor="ctr"/>
          <a:lstStyle/>
          <a:p>
            <a:pPr indent="0" marL="0">
              <a:buNone/>
            </a:pPr>
            <a:r>
              <a:rPr lang="en-US" sz="4000" b="1" dirty="0">
                <a:solidFill>
                  <a:srgbClr val="0C2A43"/>
                </a:solidFill>
                <a:latin typeface="Cambria" pitchFamily="34" charset="0"/>
                <a:ea typeface="Cambria" pitchFamily="34" charset="-122"/>
                <a:cs typeface="Cambria" pitchFamily="34" charset="-120"/>
              </a:rPr>
              <a:t>~$450–$700</a:t>
            </a:r>
            <a:endParaRPr lang="en-US" sz="4000" dirty="0"/>
          </a:p>
        </p:txBody>
      </p:sp>
      <p:sp>
        <p:nvSpPr>
          <p:cNvPr id="9" name="Text 7"/>
          <p:cNvSpPr/>
          <p:nvPr/>
        </p:nvSpPr>
        <p:spPr>
          <a:xfrm>
            <a:off x="868680"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a:t>
            </a:r>
            <a:endParaRPr lang="en-US" sz="1300" dirty="0"/>
          </a:p>
        </p:txBody>
      </p:sp>
      <p:sp>
        <p:nvSpPr>
          <p:cNvPr id="10" name="Text 8"/>
          <p:cNvSpPr/>
          <p:nvPr/>
        </p:nvSpPr>
        <p:spPr>
          <a:xfrm>
            <a:off x="868680"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5-pack (all 4 waves)</a:t>
            </a:r>
            <a:endParaRPr lang="en-US" sz="1250" dirty="0"/>
          </a:p>
        </p:txBody>
      </p:sp>
      <p:sp>
        <p:nvSpPr>
          <p:cNvPr id="11" name="Text 9"/>
          <p:cNvSpPr/>
          <p:nvPr/>
        </p:nvSpPr>
        <p:spPr>
          <a:xfrm>
            <a:off x="4495648"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$399</a:t>
            </a:r>
            <a:endParaRPr lang="en-US" sz="1250" dirty="0"/>
          </a:p>
        </p:txBody>
      </p:sp>
      <p:sp>
        <p:nvSpPr>
          <p:cNvPr id="12" name="Text 10"/>
          <p:cNvSpPr/>
          <p:nvPr/>
        </p:nvSpPr>
        <p:spPr>
          <a:xfrm>
            <a:off x="868680"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 press tactics (reporter pitching)</a:t>
            </a:r>
            <a:endParaRPr lang="en-US" sz="1250" dirty="0"/>
          </a:p>
        </p:txBody>
      </p:sp>
      <p:sp>
        <p:nvSpPr>
          <p:cNvPr id="13" name="Text 11"/>
          <p:cNvSpPr/>
          <p:nvPr/>
        </p:nvSpPr>
        <p:spPr>
          <a:xfrm>
            <a:off x="4495648"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4" name="Text 12"/>
          <p:cNvSpPr/>
          <p:nvPr/>
        </p:nvSpPr>
        <p:spPr>
          <a:xfrm>
            <a:off x="868680"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Optional: headshot / logo cleanup</a:t>
            </a:r>
            <a:endParaRPr lang="en-US" sz="1250" dirty="0"/>
          </a:p>
        </p:txBody>
      </p:sp>
      <p:sp>
        <p:nvSpPr>
          <p:cNvPr id="15" name="Text 13"/>
          <p:cNvSpPr/>
          <p:nvPr/>
        </p:nvSpPr>
        <p:spPr>
          <a:xfrm>
            <a:off x="4495648"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$0–$150</a:t>
            </a:r>
            <a:endParaRPr lang="en-US" sz="1250" dirty="0"/>
          </a:p>
        </p:txBody>
      </p:sp>
      <p:sp>
        <p:nvSpPr>
          <p:cNvPr id="16" name="Text 14"/>
          <p:cNvSpPr/>
          <p:nvPr/>
        </p:nvSpPr>
        <p:spPr>
          <a:xfrm>
            <a:off x="868680"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Our own channels (LinkedIn, website)</a:t>
            </a:r>
            <a:endParaRPr lang="en-US" sz="1250" dirty="0"/>
          </a:p>
        </p:txBody>
      </p:sp>
      <p:sp>
        <p:nvSpPr>
          <p:cNvPr id="17" name="Text 15"/>
          <p:cNvSpPr/>
          <p:nvPr/>
        </p:nvSpPr>
        <p:spPr>
          <a:xfrm>
            <a:off x="4495648"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8" name="Text 16"/>
          <p:cNvSpPr/>
          <p:nvPr/>
        </p:nvSpPr>
        <p:spPr>
          <a:xfrm>
            <a:off x="868680"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Enough for a real, credible, 4-wave launch run by one person.</a:t>
            </a:r>
            <a:endParaRPr lang="en-US" sz="1150" dirty="0"/>
          </a:p>
        </p:txBody>
      </p:sp>
      <p:sp>
        <p:nvSpPr>
          <p:cNvPr id="19" name="Shape 17"/>
          <p:cNvSpPr/>
          <p:nvPr/>
        </p:nvSpPr>
        <p:spPr>
          <a:xfrm>
            <a:off x="6278728" y="2240280"/>
            <a:ext cx="5272888" cy="3429000"/>
          </a:xfrm>
          <a:prstGeom prst="roundRect">
            <a:avLst>
              <a:gd name="adj" fmla="val 1600"/>
            </a:avLst>
          </a:prstGeom>
          <a:solidFill>
            <a:srgbClr val="FFFFFF"/>
          </a:solidFill>
          <a:ln w="12700">
            <a:solidFill>
              <a:srgbClr val="D9DDE2"/>
            </a:solidFill>
            <a:prstDash val="solid"/>
          </a:ln>
        </p:spPr>
      </p:sp>
      <p:sp>
        <p:nvSpPr>
          <p:cNvPr id="20" name="Shape 18"/>
          <p:cNvSpPr/>
          <p:nvPr/>
        </p:nvSpPr>
        <p:spPr>
          <a:xfrm>
            <a:off x="6278728" y="2240280"/>
            <a:ext cx="5272888" cy="502920"/>
          </a:xfrm>
          <a:prstGeom prst="rect">
            <a:avLst/>
          </a:prstGeom>
          <a:solidFill>
            <a:srgbClr val="6E4A12"/>
          </a:solidFill>
          <a:ln/>
        </p:spPr>
      </p:sp>
      <p:sp>
        <p:nvSpPr>
          <p:cNvPr id="21" name="Text 19"/>
          <p:cNvSpPr/>
          <p:nvPr/>
        </p:nvSpPr>
        <p:spPr>
          <a:xfrm>
            <a:off x="6507328"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optional upgrade</a:t>
            </a:r>
            <a:endParaRPr lang="en-US" sz="1350" dirty="0"/>
          </a:p>
        </p:txBody>
      </p:sp>
      <p:sp>
        <p:nvSpPr>
          <p:cNvPr id="22" name="Text 20"/>
          <p:cNvSpPr/>
          <p:nvPr/>
        </p:nvSpPr>
        <p:spPr>
          <a:xfrm>
            <a:off x="6507328" y="2843784"/>
            <a:ext cx="4815688" cy="640080"/>
          </a:xfrm>
          <a:prstGeom prst="rect">
            <a:avLst/>
          </a:prstGeom>
          <a:noFill/>
          <a:ln/>
        </p:spPr>
        <p:txBody>
          <a:bodyPr wrap="square" rtlCol="0" anchor="ctr"/>
          <a:lstStyle/>
          <a:p>
            <a:pPr indent="0" marL="0">
              <a:buNone/>
            </a:pPr>
            <a:r>
              <a:rPr lang="en-US" sz="4000" b="1" dirty="0">
                <a:solidFill>
                  <a:srgbClr val="6E4A12"/>
                </a:solidFill>
                <a:latin typeface="Cambria" pitchFamily="34" charset="0"/>
                <a:ea typeface="Cambria" pitchFamily="34" charset="-122"/>
                <a:cs typeface="Cambria" pitchFamily="34" charset="-120"/>
              </a:rPr>
              <a:t>~$3,500–$5,000</a:t>
            </a:r>
            <a:endParaRPr lang="en-US" sz="4000" dirty="0"/>
          </a:p>
        </p:txBody>
      </p:sp>
      <p:sp>
        <p:nvSpPr>
          <p:cNvPr id="23" name="Text 21"/>
          <p:cNvSpPr/>
          <p:nvPr/>
        </p:nvSpPr>
        <p:spPr>
          <a:xfrm>
            <a:off x="6507328"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a:t>
            </a:r>
            <a:endParaRPr lang="en-US" sz="1300" dirty="0"/>
          </a:p>
        </p:txBody>
      </p:sp>
      <p:sp>
        <p:nvSpPr>
          <p:cNvPr id="24" name="Text 22"/>
          <p:cNvSpPr/>
          <p:nvPr/>
        </p:nvSpPr>
        <p:spPr>
          <a:xfrm>
            <a:off x="6507328"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PR Newswire national (Wave 1)</a:t>
            </a:r>
            <a:endParaRPr lang="en-US" sz="1250" dirty="0"/>
          </a:p>
        </p:txBody>
      </p:sp>
      <p:sp>
        <p:nvSpPr>
          <p:cNvPr id="25" name="Text 23"/>
          <p:cNvSpPr/>
          <p:nvPr/>
        </p:nvSpPr>
        <p:spPr>
          <a:xfrm>
            <a:off x="10134295"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$2,000–$3,000</a:t>
            </a:r>
            <a:endParaRPr lang="en-US" sz="1250" dirty="0"/>
          </a:p>
        </p:txBody>
      </p:sp>
      <p:sp>
        <p:nvSpPr>
          <p:cNvPr id="26" name="Text 24"/>
          <p:cNvSpPr/>
          <p:nvPr/>
        </p:nvSpPr>
        <p:spPr>
          <a:xfrm>
            <a:off x="6507328"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(Waves 2–4)</a:t>
            </a:r>
            <a:endParaRPr lang="en-US" sz="1250" dirty="0"/>
          </a:p>
        </p:txBody>
      </p:sp>
      <p:sp>
        <p:nvSpPr>
          <p:cNvPr id="27" name="Text 25"/>
          <p:cNvSpPr/>
          <p:nvPr/>
        </p:nvSpPr>
        <p:spPr>
          <a:xfrm>
            <a:off x="10134295"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~$240</a:t>
            </a:r>
            <a:endParaRPr lang="en-US" sz="1250" dirty="0"/>
          </a:p>
        </p:txBody>
      </p:sp>
      <p:sp>
        <p:nvSpPr>
          <p:cNvPr id="28" name="Text 26"/>
          <p:cNvSpPr/>
          <p:nvPr/>
        </p:nvSpPr>
        <p:spPr>
          <a:xfrm>
            <a:off x="6507328"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Qwoted paid (3 mo)</a:t>
            </a:r>
            <a:endParaRPr lang="en-US" sz="1250" dirty="0"/>
          </a:p>
        </p:txBody>
      </p:sp>
      <p:sp>
        <p:nvSpPr>
          <p:cNvPr id="29" name="Text 27"/>
          <p:cNvSpPr/>
          <p:nvPr/>
        </p:nvSpPr>
        <p:spPr>
          <a:xfrm>
            <a:off x="10134295"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~$300</a:t>
            </a:r>
            <a:endParaRPr lang="en-US" sz="1250" dirty="0"/>
          </a:p>
        </p:txBody>
      </p:sp>
      <p:sp>
        <p:nvSpPr>
          <p:cNvPr id="30" name="Text 28"/>
          <p:cNvSpPr/>
          <p:nvPr/>
        </p:nvSpPr>
        <p:spPr>
          <a:xfrm>
            <a:off x="6507328"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Freelance reporter-list / pitch help</a:t>
            </a:r>
            <a:endParaRPr lang="en-US" sz="1250" dirty="0"/>
          </a:p>
        </p:txBody>
      </p:sp>
      <p:sp>
        <p:nvSpPr>
          <p:cNvPr id="31" name="Text 29"/>
          <p:cNvSpPr/>
          <p:nvPr/>
        </p:nvSpPr>
        <p:spPr>
          <a:xfrm>
            <a:off x="10134295"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$500–$1,500</a:t>
            </a:r>
            <a:endParaRPr lang="en-US" sz="1250" dirty="0"/>
          </a:p>
        </p:txBody>
      </p:sp>
      <p:sp>
        <p:nvSpPr>
          <p:cNvPr id="32" name="Text 30"/>
          <p:cNvSpPr/>
          <p:nvPr/>
        </p:nvSpPr>
        <p:spPr>
          <a:xfrm>
            <a:off x="6507328"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Only if the CEO wants the big-name wire on the launch.</a:t>
            </a:r>
            <a:endParaRPr lang="en-US" sz="1150" dirty="0"/>
          </a:p>
        </p:txBody>
      </p:sp>
      <p:sp>
        <p:nvSpPr>
          <p:cNvPr id="33" name="Text 31"/>
          <p:cNvSpPr/>
          <p:nvPr/>
        </p:nvSpPr>
        <p:spPr>
          <a:xfrm>
            <a:off x="640080" y="5897880"/>
            <a:ext cx="10911535" cy="457200"/>
          </a:xfrm>
          <a:prstGeom prst="rect">
            <a:avLst/>
          </a:prstGeom>
          <a:noFill/>
          <a:ln/>
        </p:spPr>
        <p:txBody>
          <a:bodyPr wrap="square" rtlCol="0" anchor="ctr"/>
          <a:lstStyle/>
          <a:p>
            <a:pPr indent="0" marL="0">
              <a:lnSpc>
                <a:spcPct val="110000"/>
              </a:lnSpc>
              <a:buNone/>
            </a:pPr>
            <a:r>
              <a:rPr lang="en-US" sz="1350" b="1" dirty="0">
                <a:solidFill>
                  <a:srgbClr val="0C2A43"/>
                </a:solidFill>
                <a:latin typeface="Calibri" pitchFamily="34" charset="0"/>
                <a:ea typeface="Calibri" pitchFamily="34" charset="-122"/>
                <a:cs typeface="Calibri" pitchFamily="34" charset="-120"/>
              </a:rPr>
              <a:t>Bottom line: a serious four-wave launch is realistic for under $700. Spending more buys credibility and saves time — it does not buy certainty.</a:t>
            </a:r>
            <a:endParaRPr lang="en-US" sz="1350" dirty="0"/>
          </a:p>
        </p:txBody>
      </p:sp>
      <p:sp>
        <p:nvSpPr>
          <p:cNvPr id="34" name="Text 32"/>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2026</a:t>
            </a:r>
            <a:endParaRPr lang="en-US" sz="8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The odds: guaranteed, likely, possible, long shot</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5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What this plan will realistically deliver — stated honestly, no hype.</a:t>
            </a:r>
            <a:endParaRPr lang="en-US" sz="1500" dirty="0"/>
          </a:p>
        </p:txBody>
      </p:sp>
      <p:sp>
        <p:nvSpPr>
          <p:cNvPr id="5" name="Shape 3"/>
          <p:cNvSpPr/>
          <p:nvPr/>
        </p:nvSpPr>
        <p:spPr>
          <a:xfrm>
            <a:off x="640080" y="2212848"/>
            <a:ext cx="10911535" cy="822960"/>
          </a:xfrm>
          <a:prstGeom prst="roundRect">
            <a:avLst>
              <a:gd name="adj" fmla="val 5556"/>
            </a:avLst>
          </a:prstGeom>
          <a:solidFill>
            <a:srgbClr val="FFFFFF"/>
          </a:solidFill>
          <a:ln w="12700">
            <a:solidFill>
              <a:srgbClr val="D9DDE2"/>
            </a:solidFill>
            <a:prstDash val="solid"/>
          </a:ln>
        </p:spPr>
      </p:sp>
      <p:sp>
        <p:nvSpPr>
          <p:cNvPr id="6" name="Shape 4"/>
          <p:cNvSpPr/>
          <p:nvPr/>
        </p:nvSpPr>
        <p:spPr>
          <a:xfrm>
            <a:off x="640080" y="2212848"/>
            <a:ext cx="1783080" cy="822960"/>
          </a:xfrm>
          <a:prstGeom prst="roundRect">
            <a:avLst>
              <a:gd name="adj" fmla="val 5556"/>
            </a:avLst>
          </a:prstGeom>
          <a:solidFill>
            <a:srgbClr val="437A22"/>
          </a:solidFill>
          <a:ln/>
        </p:spPr>
      </p:sp>
      <p:sp>
        <p:nvSpPr>
          <p:cNvPr id="7" name="Text 5"/>
          <p:cNvSpPr/>
          <p:nvPr/>
        </p:nvSpPr>
        <p:spPr>
          <a:xfrm>
            <a:off x="640080" y="2212848"/>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GUARANTEED</a:t>
            </a:r>
            <a:endParaRPr lang="en-US" sz="1400" dirty="0"/>
          </a:p>
        </p:txBody>
      </p:sp>
      <p:sp>
        <p:nvSpPr>
          <p:cNvPr id="8" name="Text 6"/>
          <p:cNvSpPr/>
          <p:nvPr/>
        </p:nvSpPr>
        <p:spPr>
          <a:xfrm>
            <a:off x="2651760" y="2304288"/>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Paid wire pickup</a:t>
            </a:r>
            <a:endParaRPr lang="en-US" sz="1700" dirty="0"/>
          </a:p>
        </p:txBody>
      </p:sp>
      <p:sp>
        <p:nvSpPr>
          <p:cNvPr id="9" name="Text 7"/>
          <p:cNvSpPr/>
          <p:nvPr/>
        </p:nvSpPr>
        <p:spPr>
          <a:xfrm>
            <a:off x="2651760" y="2670048"/>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100%</a:t>
            </a:r>
            <a:endParaRPr lang="en-US" sz="1350" dirty="0"/>
          </a:p>
        </p:txBody>
      </p:sp>
      <p:sp>
        <p:nvSpPr>
          <p:cNvPr id="10" name="Text 8"/>
          <p:cNvSpPr/>
          <p:nvPr/>
        </p:nvSpPr>
        <p:spPr>
          <a:xfrm>
            <a:off x="6675120" y="2286000"/>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200" dirty="0"/>
          </a:p>
        </p:txBody>
      </p:sp>
      <p:sp>
        <p:nvSpPr>
          <p:cNvPr id="11" name="Shape 9"/>
          <p:cNvSpPr/>
          <p:nvPr/>
        </p:nvSpPr>
        <p:spPr>
          <a:xfrm>
            <a:off x="640080" y="3145536"/>
            <a:ext cx="10911535" cy="822960"/>
          </a:xfrm>
          <a:prstGeom prst="roundRect">
            <a:avLst>
              <a:gd name="adj" fmla="val 5556"/>
            </a:avLst>
          </a:prstGeom>
          <a:solidFill>
            <a:srgbClr val="FFFFFF"/>
          </a:solidFill>
          <a:ln w="12700">
            <a:solidFill>
              <a:srgbClr val="D9DDE2"/>
            </a:solidFill>
            <a:prstDash val="solid"/>
          </a:ln>
        </p:spPr>
      </p:sp>
      <p:sp>
        <p:nvSpPr>
          <p:cNvPr id="12" name="Shape 10"/>
          <p:cNvSpPr/>
          <p:nvPr/>
        </p:nvSpPr>
        <p:spPr>
          <a:xfrm>
            <a:off x="640080" y="3145536"/>
            <a:ext cx="1783080" cy="822960"/>
          </a:xfrm>
          <a:prstGeom prst="roundRect">
            <a:avLst>
              <a:gd name="adj" fmla="val 5556"/>
            </a:avLst>
          </a:prstGeom>
          <a:solidFill>
            <a:srgbClr val="437A22"/>
          </a:solidFill>
          <a:ln/>
        </p:spPr>
      </p:sp>
      <p:sp>
        <p:nvSpPr>
          <p:cNvPr id="13" name="Text 11"/>
          <p:cNvSpPr/>
          <p:nvPr/>
        </p:nvSpPr>
        <p:spPr>
          <a:xfrm>
            <a:off x="640080" y="3145536"/>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LIKELY</a:t>
            </a:r>
            <a:endParaRPr lang="en-US" sz="1400" dirty="0"/>
          </a:p>
        </p:txBody>
      </p:sp>
      <p:sp>
        <p:nvSpPr>
          <p:cNvPr id="14" name="Text 12"/>
          <p:cNvSpPr/>
          <p:nvPr/>
        </p:nvSpPr>
        <p:spPr>
          <a:xfrm>
            <a:off x="2651760" y="3236976"/>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A few earned pickups</a:t>
            </a:r>
            <a:endParaRPr lang="en-US" sz="1700" dirty="0"/>
          </a:p>
        </p:txBody>
      </p:sp>
      <p:sp>
        <p:nvSpPr>
          <p:cNvPr id="15" name="Text 13"/>
          <p:cNvSpPr/>
          <p:nvPr/>
        </p:nvSpPr>
        <p:spPr>
          <a:xfrm>
            <a:off x="2651760" y="3602736"/>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60–80% chance of ≥3</a:t>
            </a:r>
            <a:endParaRPr lang="en-US" sz="1350" dirty="0"/>
          </a:p>
        </p:txBody>
      </p:sp>
      <p:sp>
        <p:nvSpPr>
          <p:cNvPr id="16" name="Text 14"/>
          <p:cNvSpPr/>
          <p:nvPr/>
        </p:nvSpPr>
        <p:spPr>
          <a:xfrm>
            <a:off x="6675120" y="3218688"/>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200" dirty="0"/>
          </a:p>
        </p:txBody>
      </p:sp>
      <p:sp>
        <p:nvSpPr>
          <p:cNvPr id="17" name="Shape 15"/>
          <p:cNvSpPr/>
          <p:nvPr/>
        </p:nvSpPr>
        <p:spPr>
          <a:xfrm>
            <a:off x="640080" y="4078224"/>
            <a:ext cx="10911535" cy="822960"/>
          </a:xfrm>
          <a:prstGeom prst="roundRect">
            <a:avLst>
              <a:gd name="adj" fmla="val 5556"/>
            </a:avLst>
          </a:prstGeom>
          <a:solidFill>
            <a:srgbClr val="FFFFFF"/>
          </a:solidFill>
          <a:ln w="12700">
            <a:solidFill>
              <a:srgbClr val="D9DDE2"/>
            </a:solidFill>
            <a:prstDash val="solid"/>
          </a:ln>
        </p:spPr>
      </p:sp>
      <p:sp>
        <p:nvSpPr>
          <p:cNvPr id="18" name="Shape 16"/>
          <p:cNvSpPr/>
          <p:nvPr/>
        </p:nvSpPr>
        <p:spPr>
          <a:xfrm>
            <a:off x="640080" y="4078224"/>
            <a:ext cx="1783080" cy="822960"/>
          </a:xfrm>
          <a:prstGeom prst="roundRect">
            <a:avLst>
              <a:gd name="adj" fmla="val 5556"/>
            </a:avLst>
          </a:prstGeom>
          <a:solidFill>
            <a:srgbClr val="B07A16"/>
          </a:solidFill>
          <a:ln/>
        </p:spPr>
      </p:sp>
      <p:sp>
        <p:nvSpPr>
          <p:cNvPr id="19" name="Text 17"/>
          <p:cNvSpPr/>
          <p:nvPr/>
        </p:nvSpPr>
        <p:spPr>
          <a:xfrm>
            <a:off x="640080" y="4078224"/>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POSSIBLE</a:t>
            </a:r>
            <a:endParaRPr lang="en-US" sz="1400" dirty="0"/>
          </a:p>
        </p:txBody>
      </p:sp>
      <p:sp>
        <p:nvSpPr>
          <p:cNvPr id="20" name="Text 18"/>
          <p:cNvSpPr/>
          <p:nvPr/>
        </p:nvSpPr>
        <p:spPr>
          <a:xfrm>
            <a:off x="2651760" y="4169664"/>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One Tier-1 name</a:t>
            </a:r>
            <a:endParaRPr lang="en-US" sz="1700" dirty="0"/>
          </a:p>
        </p:txBody>
      </p:sp>
      <p:sp>
        <p:nvSpPr>
          <p:cNvPr id="21" name="Text 19"/>
          <p:cNvSpPr/>
          <p:nvPr/>
        </p:nvSpPr>
        <p:spPr>
          <a:xfrm>
            <a:off x="2651760" y="4535424"/>
            <a:ext cx="3840480" cy="292608"/>
          </a:xfrm>
          <a:prstGeom prst="rect">
            <a:avLst/>
          </a:prstGeom>
          <a:noFill/>
          <a:ln/>
        </p:spPr>
        <p:txBody>
          <a:bodyPr wrap="square" rtlCol="0" anchor="ctr"/>
          <a:lstStyle/>
          <a:p>
            <a:pPr indent="0" marL="0">
              <a:buNone/>
            </a:pPr>
            <a:r>
              <a:rPr lang="en-US" sz="1350" b="1" dirty="0">
                <a:solidFill>
                  <a:srgbClr val="B07A16"/>
                </a:solidFill>
                <a:latin typeface="Calibri" pitchFamily="34" charset="0"/>
                <a:ea typeface="Calibri" pitchFamily="34" charset="-122"/>
                <a:cs typeface="Calibri" pitchFamily="34" charset="-120"/>
              </a:rPr>
              <a:t>20–35%</a:t>
            </a:r>
            <a:endParaRPr lang="en-US" sz="1350" dirty="0"/>
          </a:p>
        </p:txBody>
      </p:sp>
      <p:sp>
        <p:nvSpPr>
          <p:cNvPr id="22" name="Text 20"/>
          <p:cNvSpPr/>
          <p:nvPr/>
        </p:nvSpPr>
        <p:spPr>
          <a:xfrm>
            <a:off x="6675120" y="4151376"/>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200" dirty="0"/>
          </a:p>
        </p:txBody>
      </p:sp>
      <p:sp>
        <p:nvSpPr>
          <p:cNvPr id="23" name="Shape 21"/>
          <p:cNvSpPr/>
          <p:nvPr/>
        </p:nvSpPr>
        <p:spPr>
          <a:xfrm>
            <a:off x="640080" y="5010912"/>
            <a:ext cx="10911535" cy="822960"/>
          </a:xfrm>
          <a:prstGeom prst="roundRect">
            <a:avLst>
              <a:gd name="adj" fmla="val 5556"/>
            </a:avLst>
          </a:prstGeom>
          <a:solidFill>
            <a:srgbClr val="FFFFFF"/>
          </a:solidFill>
          <a:ln w="12700">
            <a:solidFill>
              <a:srgbClr val="D9DDE2"/>
            </a:solidFill>
            <a:prstDash val="solid"/>
          </a:ln>
        </p:spPr>
      </p:sp>
      <p:sp>
        <p:nvSpPr>
          <p:cNvPr id="24" name="Shape 22"/>
          <p:cNvSpPr/>
          <p:nvPr/>
        </p:nvSpPr>
        <p:spPr>
          <a:xfrm>
            <a:off x="640080" y="5010912"/>
            <a:ext cx="1783080" cy="822960"/>
          </a:xfrm>
          <a:prstGeom prst="roundRect">
            <a:avLst>
              <a:gd name="adj" fmla="val 5556"/>
            </a:avLst>
          </a:prstGeom>
          <a:solidFill>
            <a:srgbClr val="8A3A2A"/>
          </a:solidFill>
          <a:ln/>
        </p:spPr>
      </p:sp>
      <p:sp>
        <p:nvSpPr>
          <p:cNvPr id="25" name="Text 23"/>
          <p:cNvSpPr/>
          <p:nvPr/>
        </p:nvSpPr>
        <p:spPr>
          <a:xfrm>
            <a:off x="640080" y="5010912"/>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LONG SHOT</a:t>
            </a:r>
            <a:endParaRPr lang="en-US" sz="1400" dirty="0"/>
          </a:p>
        </p:txBody>
      </p:sp>
      <p:sp>
        <p:nvSpPr>
          <p:cNvPr id="26" name="Text 24"/>
          <p:cNvSpPr/>
          <p:nvPr/>
        </p:nvSpPr>
        <p:spPr>
          <a:xfrm>
            <a:off x="2651760" y="5102352"/>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Viral / TV national</a:t>
            </a:r>
            <a:endParaRPr lang="en-US" sz="1700" dirty="0"/>
          </a:p>
        </p:txBody>
      </p:sp>
      <p:sp>
        <p:nvSpPr>
          <p:cNvPr id="27" name="Text 25"/>
          <p:cNvSpPr/>
          <p:nvPr/>
        </p:nvSpPr>
        <p:spPr>
          <a:xfrm>
            <a:off x="2651760" y="5468112"/>
            <a:ext cx="3840480" cy="292608"/>
          </a:xfrm>
          <a:prstGeom prst="rect">
            <a:avLst/>
          </a:prstGeom>
          <a:noFill/>
          <a:ln/>
        </p:spPr>
        <p:txBody>
          <a:bodyPr wrap="square" rtlCol="0" anchor="ctr"/>
          <a:lstStyle/>
          <a:p>
            <a:pPr indent="0" marL="0">
              <a:buNone/>
            </a:pPr>
            <a:r>
              <a:rPr lang="en-US" sz="1350" b="1" dirty="0">
                <a:solidFill>
                  <a:srgbClr val="8A3A2A"/>
                </a:solidFill>
                <a:latin typeface="Calibri" pitchFamily="34" charset="0"/>
                <a:ea typeface="Calibri" pitchFamily="34" charset="-122"/>
                <a:cs typeface="Calibri" pitchFamily="34" charset="-120"/>
              </a:rPr>
              <a:t>&lt;15%</a:t>
            </a:r>
            <a:endParaRPr lang="en-US" sz="1350" dirty="0"/>
          </a:p>
        </p:txBody>
      </p:sp>
      <p:sp>
        <p:nvSpPr>
          <p:cNvPr id="28" name="Text 26"/>
          <p:cNvSpPr/>
          <p:nvPr/>
        </p:nvSpPr>
        <p:spPr>
          <a:xfrm>
            <a:off x="6675120" y="5084064"/>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200" dirty="0"/>
          </a:p>
        </p:txBody>
      </p:sp>
      <p:sp>
        <p:nvSpPr>
          <p:cNvPr id="29" name="Text 27"/>
          <p:cNvSpPr/>
          <p:nvPr/>
        </p:nvSpPr>
        <p:spPr>
          <a:xfrm>
            <a:off x="640080" y="6053328"/>
            <a:ext cx="10911535" cy="502920"/>
          </a:xfrm>
          <a:prstGeom prst="rect">
            <a:avLst/>
          </a:prstGeom>
          <a:noFill/>
          <a:ln/>
        </p:spPr>
        <p:txBody>
          <a:bodyPr wrap="square" rtlCol="0" anchor="ctr"/>
          <a:lstStyle/>
          <a:p>
            <a:pPr indent="0" marL="0">
              <a:lnSpc>
                <a:spcPct val="110000"/>
              </a:lnSpc>
              <a:buNone/>
            </a:pPr>
            <a:r>
              <a:rPr lang="en-US" sz="1150" b="1" dirty="0">
                <a:solidFill>
                  <a:srgbClr val="0C2A43"/>
                </a:solidFill>
                <a:latin typeface="Calibri" pitchFamily="34" charset="0"/>
                <a:ea typeface="Calibri" pitchFamily="34" charset="-122"/>
                <a:cs typeface="Calibri" pitchFamily="34" charset="-120"/>
              </a:rPr>
              <a:t>We are not starting from zero:  </a:t>
            </a:r>
            <a:pPr indent="0" marL="0">
              <a:lnSpc>
                <a:spcPct val="110000"/>
              </a:lnSpc>
              <a:buNone/>
            </a:pPr>
            <a:r>
              <a:rPr lang="en-US" sz="1150" dirty="0">
                <a:solidFill>
                  <a:srgbClr val="1A1F26"/>
                </a:solidFill>
                <a:latin typeface="Calibri" pitchFamily="34" charset="0"/>
                <a:ea typeface="Calibri" pitchFamily="34" charset="-122"/>
                <a:cs typeface="Calibri" pitchFamily="34" charset="-120"/>
              </a:rPr>
              <a:t>eTeacher already has an indexed press trail (TheMarker feature Feb 2026, GlobeNewswire 2020, PR Newswire 2017) — so reporters find a real corporate history, which lifts our odds on every pitch. We bank on guaranteed + likely; anything above is upside, not the promise.</a:t>
            </a:r>
            <a:endParaRPr lang="en-US" sz="11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21792"/>
            <a:ext cx="10911535"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9AA4AF"/>
                </a:solidFill>
                <a:latin typeface="Calibri" pitchFamily="34" charset="0"/>
                <a:ea typeface="Calibri" pitchFamily="34" charset="-122"/>
                <a:cs typeface="Calibri" pitchFamily="34" charset="-120"/>
              </a:rPr>
              <a:t>   ·   6 OF 6   ·   DO THIS WEEK</a:t>
            </a:r>
            <a:endParaRPr lang="en-US" sz="1300" dirty="0"/>
          </a:p>
        </p:txBody>
      </p:sp>
      <p:sp>
        <p:nvSpPr>
          <p:cNvPr id="4" name="Text 2"/>
          <p:cNvSpPr/>
          <p:nvPr/>
        </p:nvSpPr>
        <p:spPr>
          <a:xfrm>
            <a:off x="640080" y="1060704"/>
            <a:ext cx="10911535"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7 things to finish before Wave 1 goes live</a:t>
            </a:r>
            <a:endParaRPr lang="en-US" sz="3000" dirty="0"/>
          </a:p>
        </p:txBody>
      </p:sp>
      <p:sp>
        <p:nvSpPr>
          <p:cNvPr id="5" name="Shape 3"/>
          <p:cNvSpPr/>
          <p:nvPr/>
        </p:nvSpPr>
        <p:spPr>
          <a:xfrm>
            <a:off x="640080" y="2148840"/>
            <a:ext cx="493776" cy="493776"/>
          </a:xfrm>
          <a:prstGeom prst="ellipse">
            <a:avLst/>
          </a:prstGeom>
          <a:solidFill>
            <a:srgbClr val="C08A2E"/>
          </a:solidFill>
          <a:ln/>
        </p:spPr>
      </p:sp>
      <p:sp>
        <p:nvSpPr>
          <p:cNvPr id="6" name="Text 4"/>
          <p:cNvSpPr/>
          <p:nvPr/>
        </p:nvSpPr>
        <p:spPr>
          <a:xfrm>
            <a:off x="640080"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316736"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Get quotes approved</a:t>
            </a:r>
            <a:endParaRPr lang="en-US" sz="1600" dirty="0"/>
          </a:p>
        </p:txBody>
      </p:sp>
      <p:sp>
        <p:nvSpPr>
          <p:cNvPr id="8" name="Text 6"/>
          <p:cNvSpPr/>
          <p:nvPr/>
        </p:nvSpPr>
        <p:spPr>
          <a:xfrm>
            <a:off x="1316736"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200" dirty="0"/>
          </a:p>
        </p:txBody>
      </p:sp>
      <p:sp>
        <p:nvSpPr>
          <p:cNvPr id="9" name="Shape 7"/>
          <p:cNvSpPr/>
          <p:nvPr/>
        </p:nvSpPr>
        <p:spPr>
          <a:xfrm>
            <a:off x="640080" y="3209544"/>
            <a:ext cx="493776" cy="493776"/>
          </a:xfrm>
          <a:prstGeom prst="ellipse">
            <a:avLst/>
          </a:prstGeom>
          <a:solidFill>
            <a:srgbClr val="C08A2E"/>
          </a:solidFill>
          <a:ln/>
        </p:spPr>
      </p:sp>
      <p:sp>
        <p:nvSpPr>
          <p:cNvPr id="10" name="Text 8"/>
          <p:cNvSpPr/>
          <p:nvPr/>
        </p:nvSpPr>
        <p:spPr>
          <a:xfrm>
            <a:off x="640080"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316736"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Open the free accounts</a:t>
            </a:r>
            <a:endParaRPr lang="en-US" sz="1600" dirty="0"/>
          </a:p>
        </p:txBody>
      </p:sp>
      <p:sp>
        <p:nvSpPr>
          <p:cNvPr id="12" name="Text 10"/>
          <p:cNvSpPr/>
          <p:nvPr/>
        </p:nvSpPr>
        <p:spPr>
          <a:xfrm>
            <a:off x="1316736"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Sign up for the free reporter-request services (Source of Sources, Qwoted). Set up X columns for the reporter hashtags.</a:t>
            </a:r>
            <a:endParaRPr lang="en-US" sz="1200" dirty="0"/>
          </a:p>
        </p:txBody>
      </p:sp>
      <p:sp>
        <p:nvSpPr>
          <p:cNvPr id="13" name="Shape 11"/>
          <p:cNvSpPr/>
          <p:nvPr/>
        </p:nvSpPr>
        <p:spPr>
          <a:xfrm>
            <a:off x="640080" y="4270248"/>
            <a:ext cx="493776" cy="493776"/>
          </a:xfrm>
          <a:prstGeom prst="ellipse">
            <a:avLst/>
          </a:prstGeom>
          <a:solidFill>
            <a:srgbClr val="C08A2E"/>
          </a:solidFill>
          <a:ln/>
        </p:spPr>
      </p:sp>
      <p:sp>
        <p:nvSpPr>
          <p:cNvPr id="14" name="Text 12"/>
          <p:cNvSpPr/>
          <p:nvPr/>
        </p:nvSpPr>
        <p:spPr>
          <a:xfrm>
            <a:off x="640080"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316736"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Buy the wire</a:t>
            </a:r>
            <a:endParaRPr lang="en-US" sz="1600" dirty="0"/>
          </a:p>
        </p:txBody>
      </p:sp>
      <p:sp>
        <p:nvSpPr>
          <p:cNvPr id="16" name="Text 14"/>
          <p:cNvSpPr/>
          <p:nvPr/>
        </p:nvSpPr>
        <p:spPr>
          <a:xfrm>
            <a:off x="1316736"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200" dirty="0"/>
          </a:p>
        </p:txBody>
      </p:sp>
      <p:sp>
        <p:nvSpPr>
          <p:cNvPr id="17" name="Shape 15"/>
          <p:cNvSpPr/>
          <p:nvPr/>
        </p:nvSpPr>
        <p:spPr>
          <a:xfrm>
            <a:off x="640080" y="5330952"/>
            <a:ext cx="493776" cy="493776"/>
          </a:xfrm>
          <a:prstGeom prst="ellipse">
            <a:avLst/>
          </a:prstGeom>
          <a:solidFill>
            <a:srgbClr val="C08A2E"/>
          </a:solidFill>
          <a:ln/>
        </p:spPr>
      </p:sp>
      <p:sp>
        <p:nvSpPr>
          <p:cNvPr id="18" name="Text 16"/>
          <p:cNvSpPr/>
          <p:nvPr/>
        </p:nvSpPr>
        <p:spPr>
          <a:xfrm>
            <a:off x="640080" y="5330952"/>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1316736" y="5239512"/>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Build the reporter list</a:t>
            </a:r>
            <a:endParaRPr lang="en-US" sz="1600" dirty="0"/>
          </a:p>
        </p:txBody>
      </p:sp>
      <p:sp>
        <p:nvSpPr>
          <p:cNvPr id="20" name="Text 18"/>
          <p:cNvSpPr/>
          <p:nvPr/>
        </p:nvSpPr>
        <p:spPr>
          <a:xfrm>
            <a:off x="1316736" y="5596128"/>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200" dirty="0"/>
          </a:p>
        </p:txBody>
      </p:sp>
      <p:sp>
        <p:nvSpPr>
          <p:cNvPr id="21" name="Shape 19"/>
          <p:cNvSpPr/>
          <p:nvPr/>
        </p:nvSpPr>
        <p:spPr>
          <a:xfrm>
            <a:off x="6278728" y="2148840"/>
            <a:ext cx="493776" cy="493776"/>
          </a:xfrm>
          <a:prstGeom prst="ellipse">
            <a:avLst/>
          </a:prstGeom>
          <a:solidFill>
            <a:srgbClr val="C08A2E"/>
          </a:solidFill>
          <a:ln/>
        </p:spPr>
      </p:sp>
      <p:sp>
        <p:nvSpPr>
          <p:cNvPr id="22" name="Text 20"/>
          <p:cNvSpPr/>
          <p:nvPr/>
        </p:nvSpPr>
        <p:spPr>
          <a:xfrm>
            <a:off x="6278728"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6955384"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Finalize the press kit</a:t>
            </a:r>
            <a:endParaRPr lang="en-US" sz="1600" dirty="0"/>
          </a:p>
        </p:txBody>
      </p:sp>
      <p:sp>
        <p:nvSpPr>
          <p:cNvPr id="24" name="Text 22"/>
          <p:cNvSpPr/>
          <p:nvPr/>
        </p:nvSpPr>
        <p:spPr>
          <a:xfrm>
            <a:off x="6955384"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200" dirty="0"/>
          </a:p>
        </p:txBody>
      </p:sp>
      <p:sp>
        <p:nvSpPr>
          <p:cNvPr id="25" name="Shape 23"/>
          <p:cNvSpPr/>
          <p:nvPr/>
        </p:nvSpPr>
        <p:spPr>
          <a:xfrm>
            <a:off x="6278728" y="3209544"/>
            <a:ext cx="493776" cy="493776"/>
          </a:xfrm>
          <a:prstGeom prst="ellipse">
            <a:avLst/>
          </a:prstGeom>
          <a:solidFill>
            <a:srgbClr val="C08A2E"/>
          </a:solidFill>
          <a:ln/>
        </p:spPr>
      </p:sp>
      <p:sp>
        <p:nvSpPr>
          <p:cNvPr id="26" name="Text 24"/>
          <p:cNvSpPr/>
          <p:nvPr/>
        </p:nvSpPr>
        <p:spPr>
          <a:xfrm>
            <a:off x="6278728"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6955384"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Confirm Julie</a:t>
            </a:r>
            <a:endParaRPr lang="en-US" sz="1600" dirty="0"/>
          </a:p>
        </p:txBody>
      </p:sp>
      <p:sp>
        <p:nvSpPr>
          <p:cNvPr id="28" name="Text 26"/>
          <p:cNvSpPr/>
          <p:nvPr/>
        </p:nvSpPr>
        <p:spPr>
          <a:xfrm>
            <a:off x="6955384"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200" dirty="0"/>
          </a:p>
        </p:txBody>
      </p:sp>
      <p:sp>
        <p:nvSpPr>
          <p:cNvPr id="29" name="Shape 27"/>
          <p:cNvSpPr/>
          <p:nvPr/>
        </p:nvSpPr>
        <p:spPr>
          <a:xfrm>
            <a:off x="6278728" y="4270248"/>
            <a:ext cx="493776" cy="493776"/>
          </a:xfrm>
          <a:prstGeom prst="ellipse">
            <a:avLst/>
          </a:prstGeom>
          <a:solidFill>
            <a:srgbClr val="C08A2E"/>
          </a:solidFill>
          <a:ln/>
        </p:spPr>
      </p:sp>
      <p:sp>
        <p:nvSpPr>
          <p:cNvPr id="30" name="Text 28"/>
          <p:cNvSpPr/>
          <p:nvPr/>
        </p:nvSpPr>
        <p:spPr>
          <a:xfrm>
            <a:off x="6278728"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7</a:t>
            </a:r>
            <a:endParaRPr lang="en-US" sz="2000" dirty="0"/>
          </a:p>
        </p:txBody>
      </p:sp>
      <p:sp>
        <p:nvSpPr>
          <p:cNvPr id="31" name="Text 29"/>
          <p:cNvSpPr/>
          <p:nvPr/>
        </p:nvSpPr>
        <p:spPr>
          <a:xfrm>
            <a:off x="6955384"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Set the tracker</a:t>
            </a:r>
            <a:endParaRPr lang="en-US" sz="1600" dirty="0"/>
          </a:p>
        </p:txBody>
      </p:sp>
      <p:sp>
        <p:nvSpPr>
          <p:cNvPr id="32" name="Text 30"/>
          <p:cNvSpPr/>
          <p:nvPr/>
        </p:nvSpPr>
        <p:spPr>
          <a:xfrm>
            <a:off x="6955384"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20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Launches Longevity Life Academy — an 18-Week Live Course That Ships a Glucose Monitor to Every Student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across nearly 200 countries, the Israeli education company opens its fifth online school — an 18-week live longevity program, with a continuous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twenty-five years we have taught one thing well: real people learn from real teachers, live, in small groups,” said Harel Tayeb, CEO of eTeacher Group. “We are now pointing that method at the question that matters most — how to add healthy years to a life. Longevity has been sold as a luxury. We intend to make it a habit anyone can keep.”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“For twenty-five years we have taught one thing well: real people learn from real teachers, live, in small groups. We are now pointing that method at the question that matters most — how to add healthy years to a life. Longevity has been sold as a luxury. We intend to make it a habit anyone can keep.”</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Written fresh in his voice; deliberately does NOT reuse any of his published TheMarker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Brings Its 25-Year Live-Class Teaching Method to Longevity Life Academy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live-teaching model can crack the hardest problem in wellness — actually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practice between classes.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“Information about living longer is everywhere and almost no one follows through,” Tayeb said. “The hard part was never the science — it was staying with it. Our whole model exists to solve that: a live teacher, a small class, and a small step you actually take before the next session.”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“Information about living longer is everywhere and almost no one follows through. The hard part was never the science — it was staying with it. Our whole model exists to solve that: a live teacher, a small class, and a small step you actually take before the next session.”</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‘gym for the brain’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Targets the Middle of the $8 Trillion Longevity Market — From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positions Longevity Life Academy between costly clinics and free advice —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market today has two doors: a clinic that costs a fortune, or a feed full of advice no one checked,” said CEO Harel Tayeb. “Most families are locked out of both. We built the door in the middle — the same rigor, taught live, at a price a household can plan around.”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longevity market today has two doors: a clinic that costs a fortune, or a feed full of advice no one checked. Most families are locked out of both. We built the door in the middle — the same rigor, taught live, at a price a household can plan around.”</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‘Wiz of edtech’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“Generic advice tells everyone the same thing. Your body doesn't work that way,” said CEO Harel Tayeb. “That is why every student learns from their own data — we ship a glucose monitor to their door and teach them to read what their own biology is telling them, then build one protocol that fits their life.”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“Generic advice tells everyone the same thing. Your body doesn't work that way. That is why every student learns from their own data — we ship a glucose monitor to their door and teach them to read what their own biology is telling them, then build one protocol that fits their life.”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‘cognitive atrophy’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Israel's 25-Year-Old eTeacher Group Opens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is an Israeli method, taught to learners in nearly two hundred countries. We are proud of that — quietly,” Tayeb said. “What we care about is whether a person in Ohio or Osaka finishes the course healthier and more capable than they started. Longevity is the most human subject we have ever taught, and it deserves our best work.”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“This is an Israeli method, taught to learners in nearly two hundred countries. We are proud of that — quietly. What we care about is whether a person in Ohio or Osaka finishes the course healthier and more capable than they started. Longevity is the most human subject we have ever taught, and it deserves our best work.”</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the mid-body ‘image reinforcement for Israel’ phrase remains verbatim from TheMarker Q7.</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Offers an 18-Week Live Longevity Class From $289 a Month, Glucose Monitor Included</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longer, stronger life should not depend on your bank balance,” said CEO Harel Tayeb. “Our promise is simple: show up for a live class each week, take one honest step, and let it compound. That is how ordinary people build extraordinary health — not with a fortune, but with a routine that finally sticks.”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longer, stronger life should not depend on your bank balance. Our promise is simple: show up for a live class each week, take one honest step, and let it compound. That is how ordinary people build extraordinary health — not with a fortune, but with a routine that finally sticks.”</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measure ourselves by results, and Julie's results are impossible to argue with,” said eTeacher CEO Harel Tayeb. “She proved what we teach every day — that world-class health is built from consistent, learnable habits, not from a millionaire's budget. Having her teach it live is exactly the school we set out to build.” Gibson Clark begins teaching with the current enrollment cohort.</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measure ourselves by results, and Julie's results are impossible to argue with. She proved what we teach every day — that world-class health is built from consistent, learnable habits, not from a millionaire's budget. Having her teach it live is exactly the school we set out to build.”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Hires Julie Gibson Clark, Who Out-Aged a $2M-a-Year Biohacker on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twelve-dollar-a-day routine that outperforms a two-million-dollar one is the whole thesis of our school in a single fact,” said CEO Harel Tayeb. “We don't sell shortcuts. We teach the fundamentals, in a room with a real instructor, until they become who you are.”</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“A twelve-dollar-a-day routine that outperforms a two-million-dollar one is the whole thesis of our school in a single fact. We don't sell shortcuts. We teach the fundamentals, in a room with a real instructor, until they become who you are.”</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Single Mom Who Slowed Her Own Aging Joins Longevity Life Academy to Teach American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best learning always starts with a personal reason, not a number on a chart,” added CEO Harel Tayeb. “Julie begins with why someone wants more years — then teaches the how. That is precisely why she will reach people a leaderboard never could.”</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“The best learning always starts with a personal reason, not a number on a chart. Julie begins with why someone wants more years — then teaches the how. That is precisely why she will reach people a leaderboard never could.”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to Teach the Habits Behind Her 34%-Slower Aging</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Longevity Life Academy Recruits Julie Gibson Clark to Make Longevity Affordable for Mainstream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teach with meaning — content that reaches the human core of a person, not just their calendar,” added CEO Harel Tayeb. “Julie gives that mission a face: real, humble, and living proof that a longer, healthier life is within reach for anyone willing to practice it.”</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want to teach with meaning — content that reaches the human core of a person, not just their calendar. Julie gives that mission a face: real, humble, and living proof that a longer, healthier life is within reach for anyone willing to practice it.”</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Joins Longevity Life Academy to Teach Its 18-Week Live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Demonstrates Her $12-a-Day Longevity Routine Live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weekly class changes what you know. A daily habit changes who you are,” said CEO Harel Tayeb, describing the app's intent. “The Hub we are building will live in that daily space — a few quiet minutes each morning that keep your protocol alive between classes. It is on our roadmap, and we will only ship it when it earns a place in someone's real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weekly class changes what you know. A daily habit changes who you are. The Hub we are building will live in that daily space — a few quiet minutes each morning that keep your protocol alive between classes. It is on our roadmap, and we will only ship it when it earns a place in someone's real routine.”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‘professor available 24/7’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Planned Longevity Hub App Will Use AI to Turn the Longevity Blueprint Into Daily Habits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adult learning, the enemy is not ignorance — it is the day you skip, and then the week,” said CEO Harel Tayeb. “We are designing the Hub's AI to notice that moment and gently pull you back, using your own glucose and sleep data so the nudge means something. That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adult learning, the enemy is not ignorance — it is the day you skip, and then the week. We are designing the Hub's AI to notice that moment and gently pull you back, using your own glucose and sleep data so the nudge means something. That is how we plan to make persistence stop being the hard part.”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‘gym for the brain’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“One course can change a season. A school can change a life,” said CEO Harel Tayeb. “We are not adding classes to a catalog — we are building a place a person can keep coming back to as their body and their goals change over the decades. Longevity is a lifelong practice, and it deserves a lifelong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“One course can change a season. A school can change a life. We are not adding classes to a catalog — we are building a place a person can keep coming back to as their body and their goals change over the decades. Longevity is a lifelong practice, and it deserves a lifelong school.”</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Plans Six New Longevity Life Academy Courses in Brain Training, Metabolism, Movement and Biomarkers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spend billions keeping the body young and almost nothing keeping the mind and our relationships strong,” said CEO Harel Tayeb. “Longevity Brain will treat memory, focus, and human connection as things you can train — because a long life you can't fully feel or share is only half the goal.”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spend billions keeping the body young and almost nothing keeping the mind and our relationships strong. Longevity Brain will treat memory, focus, and human connection as things you can train — because a long life you can't fully feel or share is only half the goal.”</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‘cognitive atrophy’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2026-07-08T06:58:25Z</dcterms:created>
  <dcterms:modified xsi:type="dcterms:W3CDTF">2026-07-08T06:58:25Z</dcterms:modified>
</cp:coreProperties>
</file>