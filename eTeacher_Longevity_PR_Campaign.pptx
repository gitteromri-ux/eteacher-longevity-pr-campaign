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zzstream.com/blog/haro-alternatives/" TargetMode="External"/><Relationship Id="rId2" Type="http://schemas.openxmlformats.org/officeDocument/2006/relationships/hyperlink" Target="https://www.prezly.com/academy/the-best-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prezly.com/academy/ein-presswire-vs-pr-newswir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4008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  ON ONE PAGE</a:t>
            </a:r>
            <a:endParaRPr lang="en-US" sz="1500" dirty="0"/>
          </a:p>
        </p:txBody>
      </p:sp>
      <p:sp>
        <p:nvSpPr>
          <p:cNvPr id="4" name="Text 2"/>
          <p:cNvSpPr/>
          <p:nvPr/>
        </p:nvSpPr>
        <p:spPr>
          <a:xfrm>
            <a:off x="640080" y="1097280"/>
            <a:ext cx="10911535" cy="914400"/>
          </a:xfrm>
          <a:prstGeom prst="rect">
            <a:avLst/>
          </a:prstGeom>
          <a:noFill/>
          <a:ln/>
        </p:spPr>
        <p:txBody>
          <a:bodyPr wrap="square" rtlCol="0" anchor="ctr"/>
          <a:lstStyle/>
          <a:p>
            <a:pPr indent="0" marL="0">
              <a:lnSpc>
                <a:spcPct val="100000"/>
              </a:lnSpc>
              <a:buNone/>
            </a:pPr>
            <a:r>
              <a:rPr lang="en-US" sz="3000" b="1" dirty="0">
                <a:solidFill>
                  <a:srgbClr val="FFFFFF"/>
                </a:solidFill>
                <a:latin typeface="Cambria" pitchFamily="34" charset="0"/>
                <a:ea typeface="Cambria" pitchFamily="34" charset="-122"/>
                <a:cs typeface="Cambria" pitchFamily="34" charset="-120"/>
              </a:rPr>
              <a:t>Launch Longevity Life Academy in the press — solo, no agency</a:t>
            </a:r>
            <a:endParaRPr lang="en-US" sz="3000" dirty="0"/>
          </a:p>
        </p:txBody>
      </p:sp>
      <p:sp>
        <p:nvSpPr>
          <p:cNvPr id="5" name="Shape 3"/>
          <p:cNvSpPr/>
          <p:nvPr/>
        </p:nvSpPr>
        <p:spPr>
          <a:xfrm>
            <a:off x="640080" y="2331720"/>
            <a:ext cx="5272888" cy="1417320"/>
          </a:xfrm>
          <a:prstGeom prst="roundRect">
            <a:avLst>
              <a:gd name="adj" fmla="val 3871"/>
            </a:avLst>
          </a:prstGeom>
          <a:solidFill>
            <a:srgbClr val="12395C"/>
          </a:solidFill>
          <a:ln w="12700">
            <a:solidFill>
              <a:srgbClr val="27506F"/>
            </a:solidFill>
            <a:prstDash val="solid"/>
          </a:ln>
        </p:spPr>
      </p:sp>
      <p:sp>
        <p:nvSpPr>
          <p:cNvPr id="6" name="Text 4"/>
          <p:cNvSpPr/>
          <p:nvPr/>
        </p:nvSpPr>
        <p:spPr>
          <a:xfrm>
            <a:off x="896112" y="24780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THE GOAL</a:t>
            </a:r>
            <a:endParaRPr lang="en-US" sz="1200" dirty="0"/>
          </a:p>
        </p:txBody>
      </p:sp>
      <p:sp>
        <p:nvSpPr>
          <p:cNvPr id="7" name="Text 5"/>
          <p:cNvSpPr/>
          <p:nvPr/>
        </p:nvSpPr>
        <p:spPr>
          <a:xfrm>
            <a:off x="896112" y="28072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Own the story “Israel’s leading EdTech launches accessible longevity education,” then carry it into “Julie joins.”</a:t>
            </a:r>
            <a:endParaRPr lang="en-US" sz="1350" dirty="0"/>
          </a:p>
        </p:txBody>
      </p:sp>
      <p:sp>
        <p:nvSpPr>
          <p:cNvPr id="8" name="Shape 6"/>
          <p:cNvSpPr/>
          <p:nvPr/>
        </p:nvSpPr>
        <p:spPr>
          <a:xfrm>
            <a:off x="6278728" y="2331720"/>
            <a:ext cx="5272888" cy="1417320"/>
          </a:xfrm>
          <a:prstGeom prst="roundRect">
            <a:avLst>
              <a:gd name="adj" fmla="val 3871"/>
            </a:avLst>
          </a:prstGeom>
          <a:solidFill>
            <a:srgbClr val="12395C"/>
          </a:solidFill>
          <a:ln w="12700">
            <a:solidFill>
              <a:srgbClr val="27506F"/>
            </a:solidFill>
            <a:prstDash val="solid"/>
          </a:ln>
        </p:spPr>
      </p:sp>
      <p:sp>
        <p:nvSpPr>
          <p:cNvPr id="9" name="Text 7"/>
          <p:cNvSpPr/>
          <p:nvPr/>
        </p:nvSpPr>
        <p:spPr>
          <a:xfrm>
            <a:off x="6534760" y="24780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WHERE WE WANT TO BE</a:t>
            </a:r>
            <a:endParaRPr lang="en-US" sz="1200" dirty="0"/>
          </a:p>
        </p:txBody>
      </p:sp>
      <p:sp>
        <p:nvSpPr>
          <p:cNvPr id="10" name="Text 8"/>
          <p:cNvSpPr/>
          <p:nvPr/>
        </p:nvSpPr>
        <p:spPr>
          <a:xfrm>
            <a:off x="6534760" y="28072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Cited on a paid wire (guaranteed), plus 3–6 earned pickups across US consumer/health + Israeli business press over 8 weeks.</a:t>
            </a:r>
            <a:endParaRPr lang="en-US" sz="1350" dirty="0"/>
          </a:p>
        </p:txBody>
      </p:sp>
      <p:sp>
        <p:nvSpPr>
          <p:cNvPr id="11" name="Shape 9"/>
          <p:cNvSpPr/>
          <p:nvPr/>
        </p:nvSpPr>
        <p:spPr>
          <a:xfrm>
            <a:off x="640080" y="3931920"/>
            <a:ext cx="5272888" cy="1417320"/>
          </a:xfrm>
          <a:prstGeom prst="roundRect">
            <a:avLst>
              <a:gd name="adj" fmla="val 3871"/>
            </a:avLst>
          </a:prstGeom>
          <a:solidFill>
            <a:srgbClr val="12395C"/>
          </a:solidFill>
          <a:ln w="12700">
            <a:solidFill>
              <a:srgbClr val="27506F"/>
            </a:solidFill>
            <a:prstDash val="solid"/>
          </a:ln>
        </p:spPr>
      </p:sp>
      <p:sp>
        <p:nvSpPr>
          <p:cNvPr id="12" name="Text 10"/>
          <p:cNvSpPr/>
          <p:nvPr/>
        </p:nvSpPr>
        <p:spPr>
          <a:xfrm>
            <a:off x="896112" y="40782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WHO RUNS IT</a:t>
            </a:r>
            <a:endParaRPr lang="en-US" sz="1200" dirty="0"/>
          </a:p>
        </p:txBody>
      </p:sp>
      <p:sp>
        <p:nvSpPr>
          <p:cNvPr id="13" name="Text 11"/>
          <p:cNvSpPr/>
          <p:nvPr/>
        </p:nvSpPr>
        <p:spPr>
          <a:xfrm>
            <a:off x="896112" y="44074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One person — Omri — using paid wire distribution for certainty and free journalist platforms for earned reach.</a:t>
            </a:r>
            <a:endParaRPr lang="en-US" sz="1350" dirty="0"/>
          </a:p>
        </p:txBody>
      </p:sp>
      <p:sp>
        <p:nvSpPr>
          <p:cNvPr id="14" name="Shape 12"/>
          <p:cNvSpPr/>
          <p:nvPr/>
        </p:nvSpPr>
        <p:spPr>
          <a:xfrm>
            <a:off x="6278728" y="3931920"/>
            <a:ext cx="5272888" cy="1417320"/>
          </a:xfrm>
          <a:prstGeom prst="roundRect">
            <a:avLst>
              <a:gd name="adj" fmla="val 3871"/>
            </a:avLst>
          </a:prstGeom>
          <a:solidFill>
            <a:srgbClr val="12395C"/>
          </a:solidFill>
          <a:ln w="12700">
            <a:solidFill>
              <a:srgbClr val="27506F"/>
            </a:solidFill>
            <a:prstDash val="solid"/>
          </a:ln>
        </p:spPr>
      </p:sp>
      <p:sp>
        <p:nvSpPr>
          <p:cNvPr id="15" name="Text 13"/>
          <p:cNvSpPr/>
          <p:nvPr/>
        </p:nvSpPr>
        <p:spPr>
          <a:xfrm>
            <a:off x="6534760" y="4078224"/>
            <a:ext cx="4815688" cy="274320"/>
          </a:xfrm>
          <a:prstGeom prst="rect">
            <a:avLst/>
          </a:prstGeom>
          <a:noFill/>
          <a:ln/>
        </p:spPr>
        <p:txBody>
          <a:bodyPr wrap="square" rtlCol="0" anchor="ctr"/>
          <a:lstStyle/>
          <a:p>
            <a:pPr indent="0" marL="0">
              <a:buNone/>
            </a:pPr>
            <a:r>
              <a:rPr lang="en-US" sz="1200" b="1" spc="150" kern="0" dirty="0">
                <a:solidFill>
                  <a:srgbClr val="C08A2E"/>
                </a:solidFill>
                <a:latin typeface="Calibri" pitchFamily="34" charset="0"/>
                <a:ea typeface="Calibri" pitchFamily="34" charset="-122"/>
                <a:cs typeface="Calibri" pitchFamily="34" charset="-120"/>
              </a:rPr>
              <a:t>THE BET</a:t>
            </a:r>
            <a:endParaRPr lang="en-US" sz="1200" dirty="0"/>
          </a:p>
        </p:txBody>
      </p:sp>
      <p:sp>
        <p:nvSpPr>
          <p:cNvPr id="16" name="Text 14"/>
          <p:cNvSpPr/>
          <p:nvPr/>
        </p:nvSpPr>
        <p:spPr>
          <a:xfrm>
            <a:off x="6534760" y="4407408"/>
            <a:ext cx="4815688" cy="822960"/>
          </a:xfrm>
          <a:prstGeom prst="rect">
            <a:avLst/>
          </a:prstGeom>
          <a:noFill/>
          <a:ln/>
        </p:spPr>
        <p:txBody>
          <a:bodyPr wrap="square" rtlCol="0" anchor="t"/>
          <a:lstStyle/>
          <a:p>
            <a:pPr indent="0" marL="0">
              <a:lnSpc>
                <a:spcPct val="112000"/>
              </a:lnSpc>
              <a:buNone/>
            </a:pPr>
            <a:r>
              <a:rPr lang="en-US" sz="1350" dirty="0">
                <a:solidFill>
                  <a:srgbClr val="DCE3EA"/>
                </a:solidFill>
                <a:latin typeface="Calibri" pitchFamily="34" charset="0"/>
                <a:ea typeface="Calibri" pitchFamily="34" charset="-122"/>
                <a:cs typeface="Calibri" pitchFamily="34" charset="-120"/>
              </a:rPr>
              <a:t>Two strong hooks (a 25-year EdTech leader + a real longevity story in Julie) beat a big agency retainer for this launch.</a:t>
            </a:r>
            <a:endParaRPr lang="en-US" sz="1350" dirty="0"/>
          </a:p>
        </p:txBody>
      </p:sp>
      <p:sp>
        <p:nvSpPr>
          <p:cNvPr id="17" name="Text 1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WHERE WE PLAY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Two fronts: a U.S. push and an Israel push</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The audience and the outlets are different in each country — so we run two clearly separated efforts with different angles.</a:t>
            </a:r>
            <a:endParaRPr lang="en-US" sz="1400" dirty="0"/>
          </a:p>
        </p:txBody>
      </p:sp>
      <p:sp>
        <p:nvSpPr>
          <p:cNvPr id="5" name="Shape 3"/>
          <p:cNvSpPr/>
          <p:nvPr/>
        </p:nvSpPr>
        <p:spPr>
          <a:xfrm>
            <a:off x="640080" y="214884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148840"/>
            <a:ext cx="5272888" cy="566928"/>
          </a:xfrm>
          <a:prstGeom prst="rect">
            <a:avLst/>
          </a:prstGeom>
          <a:solidFill>
            <a:srgbClr val="0C2A43"/>
          </a:solidFill>
          <a:ln/>
        </p:spPr>
      </p:sp>
      <p:sp>
        <p:nvSpPr>
          <p:cNvPr id="7" name="Text 5"/>
          <p:cNvSpPr/>
          <p:nvPr/>
        </p:nvSpPr>
        <p:spPr>
          <a:xfrm>
            <a:off x="868680" y="214884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UNITED STATES  —  the primary market</a:t>
            </a:r>
            <a:endParaRPr lang="en-US" sz="1400" dirty="0"/>
          </a:p>
        </p:txBody>
      </p:sp>
      <p:sp>
        <p:nvSpPr>
          <p:cNvPr id="8" name="Text 6"/>
          <p:cNvSpPr/>
          <p:nvPr/>
        </p:nvSpPr>
        <p:spPr>
          <a:xfrm>
            <a:off x="868680" y="283464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~70% of eTeacher customers are American. This is where enrollments and scale live.</a:t>
            </a:r>
            <a:endParaRPr lang="en-US" sz="1200" dirty="0"/>
          </a:p>
        </p:txBody>
      </p:sp>
      <p:sp>
        <p:nvSpPr>
          <p:cNvPr id="9" name="Text 7"/>
          <p:cNvSpPr/>
          <p:nvPr/>
        </p:nvSpPr>
        <p:spPr>
          <a:xfrm>
            <a:off x="868680" y="3429000"/>
            <a:ext cx="4815688" cy="658368"/>
          </a:xfrm>
          <a:prstGeom prst="rect">
            <a:avLst/>
          </a:prstGeom>
          <a:noFill/>
          <a:ln/>
        </p:spPr>
        <p:txBody>
          <a:bodyPr wrap="square" rtlCol="0" anchor="t"/>
          <a:lstStyle/>
          <a:p>
            <a:pPr indent="0" marL="0">
              <a:lnSpc>
                <a:spcPct val="112000"/>
              </a:lnSpc>
              <a:buNone/>
            </a:pPr>
            <a:r>
              <a:rPr lang="en-US" sz="1150" i="1" dirty="0">
                <a:solidFill>
                  <a:srgbClr val="0C2A43"/>
                </a:solidFill>
                <a:latin typeface="Calibri" pitchFamily="34" charset="0"/>
                <a:ea typeface="Calibri" pitchFamily="34" charset="-122"/>
                <a:cs typeface="Calibri" pitchFamily="34" charset="-120"/>
              </a:rPr>
              <a:t>ANGLE: consumer + health. “Julie — the mom who out-scored a billionaire — joins an accessible longevity school.”</a:t>
            </a:r>
            <a:endParaRPr lang="en-US" sz="1150" dirty="0"/>
          </a:p>
        </p:txBody>
      </p:sp>
      <p:sp>
        <p:nvSpPr>
          <p:cNvPr id="10" name="Text 8"/>
          <p:cNvSpPr/>
          <p:nvPr/>
        </p:nvSpPr>
        <p:spPr>
          <a:xfrm>
            <a:off x="868680" y="4142232"/>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1" name="Text 9"/>
          <p:cNvSpPr/>
          <p:nvPr/>
        </p:nvSpPr>
        <p:spPr>
          <a:xfrm>
            <a:off x="868680" y="4379976"/>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People, Today, Well+Good, Business Insider</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Fox News Health, GMA / local morning TV</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Longevity.Technology, Fierce Healthcare</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EdSurge, TechCrunch (product angle)</a:t>
            </a:r>
            <a:endParaRPr lang="en-US" sz="1100" dirty="0"/>
          </a:p>
        </p:txBody>
      </p:sp>
      <p:sp>
        <p:nvSpPr>
          <p:cNvPr id="12" name="Text 10"/>
          <p:cNvSpPr/>
          <p:nvPr/>
        </p:nvSpPr>
        <p:spPr>
          <a:xfrm>
            <a:off x="868680" y="5513832"/>
            <a:ext cx="4815688" cy="320040"/>
          </a:xfrm>
          <a:prstGeom prst="rect">
            <a:avLst/>
          </a:prstGeom>
          <a:noFill/>
          <a:ln/>
        </p:spPr>
        <p:txBody>
          <a:bodyPr wrap="square" rtlCol="0" anchor="ctr"/>
          <a:lstStyle/>
          <a:p>
            <a:pPr indent="0" marL="0">
              <a:buNone/>
            </a:pPr>
            <a:r>
              <a:rPr lang="en-US" sz="1150" b="1" dirty="0">
                <a:solidFill>
                  <a:srgbClr val="0C2A43"/>
                </a:solidFill>
                <a:latin typeface="Calibri" pitchFamily="34" charset="0"/>
                <a:ea typeface="Calibri" pitchFamily="34" charset="-122"/>
                <a:cs typeface="Calibri" pitchFamily="34" charset="-120"/>
              </a:rPr>
              <a:t>GOAL: 2–4 US earned pickups + broadcast segment</a:t>
            </a:r>
            <a:endParaRPr lang="en-US" sz="1150" dirty="0"/>
          </a:p>
        </p:txBody>
      </p:sp>
      <p:sp>
        <p:nvSpPr>
          <p:cNvPr id="13" name="Shape 11"/>
          <p:cNvSpPr/>
          <p:nvPr/>
        </p:nvSpPr>
        <p:spPr>
          <a:xfrm>
            <a:off x="6278728" y="214884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148840"/>
            <a:ext cx="5272888" cy="566928"/>
          </a:xfrm>
          <a:prstGeom prst="rect">
            <a:avLst/>
          </a:prstGeom>
          <a:solidFill>
            <a:srgbClr val="6E4A12"/>
          </a:solidFill>
          <a:ln/>
        </p:spPr>
      </p:sp>
      <p:sp>
        <p:nvSpPr>
          <p:cNvPr id="15" name="Text 13"/>
          <p:cNvSpPr/>
          <p:nvPr/>
        </p:nvSpPr>
        <p:spPr>
          <a:xfrm>
            <a:off x="6507328" y="2148840"/>
            <a:ext cx="4815688" cy="566928"/>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ISRAEL  —  the home base</a:t>
            </a:r>
            <a:endParaRPr lang="en-US" sz="1400" dirty="0"/>
          </a:p>
        </p:txBody>
      </p:sp>
      <p:sp>
        <p:nvSpPr>
          <p:cNvPr id="16" name="Text 14"/>
          <p:cNvSpPr/>
          <p:nvPr/>
        </p:nvSpPr>
        <p:spPr>
          <a:xfrm>
            <a:off x="6507328" y="2834640"/>
            <a:ext cx="4815688" cy="530352"/>
          </a:xfrm>
          <a:prstGeom prst="rect">
            <a:avLst/>
          </a:prstGeom>
          <a:noFill/>
          <a:ln/>
        </p:spPr>
        <p:txBody>
          <a:bodyPr wrap="square" rtlCol="0" anchor="t"/>
          <a:lstStyle/>
          <a:p>
            <a:pPr indent="0" marL="0">
              <a:lnSpc>
                <a:spcPct val="112000"/>
              </a:lnSpc>
              <a:buNone/>
            </a:pPr>
            <a:r>
              <a:rPr lang="en-US" sz="1200" b="1" dirty="0">
                <a:solidFill>
                  <a:srgbClr val="1A1F26"/>
                </a:solidFill>
                <a:latin typeface="Calibri" pitchFamily="34" charset="0"/>
                <a:ea typeface="Calibri" pitchFamily="34" charset="-122"/>
                <a:cs typeface="Calibri" pitchFamily="34" charset="-120"/>
              </a:rPr>
              <a:t>eTeacher is a 25-year Israeli company with an existing press trail and CEO recognition.</a:t>
            </a:r>
            <a:endParaRPr lang="en-US" sz="1200" dirty="0"/>
          </a:p>
        </p:txBody>
      </p:sp>
      <p:sp>
        <p:nvSpPr>
          <p:cNvPr id="17" name="Text 15"/>
          <p:cNvSpPr/>
          <p:nvPr/>
        </p:nvSpPr>
        <p:spPr>
          <a:xfrm>
            <a:off x="6507328" y="3429000"/>
            <a:ext cx="4815688" cy="658368"/>
          </a:xfrm>
          <a:prstGeom prst="rect">
            <a:avLst/>
          </a:prstGeom>
          <a:noFill/>
          <a:ln/>
        </p:spPr>
        <p:txBody>
          <a:bodyPr wrap="square" rtlCol="0" anchor="t"/>
          <a:lstStyle/>
          <a:p>
            <a:pPr indent="0" marL="0">
              <a:lnSpc>
                <a:spcPct val="112000"/>
              </a:lnSpc>
              <a:buNone/>
            </a:pPr>
            <a:r>
              <a:rPr lang="en-US" sz="1150" i="1" dirty="0">
                <a:solidFill>
                  <a:srgbClr val="6E4A12"/>
                </a:solidFill>
                <a:latin typeface="Calibri" pitchFamily="34" charset="0"/>
                <a:ea typeface="Calibri" pitchFamily="34" charset="-122"/>
                <a:cs typeface="Calibri" pitchFamily="34" charset="-120"/>
              </a:rPr>
              <a:t>ANGLE: business + national pride. “Veteran Israeli EdTech enters the $8T global longevity market.”</a:t>
            </a:r>
            <a:endParaRPr lang="en-US" sz="1150" dirty="0"/>
          </a:p>
        </p:txBody>
      </p:sp>
      <p:sp>
        <p:nvSpPr>
          <p:cNvPr id="18" name="Text 16"/>
          <p:cNvSpPr/>
          <p:nvPr/>
        </p:nvSpPr>
        <p:spPr>
          <a:xfrm>
            <a:off x="6507328" y="4142232"/>
            <a:ext cx="4815688" cy="219456"/>
          </a:xfrm>
          <a:prstGeom prst="rect">
            <a:avLst/>
          </a:prstGeom>
          <a:noFill/>
          <a:ln/>
        </p:spPr>
        <p:txBody>
          <a:bodyPr wrap="square" rtlCol="0" anchor="ctr"/>
          <a:lstStyle/>
          <a:p>
            <a:pPr indent="0" marL="0">
              <a:buNone/>
            </a:pPr>
            <a:r>
              <a:rPr lang="en-US" sz="900" b="1" spc="100" kern="0" dirty="0">
                <a:solidFill>
                  <a:srgbClr val="5C6672"/>
                </a:solidFill>
                <a:latin typeface="Calibri" pitchFamily="34" charset="0"/>
                <a:ea typeface="Calibri" pitchFamily="34" charset="-122"/>
                <a:cs typeface="Calibri" pitchFamily="34" charset="-120"/>
              </a:rPr>
              <a:t>TARGET OUTLETS</a:t>
            </a:r>
            <a:endParaRPr lang="en-US" sz="900" dirty="0"/>
          </a:p>
        </p:txBody>
      </p:sp>
      <p:sp>
        <p:nvSpPr>
          <p:cNvPr id="19" name="Text 17"/>
          <p:cNvSpPr/>
          <p:nvPr/>
        </p:nvSpPr>
        <p:spPr>
          <a:xfrm>
            <a:off x="6507328" y="4379976"/>
            <a:ext cx="4815688" cy="1005840"/>
          </a:xfrm>
          <a:prstGeom prst="rect">
            <a:avLst/>
          </a:prstGeom>
          <a:noFill/>
          <a:ln/>
        </p:spPr>
        <p:txBody>
          <a:bodyPr wrap="square" rtlCol="0" anchor="t"/>
          <a:lstStyle/>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TheMarker, Globes, Calcalist</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Geektime, CTech (Calcalist tech)</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Ynet / Mako lifestyle-health desks</a:t>
            </a:r>
            <a:endParaRPr lang="en-US" sz="1100" dirty="0"/>
          </a:p>
          <a:p>
            <a:pPr indent="0" marL="0">
              <a:lnSpc>
                <a:spcPct val="118000"/>
              </a:lnSpc>
              <a:buNone/>
            </a:pPr>
            <a:r>
              <a:rPr lang="en-US" sz="1100" dirty="0">
                <a:solidFill>
                  <a:srgbClr val="1A1F26"/>
                </a:solidFill>
                <a:latin typeface="Calibri" pitchFamily="34" charset="0"/>
                <a:ea typeface="Calibri" pitchFamily="34" charset="-122"/>
                <a:cs typeface="Calibri" pitchFamily="34" charset="-120"/>
              </a:rPr>
              <a:t>•  IVC / startup-nation newsletters</a:t>
            </a:r>
            <a:endParaRPr lang="en-US" sz="1100" dirty="0"/>
          </a:p>
        </p:txBody>
      </p:sp>
      <p:sp>
        <p:nvSpPr>
          <p:cNvPr id="20" name="Text 18"/>
          <p:cNvSpPr/>
          <p:nvPr/>
        </p:nvSpPr>
        <p:spPr>
          <a:xfrm>
            <a:off x="6507328" y="5513832"/>
            <a:ext cx="4815688" cy="320040"/>
          </a:xfrm>
          <a:prstGeom prst="rect">
            <a:avLst/>
          </a:prstGeom>
          <a:noFill/>
          <a:ln/>
        </p:spPr>
        <p:txBody>
          <a:bodyPr wrap="square" rtlCol="0" anchor="ctr"/>
          <a:lstStyle/>
          <a:p>
            <a:pPr indent="0" marL="0">
              <a:buNone/>
            </a:pPr>
            <a:r>
              <a:rPr lang="en-US" sz="1150" b="1" dirty="0">
                <a:solidFill>
                  <a:srgbClr val="6E4A12"/>
                </a:solidFill>
                <a:latin typeface="Calibri" pitchFamily="34" charset="0"/>
                <a:ea typeface="Calibri" pitchFamily="34" charset="-122"/>
                <a:cs typeface="Calibri" pitchFamily="34" charset="-120"/>
              </a:rPr>
              <a:t>GOAL: 1–2 Israeli business features</a:t>
            </a:r>
            <a:endParaRPr lang="en-US" sz="115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WHAT WE CAN DO FOR FREE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Free earned media — and how likely each is</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These cost only time. They will not guarantee coverage, but stacked together they realistically produce a few real pickups.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698480" cy="914400"/>
        </p:xfrm>
        <a:graphic>
          <a:graphicData uri="http://schemas.openxmlformats.org/drawingml/2006/table">
            <a:tbl>
              <a:tblPr/>
              <a:tblGrid>
                <a:gridCol w="2743200"/>
                <a:gridCol w="4480560"/>
                <a:gridCol w="1005840"/>
                <a:gridCol w="24688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Tactic</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Effort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Likelihood</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Direct journalist pitching</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Build a list of reporters who already cover longevity/EdTech; email a tailored story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40–60%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Source of Sources (free HARO)</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Peter Shankman’s free daily journalist-request emails; reply fast as an expert source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GOOD — quotes/mentions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#journorequest / #prrequest on X</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Monitor hashtags where reporters ask for sources; pitch within the hour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Qwoted (free 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Verified expert marketplace; free plan gets you into journalist requests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PRLog (free wire) + owned channels</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Free press-release posting + LinkedIn thought-leadership from Harel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LOW reach, builds trail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Rule that makes free work: speed + relevance. The first ~10 replies to a journalist request get read; a tailored, human pitch beats a mass blast every time.</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BuzzStream (HARO alternatives)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WHAT COSTS MONEY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Paid distribution — what it buys and what it costs</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Paid wires are the ONE guaranteed placement. They don’t create a Forbes feature — they create a citable, indexed release that syndicates automatically.</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103120"/>
                <a:gridCol w="3291840"/>
                <a:gridCol w="3931920"/>
                <a:gridCol w="15544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 (per release)</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you get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EIN Presswire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$100–$150 · 5-pack ~$80 ea</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Global 200+ countries, AP News, Google News, Benzinga. No membership.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437A22"/>
                          </a:solidFill>
                          <a:latin typeface="Calibri" pitchFamily="34" charset="0"/>
                          <a:ea typeface="Calibri" pitchFamily="34" charset="-122"/>
                          <a:cs typeface="Calibri" pitchFamily="34" charset="-120"/>
                        </a:rPr>
                        <a:t>BEST VALUE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Newswire.com</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$299–$799</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Unlimited words/images, writing included; +AP add-on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Good mid-tier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GlobeNewswire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~$195 entry / ~$900–$1,200 national</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Strong for financial/corporate; we’ve used it before (2020)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Familiar</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PR 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$805 national + $195 membership + add-ons → $2,000–$3,000+</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The premium name; most credible dateline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Splurge, Wave 1 only</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100" b="1" dirty="0">
                          <a:solidFill>
                            <a:srgbClr val="1A1F26"/>
                          </a:solidFill>
                          <a:latin typeface="Calibri" pitchFamily="34" charset="0"/>
                          <a:ea typeface="Calibri" pitchFamily="34" charset="-122"/>
                          <a:cs typeface="Calibri" pitchFamily="34" charset="-120"/>
                        </a:rPr>
                        <a:t>ABNewswire</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$80 single / ~$18–20 in bulk</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A1F26"/>
                          </a:solidFill>
                          <a:latin typeface="Calibri" pitchFamily="34" charset="0"/>
                          <a:ea typeface="Calibri" pitchFamily="34" charset="-122"/>
                          <a:cs typeface="Calibri" pitchFamily="34" charset="-120"/>
                        </a:rPr>
                        <a:t>400+ sites; cheapest volume option</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7A16"/>
                          </a:solidFill>
                          <a:latin typeface="Calibri" pitchFamily="34" charset="0"/>
                          <a:ea typeface="Calibri" pitchFamily="34" charset="-122"/>
                          <a:cs typeface="Calibri" pitchFamily="34" charset="-120"/>
                        </a:rPr>
                        <a:t>Budget backup</a:t>
                      </a:r>
                      <a:endParaRPr lang="en-US" sz="11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050" i="1" dirty="0">
                <a:solidFill>
                  <a:srgbClr val="5C6672"/>
                </a:solidFill>
                <a:latin typeface="Calibri" pitchFamily="34" charset="0"/>
                <a:ea typeface="Calibri" pitchFamily="34" charset="-122"/>
                <a:cs typeface="Calibri" pitchFamily="34" charset="-120"/>
              </a:rPr>
              <a:t>Recommendation: EIN Presswire as the workhorse for all four waves; reserve PR Newswire for Wave 1 only if the CEO wants the premium dateline on the launch.</a:t>
            </a:r>
            <a:endParaRPr lang="en-US" sz="105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comparison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 (EIN vs PR Newswire)</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BUDGET</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Two budgets: lean solo vs. premium launch</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Everything below is optional spend on top of free tactics. You can run the entire campaign on the lean plan.</a:t>
            </a:r>
            <a:endParaRPr lang="en-US" sz="1400" dirty="0"/>
          </a:p>
        </p:txBody>
      </p:sp>
      <p:sp>
        <p:nvSpPr>
          <p:cNvPr id="5" name="Shape 3"/>
          <p:cNvSpPr/>
          <p:nvPr/>
        </p:nvSpPr>
        <p:spPr>
          <a:xfrm>
            <a:off x="640080" y="2148840"/>
            <a:ext cx="5272888" cy="3520440"/>
          </a:xfrm>
          <a:prstGeom prst="roundRect">
            <a:avLst>
              <a:gd name="adj" fmla="val 1558"/>
            </a:avLst>
          </a:prstGeom>
          <a:solidFill>
            <a:srgbClr val="FFFFFF"/>
          </a:solidFill>
          <a:ln w="12700">
            <a:solidFill>
              <a:srgbClr val="D9DDE2"/>
            </a:solidFill>
            <a:prstDash val="solid"/>
          </a:ln>
        </p:spPr>
      </p:sp>
      <p:sp>
        <p:nvSpPr>
          <p:cNvPr id="6" name="Shape 4"/>
          <p:cNvSpPr/>
          <p:nvPr/>
        </p:nvSpPr>
        <p:spPr>
          <a:xfrm>
            <a:off x="640080" y="2148840"/>
            <a:ext cx="5272888" cy="502920"/>
          </a:xfrm>
          <a:prstGeom prst="rect">
            <a:avLst/>
          </a:prstGeom>
          <a:solidFill>
            <a:srgbClr val="0C2A43"/>
          </a:solidFill>
          <a:ln/>
        </p:spPr>
      </p:sp>
      <p:sp>
        <p:nvSpPr>
          <p:cNvPr id="7" name="Text 5"/>
          <p:cNvSpPr/>
          <p:nvPr/>
        </p:nvSpPr>
        <p:spPr>
          <a:xfrm>
            <a:off x="868680" y="214884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solo, bootstrapped</a:t>
            </a:r>
            <a:endParaRPr lang="en-US" sz="1350" dirty="0"/>
          </a:p>
        </p:txBody>
      </p:sp>
      <p:sp>
        <p:nvSpPr>
          <p:cNvPr id="8" name="Text 6"/>
          <p:cNvSpPr/>
          <p:nvPr/>
        </p:nvSpPr>
        <p:spPr>
          <a:xfrm>
            <a:off x="868680" y="2770632"/>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447288"/>
            <a:ext cx="4815688" cy="27432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total, all 4 waves</a:t>
            </a:r>
            <a:endParaRPr lang="en-US" sz="1200" dirty="0"/>
          </a:p>
        </p:txBody>
      </p:sp>
      <p:sp>
        <p:nvSpPr>
          <p:cNvPr id="10" name="Text 8"/>
          <p:cNvSpPr/>
          <p:nvPr/>
        </p:nvSpPr>
        <p:spPr>
          <a:xfrm>
            <a:off x="868680" y="384048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5-pack</a:t>
            </a:r>
            <a:endParaRPr lang="en-US" sz="1100" dirty="0"/>
          </a:p>
        </p:txBody>
      </p:sp>
      <p:sp>
        <p:nvSpPr>
          <p:cNvPr id="11" name="Text 9"/>
          <p:cNvSpPr/>
          <p:nvPr/>
        </p:nvSpPr>
        <p:spPr>
          <a:xfrm>
            <a:off x="4495648" y="384048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$399</a:t>
            </a:r>
            <a:endParaRPr lang="en-US" sz="1100" dirty="0"/>
          </a:p>
        </p:txBody>
      </p:sp>
      <p:sp>
        <p:nvSpPr>
          <p:cNvPr id="12" name="Text 10"/>
          <p:cNvSpPr/>
          <p:nvPr/>
        </p:nvSpPr>
        <p:spPr>
          <a:xfrm>
            <a:off x="868680" y="420624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 tactics (SoS, #journorequest, pitching)</a:t>
            </a:r>
            <a:endParaRPr lang="en-US" sz="1100" dirty="0"/>
          </a:p>
        </p:txBody>
      </p:sp>
      <p:sp>
        <p:nvSpPr>
          <p:cNvPr id="13" name="Text 11"/>
          <p:cNvSpPr/>
          <p:nvPr/>
        </p:nvSpPr>
        <p:spPr>
          <a:xfrm>
            <a:off x="4495648" y="420624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4" name="Text 12"/>
          <p:cNvSpPr/>
          <p:nvPr/>
        </p:nvSpPr>
        <p:spPr>
          <a:xfrm>
            <a:off x="868680" y="457200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Optional: 1 stock headshot/logo cleanup</a:t>
            </a:r>
            <a:endParaRPr lang="en-US" sz="1100" dirty="0"/>
          </a:p>
        </p:txBody>
      </p:sp>
      <p:sp>
        <p:nvSpPr>
          <p:cNvPr id="15" name="Text 13"/>
          <p:cNvSpPr/>
          <p:nvPr/>
        </p:nvSpPr>
        <p:spPr>
          <a:xfrm>
            <a:off x="4495648" y="457200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$0–$150</a:t>
            </a:r>
            <a:endParaRPr lang="en-US" sz="1100" dirty="0"/>
          </a:p>
        </p:txBody>
      </p:sp>
      <p:sp>
        <p:nvSpPr>
          <p:cNvPr id="16" name="Text 14"/>
          <p:cNvSpPr/>
          <p:nvPr/>
        </p:nvSpPr>
        <p:spPr>
          <a:xfrm>
            <a:off x="868680" y="493776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Owned channels (LinkedIn, site)</a:t>
            </a:r>
            <a:endParaRPr lang="en-US" sz="1100" dirty="0"/>
          </a:p>
        </p:txBody>
      </p:sp>
      <p:sp>
        <p:nvSpPr>
          <p:cNvPr id="17" name="Text 15"/>
          <p:cNvSpPr/>
          <p:nvPr/>
        </p:nvSpPr>
        <p:spPr>
          <a:xfrm>
            <a:off x="4495648" y="493776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$0</a:t>
            </a:r>
            <a:endParaRPr lang="en-US" sz="1100" dirty="0"/>
          </a:p>
        </p:txBody>
      </p:sp>
      <p:sp>
        <p:nvSpPr>
          <p:cNvPr id="18" name="Text 16"/>
          <p:cNvSpPr/>
          <p:nvPr/>
        </p:nvSpPr>
        <p:spPr>
          <a:xfrm>
            <a:off x="868680" y="5276088"/>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Enough for a real, credible, multi-wave launch run by one person.</a:t>
            </a:r>
            <a:endParaRPr lang="en-US" sz="1000" dirty="0"/>
          </a:p>
        </p:txBody>
      </p:sp>
      <p:sp>
        <p:nvSpPr>
          <p:cNvPr id="19" name="Shape 17"/>
          <p:cNvSpPr/>
          <p:nvPr/>
        </p:nvSpPr>
        <p:spPr>
          <a:xfrm>
            <a:off x="6278728" y="2148840"/>
            <a:ext cx="5272888" cy="3520440"/>
          </a:xfrm>
          <a:prstGeom prst="roundRect">
            <a:avLst>
              <a:gd name="adj" fmla="val 1558"/>
            </a:avLst>
          </a:prstGeom>
          <a:solidFill>
            <a:srgbClr val="FFFFFF"/>
          </a:solidFill>
          <a:ln w="12700">
            <a:solidFill>
              <a:srgbClr val="D9DDE2"/>
            </a:solidFill>
            <a:prstDash val="solid"/>
          </a:ln>
        </p:spPr>
      </p:sp>
      <p:sp>
        <p:nvSpPr>
          <p:cNvPr id="20" name="Shape 18"/>
          <p:cNvSpPr/>
          <p:nvPr/>
        </p:nvSpPr>
        <p:spPr>
          <a:xfrm>
            <a:off x="6278728" y="2148840"/>
            <a:ext cx="5272888" cy="502920"/>
          </a:xfrm>
          <a:prstGeom prst="rect">
            <a:avLst/>
          </a:prstGeom>
          <a:solidFill>
            <a:srgbClr val="6E4A12"/>
          </a:solidFill>
          <a:ln/>
        </p:spPr>
      </p:sp>
      <p:sp>
        <p:nvSpPr>
          <p:cNvPr id="21" name="Text 19"/>
          <p:cNvSpPr/>
          <p:nvPr/>
        </p:nvSpPr>
        <p:spPr>
          <a:xfrm>
            <a:off x="6507328" y="214884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maximum credibility</a:t>
            </a:r>
            <a:endParaRPr lang="en-US" sz="1350" dirty="0"/>
          </a:p>
        </p:txBody>
      </p:sp>
      <p:sp>
        <p:nvSpPr>
          <p:cNvPr id="22" name="Text 20"/>
          <p:cNvSpPr/>
          <p:nvPr/>
        </p:nvSpPr>
        <p:spPr>
          <a:xfrm>
            <a:off x="6507328" y="2770632"/>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447288"/>
            <a:ext cx="4815688" cy="274320"/>
          </a:xfrm>
          <a:prstGeom prst="rect">
            <a:avLst/>
          </a:prstGeom>
          <a:noFill/>
          <a:ln/>
        </p:spPr>
        <p:txBody>
          <a:bodyPr wrap="square" rtlCol="0" anchor="ctr"/>
          <a:lstStyle/>
          <a:p>
            <a:pPr indent="0" marL="0">
              <a:buNone/>
            </a:pPr>
            <a:r>
              <a:rPr lang="en-US" sz="1200" dirty="0">
                <a:solidFill>
                  <a:srgbClr val="5C6672"/>
                </a:solidFill>
                <a:latin typeface="Calibri" pitchFamily="34" charset="0"/>
                <a:ea typeface="Calibri" pitchFamily="34" charset="-122"/>
                <a:cs typeface="Calibri" pitchFamily="34" charset="-120"/>
              </a:rPr>
              <a:t>total, all 4 waves</a:t>
            </a:r>
            <a:endParaRPr lang="en-US" sz="1200" dirty="0"/>
          </a:p>
        </p:txBody>
      </p:sp>
      <p:sp>
        <p:nvSpPr>
          <p:cNvPr id="24" name="Text 22"/>
          <p:cNvSpPr/>
          <p:nvPr/>
        </p:nvSpPr>
        <p:spPr>
          <a:xfrm>
            <a:off x="6507328" y="384048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PR Newswire national (Wave 1)</a:t>
            </a:r>
            <a:endParaRPr lang="en-US" sz="1100" dirty="0"/>
          </a:p>
        </p:txBody>
      </p:sp>
      <p:sp>
        <p:nvSpPr>
          <p:cNvPr id="25" name="Text 23"/>
          <p:cNvSpPr/>
          <p:nvPr/>
        </p:nvSpPr>
        <p:spPr>
          <a:xfrm>
            <a:off x="10134295" y="384048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$2,000–$3,000</a:t>
            </a:r>
            <a:endParaRPr lang="en-US" sz="1100" dirty="0"/>
          </a:p>
        </p:txBody>
      </p:sp>
      <p:sp>
        <p:nvSpPr>
          <p:cNvPr id="26" name="Text 24"/>
          <p:cNvSpPr/>
          <p:nvPr/>
        </p:nvSpPr>
        <p:spPr>
          <a:xfrm>
            <a:off x="6507328" y="420624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EIN Presswire (Waves 2–4)</a:t>
            </a:r>
            <a:endParaRPr lang="en-US" sz="1100" dirty="0"/>
          </a:p>
        </p:txBody>
      </p:sp>
      <p:sp>
        <p:nvSpPr>
          <p:cNvPr id="27" name="Text 25"/>
          <p:cNvSpPr/>
          <p:nvPr/>
        </p:nvSpPr>
        <p:spPr>
          <a:xfrm>
            <a:off x="10134295" y="420624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~$240</a:t>
            </a:r>
            <a:endParaRPr lang="en-US" sz="1100" dirty="0"/>
          </a:p>
        </p:txBody>
      </p:sp>
      <p:sp>
        <p:nvSpPr>
          <p:cNvPr id="28" name="Text 26"/>
          <p:cNvSpPr/>
          <p:nvPr/>
        </p:nvSpPr>
        <p:spPr>
          <a:xfrm>
            <a:off x="6507328" y="457200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Qwoted paid (3 mo)</a:t>
            </a:r>
            <a:endParaRPr lang="en-US" sz="1100" dirty="0"/>
          </a:p>
        </p:txBody>
      </p:sp>
      <p:sp>
        <p:nvSpPr>
          <p:cNvPr id="29" name="Text 27"/>
          <p:cNvSpPr/>
          <p:nvPr/>
        </p:nvSpPr>
        <p:spPr>
          <a:xfrm>
            <a:off x="10134295" y="457200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~$300</a:t>
            </a:r>
            <a:endParaRPr lang="en-US" sz="1100" dirty="0"/>
          </a:p>
        </p:txBody>
      </p:sp>
      <p:sp>
        <p:nvSpPr>
          <p:cNvPr id="30" name="Text 28"/>
          <p:cNvSpPr/>
          <p:nvPr/>
        </p:nvSpPr>
        <p:spPr>
          <a:xfrm>
            <a:off x="6507328" y="4937760"/>
            <a:ext cx="3672688" cy="329184"/>
          </a:xfrm>
          <a:prstGeom prst="rect">
            <a:avLst/>
          </a:prstGeom>
          <a:noFill/>
          <a:ln/>
        </p:spPr>
        <p:txBody>
          <a:bodyPr wrap="square" rtlCol="0" anchor="ctr"/>
          <a:lstStyle/>
          <a:p>
            <a:pPr indent="0" marL="0">
              <a:buNone/>
            </a:pPr>
            <a:r>
              <a:rPr lang="en-US" sz="1100" dirty="0">
                <a:solidFill>
                  <a:srgbClr val="1A1F26"/>
                </a:solidFill>
                <a:latin typeface="Calibri" pitchFamily="34" charset="0"/>
                <a:ea typeface="Calibri" pitchFamily="34" charset="-122"/>
                <a:cs typeface="Calibri" pitchFamily="34" charset="-120"/>
              </a:rPr>
              <a:t>Freelance media-list / pitch help</a:t>
            </a:r>
            <a:endParaRPr lang="en-US" sz="1100" dirty="0"/>
          </a:p>
        </p:txBody>
      </p:sp>
      <p:sp>
        <p:nvSpPr>
          <p:cNvPr id="31" name="Text 29"/>
          <p:cNvSpPr/>
          <p:nvPr/>
        </p:nvSpPr>
        <p:spPr>
          <a:xfrm>
            <a:off x="10134295" y="4937760"/>
            <a:ext cx="1188720" cy="329184"/>
          </a:xfrm>
          <a:prstGeom prst="rect">
            <a:avLst/>
          </a:prstGeom>
          <a:noFill/>
          <a:ln/>
        </p:spPr>
        <p:txBody>
          <a:bodyPr wrap="square" rtlCol="0" anchor="ctr"/>
          <a:lstStyle/>
          <a:p>
            <a:pPr algn="r" indent="0" marL="0">
              <a:buNone/>
            </a:pPr>
            <a:r>
              <a:rPr lang="en-US" sz="1100" b="1" dirty="0">
                <a:solidFill>
                  <a:srgbClr val="0C2A43"/>
                </a:solidFill>
                <a:latin typeface="Calibri" pitchFamily="34" charset="0"/>
                <a:ea typeface="Calibri" pitchFamily="34" charset="-122"/>
                <a:cs typeface="Calibri" pitchFamily="34" charset="-120"/>
              </a:rPr>
              <a:t>$500–$1,500</a:t>
            </a:r>
            <a:endParaRPr lang="en-US" sz="1100" dirty="0"/>
          </a:p>
        </p:txBody>
      </p:sp>
      <p:sp>
        <p:nvSpPr>
          <p:cNvPr id="32" name="Text 30"/>
          <p:cNvSpPr/>
          <p:nvPr/>
        </p:nvSpPr>
        <p:spPr>
          <a:xfrm>
            <a:off x="6507328" y="5276088"/>
            <a:ext cx="4815688" cy="320040"/>
          </a:xfrm>
          <a:prstGeom prst="rect">
            <a:avLst/>
          </a:prstGeom>
          <a:noFill/>
          <a:ln/>
        </p:spPr>
        <p:txBody>
          <a:bodyPr wrap="square" rtlCol="0" anchor="ctr"/>
          <a:lstStyle/>
          <a:p>
            <a:pPr indent="0" marL="0">
              <a:buNone/>
            </a:pPr>
            <a:r>
              <a:rPr lang="en-US" sz="1000" i="1" dirty="0">
                <a:solidFill>
                  <a:srgbClr val="5C6672"/>
                </a:solidFill>
                <a:latin typeface="Calibri" pitchFamily="34" charset="0"/>
                <a:ea typeface="Calibri" pitchFamily="34" charset="-122"/>
                <a:cs typeface="Calibri" pitchFamily="34" charset="-120"/>
              </a:rPr>
              <a:t>Only if the CEO wants the premium wire dateline on the launch.</a:t>
            </a:r>
            <a:endParaRPr lang="en-US" sz="1000" dirty="0"/>
          </a:p>
        </p:txBody>
      </p:sp>
      <p:sp>
        <p:nvSpPr>
          <p:cNvPr id="33" name="Text 31"/>
          <p:cNvSpPr/>
          <p:nvPr/>
        </p:nvSpPr>
        <p:spPr>
          <a:xfrm>
            <a:off x="640080" y="585216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Bottom line: a serious four-wave launch is realistic for under $700. Everything above that buys credibility and time-savings, not certainty.</a:t>
            </a:r>
            <a:endParaRPr lang="en-US" sz="120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HONEST ODDS</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What’s guaranteed, what’s likely, what’s a stretch</a:t>
            </a:r>
            <a:endParaRPr lang="en-US" sz="2600" dirty="0"/>
          </a:p>
        </p:txBody>
      </p:sp>
      <p:sp>
        <p:nvSpPr>
          <p:cNvPr id="4" name="Shape 2"/>
          <p:cNvSpPr/>
          <p:nvPr/>
        </p:nvSpPr>
        <p:spPr>
          <a:xfrm>
            <a:off x="640080" y="1874520"/>
            <a:ext cx="10911535" cy="914400"/>
          </a:xfrm>
          <a:prstGeom prst="roundRect">
            <a:avLst>
              <a:gd name="adj" fmla="val 5000"/>
            </a:avLst>
          </a:prstGeom>
          <a:solidFill>
            <a:srgbClr val="FFFFFF"/>
          </a:solidFill>
          <a:ln w="12700">
            <a:solidFill>
              <a:srgbClr val="D9DDE2"/>
            </a:solidFill>
            <a:prstDash val="solid"/>
          </a:ln>
        </p:spPr>
      </p:sp>
      <p:sp>
        <p:nvSpPr>
          <p:cNvPr id="5" name="Shape 3"/>
          <p:cNvSpPr/>
          <p:nvPr/>
        </p:nvSpPr>
        <p:spPr>
          <a:xfrm>
            <a:off x="640080" y="1874520"/>
            <a:ext cx="1691640" cy="914400"/>
          </a:xfrm>
          <a:prstGeom prst="roundRect">
            <a:avLst>
              <a:gd name="adj" fmla="val 5000"/>
            </a:avLst>
          </a:prstGeom>
          <a:solidFill>
            <a:srgbClr val="437A22"/>
          </a:solidFill>
          <a:ln/>
        </p:spPr>
      </p:sp>
      <p:sp>
        <p:nvSpPr>
          <p:cNvPr id="6" name="Text 4"/>
          <p:cNvSpPr/>
          <p:nvPr/>
        </p:nvSpPr>
        <p:spPr>
          <a:xfrm>
            <a:off x="640080" y="187452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GUARANTEED</a:t>
            </a:r>
            <a:endParaRPr lang="en-US" sz="1300" dirty="0"/>
          </a:p>
        </p:txBody>
      </p:sp>
      <p:sp>
        <p:nvSpPr>
          <p:cNvPr id="7" name="Text 5"/>
          <p:cNvSpPr/>
          <p:nvPr/>
        </p:nvSpPr>
        <p:spPr>
          <a:xfrm>
            <a:off x="2560320" y="198424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Paid wire pickup</a:t>
            </a:r>
            <a:endParaRPr lang="en-US" sz="1600" dirty="0"/>
          </a:p>
        </p:txBody>
      </p:sp>
      <p:sp>
        <p:nvSpPr>
          <p:cNvPr id="8" name="Text 6"/>
          <p:cNvSpPr/>
          <p:nvPr/>
        </p:nvSpPr>
        <p:spPr>
          <a:xfrm>
            <a:off x="2560320" y="2377440"/>
            <a:ext cx="3840480" cy="320040"/>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100%</a:t>
            </a:r>
            <a:endParaRPr lang="en-US" sz="1250" dirty="0"/>
          </a:p>
        </p:txBody>
      </p:sp>
      <p:sp>
        <p:nvSpPr>
          <p:cNvPr id="9" name="Text 7"/>
          <p:cNvSpPr/>
          <p:nvPr/>
        </p:nvSpPr>
        <p:spPr>
          <a:xfrm>
            <a:off x="6583680" y="196596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150" dirty="0"/>
          </a:p>
        </p:txBody>
      </p:sp>
      <p:sp>
        <p:nvSpPr>
          <p:cNvPr id="10" name="Shape 8"/>
          <p:cNvSpPr/>
          <p:nvPr/>
        </p:nvSpPr>
        <p:spPr>
          <a:xfrm>
            <a:off x="640080" y="2926080"/>
            <a:ext cx="10911535" cy="914400"/>
          </a:xfrm>
          <a:prstGeom prst="roundRect">
            <a:avLst>
              <a:gd name="adj" fmla="val 5000"/>
            </a:avLst>
          </a:prstGeom>
          <a:solidFill>
            <a:srgbClr val="FFFFFF"/>
          </a:solidFill>
          <a:ln w="12700">
            <a:solidFill>
              <a:srgbClr val="D9DDE2"/>
            </a:solidFill>
            <a:prstDash val="solid"/>
          </a:ln>
        </p:spPr>
      </p:sp>
      <p:sp>
        <p:nvSpPr>
          <p:cNvPr id="11" name="Shape 9"/>
          <p:cNvSpPr/>
          <p:nvPr/>
        </p:nvSpPr>
        <p:spPr>
          <a:xfrm>
            <a:off x="640080" y="2926080"/>
            <a:ext cx="1691640" cy="914400"/>
          </a:xfrm>
          <a:prstGeom prst="roundRect">
            <a:avLst>
              <a:gd name="adj" fmla="val 5000"/>
            </a:avLst>
          </a:prstGeom>
          <a:solidFill>
            <a:srgbClr val="437A22"/>
          </a:solidFill>
          <a:ln/>
        </p:spPr>
      </p:sp>
      <p:sp>
        <p:nvSpPr>
          <p:cNvPr id="12" name="Text 10"/>
          <p:cNvSpPr/>
          <p:nvPr/>
        </p:nvSpPr>
        <p:spPr>
          <a:xfrm>
            <a:off x="640080" y="292608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LIKELY</a:t>
            </a:r>
            <a:endParaRPr lang="en-US" sz="1300" dirty="0"/>
          </a:p>
        </p:txBody>
      </p:sp>
      <p:sp>
        <p:nvSpPr>
          <p:cNvPr id="13" name="Text 11"/>
          <p:cNvSpPr/>
          <p:nvPr/>
        </p:nvSpPr>
        <p:spPr>
          <a:xfrm>
            <a:off x="2560320" y="303580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A few earned pickups</a:t>
            </a:r>
            <a:endParaRPr lang="en-US" sz="1600" dirty="0"/>
          </a:p>
        </p:txBody>
      </p:sp>
      <p:sp>
        <p:nvSpPr>
          <p:cNvPr id="14" name="Text 12"/>
          <p:cNvSpPr/>
          <p:nvPr/>
        </p:nvSpPr>
        <p:spPr>
          <a:xfrm>
            <a:off x="2560320" y="3429000"/>
            <a:ext cx="3840480" cy="320040"/>
          </a:xfrm>
          <a:prstGeom prst="rect">
            <a:avLst/>
          </a:prstGeom>
          <a:noFill/>
          <a:ln/>
        </p:spPr>
        <p:txBody>
          <a:bodyPr wrap="square" rtlCol="0" anchor="ctr"/>
          <a:lstStyle/>
          <a:p>
            <a:pPr indent="0" marL="0">
              <a:buNone/>
            </a:pPr>
            <a:r>
              <a:rPr lang="en-US" sz="1250" b="1" dirty="0">
                <a:solidFill>
                  <a:srgbClr val="437A22"/>
                </a:solidFill>
                <a:latin typeface="Calibri" pitchFamily="34" charset="0"/>
                <a:ea typeface="Calibri" pitchFamily="34" charset="-122"/>
                <a:cs typeface="Calibri" pitchFamily="34" charset="-120"/>
              </a:rPr>
              <a:t>60–80% chance of ≥3</a:t>
            </a:r>
            <a:endParaRPr lang="en-US" sz="1250" dirty="0"/>
          </a:p>
        </p:txBody>
      </p:sp>
      <p:sp>
        <p:nvSpPr>
          <p:cNvPr id="15" name="Text 13"/>
          <p:cNvSpPr/>
          <p:nvPr/>
        </p:nvSpPr>
        <p:spPr>
          <a:xfrm>
            <a:off x="6583680" y="301752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150" dirty="0"/>
          </a:p>
        </p:txBody>
      </p:sp>
      <p:sp>
        <p:nvSpPr>
          <p:cNvPr id="16" name="Shape 14"/>
          <p:cNvSpPr/>
          <p:nvPr/>
        </p:nvSpPr>
        <p:spPr>
          <a:xfrm>
            <a:off x="640080" y="3977640"/>
            <a:ext cx="10911535" cy="914400"/>
          </a:xfrm>
          <a:prstGeom prst="roundRect">
            <a:avLst>
              <a:gd name="adj" fmla="val 5000"/>
            </a:avLst>
          </a:prstGeom>
          <a:solidFill>
            <a:srgbClr val="FFFFFF"/>
          </a:solidFill>
          <a:ln w="12700">
            <a:solidFill>
              <a:srgbClr val="D9DDE2"/>
            </a:solidFill>
            <a:prstDash val="solid"/>
          </a:ln>
        </p:spPr>
      </p:sp>
      <p:sp>
        <p:nvSpPr>
          <p:cNvPr id="17" name="Shape 15"/>
          <p:cNvSpPr/>
          <p:nvPr/>
        </p:nvSpPr>
        <p:spPr>
          <a:xfrm>
            <a:off x="640080" y="3977640"/>
            <a:ext cx="1691640" cy="914400"/>
          </a:xfrm>
          <a:prstGeom prst="roundRect">
            <a:avLst>
              <a:gd name="adj" fmla="val 5000"/>
            </a:avLst>
          </a:prstGeom>
          <a:solidFill>
            <a:srgbClr val="B07A16"/>
          </a:solidFill>
          <a:ln/>
        </p:spPr>
      </p:sp>
      <p:sp>
        <p:nvSpPr>
          <p:cNvPr id="18" name="Text 16"/>
          <p:cNvSpPr/>
          <p:nvPr/>
        </p:nvSpPr>
        <p:spPr>
          <a:xfrm>
            <a:off x="640080" y="397764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POSSIBLE</a:t>
            </a:r>
            <a:endParaRPr lang="en-US" sz="1300" dirty="0"/>
          </a:p>
        </p:txBody>
      </p:sp>
      <p:sp>
        <p:nvSpPr>
          <p:cNvPr id="19" name="Text 17"/>
          <p:cNvSpPr/>
          <p:nvPr/>
        </p:nvSpPr>
        <p:spPr>
          <a:xfrm>
            <a:off x="2560320" y="408736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One Tier-1 name</a:t>
            </a:r>
            <a:endParaRPr lang="en-US" sz="1600" dirty="0"/>
          </a:p>
        </p:txBody>
      </p:sp>
      <p:sp>
        <p:nvSpPr>
          <p:cNvPr id="20" name="Text 18"/>
          <p:cNvSpPr/>
          <p:nvPr/>
        </p:nvSpPr>
        <p:spPr>
          <a:xfrm>
            <a:off x="2560320" y="4480560"/>
            <a:ext cx="3840480" cy="320040"/>
          </a:xfrm>
          <a:prstGeom prst="rect">
            <a:avLst/>
          </a:prstGeom>
          <a:noFill/>
          <a:ln/>
        </p:spPr>
        <p:txBody>
          <a:bodyPr wrap="square" rtlCol="0" anchor="ctr"/>
          <a:lstStyle/>
          <a:p>
            <a:pPr indent="0" marL="0">
              <a:buNone/>
            </a:pPr>
            <a:r>
              <a:rPr lang="en-US" sz="1250" b="1" dirty="0">
                <a:solidFill>
                  <a:srgbClr val="B07A16"/>
                </a:solidFill>
                <a:latin typeface="Calibri" pitchFamily="34" charset="0"/>
                <a:ea typeface="Calibri" pitchFamily="34" charset="-122"/>
                <a:cs typeface="Calibri" pitchFamily="34" charset="-120"/>
              </a:rPr>
              <a:t>20–35%</a:t>
            </a:r>
            <a:endParaRPr lang="en-US" sz="1250" dirty="0"/>
          </a:p>
        </p:txBody>
      </p:sp>
      <p:sp>
        <p:nvSpPr>
          <p:cNvPr id="21" name="Text 19"/>
          <p:cNvSpPr/>
          <p:nvPr/>
        </p:nvSpPr>
        <p:spPr>
          <a:xfrm>
            <a:off x="6583680" y="406908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150" dirty="0"/>
          </a:p>
        </p:txBody>
      </p:sp>
      <p:sp>
        <p:nvSpPr>
          <p:cNvPr id="22" name="Shape 20"/>
          <p:cNvSpPr/>
          <p:nvPr/>
        </p:nvSpPr>
        <p:spPr>
          <a:xfrm>
            <a:off x="640080" y="5029200"/>
            <a:ext cx="10911535" cy="914400"/>
          </a:xfrm>
          <a:prstGeom prst="roundRect">
            <a:avLst>
              <a:gd name="adj" fmla="val 5000"/>
            </a:avLst>
          </a:prstGeom>
          <a:solidFill>
            <a:srgbClr val="FFFFFF"/>
          </a:solidFill>
          <a:ln w="12700">
            <a:solidFill>
              <a:srgbClr val="D9DDE2"/>
            </a:solidFill>
            <a:prstDash val="solid"/>
          </a:ln>
        </p:spPr>
      </p:sp>
      <p:sp>
        <p:nvSpPr>
          <p:cNvPr id="23" name="Shape 21"/>
          <p:cNvSpPr/>
          <p:nvPr/>
        </p:nvSpPr>
        <p:spPr>
          <a:xfrm>
            <a:off x="640080" y="5029200"/>
            <a:ext cx="1691640" cy="914400"/>
          </a:xfrm>
          <a:prstGeom prst="roundRect">
            <a:avLst>
              <a:gd name="adj" fmla="val 5000"/>
            </a:avLst>
          </a:prstGeom>
          <a:solidFill>
            <a:srgbClr val="8A3A2A"/>
          </a:solidFill>
          <a:ln/>
        </p:spPr>
      </p:sp>
      <p:sp>
        <p:nvSpPr>
          <p:cNvPr id="24" name="Text 22"/>
          <p:cNvSpPr/>
          <p:nvPr/>
        </p:nvSpPr>
        <p:spPr>
          <a:xfrm>
            <a:off x="640080" y="5029200"/>
            <a:ext cx="1691640" cy="914400"/>
          </a:xfrm>
          <a:prstGeom prst="rect">
            <a:avLst/>
          </a:prstGeom>
          <a:noFill/>
          <a:ln/>
        </p:spPr>
        <p:txBody>
          <a:bodyPr wrap="square"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STRETCH</a:t>
            </a:r>
            <a:endParaRPr lang="en-US" sz="1300" dirty="0"/>
          </a:p>
        </p:txBody>
      </p:sp>
      <p:sp>
        <p:nvSpPr>
          <p:cNvPr id="25" name="Text 23"/>
          <p:cNvSpPr/>
          <p:nvPr/>
        </p:nvSpPr>
        <p:spPr>
          <a:xfrm>
            <a:off x="2560320" y="5138928"/>
            <a:ext cx="3840480" cy="365760"/>
          </a:xfrm>
          <a:prstGeom prst="rect">
            <a:avLst/>
          </a:prstGeom>
          <a:noFill/>
          <a:ln/>
        </p:spPr>
        <p:txBody>
          <a:bodyPr wrap="square" rtlCol="0" anchor="ctr"/>
          <a:lstStyle/>
          <a:p>
            <a:pPr indent="0" marL="0">
              <a:buNone/>
            </a:pPr>
            <a:r>
              <a:rPr lang="en-US" sz="1600" b="1" dirty="0">
                <a:solidFill>
                  <a:srgbClr val="0C2A43"/>
                </a:solidFill>
                <a:latin typeface="Cambria" pitchFamily="34" charset="0"/>
                <a:ea typeface="Cambria" pitchFamily="34" charset="-122"/>
                <a:cs typeface="Cambria" pitchFamily="34" charset="-120"/>
              </a:rPr>
              <a:t>Viral / TV national</a:t>
            </a:r>
            <a:endParaRPr lang="en-US" sz="1600" dirty="0"/>
          </a:p>
        </p:txBody>
      </p:sp>
      <p:sp>
        <p:nvSpPr>
          <p:cNvPr id="26" name="Text 24"/>
          <p:cNvSpPr/>
          <p:nvPr/>
        </p:nvSpPr>
        <p:spPr>
          <a:xfrm>
            <a:off x="2560320" y="5532120"/>
            <a:ext cx="3840480" cy="320040"/>
          </a:xfrm>
          <a:prstGeom prst="rect">
            <a:avLst/>
          </a:prstGeom>
          <a:noFill/>
          <a:ln/>
        </p:spPr>
        <p:txBody>
          <a:bodyPr wrap="square" rtlCol="0" anchor="ctr"/>
          <a:lstStyle/>
          <a:p>
            <a:pPr indent="0" marL="0">
              <a:buNone/>
            </a:pPr>
            <a:r>
              <a:rPr lang="en-US" sz="1250" b="1" dirty="0">
                <a:solidFill>
                  <a:srgbClr val="8A3A2A"/>
                </a:solidFill>
                <a:latin typeface="Calibri" pitchFamily="34" charset="0"/>
                <a:ea typeface="Calibri" pitchFamily="34" charset="-122"/>
                <a:cs typeface="Calibri" pitchFamily="34" charset="-120"/>
              </a:rPr>
              <a:t>&lt;15%</a:t>
            </a:r>
            <a:endParaRPr lang="en-US" sz="1250" dirty="0"/>
          </a:p>
        </p:txBody>
      </p:sp>
      <p:sp>
        <p:nvSpPr>
          <p:cNvPr id="27" name="Text 25"/>
          <p:cNvSpPr/>
          <p:nvPr/>
        </p:nvSpPr>
        <p:spPr>
          <a:xfrm>
            <a:off x="6583680" y="5120640"/>
            <a:ext cx="4785055" cy="777240"/>
          </a:xfrm>
          <a:prstGeom prst="rect">
            <a:avLst/>
          </a:prstGeom>
          <a:noFill/>
          <a:ln/>
        </p:spPr>
        <p:txBody>
          <a:bodyPr wrap="square" rtlCol="0" anchor="ctr"/>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150" dirty="0"/>
          </a:p>
        </p:txBody>
      </p:sp>
      <p:sp>
        <p:nvSpPr>
          <p:cNvPr id="28" name="Text 26"/>
          <p:cNvSpPr/>
          <p:nvPr/>
        </p:nvSpPr>
        <p:spPr>
          <a:xfrm>
            <a:off x="640080" y="6035040"/>
            <a:ext cx="10911535" cy="502920"/>
          </a:xfrm>
          <a:prstGeom prst="rect">
            <a:avLst/>
          </a:prstGeom>
          <a:noFill/>
          <a:ln/>
        </p:spPr>
        <p:txBody>
          <a:bodyPr wrap="square" rtlCol="0" anchor="ctr"/>
          <a:lstStyle/>
          <a:p>
            <a:pPr indent="0" marL="0">
              <a:lnSpc>
                <a:spcPct val="108000"/>
              </a:lnSpc>
              <a:buNone/>
            </a:pPr>
            <a:r>
              <a:rPr lang="en-US" sz="1050" b="1" dirty="0">
                <a:solidFill>
                  <a:srgbClr val="0C2A43"/>
                </a:solidFill>
                <a:latin typeface="Calibri" pitchFamily="34" charset="0"/>
                <a:ea typeface="Calibri" pitchFamily="34" charset="-122"/>
                <a:cs typeface="Calibri" pitchFamily="34" charset="-120"/>
              </a:rPr>
              <a:t>We are not starting from zero:  </a:t>
            </a:r>
            <a:pPr indent="0" marL="0">
              <a:lnSpc>
                <a:spcPct val="108000"/>
              </a:lnSpc>
              <a:buNone/>
            </a:pPr>
            <a:r>
              <a:rPr lang="en-US" sz="10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the guaranteed + likely tiers; anything Tier-1 or broadcast is upside, not the promise.</a:t>
            </a:r>
            <a:endParaRPr lang="en-US" sz="1050" dirty="0"/>
          </a:p>
        </p:txBody>
      </p:sp>
      <p:sp>
        <p:nvSpPr>
          <p:cNvPr id="29" name="Text 27"/>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0" name="Text 28"/>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PLAYBOOK</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wave runs the same 14-day play</a:t>
            </a:r>
            <a:endParaRPr lang="en-US" sz="2600" dirty="0"/>
          </a:p>
        </p:txBody>
      </p:sp>
      <p:sp>
        <p:nvSpPr>
          <p:cNvPr id="4" name="Text 2"/>
          <p:cNvSpPr/>
          <p:nvPr/>
        </p:nvSpPr>
        <p:spPr>
          <a:xfrm>
            <a:off x="640080" y="1572768"/>
            <a:ext cx="10911535" cy="45720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One repeatable checklist per wave. Copy-paste it four times and change the story. This is the whole operating system.</a:t>
            </a:r>
            <a:endParaRPr lang="en-US" sz="1400" dirty="0"/>
          </a:p>
        </p:txBody>
      </p:sp>
      <p:sp>
        <p:nvSpPr>
          <p:cNvPr id="5" name="Shape 3"/>
          <p:cNvSpPr/>
          <p:nvPr/>
        </p:nvSpPr>
        <p:spPr>
          <a:xfrm>
            <a:off x="640080" y="2194560"/>
            <a:ext cx="2036003" cy="3200400"/>
          </a:xfrm>
          <a:prstGeom prst="roundRect">
            <a:avLst>
              <a:gd name="adj" fmla="val 2695"/>
            </a:avLst>
          </a:prstGeom>
          <a:solidFill>
            <a:srgbClr val="FFFFFF"/>
          </a:solidFill>
          <a:ln w="12700">
            <a:solidFill>
              <a:srgbClr val="D9DDE2"/>
            </a:solidFill>
            <a:prstDash val="solid"/>
          </a:ln>
        </p:spPr>
      </p:sp>
      <p:sp>
        <p:nvSpPr>
          <p:cNvPr id="6" name="Shape 4"/>
          <p:cNvSpPr/>
          <p:nvPr/>
        </p:nvSpPr>
        <p:spPr>
          <a:xfrm>
            <a:off x="640080" y="2194560"/>
            <a:ext cx="2036003" cy="868680"/>
          </a:xfrm>
          <a:prstGeom prst="roundRect">
            <a:avLst>
              <a:gd name="adj" fmla="val 6316"/>
            </a:avLst>
          </a:prstGeom>
          <a:solidFill>
            <a:srgbClr val="0C2A43"/>
          </a:solidFill>
          <a:ln/>
        </p:spPr>
      </p:sp>
      <p:sp>
        <p:nvSpPr>
          <p:cNvPr id="7" name="Text 5"/>
          <p:cNvSpPr/>
          <p:nvPr/>
        </p:nvSpPr>
        <p:spPr>
          <a:xfrm>
            <a:off x="731520"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−7 to −1</a:t>
            </a:r>
            <a:endParaRPr lang="en-US" sz="1100" dirty="0"/>
          </a:p>
        </p:txBody>
      </p:sp>
      <p:sp>
        <p:nvSpPr>
          <p:cNvPr id="8" name="Text 6"/>
          <p:cNvSpPr/>
          <p:nvPr/>
        </p:nvSpPr>
        <p:spPr>
          <a:xfrm>
            <a:off x="731520"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PREP</a:t>
            </a:r>
            <a:endParaRPr lang="en-US" sz="1500" dirty="0"/>
          </a:p>
        </p:txBody>
      </p:sp>
      <p:sp>
        <p:nvSpPr>
          <p:cNvPr id="9" name="Text 7"/>
          <p:cNvSpPr/>
          <p:nvPr/>
        </p:nvSpPr>
        <p:spPr>
          <a:xfrm>
            <a:off x="786384"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Write the release. Build/refresh the reporter list. Line up the free-platform accounts. Get CEO sign-off on quotes.</a:t>
            </a:r>
            <a:endParaRPr lang="en-US" sz="1050" dirty="0"/>
          </a:p>
        </p:txBody>
      </p:sp>
      <p:sp>
        <p:nvSpPr>
          <p:cNvPr id="10" name="Shape 8"/>
          <p:cNvSpPr/>
          <p:nvPr/>
        </p:nvSpPr>
        <p:spPr>
          <a:xfrm>
            <a:off x="2858963" y="2194560"/>
            <a:ext cx="2036003" cy="320040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2194560"/>
            <a:ext cx="2036003" cy="868680"/>
          </a:xfrm>
          <a:prstGeom prst="roundRect">
            <a:avLst>
              <a:gd name="adj" fmla="val 6316"/>
            </a:avLst>
          </a:prstGeom>
          <a:solidFill>
            <a:srgbClr val="0C2A43"/>
          </a:solidFill>
          <a:ln/>
        </p:spPr>
      </p:sp>
      <p:sp>
        <p:nvSpPr>
          <p:cNvPr id="12" name="Text 10"/>
          <p:cNvSpPr/>
          <p:nvPr/>
        </p:nvSpPr>
        <p:spPr>
          <a:xfrm>
            <a:off x="2950403"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 1</a:t>
            </a:r>
            <a:endParaRPr lang="en-US" sz="1100" dirty="0"/>
          </a:p>
        </p:txBody>
      </p:sp>
      <p:sp>
        <p:nvSpPr>
          <p:cNvPr id="13" name="Text 11"/>
          <p:cNvSpPr/>
          <p:nvPr/>
        </p:nvSpPr>
        <p:spPr>
          <a:xfrm>
            <a:off x="2950403"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LIVE</a:t>
            </a:r>
            <a:endParaRPr lang="en-US" sz="1500" dirty="0"/>
          </a:p>
        </p:txBody>
      </p:sp>
      <p:sp>
        <p:nvSpPr>
          <p:cNvPr id="14" name="Text 12"/>
          <p:cNvSpPr/>
          <p:nvPr/>
        </p:nvSpPr>
        <p:spPr>
          <a:xfrm>
            <a:off x="3005267"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Send over the paid wire (EIN Presswire). Same morning, email the tailored pitches to your target reporters.</a:t>
            </a:r>
            <a:endParaRPr lang="en-US" sz="1050" dirty="0"/>
          </a:p>
        </p:txBody>
      </p:sp>
      <p:sp>
        <p:nvSpPr>
          <p:cNvPr id="15" name="Shape 13"/>
          <p:cNvSpPr/>
          <p:nvPr/>
        </p:nvSpPr>
        <p:spPr>
          <a:xfrm>
            <a:off x="5077846" y="2194560"/>
            <a:ext cx="2036003" cy="3200400"/>
          </a:xfrm>
          <a:prstGeom prst="roundRect">
            <a:avLst>
              <a:gd name="adj" fmla="val 2695"/>
            </a:avLst>
          </a:prstGeom>
          <a:solidFill>
            <a:srgbClr val="FFFFFF"/>
          </a:solidFill>
          <a:ln w="12700">
            <a:solidFill>
              <a:srgbClr val="D9DDE2"/>
            </a:solidFill>
            <a:prstDash val="solid"/>
          </a:ln>
        </p:spPr>
      </p:sp>
      <p:sp>
        <p:nvSpPr>
          <p:cNvPr id="16" name="Shape 14"/>
          <p:cNvSpPr/>
          <p:nvPr/>
        </p:nvSpPr>
        <p:spPr>
          <a:xfrm>
            <a:off x="5077846" y="2194560"/>
            <a:ext cx="2036003" cy="868680"/>
          </a:xfrm>
          <a:prstGeom prst="roundRect">
            <a:avLst>
              <a:gd name="adj" fmla="val 6316"/>
            </a:avLst>
          </a:prstGeom>
          <a:solidFill>
            <a:srgbClr val="0C2A43"/>
          </a:solidFill>
          <a:ln/>
        </p:spPr>
      </p:sp>
      <p:sp>
        <p:nvSpPr>
          <p:cNvPr id="17" name="Text 15"/>
          <p:cNvSpPr/>
          <p:nvPr/>
        </p:nvSpPr>
        <p:spPr>
          <a:xfrm>
            <a:off x="5169286"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1–5</a:t>
            </a:r>
            <a:endParaRPr lang="en-US" sz="1100" dirty="0"/>
          </a:p>
        </p:txBody>
      </p:sp>
      <p:sp>
        <p:nvSpPr>
          <p:cNvPr id="18" name="Text 16"/>
          <p:cNvSpPr/>
          <p:nvPr/>
        </p:nvSpPr>
        <p:spPr>
          <a:xfrm>
            <a:off x="5169286"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PITCH</a:t>
            </a:r>
            <a:endParaRPr lang="en-US" sz="1500" dirty="0"/>
          </a:p>
        </p:txBody>
      </p:sp>
      <p:sp>
        <p:nvSpPr>
          <p:cNvPr id="19" name="Text 17"/>
          <p:cNvSpPr/>
          <p:nvPr/>
        </p:nvSpPr>
        <p:spPr>
          <a:xfrm>
            <a:off x="5224150"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Work Source of Sources + #journorequest daily. Reply to any journalist request within the hour. Follow up once.</a:t>
            </a:r>
            <a:endParaRPr lang="en-US" sz="1050" dirty="0"/>
          </a:p>
        </p:txBody>
      </p:sp>
      <p:sp>
        <p:nvSpPr>
          <p:cNvPr id="20" name="Shape 18"/>
          <p:cNvSpPr/>
          <p:nvPr/>
        </p:nvSpPr>
        <p:spPr>
          <a:xfrm>
            <a:off x="7296729" y="2194560"/>
            <a:ext cx="2036003" cy="3200400"/>
          </a:xfrm>
          <a:prstGeom prst="roundRect">
            <a:avLst>
              <a:gd name="adj" fmla="val 2695"/>
            </a:avLst>
          </a:prstGeom>
          <a:solidFill>
            <a:srgbClr val="FFFFFF"/>
          </a:solidFill>
          <a:ln w="12700">
            <a:solidFill>
              <a:srgbClr val="D9DDE2"/>
            </a:solidFill>
            <a:prstDash val="solid"/>
          </a:ln>
        </p:spPr>
      </p:sp>
      <p:sp>
        <p:nvSpPr>
          <p:cNvPr id="21" name="Shape 19"/>
          <p:cNvSpPr/>
          <p:nvPr/>
        </p:nvSpPr>
        <p:spPr>
          <a:xfrm>
            <a:off x="7296729" y="2194560"/>
            <a:ext cx="2036003" cy="868680"/>
          </a:xfrm>
          <a:prstGeom prst="roundRect">
            <a:avLst>
              <a:gd name="adj" fmla="val 6316"/>
            </a:avLst>
          </a:prstGeom>
          <a:solidFill>
            <a:srgbClr val="0C2A43"/>
          </a:solidFill>
          <a:ln/>
        </p:spPr>
      </p:sp>
      <p:sp>
        <p:nvSpPr>
          <p:cNvPr id="22" name="Text 20"/>
          <p:cNvSpPr/>
          <p:nvPr/>
        </p:nvSpPr>
        <p:spPr>
          <a:xfrm>
            <a:off x="7388169"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3–10</a:t>
            </a:r>
            <a:endParaRPr lang="en-US" sz="1100" dirty="0"/>
          </a:p>
        </p:txBody>
      </p:sp>
      <p:sp>
        <p:nvSpPr>
          <p:cNvPr id="23" name="Text 21"/>
          <p:cNvSpPr/>
          <p:nvPr/>
        </p:nvSpPr>
        <p:spPr>
          <a:xfrm>
            <a:off x="7388169"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AMPLIFY</a:t>
            </a:r>
            <a:endParaRPr lang="en-US" sz="1500" dirty="0"/>
          </a:p>
        </p:txBody>
      </p:sp>
      <p:sp>
        <p:nvSpPr>
          <p:cNvPr id="24" name="Text 22"/>
          <p:cNvSpPr/>
          <p:nvPr/>
        </p:nvSpPr>
        <p:spPr>
          <a:xfrm>
            <a:off x="7443033"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Post from Harel’s LinkedIn. Pitch a broadcast/podcast segment (Julie waves). Share every pickup.</a:t>
            </a:r>
            <a:endParaRPr lang="en-US" sz="1050" dirty="0"/>
          </a:p>
        </p:txBody>
      </p:sp>
      <p:sp>
        <p:nvSpPr>
          <p:cNvPr id="25" name="Shape 23"/>
          <p:cNvSpPr/>
          <p:nvPr/>
        </p:nvSpPr>
        <p:spPr>
          <a:xfrm>
            <a:off x="9515612" y="2194560"/>
            <a:ext cx="2036003" cy="3200400"/>
          </a:xfrm>
          <a:prstGeom prst="roundRect">
            <a:avLst>
              <a:gd name="adj" fmla="val 2695"/>
            </a:avLst>
          </a:prstGeom>
          <a:solidFill>
            <a:srgbClr val="FFFFFF"/>
          </a:solidFill>
          <a:ln w="12700">
            <a:solidFill>
              <a:srgbClr val="D9DDE2"/>
            </a:solidFill>
            <a:prstDash val="solid"/>
          </a:ln>
        </p:spPr>
      </p:sp>
      <p:sp>
        <p:nvSpPr>
          <p:cNvPr id="26" name="Shape 24"/>
          <p:cNvSpPr/>
          <p:nvPr/>
        </p:nvSpPr>
        <p:spPr>
          <a:xfrm>
            <a:off x="9515612" y="2194560"/>
            <a:ext cx="2036003" cy="868680"/>
          </a:xfrm>
          <a:prstGeom prst="roundRect">
            <a:avLst>
              <a:gd name="adj" fmla="val 6316"/>
            </a:avLst>
          </a:prstGeom>
          <a:solidFill>
            <a:srgbClr val="0C2A43"/>
          </a:solidFill>
          <a:ln/>
        </p:spPr>
      </p:sp>
      <p:sp>
        <p:nvSpPr>
          <p:cNvPr id="27" name="Text 25"/>
          <p:cNvSpPr/>
          <p:nvPr/>
        </p:nvSpPr>
        <p:spPr>
          <a:xfrm>
            <a:off x="9607052" y="2304288"/>
            <a:ext cx="1853123" cy="365760"/>
          </a:xfrm>
          <a:prstGeom prst="rect">
            <a:avLst/>
          </a:prstGeom>
          <a:noFill/>
          <a:ln/>
        </p:spPr>
        <p:txBody>
          <a:bodyPr wrap="square" rtlCol="0" anchor="ctr"/>
          <a:lstStyle/>
          <a:p>
            <a:pPr algn="ctr" indent="0" marL="0">
              <a:buNone/>
            </a:pPr>
            <a:r>
              <a:rPr lang="en-US" sz="1100" b="1" dirty="0">
                <a:solidFill>
                  <a:srgbClr val="C08A2E"/>
                </a:solidFill>
                <a:latin typeface="Calibri" pitchFamily="34" charset="0"/>
                <a:ea typeface="Calibri" pitchFamily="34" charset="-122"/>
                <a:cs typeface="Calibri" pitchFamily="34" charset="-120"/>
              </a:rPr>
              <a:t>DAYS 10–14</a:t>
            </a:r>
            <a:endParaRPr lang="en-US" sz="1100" dirty="0"/>
          </a:p>
        </p:txBody>
      </p:sp>
      <p:sp>
        <p:nvSpPr>
          <p:cNvPr id="28" name="Text 26"/>
          <p:cNvSpPr/>
          <p:nvPr/>
        </p:nvSpPr>
        <p:spPr>
          <a:xfrm>
            <a:off x="9607052" y="2651760"/>
            <a:ext cx="1853123"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MEASURE + TEE UP</a:t>
            </a:r>
            <a:endParaRPr lang="en-US" sz="1500" dirty="0"/>
          </a:p>
        </p:txBody>
      </p:sp>
      <p:sp>
        <p:nvSpPr>
          <p:cNvPr id="29" name="Text 27"/>
          <p:cNvSpPr/>
          <p:nvPr/>
        </p:nvSpPr>
        <p:spPr>
          <a:xfrm>
            <a:off x="9661916" y="3200400"/>
            <a:ext cx="1743395" cy="2103120"/>
          </a:xfrm>
          <a:prstGeom prst="rect">
            <a:avLst/>
          </a:prstGeom>
          <a:noFill/>
          <a:ln/>
        </p:spPr>
        <p:txBody>
          <a:bodyPr wrap="square" rtlCol="0" anchor="t"/>
          <a:lstStyle/>
          <a:p>
            <a:pPr indent="0" marL="0">
              <a:lnSpc>
                <a:spcPct val="115000"/>
              </a:lnSpc>
              <a:buNone/>
            </a:pPr>
            <a:r>
              <a:rPr lang="en-US" sz="1050" dirty="0">
                <a:solidFill>
                  <a:srgbClr val="1A1F26"/>
                </a:solidFill>
                <a:latin typeface="Calibri" pitchFamily="34" charset="0"/>
                <a:ea typeface="Calibri" pitchFamily="34" charset="-122"/>
                <a:cs typeface="Calibri" pitchFamily="34" charset="-120"/>
              </a:rPr>
              <a:t>Log every placement in a Google Sheet. Note what landed. Start prep for the next wave.</a:t>
            </a:r>
            <a:endParaRPr lang="en-US" sz="1050" dirty="0"/>
          </a:p>
        </p:txBody>
      </p:sp>
      <p:sp>
        <p:nvSpPr>
          <p:cNvPr id="30" name="Text 28"/>
          <p:cNvSpPr/>
          <p:nvPr/>
        </p:nvSpPr>
        <p:spPr>
          <a:xfrm>
            <a:off x="640080" y="5623560"/>
            <a:ext cx="10911535" cy="45720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Waves go live Mon Jul 13 · Thu Jul 30 · Mon Aug 17 · Thu Sep 3 — spaced ~2.5 weeks so each earns coverage before the next.</a:t>
            </a:r>
            <a:endParaRPr lang="en-US" sz="12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4008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DOING IT ALONE  ·  THIS WEEK’S ACTION ITEMS</a:t>
            </a:r>
            <a:endParaRPr lang="en-US" sz="1500" dirty="0"/>
          </a:p>
        </p:txBody>
      </p:sp>
      <p:sp>
        <p:nvSpPr>
          <p:cNvPr id="4" name="Text 2"/>
          <p:cNvSpPr/>
          <p:nvPr/>
        </p:nvSpPr>
        <p:spPr>
          <a:xfrm>
            <a:off x="640080" y="1097280"/>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do before Wave 1 goes live</a:t>
            </a:r>
            <a:endParaRPr lang="en-US" sz="3000" dirty="0"/>
          </a:p>
        </p:txBody>
      </p:sp>
      <p:sp>
        <p:nvSpPr>
          <p:cNvPr id="5" name="Shape 3"/>
          <p:cNvSpPr/>
          <p:nvPr/>
        </p:nvSpPr>
        <p:spPr>
          <a:xfrm>
            <a:off x="640080" y="2194560"/>
            <a:ext cx="457200" cy="457200"/>
          </a:xfrm>
          <a:prstGeom prst="ellipse">
            <a:avLst/>
          </a:prstGeom>
          <a:solidFill>
            <a:srgbClr val="C08A2E"/>
          </a:solidFill>
          <a:ln/>
        </p:spPr>
      </p:sp>
      <p:sp>
        <p:nvSpPr>
          <p:cNvPr id="6" name="Text 4"/>
          <p:cNvSpPr/>
          <p:nvPr/>
        </p:nvSpPr>
        <p:spPr>
          <a:xfrm>
            <a:off x="640080"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261872"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Get quotes approved</a:t>
            </a:r>
            <a:endParaRPr lang="en-US" sz="1400" dirty="0"/>
          </a:p>
        </p:txBody>
      </p:sp>
      <p:sp>
        <p:nvSpPr>
          <p:cNvPr id="8" name="Text 6"/>
          <p:cNvSpPr/>
          <p:nvPr/>
        </p:nvSpPr>
        <p:spPr>
          <a:xfrm>
            <a:off x="1261872"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050" dirty="0"/>
          </a:p>
        </p:txBody>
      </p:sp>
      <p:sp>
        <p:nvSpPr>
          <p:cNvPr id="9" name="Shape 7"/>
          <p:cNvSpPr/>
          <p:nvPr/>
        </p:nvSpPr>
        <p:spPr>
          <a:xfrm>
            <a:off x="640080" y="3218688"/>
            <a:ext cx="457200" cy="457200"/>
          </a:xfrm>
          <a:prstGeom prst="ellipse">
            <a:avLst/>
          </a:prstGeom>
          <a:solidFill>
            <a:srgbClr val="C08A2E"/>
          </a:solidFill>
          <a:ln/>
        </p:spPr>
      </p:sp>
      <p:sp>
        <p:nvSpPr>
          <p:cNvPr id="10" name="Text 8"/>
          <p:cNvSpPr/>
          <p:nvPr/>
        </p:nvSpPr>
        <p:spPr>
          <a:xfrm>
            <a:off x="640080"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261872"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Open the free accounts</a:t>
            </a:r>
            <a:endParaRPr lang="en-US" sz="1400" dirty="0"/>
          </a:p>
        </p:txBody>
      </p:sp>
      <p:sp>
        <p:nvSpPr>
          <p:cNvPr id="12" name="Text 10"/>
          <p:cNvSpPr/>
          <p:nvPr/>
        </p:nvSpPr>
        <p:spPr>
          <a:xfrm>
            <a:off x="1261872"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Sign up for Source of Sources + Qwoted (free). Set up X/Bluesky columns for #journorequest, #prrequest.</a:t>
            </a:r>
            <a:endParaRPr lang="en-US" sz="1050" dirty="0"/>
          </a:p>
        </p:txBody>
      </p:sp>
      <p:sp>
        <p:nvSpPr>
          <p:cNvPr id="13" name="Shape 11"/>
          <p:cNvSpPr/>
          <p:nvPr/>
        </p:nvSpPr>
        <p:spPr>
          <a:xfrm>
            <a:off x="640080" y="4242816"/>
            <a:ext cx="457200" cy="457200"/>
          </a:xfrm>
          <a:prstGeom prst="ellipse">
            <a:avLst/>
          </a:prstGeom>
          <a:solidFill>
            <a:srgbClr val="C08A2E"/>
          </a:solidFill>
          <a:ln/>
        </p:spPr>
      </p:sp>
      <p:sp>
        <p:nvSpPr>
          <p:cNvPr id="14" name="Text 12"/>
          <p:cNvSpPr/>
          <p:nvPr/>
        </p:nvSpPr>
        <p:spPr>
          <a:xfrm>
            <a:off x="640080"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3</a:t>
            </a:r>
            <a:endParaRPr lang="en-US" sz="1800" dirty="0"/>
          </a:p>
        </p:txBody>
      </p:sp>
      <p:sp>
        <p:nvSpPr>
          <p:cNvPr id="15" name="Text 13"/>
          <p:cNvSpPr/>
          <p:nvPr/>
        </p:nvSpPr>
        <p:spPr>
          <a:xfrm>
            <a:off x="1261872"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Buy the wire</a:t>
            </a:r>
            <a:endParaRPr lang="en-US" sz="1400" dirty="0"/>
          </a:p>
        </p:txBody>
      </p:sp>
      <p:sp>
        <p:nvSpPr>
          <p:cNvPr id="16" name="Text 14"/>
          <p:cNvSpPr/>
          <p:nvPr/>
        </p:nvSpPr>
        <p:spPr>
          <a:xfrm>
            <a:off x="1261872"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050" dirty="0"/>
          </a:p>
        </p:txBody>
      </p:sp>
      <p:sp>
        <p:nvSpPr>
          <p:cNvPr id="17" name="Shape 15"/>
          <p:cNvSpPr/>
          <p:nvPr/>
        </p:nvSpPr>
        <p:spPr>
          <a:xfrm>
            <a:off x="640080" y="5266944"/>
            <a:ext cx="457200" cy="457200"/>
          </a:xfrm>
          <a:prstGeom prst="ellipse">
            <a:avLst/>
          </a:prstGeom>
          <a:solidFill>
            <a:srgbClr val="C08A2E"/>
          </a:solidFill>
          <a:ln/>
        </p:spPr>
      </p:sp>
      <p:sp>
        <p:nvSpPr>
          <p:cNvPr id="18" name="Text 16"/>
          <p:cNvSpPr/>
          <p:nvPr/>
        </p:nvSpPr>
        <p:spPr>
          <a:xfrm>
            <a:off x="640080" y="5266944"/>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61872" y="5175504"/>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Build the reporter list</a:t>
            </a:r>
            <a:endParaRPr lang="en-US" sz="1400" dirty="0"/>
          </a:p>
        </p:txBody>
      </p:sp>
      <p:sp>
        <p:nvSpPr>
          <p:cNvPr id="20" name="Text 18"/>
          <p:cNvSpPr/>
          <p:nvPr/>
        </p:nvSpPr>
        <p:spPr>
          <a:xfrm>
            <a:off x="1261872" y="5495544"/>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050" dirty="0"/>
          </a:p>
        </p:txBody>
      </p:sp>
      <p:sp>
        <p:nvSpPr>
          <p:cNvPr id="21" name="Shape 19"/>
          <p:cNvSpPr/>
          <p:nvPr/>
        </p:nvSpPr>
        <p:spPr>
          <a:xfrm>
            <a:off x="6278728" y="2194560"/>
            <a:ext cx="457200" cy="457200"/>
          </a:xfrm>
          <a:prstGeom prst="ellipse">
            <a:avLst/>
          </a:prstGeom>
          <a:solidFill>
            <a:srgbClr val="C08A2E"/>
          </a:solidFill>
          <a:ln/>
        </p:spPr>
      </p:sp>
      <p:sp>
        <p:nvSpPr>
          <p:cNvPr id="22" name="Text 20"/>
          <p:cNvSpPr/>
          <p:nvPr/>
        </p:nvSpPr>
        <p:spPr>
          <a:xfrm>
            <a:off x="6278728" y="2194560"/>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5</a:t>
            </a:r>
            <a:endParaRPr lang="en-US" sz="1800" dirty="0"/>
          </a:p>
        </p:txBody>
      </p:sp>
      <p:sp>
        <p:nvSpPr>
          <p:cNvPr id="23" name="Text 21"/>
          <p:cNvSpPr/>
          <p:nvPr/>
        </p:nvSpPr>
        <p:spPr>
          <a:xfrm>
            <a:off x="6900520" y="2103120"/>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Finalize the press kit</a:t>
            </a:r>
            <a:endParaRPr lang="en-US" sz="1400" dirty="0"/>
          </a:p>
        </p:txBody>
      </p:sp>
      <p:sp>
        <p:nvSpPr>
          <p:cNvPr id="24" name="Text 22"/>
          <p:cNvSpPr/>
          <p:nvPr/>
        </p:nvSpPr>
        <p:spPr>
          <a:xfrm>
            <a:off x="6900520" y="2423160"/>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050" dirty="0"/>
          </a:p>
        </p:txBody>
      </p:sp>
      <p:sp>
        <p:nvSpPr>
          <p:cNvPr id="25" name="Shape 23"/>
          <p:cNvSpPr/>
          <p:nvPr/>
        </p:nvSpPr>
        <p:spPr>
          <a:xfrm>
            <a:off x="6278728" y="3218688"/>
            <a:ext cx="457200" cy="457200"/>
          </a:xfrm>
          <a:prstGeom prst="ellipse">
            <a:avLst/>
          </a:prstGeom>
          <a:solidFill>
            <a:srgbClr val="C08A2E"/>
          </a:solidFill>
          <a:ln/>
        </p:spPr>
      </p:sp>
      <p:sp>
        <p:nvSpPr>
          <p:cNvPr id="26" name="Text 24"/>
          <p:cNvSpPr/>
          <p:nvPr/>
        </p:nvSpPr>
        <p:spPr>
          <a:xfrm>
            <a:off x="6278728" y="3218688"/>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6</a:t>
            </a:r>
            <a:endParaRPr lang="en-US" sz="1800" dirty="0"/>
          </a:p>
        </p:txBody>
      </p:sp>
      <p:sp>
        <p:nvSpPr>
          <p:cNvPr id="27" name="Text 25"/>
          <p:cNvSpPr/>
          <p:nvPr/>
        </p:nvSpPr>
        <p:spPr>
          <a:xfrm>
            <a:off x="6900520" y="3127248"/>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Confirm Julie</a:t>
            </a:r>
            <a:endParaRPr lang="en-US" sz="1400" dirty="0"/>
          </a:p>
        </p:txBody>
      </p:sp>
      <p:sp>
        <p:nvSpPr>
          <p:cNvPr id="28" name="Text 26"/>
          <p:cNvSpPr/>
          <p:nvPr/>
        </p:nvSpPr>
        <p:spPr>
          <a:xfrm>
            <a:off x="6900520" y="3447288"/>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050" dirty="0"/>
          </a:p>
        </p:txBody>
      </p:sp>
      <p:sp>
        <p:nvSpPr>
          <p:cNvPr id="29" name="Shape 27"/>
          <p:cNvSpPr/>
          <p:nvPr/>
        </p:nvSpPr>
        <p:spPr>
          <a:xfrm>
            <a:off x="6278728" y="4242816"/>
            <a:ext cx="457200" cy="457200"/>
          </a:xfrm>
          <a:prstGeom prst="ellipse">
            <a:avLst/>
          </a:prstGeom>
          <a:solidFill>
            <a:srgbClr val="C08A2E"/>
          </a:solidFill>
          <a:ln/>
        </p:spPr>
      </p:sp>
      <p:sp>
        <p:nvSpPr>
          <p:cNvPr id="30" name="Text 28"/>
          <p:cNvSpPr/>
          <p:nvPr/>
        </p:nvSpPr>
        <p:spPr>
          <a:xfrm>
            <a:off x="6278728" y="4242816"/>
            <a:ext cx="457200" cy="457200"/>
          </a:xfrm>
          <a:prstGeom prst="rect">
            <a:avLst/>
          </a:prstGeom>
          <a:noFill/>
          <a:ln/>
        </p:spPr>
        <p:txBody>
          <a:bodyPr wrap="square" rtlCol="0" anchor="ctr"/>
          <a:lstStyle/>
          <a:p>
            <a:pPr algn="ctr" indent="0" marL="0">
              <a:buNone/>
            </a:pPr>
            <a:r>
              <a:rPr lang="en-US" sz="1800" b="1" dirty="0">
                <a:solidFill>
                  <a:srgbClr val="0C2A43"/>
                </a:solidFill>
                <a:latin typeface="Cambria" pitchFamily="34" charset="0"/>
                <a:ea typeface="Cambria" pitchFamily="34" charset="-122"/>
                <a:cs typeface="Cambria" pitchFamily="34" charset="-120"/>
              </a:rPr>
              <a:t>7</a:t>
            </a:r>
            <a:endParaRPr lang="en-US" sz="1800" dirty="0"/>
          </a:p>
        </p:txBody>
      </p:sp>
      <p:sp>
        <p:nvSpPr>
          <p:cNvPr id="31" name="Text 29"/>
          <p:cNvSpPr/>
          <p:nvPr/>
        </p:nvSpPr>
        <p:spPr>
          <a:xfrm>
            <a:off x="6900520" y="4151376"/>
            <a:ext cx="4651096" cy="32004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Set the tracker</a:t>
            </a:r>
            <a:endParaRPr lang="en-US" sz="1400" dirty="0"/>
          </a:p>
        </p:txBody>
      </p:sp>
      <p:sp>
        <p:nvSpPr>
          <p:cNvPr id="32" name="Text 30"/>
          <p:cNvSpPr/>
          <p:nvPr/>
        </p:nvSpPr>
        <p:spPr>
          <a:xfrm>
            <a:off x="6900520" y="4471416"/>
            <a:ext cx="4651096" cy="640080"/>
          </a:xfrm>
          <a:prstGeom prst="rect">
            <a:avLst/>
          </a:prstGeom>
          <a:noFill/>
          <a:ln/>
        </p:spPr>
        <p:txBody>
          <a:bodyPr wrap="square" rtlCol="0" anchor="t"/>
          <a:lstStyle/>
          <a:p>
            <a:pPr indent="0" marL="0">
              <a:lnSpc>
                <a:spcPct val="110000"/>
              </a:lnSpc>
              <a:buNone/>
            </a:pPr>
            <a:r>
              <a:rPr lang="en-US" sz="105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0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Launches Longevity Life Academy to Serve the Middle of the $8 Trillion Longevity Market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eTeacher CEO Harel Tayeb. “She is living proof that world-class longevity is about consistent, teachable habits — not spending millions — and that is exactly the school we are building.”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She is living proof that world-class longevity is about consistent, teachable habits — not spending millions — and that is exactly the school we are building.”</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“Our whole mission is to democratize what used to be a luxury — and a $12-a-day protocol that beats a $2-million-a-year one is the clearest case we could ask for.”</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Our whole mission is to democratize what used to be a luxury — and a $12-a-day protocol that beats a $2-million-a-year one is the clearest case we could ask for.”</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and learning happens naturally,” added CEO Harel Tayeb. “Julie starts from why, not from numbers — and that is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“When the teacher creates a personal connection, there are no real barriers and learning happens naturally. Julie starts from why, not from numbers — and that is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make accessible content with meaning that will touch the heart and the human core of each person. Julie gives that mission a face — real, relatable, and living proof that a longer, healthier life is within reach for anyone.”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2026-07-08T04:31:55Z</dcterms:created>
  <dcterms:modified xsi:type="dcterms:W3CDTF">2026-07-08T04:31:55Z</dcterms:modified>
</cp:coreProperties>
</file>