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buzzstream.com/blog/haro-alternatives/" TargetMode="External"/><Relationship Id="rId2" Type="http://schemas.openxmlformats.org/officeDocument/2006/relationships/hyperlink" Target="https://www.prezly.com/academy/the-best-haro-alternatives"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hyperlink" Target="https://www.prezly.com/academy/ein-presswire-vs-pr-newswire"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874520"/>
            <a:ext cx="10911535" cy="146304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eTeacher Launches Longevity Life Academy</a:t>
            </a:r>
            <a:endParaRPr lang="en-US" sz="4600" dirty="0"/>
          </a:p>
        </p:txBody>
      </p:sp>
      <p:sp>
        <p:nvSpPr>
          <p:cNvPr id="5" name="Text 3"/>
          <p:cNvSpPr/>
          <p:nvPr/>
        </p:nvSpPr>
        <p:spPr>
          <a:xfrm>
            <a:off x="640080" y="3611880"/>
            <a:ext cx="9875520" cy="1097280"/>
          </a:xfrm>
          <a:prstGeom prst="rect">
            <a:avLst/>
          </a:prstGeom>
          <a:noFill/>
          <a:ln/>
        </p:spPr>
        <p:txBody>
          <a:bodyPr wrap="square" rtlCol="0" anchor="ctr"/>
          <a:lstStyle/>
          <a:p>
            <a:pPr indent="0" marL="0">
              <a:lnSpc>
                <a:spcPct val="115000"/>
              </a:lnSpc>
              <a:buNone/>
            </a:pPr>
            <a:r>
              <a:rPr lang="en-US" sz="1700" dirty="0">
                <a:solidFill>
                  <a:srgbClr val="C9D3DD"/>
                </a:solidFill>
                <a:latin typeface="Calibri" pitchFamily="34" charset="0"/>
                <a:ea typeface="Calibri" pitchFamily="34" charset="-122"/>
                <a:cs typeface="Calibri" pitchFamily="34" charset="-120"/>
              </a:rPr>
              <a:t>The PR launch campaign for Israel's leading EdTech group — four chapters, 17 stories, one clear message: accessible, science-backed longevity education is here.</a:t>
            </a:r>
            <a:endParaRPr lang="en-US" sz="17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54864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THE LAUNCH PLAN  ·  READ THIS FIRST</a:t>
            </a:r>
            <a:endParaRPr lang="en-US" sz="1400" dirty="0"/>
          </a:p>
        </p:txBody>
      </p:sp>
      <p:sp>
        <p:nvSpPr>
          <p:cNvPr id="4" name="Text 2"/>
          <p:cNvSpPr/>
          <p:nvPr/>
        </p:nvSpPr>
        <p:spPr>
          <a:xfrm>
            <a:off x="640080" y="987552"/>
            <a:ext cx="10911535" cy="822960"/>
          </a:xfrm>
          <a:prstGeom prst="rect">
            <a:avLst/>
          </a:prstGeom>
          <a:noFill/>
          <a:ln/>
        </p:spPr>
        <p:txBody>
          <a:bodyPr wrap="square" rtlCol="0" anchor="ctr"/>
          <a:lstStyle/>
          <a:p>
            <a:pPr indent="0" marL="0">
              <a:lnSpc>
                <a:spcPct val="100000"/>
              </a:lnSpc>
              <a:buNone/>
            </a:pPr>
            <a:r>
              <a:rPr lang="en-US" sz="2700" b="1" dirty="0">
                <a:solidFill>
                  <a:srgbClr val="FFFFFF"/>
                </a:solidFill>
                <a:latin typeface="Cambria" pitchFamily="34" charset="0"/>
                <a:ea typeface="Cambria" pitchFamily="34" charset="-122"/>
                <a:cs typeface="Cambria" pitchFamily="34" charset="-120"/>
              </a:rPr>
              <a:t>Get Longevity Life Academy into the press — solo, no agency, in 8 weeks</a:t>
            </a:r>
            <a:endParaRPr lang="en-US" sz="2700" dirty="0"/>
          </a:p>
        </p:txBody>
      </p:sp>
      <p:sp>
        <p:nvSpPr>
          <p:cNvPr id="5" name="Shape 3"/>
          <p:cNvSpPr/>
          <p:nvPr/>
        </p:nvSpPr>
        <p:spPr>
          <a:xfrm>
            <a:off x="640080" y="1874520"/>
            <a:ext cx="10911535" cy="658368"/>
          </a:xfrm>
          <a:prstGeom prst="roundRect">
            <a:avLst>
              <a:gd name="adj" fmla="val 8333"/>
            </a:avLst>
          </a:prstGeom>
          <a:solidFill>
            <a:srgbClr val="12395C"/>
          </a:solidFill>
          <a:ln w="12700">
            <a:solidFill>
              <a:srgbClr val="27506F"/>
            </a:solidFill>
            <a:prstDash val="solid"/>
          </a:ln>
        </p:spPr>
      </p:sp>
      <p:sp>
        <p:nvSpPr>
          <p:cNvPr id="6" name="Text 4"/>
          <p:cNvSpPr/>
          <p:nvPr/>
        </p:nvSpPr>
        <p:spPr>
          <a:xfrm>
            <a:off x="896112" y="1874520"/>
            <a:ext cx="10399471" cy="658368"/>
          </a:xfrm>
          <a:prstGeom prst="rect">
            <a:avLst/>
          </a:prstGeom>
          <a:noFill/>
          <a:ln/>
        </p:spPr>
        <p:txBody>
          <a:bodyPr wrap="square" rtlCol="0" anchor="ctr"/>
          <a:lstStyle/>
          <a:p>
            <a:pPr indent="0" marL="0">
              <a:lnSpc>
                <a:spcPct val="105000"/>
              </a:lnSpc>
              <a:buNone/>
            </a:pPr>
            <a:r>
              <a:rPr lang="en-US" sz="1400" b="1" dirty="0">
                <a:solidFill>
                  <a:srgbClr val="C08A2E"/>
                </a:solidFill>
                <a:latin typeface="Calibri" pitchFamily="34" charset="0"/>
                <a:ea typeface="Calibri" pitchFamily="34" charset="-122"/>
                <a:cs typeface="Calibri" pitchFamily="34" charset="-120"/>
              </a:rPr>
              <a:t>THE GOAL:   </a:t>
            </a:r>
            <a:pPr indent="0" marL="0">
              <a:lnSpc>
                <a:spcPct val="105000"/>
              </a:lnSpc>
              <a:buNone/>
            </a:pPr>
            <a:r>
              <a:rPr lang="en-US" sz="1400" dirty="0">
                <a:solidFill>
                  <a:srgbClr val="DCE3EA"/>
                </a:solidFill>
                <a:latin typeface="Calibri" pitchFamily="34" charset="0"/>
                <a:ea typeface="Calibri" pitchFamily="34" charset="-122"/>
                <a:cs typeface="Calibri" pitchFamily="34" charset="-120"/>
              </a:rPr>
              <a:t>1 guaranteed wire pickup per wave + 3–6 earned stories over 4 waves — run by one person for under $700.</a:t>
            </a:r>
            <a:endParaRPr lang="en-US" sz="1400" dirty="0"/>
          </a:p>
        </p:txBody>
      </p:sp>
      <p:sp>
        <p:nvSpPr>
          <p:cNvPr id="7" name="Text 5"/>
          <p:cNvSpPr/>
          <p:nvPr/>
        </p:nvSpPr>
        <p:spPr>
          <a:xfrm>
            <a:off x="640080" y="2697480"/>
            <a:ext cx="10911535" cy="292608"/>
          </a:xfrm>
          <a:prstGeom prst="rect">
            <a:avLst/>
          </a:prstGeom>
          <a:noFill/>
          <a:ln/>
        </p:spPr>
        <p:txBody>
          <a:bodyPr wrap="square" rtlCol="0" anchor="ctr"/>
          <a:lstStyle/>
          <a:p>
            <a:pPr indent="0" marL="0">
              <a:buNone/>
            </a:pPr>
            <a:r>
              <a:rPr lang="en-US" sz="1200" b="1" spc="100" kern="0" dirty="0">
                <a:solidFill>
                  <a:srgbClr val="9AA4AF"/>
                </a:solidFill>
                <a:latin typeface="Calibri" pitchFamily="34" charset="0"/>
                <a:ea typeface="Calibri" pitchFamily="34" charset="-122"/>
                <a:cs typeface="Calibri" pitchFamily="34" charset="-120"/>
              </a:rPr>
              <a:t>The next 6 parts, in order:</a:t>
            </a:r>
            <a:endParaRPr lang="en-US" sz="1200" dirty="0"/>
          </a:p>
        </p:txBody>
      </p:sp>
      <p:sp>
        <p:nvSpPr>
          <p:cNvPr id="8" name="Shape 6"/>
          <p:cNvSpPr/>
          <p:nvPr/>
        </p:nvSpPr>
        <p:spPr>
          <a:xfrm>
            <a:off x="640080" y="3163824"/>
            <a:ext cx="548640" cy="548640"/>
          </a:xfrm>
          <a:prstGeom prst="ellipse">
            <a:avLst/>
          </a:prstGeom>
          <a:solidFill>
            <a:srgbClr val="C08A2E"/>
          </a:solidFill>
          <a:ln/>
        </p:spPr>
      </p:sp>
      <p:sp>
        <p:nvSpPr>
          <p:cNvPr id="9" name="Text 7"/>
          <p:cNvSpPr/>
          <p:nvPr/>
        </p:nvSpPr>
        <p:spPr>
          <a:xfrm>
            <a:off x="640080" y="3163824"/>
            <a:ext cx="548640" cy="548640"/>
          </a:xfrm>
          <a:prstGeom prst="rect">
            <a:avLst/>
          </a:prstGeom>
          <a:noFill/>
          <a:ln/>
        </p:spPr>
        <p:txBody>
          <a:bodyPr wrap="square" rtlCol="0" anchor="ctr"/>
          <a:lstStyle/>
          <a:p>
            <a:pPr algn="ctr" indent="0" marL="0">
              <a:buNone/>
            </a:pPr>
            <a:r>
              <a:rPr lang="en-US" sz="2200" b="1" dirty="0">
                <a:solidFill>
                  <a:srgbClr val="0C2A43"/>
                </a:solidFill>
                <a:latin typeface="Cambria" pitchFamily="34" charset="0"/>
                <a:ea typeface="Cambria" pitchFamily="34" charset="-122"/>
                <a:cs typeface="Cambria" pitchFamily="34" charset="-120"/>
              </a:rPr>
              <a:t>1</a:t>
            </a:r>
            <a:endParaRPr lang="en-US" sz="2200" dirty="0"/>
          </a:p>
        </p:txBody>
      </p:sp>
      <p:sp>
        <p:nvSpPr>
          <p:cNvPr id="10" name="Text 8"/>
          <p:cNvSpPr/>
          <p:nvPr/>
        </p:nvSpPr>
        <p:spPr>
          <a:xfrm>
            <a:off x="1389888" y="3090672"/>
            <a:ext cx="4523080"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WHERE we play</a:t>
            </a:r>
            <a:endParaRPr lang="en-US" sz="1600" dirty="0"/>
          </a:p>
        </p:txBody>
      </p:sp>
      <p:sp>
        <p:nvSpPr>
          <p:cNvPr id="11" name="Text 9"/>
          <p:cNvSpPr/>
          <p:nvPr/>
        </p:nvSpPr>
        <p:spPr>
          <a:xfrm>
            <a:off x="1389888" y="3438144"/>
            <a:ext cx="4523080" cy="566928"/>
          </a:xfrm>
          <a:prstGeom prst="rect">
            <a:avLst/>
          </a:prstGeom>
          <a:noFill/>
          <a:ln/>
        </p:spPr>
        <p:txBody>
          <a:bodyPr wrap="square" rtlCol="0" anchor="t"/>
          <a:lstStyle/>
          <a:p>
            <a:pPr indent="0" marL="0">
              <a:lnSpc>
                <a:spcPct val="110000"/>
              </a:lnSpc>
              <a:buNone/>
            </a:pPr>
            <a:r>
              <a:rPr lang="en-US" sz="1150" dirty="0">
                <a:solidFill>
                  <a:srgbClr val="C9D3DD"/>
                </a:solidFill>
                <a:latin typeface="Calibri" pitchFamily="34" charset="0"/>
                <a:ea typeface="Calibri" pitchFamily="34" charset="-122"/>
                <a:cs typeface="Calibri" pitchFamily="34" charset="-120"/>
              </a:rPr>
              <a:t>Two separate pushes: the U.S. (consumer/health) and Israel (business).</a:t>
            </a:r>
            <a:endParaRPr lang="en-US" sz="1150" dirty="0"/>
          </a:p>
        </p:txBody>
      </p:sp>
      <p:sp>
        <p:nvSpPr>
          <p:cNvPr id="12" name="Shape 10"/>
          <p:cNvSpPr/>
          <p:nvPr/>
        </p:nvSpPr>
        <p:spPr>
          <a:xfrm>
            <a:off x="6278728" y="3163824"/>
            <a:ext cx="548640" cy="548640"/>
          </a:xfrm>
          <a:prstGeom prst="ellipse">
            <a:avLst/>
          </a:prstGeom>
          <a:solidFill>
            <a:srgbClr val="C08A2E"/>
          </a:solidFill>
          <a:ln/>
        </p:spPr>
      </p:sp>
      <p:sp>
        <p:nvSpPr>
          <p:cNvPr id="13" name="Text 11"/>
          <p:cNvSpPr/>
          <p:nvPr/>
        </p:nvSpPr>
        <p:spPr>
          <a:xfrm>
            <a:off x="6278728" y="3163824"/>
            <a:ext cx="548640" cy="548640"/>
          </a:xfrm>
          <a:prstGeom prst="rect">
            <a:avLst/>
          </a:prstGeom>
          <a:noFill/>
          <a:ln/>
        </p:spPr>
        <p:txBody>
          <a:bodyPr wrap="square" rtlCol="0" anchor="ctr"/>
          <a:lstStyle/>
          <a:p>
            <a:pPr algn="ctr" indent="0" marL="0">
              <a:buNone/>
            </a:pPr>
            <a:r>
              <a:rPr lang="en-US" sz="2200" b="1" dirty="0">
                <a:solidFill>
                  <a:srgbClr val="0C2A43"/>
                </a:solidFill>
                <a:latin typeface="Cambria" pitchFamily="34" charset="0"/>
                <a:ea typeface="Cambria" pitchFamily="34" charset="-122"/>
                <a:cs typeface="Cambria" pitchFamily="34" charset="-120"/>
              </a:rPr>
              <a:t>2</a:t>
            </a:r>
            <a:endParaRPr lang="en-US" sz="2200" dirty="0"/>
          </a:p>
        </p:txBody>
      </p:sp>
      <p:sp>
        <p:nvSpPr>
          <p:cNvPr id="14" name="Text 12"/>
          <p:cNvSpPr/>
          <p:nvPr/>
        </p:nvSpPr>
        <p:spPr>
          <a:xfrm>
            <a:off x="7028536" y="3090672"/>
            <a:ext cx="4523080"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HOW we get coverage</a:t>
            </a:r>
            <a:endParaRPr lang="en-US" sz="1600" dirty="0"/>
          </a:p>
        </p:txBody>
      </p:sp>
      <p:sp>
        <p:nvSpPr>
          <p:cNvPr id="15" name="Text 13"/>
          <p:cNvSpPr/>
          <p:nvPr/>
        </p:nvSpPr>
        <p:spPr>
          <a:xfrm>
            <a:off x="7028536" y="3438144"/>
            <a:ext cx="4523080" cy="566928"/>
          </a:xfrm>
          <a:prstGeom prst="rect">
            <a:avLst/>
          </a:prstGeom>
          <a:noFill/>
          <a:ln/>
        </p:spPr>
        <p:txBody>
          <a:bodyPr wrap="square" rtlCol="0" anchor="t"/>
          <a:lstStyle/>
          <a:p>
            <a:pPr indent="0" marL="0">
              <a:lnSpc>
                <a:spcPct val="110000"/>
              </a:lnSpc>
              <a:buNone/>
            </a:pPr>
            <a:r>
              <a:rPr lang="en-US" sz="1150" dirty="0">
                <a:solidFill>
                  <a:srgbClr val="C9D3DD"/>
                </a:solidFill>
                <a:latin typeface="Calibri" pitchFamily="34" charset="0"/>
                <a:ea typeface="Calibri" pitchFamily="34" charset="-122"/>
                <a:cs typeface="Calibri" pitchFamily="34" charset="-120"/>
              </a:rPr>
              <a:t>The free tactics and the paid wires that actually land stories.</a:t>
            </a:r>
            <a:endParaRPr lang="en-US" sz="1150" dirty="0"/>
          </a:p>
        </p:txBody>
      </p:sp>
      <p:sp>
        <p:nvSpPr>
          <p:cNvPr id="16" name="Shape 14"/>
          <p:cNvSpPr/>
          <p:nvPr/>
        </p:nvSpPr>
        <p:spPr>
          <a:xfrm>
            <a:off x="640080" y="4215384"/>
            <a:ext cx="548640" cy="548640"/>
          </a:xfrm>
          <a:prstGeom prst="ellipse">
            <a:avLst/>
          </a:prstGeom>
          <a:solidFill>
            <a:srgbClr val="C08A2E"/>
          </a:solidFill>
          <a:ln/>
        </p:spPr>
      </p:sp>
      <p:sp>
        <p:nvSpPr>
          <p:cNvPr id="17" name="Text 15"/>
          <p:cNvSpPr/>
          <p:nvPr/>
        </p:nvSpPr>
        <p:spPr>
          <a:xfrm>
            <a:off x="640080" y="4215384"/>
            <a:ext cx="548640" cy="548640"/>
          </a:xfrm>
          <a:prstGeom prst="rect">
            <a:avLst/>
          </a:prstGeom>
          <a:noFill/>
          <a:ln/>
        </p:spPr>
        <p:txBody>
          <a:bodyPr wrap="square" rtlCol="0" anchor="ctr"/>
          <a:lstStyle/>
          <a:p>
            <a:pPr algn="ctr" indent="0" marL="0">
              <a:buNone/>
            </a:pPr>
            <a:r>
              <a:rPr lang="en-US" sz="2200" b="1" dirty="0">
                <a:solidFill>
                  <a:srgbClr val="0C2A43"/>
                </a:solidFill>
                <a:latin typeface="Cambria" pitchFamily="34" charset="0"/>
                <a:ea typeface="Cambria" pitchFamily="34" charset="-122"/>
                <a:cs typeface="Cambria" pitchFamily="34" charset="-120"/>
              </a:rPr>
              <a:t>3</a:t>
            </a:r>
            <a:endParaRPr lang="en-US" sz="2200" dirty="0"/>
          </a:p>
        </p:txBody>
      </p:sp>
      <p:sp>
        <p:nvSpPr>
          <p:cNvPr id="18" name="Text 16"/>
          <p:cNvSpPr/>
          <p:nvPr/>
        </p:nvSpPr>
        <p:spPr>
          <a:xfrm>
            <a:off x="1389888" y="4142232"/>
            <a:ext cx="4523080"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WHAT it costs</a:t>
            </a:r>
            <a:endParaRPr lang="en-US" sz="1600" dirty="0"/>
          </a:p>
        </p:txBody>
      </p:sp>
      <p:sp>
        <p:nvSpPr>
          <p:cNvPr id="19" name="Text 17"/>
          <p:cNvSpPr/>
          <p:nvPr/>
        </p:nvSpPr>
        <p:spPr>
          <a:xfrm>
            <a:off x="1389888" y="4489704"/>
            <a:ext cx="4523080" cy="566928"/>
          </a:xfrm>
          <a:prstGeom prst="rect">
            <a:avLst/>
          </a:prstGeom>
          <a:noFill/>
          <a:ln/>
        </p:spPr>
        <p:txBody>
          <a:bodyPr wrap="square" rtlCol="0" anchor="t"/>
          <a:lstStyle/>
          <a:p>
            <a:pPr indent="0" marL="0">
              <a:lnSpc>
                <a:spcPct val="110000"/>
              </a:lnSpc>
              <a:buNone/>
            </a:pPr>
            <a:r>
              <a:rPr lang="en-US" sz="1150" dirty="0">
                <a:solidFill>
                  <a:srgbClr val="C9D3DD"/>
                </a:solidFill>
                <a:latin typeface="Calibri" pitchFamily="34" charset="0"/>
                <a:ea typeface="Calibri" pitchFamily="34" charset="-122"/>
                <a:cs typeface="Calibri" pitchFamily="34" charset="-120"/>
              </a:rPr>
              <a:t>Two budgets — a lean ~$700 plan and a premium option.</a:t>
            </a:r>
            <a:endParaRPr lang="en-US" sz="1150" dirty="0"/>
          </a:p>
        </p:txBody>
      </p:sp>
      <p:sp>
        <p:nvSpPr>
          <p:cNvPr id="20" name="Shape 18"/>
          <p:cNvSpPr/>
          <p:nvPr/>
        </p:nvSpPr>
        <p:spPr>
          <a:xfrm>
            <a:off x="6278728" y="4215384"/>
            <a:ext cx="548640" cy="548640"/>
          </a:xfrm>
          <a:prstGeom prst="ellipse">
            <a:avLst/>
          </a:prstGeom>
          <a:solidFill>
            <a:srgbClr val="C08A2E"/>
          </a:solidFill>
          <a:ln/>
        </p:spPr>
      </p:sp>
      <p:sp>
        <p:nvSpPr>
          <p:cNvPr id="21" name="Text 19"/>
          <p:cNvSpPr/>
          <p:nvPr/>
        </p:nvSpPr>
        <p:spPr>
          <a:xfrm>
            <a:off x="6278728" y="4215384"/>
            <a:ext cx="548640" cy="548640"/>
          </a:xfrm>
          <a:prstGeom prst="rect">
            <a:avLst/>
          </a:prstGeom>
          <a:noFill/>
          <a:ln/>
        </p:spPr>
        <p:txBody>
          <a:bodyPr wrap="square" rtlCol="0" anchor="ctr"/>
          <a:lstStyle/>
          <a:p>
            <a:pPr algn="ctr" indent="0" marL="0">
              <a:buNone/>
            </a:pPr>
            <a:r>
              <a:rPr lang="en-US" sz="2200" b="1" dirty="0">
                <a:solidFill>
                  <a:srgbClr val="0C2A43"/>
                </a:solidFill>
                <a:latin typeface="Cambria" pitchFamily="34" charset="0"/>
                <a:ea typeface="Cambria" pitchFamily="34" charset="-122"/>
                <a:cs typeface="Cambria" pitchFamily="34" charset="-120"/>
              </a:rPr>
              <a:t>4</a:t>
            </a:r>
            <a:endParaRPr lang="en-US" sz="2200" dirty="0"/>
          </a:p>
        </p:txBody>
      </p:sp>
      <p:sp>
        <p:nvSpPr>
          <p:cNvPr id="22" name="Text 20"/>
          <p:cNvSpPr/>
          <p:nvPr/>
        </p:nvSpPr>
        <p:spPr>
          <a:xfrm>
            <a:off x="7028536" y="4142232"/>
            <a:ext cx="4523080"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ODDS</a:t>
            </a:r>
            <a:endParaRPr lang="en-US" sz="1600" dirty="0"/>
          </a:p>
        </p:txBody>
      </p:sp>
      <p:sp>
        <p:nvSpPr>
          <p:cNvPr id="23" name="Text 21"/>
          <p:cNvSpPr/>
          <p:nvPr/>
        </p:nvSpPr>
        <p:spPr>
          <a:xfrm>
            <a:off x="7028536" y="4489704"/>
            <a:ext cx="4523080" cy="566928"/>
          </a:xfrm>
          <a:prstGeom prst="rect">
            <a:avLst/>
          </a:prstGeom>
          <a:noFill/>
          <a:ln/>
        </p:spPr>
        <p:txBody>
          <a:bodyPr wrap="square" rtlCol="0" anchor="t"/>
          <a:lstStyle/>
          <a:p>
            <a:pPr indent="0" marL="0">
              <a:lnSpc>
                <a:spcPct val="110000"/>
              </a:lnSpc>
              <a:buNone/>
            </a:pPr>
            <a:r>
              <a:rPr lang="en-US" sz="1150" dirty="0">
                <a:solidFill>
                  <a:srgbClr val="C9D3DD"/>
                </a:solidFill>
                <a:latin typeface="Calibri" pitchFamily="34" charset="0"/>
                <a:ea typeface="Calibri" pitchFamily="34" charset="-122"/>
                <a:cs typeface="Calibri" pitchFamily="34" charset="-120"/>
              </a:rPr>
              <a:t>What’s guaranteed, what’s likely, and what’s a long shot — honestly.</a:t>
            </a:r>
            <a:endParaRPr lang="en-US" sz="1150" dirty="0"/>
          </a:p>
        </p:txBody>
      </p:sp>
      <p:sp>
        <p:nvSpPr>
          <p:cNvPr id="24" name="Shape 22"/>
          <p:cNvSpPr/>
          <p:nvPr/>
        </p:nvSpPr>
        <p:spPr>
          <a:xfrm>
            <a:off x="640080" y="5266944"/>
            <a:ext cx="548640" cy="548640"/>
          </a:xfrm>
          <a:prstGeom prst="ellipse">
            <a:avLst/>
          </a:prstGeom>
          <a:solidFill>
            <a:srgbClr val="C08A2E"/>
          </a:solidFill>
          <a:ln/>
        </p:spPr>
      </p:sp>
      <p:sp>
        <p:nvSpPr>
          <p:cNvPr id="25" name="Text 23"/>
          <p:cNvSpPr/>
          <p:nvPr/>
        </p:nvSpPr>
        <p:spPr>
          <a:xfrm>
            <a:off x="640080" y="5266944"/>
            <a:ext cx="548640" cy="548640"/>
          </a:xfrm>
          <a:prstGeom prst="rect">
            <a:avLst/>
          </a:prstGeom>
          <a:noFill/>
          <a:ln/>
        </p:spPr>
        <p:txBody>
          <a:bodyPr wrap="square" rtlCol="0" anchor="ctr"/>
          <a:lstStyle/>
          <a:p>
            <a:pPr algn="ctr" indent="0" marL="0">
              <a:buNone/>
            </a:pPr>
            <a:r>
              <a:rPr lang="en-US" sz="2200" b="1" dirty="0">
                <a:solidFill>
                  <a:srgbClr val="0C2A43"/>
                </a:solidFill>
                <a:latin typeface="Cambria" pitchFamily="34" charset="0"/>
                <a:ea typeface="Cambria" pitchFamily="34" charset="-122"/>
                <a:cs typeface="Cambria" pitchFamily="34" charset="-120"/>
              </a:rPr>
              <a:t>5</a:t>
            </a:r>
            <a:endParaRPr lang="en-US" sz="2200" dirty="0"/>
          </a:p>
        </p:txBody>
      </p:sp>
      <p:sp>
        <p:nvSpPr>
          <p:cNvPr id="26" name="Text 24"/>
          <p:cNvSpPr/>
          <p:nvPr/>
        </p:nvSpPr>
        <p:spPr>
          <a:xfrm>
            <a:off x="1389888" y="5193792"/>
            <a:ext cx="4523080"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PLAYBOOK</a:t>
            </a:r>
            <a:endParaRPr lang="en-US" sz="1600" dirty="0"/>
          </a:p>
        </p:txBody>
      </p:sp>
      <p:sp>
        <p:nvSpPr>
          <p:cNvPr id="27" name="Text 25"/>
          <p:cNvSpPr/>
          <p:nvPr/>
        </p:nvSpPr>
        <p:spPr>
          <a:xfrm>
            <a:off x="1389888" y="5541264"/>
            <a:ext cx="4523080" cy="566928"/>
          </a:xfrm>
          <a:prstGeom prst="rect">
            <a:avLst/>
          </a:prstGeom>
          <a:noFill/>
          <a:ln/>
        </p:spPr>
        <p:txBody>
          <a:bodyPr wrap="square" rtlCol="0" anchor="t"/>
          <a:lstStyle/>
          <a:p>
            <a:pPr indent="0" marL="0">
              <a:lnSpc>
                <a:spcPct val="110000"/>
              </a:lnSpc>
              <a:buNone/>
            </a:pPr>
            <a:r>
              <a:rPr lang="en-US" sz="1150" dirty="0">
                <a:solidFill>
                  <a:srgbClr val="C9D3DD"/>
                </a:solidFill>
                <a:latin typeface="Calibri" pitchFamily="34" charset="0"/>
                <a:ea typeface="Calibri" pitchFamily="34" charset="-122"/>
                <a:cs typeface="Calibri" pitchFamily="34" charset="-120"/>
              </a:rPr>
              <a:t>The exact 14-day checklist we repeat for each of the four waves.</a:t>
            </a:r>
            <a:endParaRPr lang="en-US" sz="1150" dirty="0"/>
          </a:p>
        </p:txBody>
      </p:sp>
      <p:sp>
        <p:nvSpPr>
          <p:cNvPr id="28" name="Shape 26"/>
          <p:cNvSpPr/>
          <p:nvPr/>
        </p:nvSpPr>
        <p:spPr>
          <a:xfrm>
            <a:off x="6278728" y="5266944"/>
            <a:ext cx="548640" cy="548640"/>
          </a:xfrm>
          <a:prstGeom prst="ellipse">
            <a:avLst/>
          </a:prstGeom>
          <a:solidFill>
            <a:srgbClr val="C08A2E"/>
          </a:solidFill>
          <a:ln/>
        </p:spPr>
      </p:sp>
      <p:sp>
        <p:nvSpPr>
          <p:cNvPr id="29" name="Text 27"/>
          <p:cNvSpPr/>
          <p:nvPr/>
        </p:nvSpPr>
        <p:spPr>
          <a:xfrm>
            <a:off x="6278728" y="5266944"/>
            <a:ext cx="548640" cy="548640"/>
          </a:xfrm>
          <a:prstGeom prst="rect">
            <a:avLst/>
          </a:prstGeom>
          <a:noFill/>
          <a:ln/>
        </p:spPr>
        <p:txBody>
          <a:bodyPr wrap="square" rtlCol="0" anchor="ctr"/>
          <a:lstStyle/>
          <a:p>
            <a:pPr algn="ctr" indent="0" marL="0">
              <a:buNone/>
            </a:pPr>
            <a:r>
              <a:rPr lang="en-US" sz="2200" b="1" dirty="0">
                <a:solidFill>
                  <a:srgbClr val="0C2A43"/>
                </a:solidFill>
                <a:latin typeface="Cambria" pitchFamily="34" charset="0"/>
                <a:ea typeface="Cambria" pitchFamily="34" charset="-122"/>
                <a:cs typeface="Cambria" pitchFamily="34" charset="-120"/>
              </a:rPr>
              <a:t>6</a:t>
            </a:r>
            <a:endParaRPr lang="en-US" sz="2200" dirty="0"/>
          </a:p>
        </p:txBody>
      </p:sp>
      <p:sp>
        <p:nvSpPr>
          <p:cNvPr id="30" name="Text 28"/>
          <p:cNvSpPr/>
          <p:nvPr/>
        </p:nvSpPr>
        <p:spPr>
          <a:xfrm>
            <a:off x="7028536" y="5193792"/>
            <a:ext cx="4523080"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DO NOW</a:t>
            </a:r>
            <a:endParaRPr lang="en-US" sz="1600" dirty="0"/>
          </a:p>
        </p:txBody>
      </p:sp>
      <p:sp>
        <p:nvSpPr>
          <p:cNvPr id="31" name="Text 29"/>
          <p:cNvSpPr/>
          <p:nvPr/>
        </p:nvSpPr>
        <p:spPr>
          <a:xfrm>
            <a:off x="7028536" y="5541264"/>
            <a:ext cx="4523080" cy="566928"/>
          </a:xfrm>
          <a:prstGeom prst="rect">
            <a:avLst/>
          </a:prstGeom>
          <a:noFill/>
          <a:ln/>
        </p:spPr>
        <p:txBody>
          <a:bodyPr wrap="square" rtlCol="0" anchor="t"/>
          <a:lstStyle/>
          <a:p>
            <a:pPr indent="0" marL="0">
              <a:lnSpc>
                <a:spcPct val="110000"/>
              </a:lnSpc>
              <a:buNone/>
            </a:pPr>
            <a:r>
              <a:rPr lang="en-US" sz="1150" dirty="0">
                <a:solidFill>
                  <a:srgbClr val="C9D3DD"/>
                </a:solidFill>
                <a:latin typeface="Calibri" pitchFamily="34" charset="0"/>
                <a:ea typeface="Calibri" pitchFamily="34" charset="-122"/>
                <a:cs typeface="Calibri" pitchFamily="34" charset="-120"/>
              </a:rPr>
              <a:t>The 7 things to finish this week before Wave 1 goes live.</a:t>
            </a:r>
            <a:endParaRPr lang="en-US" sz="115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86384"/>
            <a:ext cx="10911535" cy="73152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Part 1 — Where: a U.S. push and an Israel push</a:t>
            </a:r>
            <a:endParaRPr lang="en-US" sz="2600" dirty="0"/>
          </a:p>
        </p:txBody>
      </p:sp>
      <p:sp>
        <p:nvSpPr>
          <p:cNvPr id="3" name="Text 1"/>
          <p:cNvSpPr/>
          <p:nvPr/>
        </p:nvSpPr>
        <p:spPr>
          <a:xfrm>
            <a:off x="640080" y="457200"/>
            <a:ext cx="10911535"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100" b="1" spc="200" kern="0" dirty="0">
                <a:solidFill>
                  <a:srgbClr val="5C6672"/>
                </a:solidFill>
                <a:latin typeface="Calibri" pitchFamily="34" charset="0"/>
                <a:ea typeface="Calibri" pitchFamily="34" charset="-122"/>
                <a:cs typeface="Calibri" pitchFamily="34" charset="-120"/>
              </a:rPr>
              <a:t>     PART 1 OF 6</a:t>
            </a:r>
            <a:endParaRPr lang="en-US" sz="1100" dirty="0"/>
          </a:p>
        </p:txBody>
      </p:sp>
      <p:sp>
        <p:nvSpPr>
          <p:cNvPr id="4" name="Text 2"/>
          <p:cNvSpPr/>
          <p:nvPr/>
        </p:nvSpPr>
        <p:spPr>
          <a:xfrm>
            <a:off x="640080" y="1536192"/>
            <a:ext cx="10911535" cy="457200"/>
          </a:xfrm>
          <a:prstGeom prst="rect">
            <a:avLst/>
          </a:prstGeom>
          <a:noFill/>
          <a:ln/>
        </p:spPr>
        <p:txBody>
          <a:bodyPr wrap="square" rtlCol="0" anchor="t"/>
          <a:lstStyle/>
          <a:p>
            <a:pPr indent="0" marL="0">
              <a:lnSpc>
                <a:spcPct val="115000"/>
              </a:lnSpc>
              <a:buNone/>
            </a:pPr>
            <a:r>
              <a:rPr lang="en-US" sz="135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350" dirty="0">
                <a:solidFill>
                  <a:srgbClr val="1A1F26"/>
                </a:solidFill>
                <a:latin typeface="Calibri" pitchFamily="34" charset="0"/>
                <a:ea typeface="Calibri" pitchFamily="34" charset="-122"/>
                <a:cs typeface="Calibri" pitchFamily="34" charset="-120"/>
              </a:rPr>
              <a:t>Which countries, which audiences, and which outlets we target.</a:t>
            </a:r>
            <a:endParaRPr lang="en-US" sz="1350" dirty="0"/>
          </a:p>
        </p:txBody>
      </p:sp>
      <p:sp>
        <p:nvSpPr>
          <p:cNvPr id="5" name="Shape 3"/>
          <p:cNvSpPr/>
          <p:nvPr/>
        </p:nvSpPr>
        <p:spPr>
          <a:xfrm>
            <a:off x="640080" y="2240280"/>
            <a:ext cx="5272888" cy="3703320"/>
          </a:xfrm>
          <a:prstGeom prst="roundRect">
            <a:avLst>
              <a:gd name="adj" fmla="val 1481"/>
            </a:avLst>
          </a:prstGeom>
          <a:solidFill>
            <a:srgbClr val="FFFFFF"/>
          </a:solidFill>
          <a:ln w="12700">
            <a:solidFill>
              <a:srgbClr val="D9DDE2"/>
            </a:solidFill>
            <a:prstDash val="solid"/>
          </a:ln>
        </p:spPr>
      </p:sp>
      <p:sp>
        <p:nvSpPr>
          <p:cNvPr id="6" name="Shape 4"/>
          <p:cNvSpPr/>
          <p:nvPr/>
        </p:nvSpPr>
        <p:spPr>
          <a:xfrm>
            <a:off x="640080" y="2240280"/>
            <a:ext cx="5272888" cy="566928"/>
          </a:xfrm>
          <a:prstGeom prst="rect">
            <a:avLst/>
          </a:prstGeom>
          <a:solidFill>
            <a:srgbClr val="0C2A43"/>
          </a:solidFill>
          <a:ln/>
        </p:spPr>
      </p:sp>
      <p:sp>
        <p:nvSpPr>
          <p:cNvPr id="7" name="Text 5"/>
          <p:cNvSpPr/>
          <p:nvPr/>
        </p:nvSpPr>
        <p:spPr>
          <a:xfrm>
            <a:off x="868680" y="2240280"/>
            <a:ext cx="4815688" cy="566928"/>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UNITED STATES  —  the primary market</a:t>
            </a:r>
            <a:endParaRPr lang="en-US" sz="1400" dirty="0"/>
          </a:p>
        </p:txBody>
      </p:sp>
      <p:sp>
        <p:nvSpPr>
          <p:cNvPr id="8" name="Text 6"/>
          <p:cNvSpPr/>
          <p:nvPr/>
        </p:nvSpPr>
        <p:spPr>
          <a:xfrm>
            <a:off x="868680" y="2926080"/>
            <a:ext cx="4815688" cy="530352"/>
          </a:xfrm>
          <a:prstGeom prst="rect">
            <a:avLst/>
          </a:prstGeom>
          <a:noFill/>
          <a:ln/>
        </p:spPr>
        <p:txBody>
          <a:bodyPr wrap="square" rtlCol="0" anchor="t"/>
          <a:lstStyle/>
          <a:p>
            <a:pPr indent="0" marL="0">
              <a:lnSpc>
                <a:spcPct val="112000"/>
              </a:lnSpc>
              <a:buNone/>
            </a:pPr>
            <a:r>
              <a:rPr lang="en-US" sz="1200" b="1" dirty="0">
                <a:solidFill>
                  <a:srgbClr val="1A1F26"/>
                </a:solidFill>
                <a:latin typeface="Calibri" pitchFamily="34" charset="0"/>
                <a:ea typeface="Calibri" pitchFamily="34" charset="-122"/>
                <a:cs typeface="Calibri" pitchFamily="34" charset="-120"/>
              </a:rPr>
              <a:t>~70% of eTeacher customers are American. This is where enrollments and scale live.</a:t>
            </a:r>
            <a:endParaRPr lang="en-US" sz="1200" dirty="0"/>
          </a:p>
        </p:txBody>
      </p:sp>
      <p:sp>
        <p:nvSpPr>
          <p:cNvPr id="9" name="Text 7"/>
          <p:cNvSpPr/>
          <p:nvPr/>
        </p:nvSpPr>
        <p:spPr>
          <a:xfrm>
            <a:off x="868680" y="3520440"/>
            <a:ext cx="4815688" cy="658368"/>
          </a:xfrm>
          <a:prstGeom prst="rect">
            <a:avLst/>
          </a:prstGeom>
          <a:noFill/>
          <a:ln/>
        </p:spPr>
        <p:txBody>
          <a:bodyPr wrap="square" rtlCol="0" anchor="t"/>
          <a:lstStyle/>
          <a:p>
            <a:pPr indent="0" marL="0">
              <a:lnSpc>
                <a:spcPct val="112000"/>
              </a:lnSpc>
              <a:buNone/>
            </a:pPr>
            <a:r>
              <a:rPr lang="en-US" sz="1150" i="1" dirty="0">
                <a:solidFill>
                  <a:srgbClr val="0C2A43"/>
                </a:solidFill>
                <a:latin typeface="Calibri" pitchFamily="34" charset="0"/>
                <a:ea typeface="Calibri" pitchFamily="34" charset="-122"/>
                <a:cs typeface="Calibri" pitchFamily="34" charset="-120"/>
              </a:rPr>
              <a:t>ANGLE: consumer + health. “Julie — the mom who out-scored a billionaire — joins an accessible longevity school.”</a:t>
            </a:r>
            <a:endParaRPr lang="en-US" sz="1150" dirty="0"/>
          </a:p>
        </p:txBody>
      </p:sp>
      <p:sp>
        <p:nvSpPr>
          <p:cNvPr id="10" name="Text 8"/>
          <p:cNvSpPr/>
          <p:nvPr/>
        </p:nvSpPr>
        <p:spPr>
          <a:xfrm>
            <a:off x="868680" y="4206240"/>
            <a:ext cx="4815688" cy="219456"/>
          </a:xfrm>
          <a:prstGeom prst="rect">
            <a:avLst/>
          </a:prstGeom>
          <a:noFill/>
          <a:ln/>
        </p:spPr>
        <p:txBody>
          <a:bodyPr wrap="square" rtlCol="0" anchor="ctr"/>
          <a:lstStyle/>
          <a:p>
            <a:pPr indent="0" marL="0">
              <a:buNone/>
            </a:pPr>
            <a:r>
              <a:rPr lang="en-US" sz="900" b="1" spc="100" kern="0" dirty="0">
                <a:solidFill>
                  <a:srgbClr val="5C6672"/>
                </a:solidFill>
                <a:latin typeface="Calibri" pitchFamily="34" charset="0"/>
                <a:ea typeface="Calibri" pitchFamily="34" charset="-122"/>
                <a:cs typeface="Calibri" pitchFamily="34" charset="-120"/>
              </a:rPr>
              <a:t>TARGET OUTLETS</a:t>
            </a:r>
            <a:endParaRPr lang="en-US" sz="900" dirty="0"/>
          </a:p>
        </p:txBody>
      </p:sp>
      <p:sp>
        <p:nvSpPr>
          <p:cNvPr id="11" name="Text 9"/>
          <p:cNvSpPr/>
          <p:nvPr/>
        </p:nvSpPr>
        <p:spPr>
          <a:xfrm>
            <a:off x="868680" y="4434840"/>
            <a:ext cx="4815688" cy="1005840"/>
          </a:xfrm>
          <a:prstGeom prst="rect">
            <a:avLst/>
          </a:prstGeom>
          <a:noFill/>
          <a:ln/>
        </p:spPr>
        <p:txBody>
          <a:bodyPr wrap="square" rtlCol="0" anchor="t"/>
          <a:lstStyle/>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People, Today, Well+Good, Business Insider</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Fox News Health, GMA / local morning TV</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Longevity.Technology, Fierce Healthcare</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EdSurge, TechCrunch (product angle)</a:t>
            </a:r>
            <a:endParaRPr lang="en-US" sz="1100" dirty="0"/>
          </a:p>
        </p:txBody>
      </p:sp>
      <p:sp>
        <p:nvSpPr>
          <p:cNvPr id="12" name="Text 10"/>
          <p:cNvSpPr/>
          <p:nvPr/>
        </p:nvSpPr>
        <p:spPr>
          <a:xfrm>
            <a:off x="868680" y="5513832"/>
            <a:ext cx="4815688" cy="320040"/>
          </a:xfrm>
          <a:prstGeom prst="rect">
            <a:avLst/>
          </a:prstGeom>
          <a:noFill/>
          <a:ln/>
        </p:spPr>
        <p:txBody>
          <a:bodyPr wrap="square" rtlCol="0" anchor="ctr"/>
          <a:lstStyle/>
          <a:p>
            <a:pPr indent="0" marL="0">
              <a:buNone/>
            </a:pPr>
            <a:r>
              <a:rPr lang="en-US" sz="1150" b="1" dirty="0">
                <a:solidFill>
                  <a:srgbClr val="0C2A43"/>
                </a:solidFill>
                <a:latin typeface="Calibri" pitchFamily="34" charset="0"/>
                <a:ea typeface="Calibri" pitchFamily="34" charset="-122"/>
                <a:cs typeface="Calibri" pitchFamily="34" charset="-120"/>
              </a:rPr>
              <a:t>GOAL: 2–4 US earned pickups + broadcast segment</a:t>
            </a:r>
            <a:endParaRPr lang="en-US" sz="1150" dirty="0"/>
          </a:p>
        </p:txBody>
      </p:sp>
      <p:sp>
        <p:nvSpPr>
          <p:cNvPr id="13" name="Shape 11"/>
          <p:cNvSpPr/>
          <p:nvPr/>
        </p:nvSpPr>
        <p:spPr>
          <a:xfrm>
            <a:off x="6278728" y="2240280"/>
            <a:ext cx="5272888" cy="3703320"/>
          </a:xfrm>
          <a:prstGeom prst="roundRect">
            <a:avLst>
              <a:gd name="adj" fmla="val 1481"/>
            </a:avLst>
          </a:prstGeom>
          <a:solidFill>
            <a:srgbClr val="FFFFFF"/>
          </a:solidFill>
          <a:ln w="12700">
            <a:solidFill>
              <a:srgbClr val="D9DDE2"/>
            </a:solidFill>
            <a:prstDash val="solid"/>
          </a:ln>
        </p:spPr>
      </p:sp>
      <p:sp>
        <p:nvSpPr>
          <p:cNvPr id="14" name="Shape 12"/>
          <p:cNvSpPr/>
          <p:nvPr/>
        </p:nvSpPr>
        <p:spPr>
          <a:xfrm>
            <a:off x="6278728" y="2240280"/>
            <a:ext cx="5272888" cy="566928"/>
          </a:xfrm>
          <a:prstGeom prst="rect">
            <a:avLst/>
          </a:prstGeom>
          <a:solidFill>
            <a:srgbClr val="6E4A12"/>
          </a:solidFill>
          <a:ln/>
        </p:spPr>
      </p:sp>
      <p:sp>
        <p:nvSpPr>
          <p:cNvPr id="15" name="Text 13"/>
          <p:cNvSpPr/>
          <p:nvPr/>
        </p:nvSpPr>
        <p:spPr>
          <a:xfrm>
            <a:off x="6507328" y="2240280"/>
            <a:ext cx="4815688" cy="566928"/>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ISRAEL  —  the home base</a:t>
            </a:r>
            <a:endParaRPr lang="en-US" sz="1400" dirty="0"/>
          </a:p>
        </p:txBody>
      </p:sp>
      <p:sp>
        <p:nvSpPr>
          <p:cNvPr id="16" name="Text 14"/>
          <p:cNvSpPr/>
          <p:nvPr/>
        </p:nvSpPr>
        <p:spPr>
          <a:xfrm>
            <a:off x="6507328" y="2926080"/>
            <a:ext cx="4815688" cy="530352"/>
          </a:xfrm>
          <a:prstGeom prst="rect">
            <a:avLst/>
          </a:prstGeom>
          <a:noFill/>
          <a:ln/>
        </p:spPr>
        <p:txBody>
          <a:bodyPr wrap="square" rtlCol="0" anchor="t"/>
          <a:lstStyle/>
          <a:p>
            <a:pPr indent="0" marL="0">
              <a:lnSpc>
                <a:spcPct val="112000"/>
              </a:lnSpc>
              <a:buNone/>
            </a:pPr>
            <a:r>
              <a:rPr lang="en-US" sz="1200" b="1" dirty="0">
                <a:solidFill>
                  <a:srgbClr val="1A1F26"/>
                </a:solidFill>
                <a:latin typeface="Calibri" pitchFamily="34" charset="0"/>
                <a:ea typeface="Calibri" pitchFamily="34" charset="-122"/>
                <a:cs typeface="Calibri" pitchFamily="34" charset="-120"/>
              </a:rPr>
              <a:t>eTeacher is a 25-year Israeli company with an existing press trail and CEO recognition.</a:t>
            </a:r>
            <a:endParaRPr lang="en-US" sz="1200" dirty="0"/>
          </a:p>
        </p:txBody>
      </p:sp>
      <p:sp>
        <p:nvSpPr>
          <p:cNvPr id="17" name="Text 15"/>
          <p:cNvSpPr/>
          <p:nvPr/>
        </p:nvSpPr>
        <p:spPr>
          <a:xfrm>
            <a:off x="6507328" y="3520440"/>
            <a:ext cx="4815688" cy="658368"/>
          </a:xfrm>
          <a:prstGeom prst="rect">
            <a:avLst/>
          </a:prstGeom>
          <a:noFill/>
          <a:ln/>
        </p:spPr>
        <p:txBody>
          <a:bodyPr wrap="square" rtlCol="0" anchor="t"/>
          <a:lstStyle/>
          <a:p>
            <a:pPr indent="0" marL="0">
              <a:lnSpc>
                <a:spcPct val="112000"/>
              </a:lnSpc>
              <a:buNone/>
            </a:pPr>
            <a:r>
              <a:rPr lang="en-US" sz="1150" i="1" dirty="0">
                <a:solidFill>
                  <a:srgbClr val="6E4A12"/>
                </a:solidFill>
                <a:latin typeface="Calibri" pitchFamily="34" charset="0"/>
                <a:ea typeface="Calibri" pitchFamily="34" charset="-122"/>
                <a:cs typeface="Calibri" pitchFamily="34" charset="-120"/>
              </a:rPr>
              <a:t>ANGLE: business + national pride. “Veteran Israeli EdTech enters the $8T global longevity market.”</a:t>
            </a:r>
            <a:endParaRPr lang="en-US" sz="1150" dirty="0"/>
          </a:p>
        </p:txBody>
      </p:sp>
      <p:sp>
        <p:nvSpPr>
          <p:cNvPr id="18" name="Text 16"/>
          <p:cNvSpPr/>
          <p:nvPr/>
        </p:nvSpPr>
        <p:spPr>
          <a:xfrm>
            <a:off x="6507328" y="4206240"/>
            <a:ext cx="4815688" cy="219456"/>
          </a:xfrm>
          <a:prstGeom prst="rect">
            <a:avLst/>
          </a:prstGeom>
          <a:noFill/>
          <a:ln/>
        </p:spPr>
        <p:txBody>
          <a:bodyPr wrap="square" rtlCol="0" anchor="ctr"/>
          <a:lstStyle/>
          <a:p>
            <a:pPr indent="0" marL="0">
              <a:buNone/>
            </a:pPr>
            <a:r>
              <a:rPr lang="en-US" sz="900" b="1" spc="100" kern="0" dirty="0">
                <a:solidFill>
                  <a:srgbClr val="5C6672"/>
                </a:solidFill>
                <a:latin typeface="Calibri" pitchFamily="34" charset="0"/>
                <a:ea typeface="Calibri" pitchFamily="34" charset="-122"/>
                <a:cs typeface="Calibri" pitchFamily="34" charset="-120"/>
              </a:rPr>
              <a:t>TARGET OUTLETS</a:t>
            </a:r>
            <a:endParaRPr lang="en-US" sz="900" dirty="0"/>
          </a:p>
        </p:txBody>
      </p:sp>
      <p:sp>
        <p:nvSpPr>
          <p:cNvPr id="19" name="Text 17"/>
          <p:cNvSpPr/>
          <p:nvPr/>
        </p:nvSpPr>
        <p:spPr>
          <a:xfrm>
            <a:off x="6507328" y="4434840"/>
            <a:ext cx="4815688" cy="1005840"/>
          </a:xfrm>
          <a:prstGeom prst="rect">
            <a:avLst/>
          </a:prstGeom>
          <a:noFill/>
          <a:ln/>
        </p:spPr>
        <p:txBody>
          <a:bodyPr wrap="square" rtlCol="0" anchor="t"/>
          <a:lstStyle/>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TheMarker, Globes, Calcalist</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Geektime, CTech (Calcalist tech)</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Ynet / Mako lifestyle-health desks</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IVC / startup-nation newsletters</a:t>
            </a:r>
            <a:endParaRPr lang="en-US" sz="1100" dirty="0"/>
          </a:p>
        </p:txBody>
      </p:sp>
      <p:sp>
        <p:nvSpPr>
          <p:cNvPr id="20" name="Text 18"/>
          <p:cNvSpPr/>
          <p:nvPr/>
        </p:nvSpPr>
        <p:spPr>
          <a:xfrm>
            <a:off x="6507328" y="5513832"/>
            <a:ext cx="4815688" cy="320040"/>
          </a:xfrm>
          <a:prstGeom prst="rect">
            <a:avLst/>
          </a:prstGeom>
          <a:noFill/>
          <a:ln/>
        </p:spPr>
        <p:txBody>
          <a:bodyPr wrap="square" rtlCol="0" anchor="ctr"/>
          <a:lstStyle/>
          <a:p>
            <a:pPr indent="0" marL="0">
              <a:buNone/>
            </a:pPr>
            <a:r>
              <a:rPr lang="en-US" sz="1150" b="1" dirty="0">
                <a:solidFill>
                  <a:srgbClr val="6E4A12"/>
                </a:solidFill>
                <a:latin typeface="Calibri" pitchFamily="34" charset="0"/>
                <a:ea typeface="Calibri" pitchFamily="34" charset="-122"/>
                <a:cs typeface="Calibri" pitchFamily="34" charset="-120"/>
              </a:rPr>
              <a:t>GOAL: 1–2 Israeli business features</a:t>
            </a:r>
            <a:endParaRPr lang="en-US" sz="1150" dirty="0"/>
          </a:p>
        </p:txBody>
      </p:sp>
      <p:sp>
        <p:nvSpPr>
          <p:cNvPr id="21" name="Text 1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86384"/>
            <a:ext cx="10911535" cy="73152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Part 2 — How, step 1: free earned media</a:t>
            </a:r>
            <a:endParaRPr lang="en-US" sz="2600" dirty="0"/>
          </a:p>
        </p:txBody>
      </p:sp>
      <p:sp>
        <p:nvSpPr>
          <p:cNvPr id="3" name="Text 1"/>
          <p:cNvSpPr/>
          <p:nvPr/>
        </p:nvSpPr>
        <p:spPr>
          <a:xfrm>
            <a:off x="640080" y="457200"/>
            <a:ext cx="10911535"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100" b="1" spc="200" kern="0" dirty="0">
                <a:solidFill>
                  <a:srgbClr val="5C6672"/>
                </a:solidFill>
                <a:latin typeface="Calibri" pitchFamily="34" charset="0"/>
                <a:ea typeface="Calibri" pitchFamily="34" charset="-122"/>
                <a:cs typeface="Calibri" pitchFamily="34" charset="-120"/>
              </a:rPr>
              <a:t>     PART 2 OF 6</a:t>
            </a:r>
            <a:endParaRPr lang="en-US" sz="1100" dirty="0"/>
          </a:p>
        </p:txBody>
      </p:sp>
      <p:sp>
        <p:nvSpPr>
          <p:cNvPr id="4" name="Text 2"/>
          <p:cNvSpPr/>
          <p:nvPr/>
        </p:nvSpPr>
        <p:spPr>
          <a:xfrm>
            <a:off x="640080" y="1536192"/>
            <a:ext cx="10911535" cy="457200"/>
          </a:xfrm>
          <a:prstGeom prst="rect">
            <a:avLst/>
          </a:prstGeom>
          <a:noFill/>
          <a:ln/>
        </p:spPr>
        <p:txBody>
          <a:bodyPr wrap="square" rtlCol="0" anchor="t"/>
          <a:lstStyle/>
          <a:p>
            <a:pPr indent="0" marL="0">
              <a:lnSpc>
                <a:spcPct val="115000"/>
              </a:lnSpc>
              <a:buNone/>
            </a:pPr>
            <a:r>
              <a:rPr lang="en-US" sz="135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350" dirty="0">
                <a:solidFill>
                  <a:srgbClr val="1A1F26"/>
                </a:solidFill>
                <a:latin typeface="Calibri" pitchFamily="34" charset="0"/>
                <a:ea typeface="Calibri" pitchFamily="34" charset="-122"/>
                <a:cs typeface="Calibri" pitchFamily="34" charset="-120"/>
              </a:rPr>
              <a:t>The no-cost tactics that win coverage — and how likely each is to work.</a:t>
            </a:r>
            <a:endParaRPr lang="en-US" sz="13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698480" cy="914400"/>
        </p:xfrm>
        <a:graphic>
          <a:graphicData uri="http://schemas.openxmlformats.org/drawingml/2006/table">
            <a:tbl>
              <a:tblPr/>
              <a:tblGrid>
                <a:gridCol w="2743200"/>
                <a:gridCol w="4480560"/>
                <a:gridCol w="1005840"/>
                <a:gridCol w="24688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Tactic</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it is</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Effort</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Likelihood</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Direct journalist pitching</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Build a list of reporters who already cover longevity/EdTech; email a tailored story</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437A22"/>
                          </a:solidFill>
                          <a:latin typeface="Calibri" pitchFamily="34" charset="0"/>
                          <a:ea typeface="Calibri" pitchFamily="34" charset="-122"/>
                          <a:cs typeface="Calibri" pitchFamily="34" charset="-120"/>
                        </a:rPr>
                        <a:t>GOOD — 40–60%</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Source of Sources (free HARO)</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Peter Shankman’s free daily journalist-request emails; reply fast as an expert source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100" b="1" dirty="0">
                          <a:solidFill>
                            <a:srgbClr val="437A22"/>
                          </a:solidFill>
                          <a:latin typeface="Calibri" pitchFamily="34" charset="0"/>
                          <a:ea typeface="Calibri" pitchFamily="34" charset="-122"/>
                          <a:cs typeface="Calibri" pitchFamily="34" charset="-120"/>
                        </a:rPr>
                        <a:t>GOOD — quotes/mentions</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#journorequest / #prrequest on X</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Monitor hashtags where reporters ask for sources; pitch within the hour</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Qwoted (free tier)</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Verified expert marketplace; free plan gets you into journalist requests</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PRLog (free wire) + owned channels</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Free press-release posting + LinkedIn thought-leadership from Harel</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LOW reach, builds trail</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6035040"/>
            <a:ext cx="10911535" cy="365760"/>
          </a:xfrm>
          <a:prstGeom prst="rect">
            <a:avLst/>
          </a:prstGeom>
          <a:noFill/>
          <a:ln/>
        </p:spPr>
        <p:txBody>
          <a:bodyPr wrap="square" rtlCol="0" anchor="ctr"/>
          <a:lstStyle/>
          <a:p>
            <a:pPr indent="0" marL="0">
              <a:lnSpc>
                <a:spcPct val="110000"/>
              </a:lnSpc>
              <a:buNone/>
            </a:pPr>
            <a:r>
              <a:rPr lang="en-US" sz="1050" i="1" dirty="0">
                <a:solidFill>
                  <a:srgbClr val="5C6672"/>
                </a:solidFill>
                <a:latin typeface="Calibri" pitchFamily="34" charset="0"/>
                <a:ea typeface="Calibri" pitchFamily="34" charset="-122"/>
                <a:cs typeface="Calibri" pitchFamily="34" charset="-120"/>
              </a:rPr>
              <a:t>Rule that makes free work: speed + relevance. The first ~10 replies to a journalist request get read; a tailored, human pitch beats a mass blast every time.</a:t>
            </a:r>
            <a:endParaRPr lang="en-US" sz="1050" dirty="0"/>
          </a:p>
        </p:txBody>
      </p:sp>
      <p:sp>
        <p:nvSpPr>
          <p:cNvPr id="7" name="Text 4"/>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BuzzStream (HARO alternatives)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Prezly</a:t>
            </a:r>
            <a:endParaRPr lang="en-US" sz="800" dirty="0"/>
          </a:p>
        </p:txBody>
      </p:sp>
      <p:sp>
        <p:nvSpPr>
          <p:cNvPr id="8"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86384"/>
            <a:ext cx="10911535" cy="73152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Part 2 — How, step 2: paid distribution</a:t>
            </a:r>
            <a:endParaRPr lang="en-US" sz="2600" dirty="0"/>
          </a:p>
        </p:txBody>
      </p:sp>
      <p:sp>
        <p:nvSpPr>
          <p:cNvPr id="3" name="Text 1"/>
          <p:cNvSpPr/>
          <p:nvPr/>
        </p:nvSpPr>
        <p:spPr>
          <a:xfrm>
            <a:off x="640080" y="457200"/>
            <a:ext cx="10911535"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100" b="1" spc="200" kern="0" dirty="0">
                <a:solidFill>
                  <a:srgbClr val="5C6672"/>
                </a:solidFill>
                <a:latin typeface="Calibri" pitchFamily="34" charset="0"/>
                <a:ea typeface="Calibri" pitchFamily="34" charset="-122"/>
                <a:cs typeface="Calibri" pitchFamily="34" charset="-120"/>
              </a:rPr>
              <a:t>     PART 2 OF 6</a:t>
            </a:r>
            <a:endParaRPr lang="en-US" sz="1100" dirty="0"/>
          </a:p>
        </p:txBody>
      </p:sp>
      <p:sp>
        <p:nvSpPr>
          <p:cNvPr id="4" name="Text 2"/>
          <p:cNvSpPr/>
          <p:nvPr/>
        </p:nvSpPr>
        <p:spPr>
          <a:xfrm>
            <a:off x="640080" y="1536192"/>
            <a:ext cx="10911535" cy="457200"/>
          </a:xfrm>
          <a:prstGeom prst="rect">
            <a:avLst/>
          </a:prstGeom>
          <a:noFill/>
          <a:ln/>
        </p:spPr>
        <p:txBody>
          <a:bodyPr wrap="square" rtlCol="0" anchor="t"/>
          <a:lstStyle/>
          <a:p>
            <a:pPr indent="0" marL="0">
              <a:lnSpc>
                <a:spcPct val="115000"/>
              </a:lnSpc>
              <a:buNone/>
            </a:pPr>
            <a:r>
              <a:rPr lang="en-US" sz="135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350" dirty="0">
                <a:solidFill>
                  <a:srgbClr val="1A1F26"/>
                </a:solidFill>
                <a:latin typeface="Calibri" pitchFamily="34" charset="0"/>
                <a:ea typeface="Calibri" pitchFamily="34" charset="-122"/>
                <a:cs typeface="Calibri" pitchFamily="34" charset="-120"/>
              </a:rPr>
              <a:t>The paid wires that guarantee one placement per wave — and what each costs.</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881360" cy="914400"/>
        </p:xfrm>
        <a:graphic>
          <a:graphicData uri="http://schemas.openxmlformats.org/drawingml/2006/table">
            <a:tbl>
              <a:tblPr/>
              <a:tblGrid>
                <a:gridCol w="2103120"/>
                <a:gridCol w="3291840"/>
                <a:gridCol w="3931920"/>
                <a:gridCol w="15544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Cost (per release)</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you get</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Verdict</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EIN Presswire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$100–$150 · 5-pack ~$80 ea</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Global 200+ countries, AP News, Google News, Benzinga. No membership.</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437A22"/>
                          </a:solidFill>
                          <a:latin typeface="Calibri" pitchFamily="34" charset="0"/>
                          <a:ea typeface="Calibri" pitchFamily="34" charset="-122"/>
                          <a:cs typeface="Calibri" pitchFamily="34" charset="-120"/>
                        </a:rPr>
                        <a:t>BEST VALUE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Newswire.com</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$299–$799</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Unlimited words/images, writing included; +AP add-on</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Good mid-tier</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GlobeNewswire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~$195 entry / ~$900–$1,200 national</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Strong for financial/corporate; we’ve used it before (2020)</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Familiar</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PR Newswire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$805 national + $195 membership + add-ons → $2,000–$3,000+</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The premium name; most credible dateline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Splurge, Wave 1 only</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ABNewswire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$80 single / ~$18–20 in bulk</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400+ sites; cheapest volume option</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Budget backup</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6035040"/>
            <a:ext cx="10911535" cy="365760"/>
          </a:xfrm>
          <a:prstGeom prst="rect">
            <a:avLst/>
          </a:prstGeom>
          <a:noFill/>
          <a:ln/>
        </p:spPr>
        <p:txBody>
          <a:bodyPr wrap="square" rtlCol="0" anchor="ctr"/>
          <a:lstStyle/>
          <a:p>
            <a:pPr indent="0" marL="0">
              <a:lnSpc>
                <a:spcPct val="110000"/>
              </a:lnSpc>
              <a:buNone/>
            </a:pPr>
            <a:r>
              <a:rPr lang="en-US" sz="1050" i="1" dirty="0">
                <a:solidFill>
                  <a:srgbClr val="5C6672"/>
                </a:solidFill>
                <a:latin typeface="Calibri" pitchFamily="34" charset="0"/>
                <a:ea typeface="Calibri" pitchFamily="34" charset="-122"/>
                <a:cs typeface="Calibri" pitchFamily="34" charset="-120"/>
              </a:rPr>
              <a:t>Recommendation: EIN Presswire as the workhorse for all four waves; reserve PR Newswire for Wave 1 only if the CEO wants the premium dateline on the launch.</a:t>
            </a:r>
            <a:endParaRPr lang="en-US" sz="1050" dirty="0"/>
          </a:p>
        </p:txBody>
      </p:sp>
      <p:sp>
        <p:nvSpPr>
          <p:cNvPr id="7" name="Text 4"/>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comparison 2026</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Prezly (EIN vs PR Newswire)</a:t>
            </a:r>
            <a:endParaRPr lang="en-US" sz="800" dirty="0"/>
          </a:p>
        </p:txBody>
      </p:sp>
      <p:sp>
        <p:nvSpPr>
          <p:cNvPr id="8"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86384"/>
            <a:ext cx="10911535" cy="73152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Part 3 — What it costs: lean vs. premium</a:t>
            </a:r>
            <a:endParaRPr lang="en-US" sz="2600" dirty="0"/>
          </a:p>
        </p:txBody>
      </p:sp>
      <p:sp>
        <p:nvSpPr>
          <p:cNvPr id="3" name="Text 1"/>
          <p:cNvSpPr/>
          <p:nvPr/>
        </p:nvSpPr>
        <p:spPr>
          <a:xfrm>
            <a:off x="640080" y="457200"/>
            <a:ext cx="10911535"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100" b="1" spc="200" kern="0" dirty="0">
                <a:solidFill>
                  <a:srgbClr val="5C6672"/>
                </a:solidFill>
                <a:latin typeface="Calibri" pitchFamily="34" charset="0"/>
                <a:ea typeface="Calibri" pitchFamily="34" charset="-122"/>
                <a:cs typeface="Calibri" pitchFamily="34" charset="-120"/>
              </a:rPr>
              <a:t>     PART 3 OF 6</a:t>
            </a:r>
            <a:endParaRPr lang="en-US" sz="1100" dirty="0"/>
          </a:p>
        </p:txBody>
      </p:sp>
      <p:sp>
        <p:nvSpPr>
          <p:cNvPr id="4" name="Text 2"/>
          <p:cNvSpPr/>
          <p:nvPr/>
        </p:nvSpPr>
        <p:spPr>
          <a:xfrm>
            <a:off x="640080" y="1536192"/>
            <a:ext cx="10911535" cy="457200"/>
          </a:xfrm>
          <a:prstGeom prst="rect">
            <a:avLst/>
          </a:prstGeom>
          <a:noFill/>
          <a:ln/>
        </p:spPr>
        <p:txBody>
          <a:bodyPr wrap="square" rtlCol="0" anchor="t"/>
          <a:lstStyle/>
          <a:p>
            <a:pPr indent="0" marL="0">
              <a:lnSpc>
                <a:spcPct val="115000"/>
              </a:lnSpc>
              <a:buNone/>
            </a:pPr>
            <a:r>
              <a:rPr lang="en-US" sz="135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350" dirty="0">
                <a:solidFill>
                  <a:srgbClr val="1A1F26"/>
                </a:solidFill>
                <a:latin typeface="Calibri" pitchFamily="34" charset="0"/>
                <a:ea typeface="Calibri" pitchFamily="34" charset="-122"/>
                <a:cs typeface="Calibri" pitchFamily="34" charset="-120"/>
              </a:rPr>
              <a:t>The total spend for all four waves — and where the extra money goes.</a:t>
            </a:r>
            <a:endParaRPr lang="en-US" sz="1350" dirty="0"/>
          </a:p>
        </p:txBody>
      </p:sp>
      <p:sp>
        <p:nvSpPr>
          <p:cNvPr id="5" name="Shape 3"/>
          <p:cNvSpPr/>
          <p:nvPr/>
        </p:nvSpPr>
        <p:spPr>
          <a:xfrm>
            <a:off x="640080" y="2240280"/>
            <a:ext cx="5272888" cy="3429000"/>
          </a:xfrm>
          <a:prstGeom prst="roundRect">
            <a:avLst>
              <a:gd name="adj" fmla="val 1600"/>
            </a:avLst>
          </a:prstGeom>
          <a:solidFill>
            <a:srgbClr val="FFFFFF"/>
          </a:solidFill>
          <a:ln w="12700">
            <a:solidFill>
              <a:srgbClr val="D9DDE2"/>
            </a:solidFill>
            <a:prstDash val="solid"/>
          </a:ln>
        </p:spPr>
      </p:sp>
      <p:sp>
        <p:nvSpPr>
          <p:cNvPr id="6" name="Shape 4"/>
          <p:cNvSpPr/>
          <p:nvPr/>
        </p:nvSpPr>
        <p:spPr>
          <a:xfrm>
            <a:off x="640080" y="2240280"/>
            <a:ext cx="5272888" cy="502920"/>
          </a:xfrm>
          <a:prstGeom prst="rect">
            <a:avLst/>
          </a:prstGeom>
          <a:solidFill>
            <a:srgbClr val="0C2A43"/>
          </a:solidFill>
          <a:ln/>
        </p:spPr>
      </p:sp>
      <p:sp>
        <p:nvSpPr>
          <p:cNvPr id="7" name="Text 5"/>
          <p:cNvSpPr/>
          <p:nvPr/>
        </p:nvSpPr>
        <p:spPr>
          <a:xfrm>
            <a:off x="868680"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LEAN  ·  solo, bootstrapped</a:t>
            </a:r>
            <a:endParaRPr lang="en-US" sz="1350" dirty="0"/>
          </a:p>
        </p:txBody>
      </p:sp>
      <p:sp>
        <p:nvSpPr>
          <p:cNvPr id="8" name="Text 6"/>
          <p:cNvSpPr/>
          <p:nvPr/>
        </p:nvSpPr>
        <p:spPr>
          <a:xfrm>
            <a:off x="868680" y="2843784"/>
            <a:ext cx="4815688" cy="640080"/>
          </a:xfrm>
          <a:prstGeom prst="rect">
            <a:avLst/>
          </a:prstGeom>
          <a:noFill/>
          <a:ln/>
        </p:spPr>
        <p:txBody>
          <a:bodyPr wrap="square" rtlCol="0" anchor="ctr"/>
          <a:lstStyle/>
          <a:p>
            <a:pPr indent="0" marL="0">
              <a:buNone/>
            </a:pPr>
            <a:r>
              <a:rPr lang="en-US" sz="3800" b="1" dirty="0">
                <a:solidFill>
                  <a:srgbClr val="0C2A43"/>
                </a:solidFill>
                <a:latin typeface="Cambria" pitchFamily="34" charset="0"/>
                <a:ea typeface="Cambria" pitchFamily="34" charset="-122"/>
                <a:cs typeface="Cambria" pitchFamily="34" charset="-120"/>
              </a:rPr>
              <a:t>~$450–$700</a:t>
            </a:r>
            <a:endParaRPr lang="en-US" sz="3800" dirty="0"/>
          </a:p>
        </p:txBody>
      </p:sp>
      <p:sp>
        <p:nvSpPr>
          <p:cNvPr id="9" name="Text 7"/>
          <p:cNvSpPr/>
          <p:nvPr/>
        </p:nvSpPr>
        <p:spPr>
          <a:xfrm>
            <a:off x="868680" y="3502152"/>
            <a:ext cx="4815688" cy="274320"/>
          </a:xfrm>
          <a:prstGeom prst="rect">
            <a:avLst/>
          </a:prstGeom>
          <a:noFill/>
          <a:ln/>
        </p:spPr>
        <p:txBody>
          <a:bodyPr wrap="square" rtlCol="0" anchor="ctr"/>
          <a:lstStyle/>
          <a:p>
            <a:pPr indent="0" marL="0">
              <a:buNone/>
            </a:pPr>
            <a:r>
              <a:rPr lang="en-US" sz="1150" dirty="0">
                <a:solidFill>
                  <a:srgbClr val="5C6672"/>
                </a:solidFill>
                <a:latin typeface="Calibri" pitchFamily="34" charset="0"/>
                <a:ea typeface="Calibri" pitchFamily="34" charset="-122"/>
                <a:cs typeface="Calibri" pitchFamily="34" charset="-120"/>
              </a:rPr>
              <a:t>total, all 4 waves — our recommendation</a:t>
            </a:r>
            <a:endParaRPr lang="en-US" sz="1150" dirty="0"/>
          </a:p>
        </p:txBody>
      </p:sp>
      <p:sp>
        <p:nvSpPr>
          <p:cNvPr id="10" name="Text 8"/>
          <p:cNvSpPr/>
          <p:nvPr/>
        </p:nvSpPr>
        <p:spPr>
          <a:xfrm>
            <a:off x="868680" y="3867912"/>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EIN Presswire 5-pack</a:t>
            </a:r>
            <a:endParaRPr lang="en-US" sz="1100" dirty="0"/>
          </a:p>
        </p:txBody>
      </p:sp>
      <p:sp>
        <p:nvSpPr>
          <p:cNvPr id="11" name="Text 9"/>
          <p:cNvSpPr/>
          <p:nvPr/>
        </p:nvSpPr>
        <p:spPr>
          <a:xfrm>
            <a:off x="4495648" y="3867912"/>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$399</a:t>
            </a:r>
            <a:endParaRPr lang="en-US" sz="1100" dirty="0"/>
          </a:p>
        </p:txBody>
      </p:sp>
      <p:sp>
        <p:nvSpPr>
          <p:cNvPr id="12" name="Text 10"/>
          <p:cNvSpPr/>
          <p:nvPr/>
        </p:nvSpPr>
        <p:spPr>
          <a:xfrm>
            <a:off x="868680" y="4233672"/>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Free tactics (SoS, #journorequest, pitching)</a:t>
            </a:r>
            <a:endParaRPr lang="en-US" sz="1100" dirty="0"/>
          </a:p>
        </p:txBody>
      </p:sp>
      <p:sp>
        <p:nvSpPr>
          <p:cNvPr id="13" name="Text 11"/>
          <p:cNvSpPr/>
          <p:nvPr/>
        </p:nvSpPr>
        <p:spPr>
          <a:xfrm>
            <a:off x="4495648" y="4233672"/>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$0</a:t>
            </a:r>
            <a:endParaRPr lang="en-US" sz="1100" dirty="0"/>
          </a:p>
        </p:txBody>
      </p:sp>
      <p:sp>
        <p:nvSpPr>
          <p:cNvPr id="14" name="Text 12"/>
          <p:cNvSpPr/>
          <p:nvPr/>
        </p:nvSpPr>
        <p:spPr>
          <a:xfrm>
            <a:off x="868680" y="4599432"/>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Optional: 1 stock headshot/logo cleanup</a:t>
            </a:r>
            <a:endParaRPr lang="en-US" sz="1100" dirty="0"/>
          </a:p>
        </p:txBody>
      </p:sp>
      <p:sp>
        <p:nvSpPr>
          <p:cNvPr id="15" name="Text 13"/>
          <p:cNvSpPr/>
          <p:nvPr/>
        </p:nvSpPr>
        <p:spPr>
          <a:xfrm>
            <a:off x="4495648" y="4599432"/>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$0–$150</a:t>
            </a:r>
            <a:endParaRPr lang="en-US" sz="1100" dirty="0"/>
          </a:p>
        </p:txBody>
      </p:sp>
      <p:sp>
        <p:nvSpPr>
          <p:cNvPr id="16" name="Text 14"/>
          <p:cNvSpPr/>
          <p:nvPr/>
        </p:nvSpPr>
        <p:spPr>
          <a:xfrm>
            <a:off x="868680" y="4965192"/>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Owned channels (LinkedIn, site)</a:t>
            </a:r>
            <a:endParaRPr lang="en-US" sz="1100" dirty="0"/>
          </a:p>
        </p:txBody>
      </p:sp>
      <p:sp>
        <p:nvSpPr>
          <p:cNvPr id="17" name="Text 15"/>
          <p:cNvSpPr/>
          <p:nvPr/>
        </p:nvSpPr>
        <p:spPr>
          <a:xfrm>
            <a:off x="4495648" y="4965192"/>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$0</a:t>
            </a:r>
            <a:endParaRPr lang="en-US" sz="1100" dirty="0"/>
          </a:p>
        </p:txBody>
      </p:sp>
      <p:sp>
        <p:nvSpPr>
          <p:cNvPr id="18" name="Text 16"/>
          <p:cNvSpPr/>
          <p:nvPr/>
        </p:nvSpPr>
        <p:spPr>
          <a:xfrm>
            <a:off x="868680" y="5294376"/>
            <a:ext cx="4815688" cy="320040"/>
          </a:xfrm>
          <a:prstGeom prst="rect">
            <a:avLst/>
          </a:prstGeom>
          <a:noFill/>
          <a:ln/>
        </p:spPr>
        <p:txBody>
          <a:bodyPr wrap="square" rtlCol="0" anchor="ctr"/>
          <a:lstStyle/>
          <a:p>
            <a:pPr indent="0" marL="0">
              <a:buNone/>
            </a:pPr>
            <a:r>
              <a:rPr lang="en-US" sz="1000" i="1" dirty="0">
                <a:solidFill>
                  <a:srgbClr val="5C6672"/>
                </a:solidFill>
                <a:latin typeface="Calibri" pitchFamily="34" charset="0"/>
                <a:ea typeface="Calibri" pitchFamily="34" charset="-122"/>
                <a:cs typeface="Calibri" pitchFamily="34" charset="-120"/>
              </a:rPr>
              <a:t>Enough for a real, credible, multi-wave launch run by one person.</a:t>
            </a:r>
            <a:endParaRPr lang="en-US" sz="1000" dirty="0"/>
          </a:p>
        </p:txBody>
      </p:sp>
      <p:sp>
        <p:nvSpPr>
          <p:cNvPr id="19" name="Shape 17"/>
          <p:cNvSpPr/>
          <p:nvPr/>
        </p:nvSpPr>
        <p:spPr>
          <a:xfrm>
            <a:off x="6278728" y="2240280"/>
            <a:ext cx="5272888" cy="3429000"/>
          </a:xfrm>
          <a:prstGeom prst="roundRect">
            <a:avLst>
              <a:gd name="adj" fmla="val 1600"/>
            </a:avLst>
          </a:prstGeom>
          <a:solidFill>
            <a:srgbClr val="FFFFFF"/>
          </a:solidFill>
          <a:ln w="12700">
            <a:solidFill>
              <a:srgbClr val="D9DDE2"/>
            </a:solidFill>
            <a:prstDash val="solid"/>
          </a:ln>
        </p:spPr>
      </p:sp>
      <p:sp>
        <p:nvSpPr>
          <p:cNvPr id="20" name="Shape 18"/>
          <p:cNvSpPr/>
          <p:nvPr/>
        </p:nvSpPr>
        <p:spPr>
          <a:xfrm>
            <a:off x="6278728" y="2240280"/>
            <a:ext cx="5272888" cy="502920"/>
          </a:xfrm>
          <a:prstGeom prst="rect">
            <a:avLst/>
          </a:prstGeom>
          <a:solidFill>
            <a:srgbClr val="6E4A12"/>
          </a:solidFill>
          <a:ln/>
        </p:spPr>
      </p:sp>
      <p:sp>
        <p:nvSpPr>
          <p:cNvPr id="21" name="Text 19"/>
          <p:cNvSpPr/>
          <p:nvPr/>
        </p:nvSpPr>
        <p:spPr>
          <a:xfrm>
            <a:off x="6507328"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PREMIUM  ·  maximum credibility</a:t>
            </a:r>
            <a:endParaRPr lang="en-US" sz="1350" dirty="0"/>
          </a:p>
        </p:txBody>
      </p:sp>
      <p:sp>
        <p:nvSpPr>
          <p:cNvPr id="22" name="Text 20"/>
          <p:cNvSpPr/>
          <p:nvPr/>
        </p:nvSpPr>
        <p:spPr>
          <a:xfrm>
            <a:off x="6507328" y="2843784"/>
            <a:ext cx="4815688" cy="640080"/>
          </a:xfrm>
          <a:prstGeom prst="rect">
            <a:avLst/>
          </a:prstGeom>
          <a:noFill/>
          <a:ln/>
        </p:spPr>
        <p:txBody>
          <a:bodyPr wrap="square" rtlCol="0" anchor="ctr"/>
          <a:lstStyle/>
          <a:p>
            <a:pPr indent="0" marL="0">
              <a:buNone/>
            </a:pPr>
            <a:r>
              <a:rPr lang="en-US" sz="3800" b="1" dirty="0">
                <a:solidFill>
                  <a:srgbClr val="6E4A12"/>
                </a:solidFill>
                <a:latin typeface="Cambria" pitchFamily="34" charset="0"/>
                <a:ea typeface="Cambria" pitchFamily="34" charset="-122"/>
                <a:cs typeface="Cambria" pitchFamily="34" charset="-120"/>
              </a:rPr>
              <a:t>~$3,500–$5,000</a:t>
            </a:r>
            <a:endParaRPr lang="en-US" sz="3800" dirty="0"/>
          </a:p>
        </p:txBody>
      </p:sp>
      <p:sp>
        <p:nvSpPr>
          <p:cNvPr id="23" name="Text 21"/>
          <p:cNvSpPr/>
          <p:nvPr/>
        </p:nvSpPr>
        <p:spPr>
          <a:xfrm>
            <a:off x="6507328" y="3502152"/>
            <a:ext cx="4815688" cy="274320"/>
          </a:xfrm>
          <a:prstGeom prst="rect">
            <a:avLst/>
          </a:prstGeom>
          <a:noFill/>
          <a:ln/>
        </p:spPr>
        <p:txBody>
          <a:bodyPr wrap="square" rtlCol="0" anchor="ctr"/>
          <a:lstStyle/>
          <a:p>
            <a:pPr indent="0" marL="0">
              <a:buNone/>
            </a:pPr>
            <a:r>
              <a:rPr lang="en-US" sz="1150" dirty="0">
                <a:solidFill>
                  <a:srgbClr val="5C6672"/>
                </a:solidFill>
                <a:latin typeface="Calibri" pitchFamily="34" charset="0"/>
                <a:ea typeface="Calibri" pitchFamily="34" charset="-122"/>
                <a:cs typeface="Calibri" pitchFamily="34" charset="-120"/>
              </a:rPr>
              <a:t>total, all 4 waves — optional upgrade</a:t>
            </a:r>
            <a:endParaRPr lang="en-US" sz="1150" dirty="0"/>
          </a:p>
        </p:txBody>
      </p:sp>
      <p:sp>
        <p:nvSpPr>
          <p:cNvPr id="24" name="Text 22"/>
          <p:cNvSpPr/>
          <p:nvPr/>
        </p:nvSpPr>
        <p:spPr>
          <a:xfrm>
            <a:off x="6507328" y="3867912"/>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PR Newswire national (Wave 1)</a:t>
            </a:r>
            <a:endParaRPr lang="en-US" sz="1100" dirty="0"/>
          </a:p>
        </p:txBody>
      </p:sp>
      <p:sp>
        <p:nvSpPr>
          <p:cNvPr id="25" name="Text 23"/>
          <p:cNvSpPr/>
          <p:nvPr/>
        </p:nvSpPr>
        <p:spPr>
          <a:xfrm>
            <a:off x="10134295" y="3867912"/>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$2,000–$3,000</a:t>
            </a:r>
            <a:endParaRPr lang="en-US" sz="1100" dirty="0"/>
          </a:p>
        </p:txBody>
      </p:sp>
      <p:sp>
        <p:nvSpPr>
          <p:cNvPr id="26" name="Text 24"/>
          <p:cNvSpPr/>
          <p:nvPr/>
        </p:nvSpPr>
        <p:spPr>
          <a:xfrm>
            <a:off x="6507328" y="4233672"/>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EIN Presswire (Waves 2–4)</a:t>
            </a:r>
            <a:endParaRPr lang="en-US" sz="1100" dirty="0"/>
          </a:p>
        </p:txBody>
      </p:sp>
      <p:sp>
        <p:nvSpPr>
          <p:cNvPr id="27" name="Text 25"/>
          <p:cNvSpPr/>
          <p:nvPr/>
        </p:nvSpPr>
        <p:spPr>
          <a:xfrm>
            <a:off x="10134295" y="4233672"/>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~$240</a:t>
            </a:r>
            <a:endParaRPr lang="en-US" sz="1100" dirty="0"/>
          </a:p>
        </p:txBody>
      </p:sp>
      <p:sp>
        <p:nvSpPr>
          <p:cNvPr id="28" name="Text 26"/>
          <p:cNvSpPr/>
          <p:nvPr/>
        </p:nvSpPr>
        <p:spPr>
          <a:xfrm>
            <a:off x="6507328" y="4599432"/>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Qwoted paid (3 mo)</a:t>
            </a:r>
            <a:endParaRPr lang="en-US" sz="1100" dirty="0"/>
          </a:p>
        </p:txBody>
      </p:sp>
      <p:sp>
        <p:nvSpPr>
          <p:cNvPr id="29" name="Text 27"/>
          <p:cNvSpPr/>
          <p:nvPr/>
        </p:nvSpPr>
        <p:spPr>
          <a:xfrm>
            <a:off x="10134295" y="4599432"/>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~$300</a:t>
            </a:r>
            <a:endParaRPr lang="en-US" sz="1100" dirty="0"/>
          </a:p>
        </p:txBody>
      </p:sp>
      <p:sp>
        <p:nvSpPr>
          <p:cNvPr id="30" name="Text 28"/>
          <p:cNvSpPr/>
          <p:nvPr/>
        </p:nvSpPr>
        <p:spPr>
          <a:xfrm>
            <a:off x="6507328" y="4965192"/>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Freelance media-list / pitch help</a:t>
            </a:r>
            <a:endParaRPr lang="en-US" sz="1100" dirty="0"/>
          </a:p>
        </p:txBody>
      </p:sp>
      <p:sp>
        <p:nvSpPr>
          <p:cNvPr id="31" name="Text 29"/>
          <p:cNvSpPr/>
          <p:nvPr/>
        </p:nvSpPr>
        <p:spPr>
          <a:xfrm>
            <a:off x="10134295" y="4965192"/>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$500–$1,500</a:t>
            </a:r>
            <a:endParaRPr lang="en-US" sz="1100" dirty="0"/>
          </a:p>
        </p:txBody>
      </p:sp>
      <p:sp>
        <p:nvSpPr>
          <p:cNvPr id="32" name="Text 30"/>
          <p:cNvSpPr/>
          <p:nvPr/>
        </p:nvSpPr>
        <p:spPr>
          <a:xfrm>
            <a:off x="6507328" y="5294376"/>
            <a:ext cx="4815688" cy="320040"/>
          </a:xfrm>
          <a:prstGeom prst="rect">
            <a:avLst/>
          </a:prstGeom>
          <a:noFill/>
          <a:ln/>
        </p:spPr>
        <p:txBody>
          <a:bodyPr wrap="square" rtlCol="0" anchor="ctr"/>
          <a:lstStyle/>
          <a:p>
            <a:pPr indent="0" marL="0">
              <a:buNone/>
            </a:pPr>
            <a:r>
              <a:rPr lang="en-US" sz="1000" i="1" dirty="0">
                <a:solidFill>
                  <a:srgbClr val="5C6672"/>
                </a:solidFill>
                <a:latin typeface="Calibri" pitchFamily="34" charset="0"/>
                <a:ea typeface="Calibri" pitchFamily="34" charset="-122"/>
                <a:cs typeface="Calibri" pitchFamily="34" charset="-120"/>
              </a:rPr>
              <a:t>Only if the CEO wants the premium wire dateline on the launch.</a:t>
            </a:r>
            <a:endParaRPr lang="en-US" sz="1000" dirty="0"/>
          </a:p>
        </p:txBody>
      </p:sp>
      <p:sp>
        <p:nvSpPr>
          <p:cNvPr id="33" name="Text 31"/>
          <p:cNvSpPr/>
          <p:nvPr/>
        </p:nvSpPr>
        <p:spPr>
          <a:xfrm>
            <a:off x="640080" y="5897880"/>
            <a:ext cx="10911535" cy="45720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Bottom line: a serious four-wave launch is realistic for under $700. Everything above that buys credibility and time-savings, not certainty.</a:t>
            </a:r>
            <a:endParaRPr lang="en-US" sz="120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86384"/>
            <a:ext cx="10911535" cy="73152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Part 4 — The odds: guaranteed, likely, stretch</a:t>
            </a:r>
            <a:endParaRPr lang="en-US" sz="2600" dirty="0"/>
          </a:p>
        </p:txBody>
      </p:sp>
      <p:sp>
        <p:nvSpPr>
          <p:cNvPr id="3" name="Text 1"/>
          <p:cNvSpPr/>
          <p:nvPr/>
        </p:nvSpPr>
        <p:spPr>
          <a:xfrm>
            <a:off x="640080" y="457200"/>
            <a:ext cx="10911535"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100" b="1" spc="200" kern="0" dirty="0">
                <a:solidFill>
                  <a:srgbClr val="5C6672"/>
                </a:solidFill>
                <a:latin typeface="Calibri" pitchFamily="34" charset="0"/>
                <a:ea typeface="Calibri" pitchFamily="34" charset="-122"/>
                <a:cs typeface="Calibri" pitchFamily="34" charset="-120"/>
              </a:rPr>
              <a:t>     PART 4 OF 6</a:t>
            </a:r>
            <a:endParaRPr lang="en-US" sz="1100" dirty="0"/>
          </a:p>
        </p:txBody>
      </p:sp>
      <p:sp>
        <p:nvSpPr>
          <p:cNvPr id="4" name="Text 2"/>
          <p:cNvSpPr/>
          <p:nvPr/>
        </p:nvSpPr>
        <p:spPr>
          <a:xfrm>
            <a:off x="640080" y="1536192"/>
            <a:ext cx="10911535" cy="457200"/>
          </a:xfrm>
          <a:prstGeom prst="rect">
            <a:avLst/>
          </a:prstGeom>
          <a:noFill/>
          <a:ln/>
        </p:spPr>
        <p:txBody>
          <a:bodyPr wrap="square" rtlCol="0" anchor="t"/>
          <a:lstStyle/>
          <a:p>
            <a:pPr indent="0" marL="0">
              <a:lnSpc>
                <a:spcPct val="115000"/>
              </a:lnSpc>
              <a:buNone/>
            </a:pPr>
            <a:r>
              <a:rPr lang="en-US" sz="135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350" dirty="0">
                <a:solidFill>
                  <a:srgbClr val="1A1F26"/>
                </a:solidFill>
                <a:latin typeface="Calibri" pitchFamily="34" charset="0"/>
                <a:ea typeface="Calibri" pitchFamily="34" charset="-122"/>
                <a:cs typeface="Calibri" pitchFamily="34" charset="-120"/>
              </a:rPr>
              <a:t>What this plan will realistically deliver — stated honestly, no hype.</a:t>
            </a:r>
            <a:endParaRPr lang="en-US" sz="1350" dirty="0"/>
          </a:p>
        </p:txBody>
      </p:sp>
      <p:sp>
        <p:nvSpPr>
          <p:cNvPr id="5" name="Shape 3"/>
          <p:cNvSpPr/>
          <p:nvPr/>
        </p:nvSpPr>
        <p:spPr>
          <a:xfrm>
            <a:off x="640080" y="2212848"/>
            <a:ext cx="10911535" cy="822960"/>
          </a:xfrm>
          <a:prstGeom prst="roundRect">
            <a:avLst>
              <a:gd name="adj" fmla="val 5556"/>
            </a:avLst>
          </a:prstGeom>
          <a:solidFill>
            <a:srgbClr val="FFFFFF"/>
          </a:solidFill>
          <a:ln w="12700">
            <a:solidFill>
              <a:srgbClr val="D9DDE2"/>
            </a:solidFill>
            <a:prstDash val="solid"/>
          </a:ln>
        </p:spPr>
      </p:sp>
      <p:sp>
        <p:nvSpPr>
          <p:cNvPr id="6" name="Shape 4"/>
          <p:cNvSpPr/>
          <p:nvPr/>
        </p:nvSpPr>
        <p:spPr>
          <a:xfrm>
            <a:off x="640080" y="2212848"/>
            <a:ext cx="1691640" cy="822960"/>
          </a:xfrm>
          <a:prstGeom prst="roundRect">
            <a:avLst>
              <a:gd name="adj" fmla="val 5556"/>
            </a:avLst>
          </a:prstGeom>
          <a:solidFill>
            <a:srgbClr val="437A22"/>
          </a:solidFill>
          <a:ln/>
        </p:spPr>
      </p:sp>
      <p:sp>
        <p:nvSpPr>
          <p:cNvPr id="7" name="Text 5"/>
          <p:cNvSpPr/>
          <p:nvPr/>
        </p:nvSpPr>
        <p:spPr>
          <a:xfrm>
            <a:off x="640080" y="2212848"/>
            <a:ext cx="1691640" cy="822960"/>
          </a:xfrm>
          <a:prstGeom prst="rect">
            <a:avLst/>
          </a:prstGeom>
          <a:noFill/>
          <a:ln/>
        </p:spPr>
        <p:txBody>
          <a:bodyPr wrap="square"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GUARANTEED</a:t>
            </a:r>
            <a:endParaRPr lang="en-US" sz="1300" dirty="0"/>
          </a:p>
        </p:txBody>
      </p:sp>
      <p:sp>
        <p:nvSpPr>
          <p:cNvPr id="8" name="Text 6"/>
          <p:cNvSpPr/>
          <p:nvPr/>
        </p:nvSpPr>
        <p:spPr>
          <a:xfrm>
            <a:off x="2560320" y="2304288"/>
            <a:ext cx="3840480" cy="347472"/>
          </a:xfrm>
          <a:prstGeom prst="rect">
            <a:avLst/>
          </a:prstGeom>
          <a:noFill/>
          <a:ln/>
        </p:spPr>
        <p:txBody>
          <a:bodyPr wrap="square" rtlCol="0" anchor="ctr"/>
          <a:lstStyle/>
          <a:p>
            <a:pPr indent="0" marL="0">
              <a:buNone/>
            </a:pPr>
            <a:r>
              <a:rPr lang="en-US" sz="1600" b="1" dirty="0">
                <a:solidFill>
                  <a:srgbClr val="0C2A43"/>
                </a:solidFill>
                <a:latin typeface="Cambria" pitchFamily="34" charset="0"/>
                <a:ea typeface="Cambria" pitchFamily="34" charset="-122"/>
                <a:cs typeface="Cambria" pitchFamily="34" charset="-120"/>
              </a:rPr>
              <a:t>Paid wire pickup</a:t>
            </a:r>
            <a:endParaRPr lang="en-US" sz="1600" dirty="0"/>
          </a:p>
        </p:txBody>
      </p:sp>
      <p:sp>
        <p:nvSpPr>
          <p:cNvPr id="9" name="Text 7"/>
          <p:cNvSpPr/>
          <p:nvPr/>
        </p:nvSpPr>
        <p:spPr>
          <a:xfrm>
            <a:off x="2560320" y="2670048"/>
            <a:ext cx="3840480" cy="292608"/>
          </a:xfrm>
          <a:prstGeom prst="rect">
            <a:avLst/>
          </a:prstGeom>
          <a:noFill/>
          <a:ln/>
        </p:spPr>
        <p:txBody>
          <a:bodyPr wrap="square" rtlCol="0" anchor="ctr"/>
          <a:lstStyle/>
          <a:p>
            <a:pPr indent="0" marL="0">
              <a:buNone/>
            </a:pPr>
            <a:r>
              <a:rPr lang="en-US" sz="1250" b="1" dirty="0">
                <a:solidFill>
                  <a:srgbClr val="437A22"/>
                </a:solidFill>
                <a:latin typeface="Calibri" pitchFamily="34" charset="0"/>
                <a:ea typeface="Calibri" pitchFamily="34" charset="-122"/>
                <a:cs typeface="Calibri" pitchFamily="34" charset="-120"/>
              </a:rPr>
              <a:t>100%</a:t>
            </a:r>
            <a:endParaRPr lang="en-US" sz="1250" dirty="0"/>
          </a:p>
        </p:txBody>
      </p:sp>
      <p:sp>
        <p:nvSpPr>
          <p:cNvPr id="10" name="Text 8"/>
          <p:cNvSpPr/>
          <p:nvPr/>
        </p:nvSpPr>
        <p:spPr>
          <a:xfrm>
            <a:off x="6583680" y="2286000"/>
            <a:ext cx="4785055" cy="713232"/>
          </a:xfrm>
          <a:prstGeom prst="rect">
            <a:avLst/>
          </a:prstGeom>
          <a:noFill/>
          <a:ln/>
        </p:spPr>
        <p:txBody>
          <a:bodyPr wrap="square" rtlCol="0" anchor="ctr"/>
          <a:lstStyle/>
          <a:p>
            <a:pPr indent="0" marL="0">
              <a:lnSpc>
                <a:spcPct val="110000"/>
              </a:lnSpc>
              <a:buNone/>
            </a:pPr>
            <a:r>
              <a:rPr lang="en-US" sz="1100" dirty="0">
                <a:solidFill>
                  <a:srgbClr val="1A1F26"/>
                </a:solidFill>
                <a:latin typeface="Calibri" pitchFamily="34" charset="0"/>
                <a:ea typeface="Calibri" pitchFamily="34" charset="-122"/>
                <a:cs typeface="Calibri" pitchFamily="34" charset="-120"/>
              </a:rPr>
              <a:t>Every wave appears on the wire + auto-syndications (AP News, Google News). We control this.</a:t>
            </a:r>
            <a:endParaRPr lang="en-US" sz="1100" dirty="0"/>
          </a:p>
        </p:txBody>
      </p:sp>
      <p:sp>
        <p:nvSpPr>
          <p:cNvPr id="11" name="Shape 9"/>
          <p:cNvSpPr/>
          <p:nvPr/>
        </p:nvSpPr>
        <p:spPr>
          <a:xfrm>
            <a:off x="640080" y="3145536"/>
            <a:ext cx="10911535" cy="822960"/>
          </a:xfrm>
          <a:prstGeom prst="roundRect">
            <a:avLst>
              <a:gd name="adj" fmla="val 5556"/>
            </a:avLst>
          </a:prstGeom>
          <a:solidFill>
            <a:srgbClr val="FFFFFF"/>
          </a:solidFill>
          <a:ln w="12700">
            <a:solidFill>
              <a:srgbClr val="D9DDE2"/>
            </a:solidFill>
            <a:prstDash val="solid"/>
          </a:ln>
        </p:spPr>
      </p:sp>
      <p:sp>
        <p:nvSpPr>
          <p:cNvPr id="12" name="Shape 10"/>
          <p:cNvSpPr/>
          <p:nvPr/>
        </p:nvSpPr>
        <p:spPr>
          <a:xfrm>
            <a:off x="640080" y="3145536"/>
            <a:ext cx="1691640" cy="822960"/>
          </a:xfrm>
          <a:prstGeom prst="roundRect">
            <a:avLst>
              <a:gd name="adj" fmla="val 5556"/>
            </a:avLst>
          </a:prstGeom>
          <a:solidFill>
            <a:srgbClr val="437A22"/>
          </a:solidFill>
          <a:ln/>
        </p:spPr>
      </p:sp>
      <p:sp>
        <p:nvSpPr>
          <p:cNvPr id="13" name="Text 11"/>
          <p:cNvSpPr/>
          <p:nvPr/>
        </p:nvSpPr>
        <p:spPr>
          <a:xfrm>
            <a:off x="640080" y="3145536"/>
            <a:ext cx="1691640" cy="822960"/>
          </a:xfrm>
          <a:prstGeom prst="rect">
            <a:avLst/>
          </a:prstGeom>
          <a:noFill/>
          <a:ln/>
        </p:spPr>
        <p:txBody>
          <a:bodyPr wrap="square"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LIKELY</a:t>
            </a:r>
            <a:endParaRPr lang="en-US" sz="1300" dirty="0"/>
          </a:p>
        </p:txBody>
      </p:sp>
      <p:sp>
        <p:nvSpPr>
          <p:cNvPr id="14" name="Text 12"/>
          <p:cNvSpPr/>
          <p:nvPr/>
        </p:nvSpPr>
        <p:spPr>
          <a:xfrm>
            <a:off x="2560320" y="3236976"/>
            <a:ext cx="3840480" cy="347472"/>
          </a:xfrm>
          <a:prstGeom prst="rect">
            <a:avLst/>
          </a:prstGeom>
          <a:noFill/>
          <a:ln/>
        </p:spPr>
        <p:txBody>
          <a:bodyPr wrap="square" rtlCol="0" anchor="ctr"/>
          <a:lstStyle/>
          <a:p>
            <a:pPr indent="0" marL="0">
              <a:buNone/>
            </a:pPr>
            <a:r>
              <a:rPr lang="en-US" sz="1600" b="1" dirty="0">
                <a:solidFill>
                  <a:srgbClr val="0C2A43"/>
                </a:solidFill>
                <a:latin typeface="Cambria" pitchFamily="34" charset="0"/>
                <a:ea typeface="Cambria" pitchFamily="34" charset="-122"/>
                <a:cs typeface="Cambria" pitchFamily="34" charset="-120"/>
              </a:rPr>
              <a:t>A few earned pickups</a:t>
            </a:r>
            <a:endParaRPr lang="en-US" sz="1600" dirty="0"/>
          </a:p>
        </p:txBody>
      </p:sp>
      <p:sp>
        <p:nvSpPr>
          <p:cNvPr id="15" name="Text 13"/>
          <p:cNvSpPr/>
          <p:nvPr/>
        </p:nvSpPr>
        <p:spPr>
          <a:xfrm>
            <a:off x="2560320" y="3602736"/>
            <a:ext cx="3840480" cy="292608"/>
          </a:xfrm>
          <a:prstGeom prst="rect">
            <a:avLst/>
          </a:prstGeom>
          <a:noFill/>
          <a:ln/>
        </p:spPr>
        <p:txBody>
          <a:bodyPr wrap="square" rtlCol="0" anchor="ctr"/>
          <a:lstStyle/>
          <a:p>
            <a:pPr indent="0" marL="0">
              <a:buNone/>
            </a:pPr>
            <a:r>
              <a:rPr lang="en-US" sz="1250" b="1" dirty="0">
                <a:solidFill>
                  <a:srgbClr val="437A22"/>
                </a:solidFill>
                <a:latin typeface="Calibri" pitchFamily="34" charset="0"/>
                <a:ea typeface="Calibri" pitchFamily="34" charset="-122"/>
                <a:cs typeface="Calibri" pitchFamily="34" charset="-120"/>
              </a:rPr>
              <a:t>60–80% chance of ≥3</a:t>
            </a:r>
            <a:endParaRPr lang="en-US" sz="1250" dirty="0"/>
          </a:p>
        </p:txBody>
      </p:sp>
      <p:sp>
        <p:nvSpPr>
          <p:cNvPr id="16" name="Text 14"/>
          <p:cNvSpPr/>
          <p:nvPr/>
        </p:nvSpPr>
        <p:spPr>
          <a:xfrm>
            <a:off x="6583680" y="3218688"/>
            <a:ext cx="4785055" cy="713232"/>
          </a:xfrm>
          <a:prstGeom prst="rect">
            <a:avLst/>
          </a:prstGeom>
          <a:noFill/>
          <a:ln/>
        </p:spPr>
        <p:txBody>
          <a:bodyPr wrap="square" rtlCol="0" anchor="ctr"/>
          <a:lstStyle/>
          <a:p>
            <a:pPr indent="0" marL="0">
              <a:lnSpc>
                <a:spcPct val="110000"/>
              </a:lnSpc>
              <a:buNone/>
            </a:pPr>
            <a:r>
              <a:rPr lang="en-US" sz="1100" dirty="0">
                <a:solidFill>
                  <a:srgbClr val="1A1F26"/>
                </a:solidFill>
                <a:latin typeface="Calibri" pitchFamily="34" charset="0"/>
                <a:ea typeface="Calibri" pitchFamily="34" charset="-122"/>
                <a:cs typeface="Calibri" pitchFamily="34" charset="-120"/>
              </a:rPr>
              <a:t>Across 8 weeks, with two strong hooks, expect 3–6 real earned stories — mostly US health/consumer + Israeli business.</a:t>
            </a:r>
            <a:endParaRPr lang="en-US" sz="1100" dirty="0"/>
          </a:p>
        </p:txBody>
      </p:sp>
      <p:sp>
        <p:nvSpPr>
          <p:cNvPr id="17" name="Shape 15"/>
          <p:cNvSpPr/>
          <p:nvPr/>
        </p:nvSpPr>
        <p:spPr>
          <a:xfrm>
            <a:off x="640080" y="4078224"/>
            <a:ext cx="10911535" cy="822960"/>
          </a:xfrm>
          <a:prstGeom prst="roundRect">
            <a:avLst>
              <a:gd name="adj" fmla="val 5556"/>
            </a:avLst>
          </a:prstGeom>
          <a:solidFill>
            <a:srgbClr val="FFFFFF"/>
          </a:solidFill>
          <a:ln w="12700">
            <a:solidFill>
              <a:srgbClr val="D9DDE2"/>
            </a:solidFill>
            <a:prstDash val="solid"/>
          </a:ln>
        </p:spPr>
      </p:sp>
      <p:sp>
        <p:nvSpPr>
          <p:cNvPr id="18" name="Shape 16"/>
          <p:cNvSpPr/>
          <p:nvPr/>
        </p:nvSpPr>
        <p:spPr>
          <a:xfrm>
            <a:off x="640080" y="4078224"/>
            <a:ext cx="1691640" cy="822960"/>
          </a:xfrm>
          <a:prstGeom prst="roundRect">
            <a:avLst>
              <a:gd name="adj" fmla="val 5556"/>
            </a:avLst>
          </a:prstGeom>
          <a:solidFill>
            <a:srgbClr val="B07A16"/>
          </a:solidFill>
          <a:ln/>
        </p:spPr>
      </p:sp>
      <p:sp>
        <p:nvSpPr>
          <p:cNvPr id="19" name="Text 17"/>
          <p:cNvSpPr/>
          <p:nvPr/>
        </p:nvSpPr>
        <p:spPr>
          <a:xfrm>
            <a:off x="640080" y="4078224"/>
            <a:ext cx="1691640" cy="822960"/>
          </a:xfrm>
          <a:prstGeom prst="rect">
            <a:avLst/>
          </a:prstGeom>
          <a:noFill/>
          <a:ln/>
        </p:spPr>
        <p:txBody>
          <a:bodyPr wrap="square"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POSSIBLE</a:t>
            </a:r>
            <a:endParaRPr lang="en-US" sz="1300" dirty="0"/>
          </a:p>
        </p:txBody>
      </p:sp>
      <p:sp>
        <p:nvSpPr>
          <p:cNvPr id="20" name="Text 18"/>
          <p:cNvSpPr/>
          <p:nvPr/>
        </p:nvSpPr>
        <p:spPr>
          <a:xfrm>
            <a:off x="2560320" y="4169664"/>
            <a:ext cx="3840480" cy="347472"/>
          </a:xfrm>
          <a:prstGeom prst="rect">
            <a:avLst/>
          </a:prstGeom>
          <a:noFill/>
          <a:ln/>
        </p:spPr>
        <p:txBody>
          <a:bodyPr wrap="square" rtlCol="0" anchor="ctr"/>
          <a:lstStyle/>
          <a:p>
            <a:pPr indent="0" marL="0">
              <a:buNone/>
            </a:pPr>
            <a:r>
              <a:rPr lang="en-US" sz="1600" b="1" dirty="0">
                <a:solidFill>
                  <a:srgbClr val="0C2A43"/>
                </a:solidFill>
                <a:latin typeface="Cambria" pitchFamily="34" charset="0"/>
                <a:ea typeface="Cambria" pitchFamily="34" charset="-122"/>
                <a:cs typeface="Cambria" pitchFamily="34" charset="-120"/>
              </a:rPr>
              <a:t>One Tier-1 name</a:t>
            </a:r>
            <a:endParaRPr lang="en-US" sz="1600" dirty="0"/>
          </a:p>
        </p:txBody>
      </p:sp>
      <p:sp>
        <p:nvSpPr>
          <p:cNvPr id="21" name="Text 19"/>
          <p:cNvSpPr/>
          <p:nvPr/>
        </p:nvSpPr>
        <p:spPr>
          <a:xfrm>
            <a:off x="2560320" y="4535424"/>
            <a:ext cx="3840480" cy="292608"/>
          </a:xfrm>
          <a:prstGeom prst="rect">
            <a:avLst/>
          </a:prstGeom>
          <a:noFill/>
          <a:ln/>
        </p:spPr>
        <p:txBody>
          <a:bodyPr wrap="square" rtlCol="0" anchor="ctr"/>
          <a:lstStyle/>
          <a:p>
            <a:pPr indent="0" marL="0">
              <a:buNone/>
            </a:pPr>
            <a:r>
              <a:rPr lang="en-US" sz="1250" b="1" dirty="0">
                <a:solidFill>
                  <a:srgbClr val="B07A16"/>
                </a:solidFill>
                <a:latin typeface="Calibri" pitchFamily="34" charset="0"/>
                <a:ea typeface="Calibri" pitchFamily="34" charset="-122"/>
                <a:cs typeface="Calibri" pitchFamily="34" charset="-120"/>
              </a:rPr>
              <a:t>20–35%</a:t>
            </a:r>
            <a:endParaRPr lang="en-US" sz="1250" dirty="0"/>
          </a:p>
        </p:txBody>
      </p:sp>
      <p:sp>
        <p:nvSpPr>
          <p:cNvPr id="22" name="Text 20"/>
          <p:cNvSpPr/>
          <p:nvPr/>
        </p:nvSpPr>
        <p:spPr>
          <a:xfrm>
            <a:off x="6583680" y="4151376"/>
            <a:ext cx="4785055" cy="713232"/>
          </a:xfrm>
          <a:prstGeom prst="rect">
            <a:avLst/>
          </a:prstGeom>
          <a:noFill/>
          <a:ln/>
        </p:spPr>
        <p:txBody>
          <a:bodyPr wrap="square" rtlCol="0" anchor="ctr"/>
          <a:lstStyle/>
          <a:p>
            <a:pPr indent="0" marL="0">
              <a:lnSpc>
                <a:spcPct val="110000"/>
              </a:lnSpc>
              <a:buNone/>
            </a:pPr>
            <a:r>
              <a:rPr lang="en-US" sz="1100" dirty="0">
                <a:solidFill>
                  <a:srgbClr val="1A1F26"/>
                </a:solidFill>
                <a:latin typeface="Calibri" pitchFamily="34" charset="0"/>
                <a:ea typeface="Calibri" pitchFamily="34" charset="-122"/>
                <a:cs typeface="Calibri" pitchFamily="34" charset="-120"/>
              </a:rPr>
              <a:t>Forbes / Business Insider / a national broadcast segment. Needs the Julie hook to land — realistic but not promised.</a:t>
            </a:r>
            <a:endParaRPr lang="en-US" sz="1100" dirty="0"/>
          </a:p>
        </p:txBody>
      </p:sp>
      <p:sp>
        <p:nvSpPr>
          <p:cNvPr id="23" name="Shape 21"/>
          <p:cNvSpPr/>
          <p:nvPr/>
        </p:nvSpPr>
        <p:spPr>
          <a:xfrm>
            <a:off x="640080" y="5010912"/>
            <a:ext cx="10911535" cy="822960"/>
          </a:xfrm>
          <a:prstGeom prst="roundRect">
            <a:avLst>
              <a:gd name="adj" fmla="val 5556"/>
            </a:avLst>
          </a:prstGeom>
          <a:solidFill>
            <a:srgbClr val="FFFFFF"/>
          </a:solidFill>
          <a:ln w="12700">
            <a:solidFill>
              <a:srgbClr val="D9DDE2"/>
            </a:solidFill>
            <a:prstDash val="solid"/>
          </a:ln>
        </p:spPr>
      </p:sp>
      <p:sp>
        <p:nvSpPr>
          <p:cNvPr id="24" name="Shape 22"/>
          <p:cNvSpPr/>
          <p:nvPr/>
        </p:nvSpPr>
        <p:spPr>
          <a:xfrm>
            <a:off x="640080" y="5010912"/>
            <a:ext cx="1691640" cy="822960"/>
          </a:xfrm>
          <a:prstGeom prst="roundRect">
            <a:avLst>
              <a:gd name="adj" fmla="val 5556"/>
            </a:avLst>
          </a:prstGeom>
          <a:solidFill>
            <a:srgbClr val="8A3A2A"/>
          </a:solidFill>
          <a:ln/>
        </p:spPr>
      </p:sp>
      <p:sp>
        <p:nvSpPr>
          <p:cNvPr id="25" name="Text 23"/>
          <p:cNvSpPr/>
          <p:nvPr/>
        </p:nvSpPr>
        <p:spPr>
          <a:xfrm>
            <a:off x="640080" y="5010912"/>
            <a:ext cx="1691640" cy="822960"/>
          </a:xfrm>
          <a:prstGeom prst="rect">
            <a:avLst/>
          </a:prstGeom>
          <a:noFill/>
          <a:ln/>
        </p:spPr>
        <p:txBody>
          <a:bodyPr wrap="square"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STRETCH</a:t>
            </a:r>
            <a:endParaRPr lang="en-US" sz="1300" dirty="0"/>
          </a:p>
        </p:txBody>
      </p:sp>
      <p:sp>
        <p:nvSpPr>
          <p:cNvPr id="26" name="Text 24"/>
          <p:cNvSpPr/>
          <p:nvPr/>
        </p:nvSpPr>
        <p:spPr>
          <a:xfrm>
            <a:off x="2560320" y="5102352"/>
            <a:ext cx="3840480" cy="347472"/>
          </a:xfrm>
          <a:prstGeom prst="rect">
            <a:avLst/>
          </a:prstGeom>
          <a:noFill/>
          <a:ln/>
        </p:spPr>
        <p:txBody>
          <a:bodyPr wrap="square" rtlCol="0" anchor="ctr"/>
          <a:lstStyle/>
          <a:p>
            <a:pPr indent="0" marL="0">
              <a:buNone/>
            </a:pPr>
            <a:r>
              <a:rPr lang="en-US" sz="1600" b="1" dirty="0">
                <a:solidFill>
                  <a:srgbClr val="0C2A43"/>
                </a:solidFill>
                <a:latin typeface="Cambria" pitchFamily="34" charset="0"/>
                <a:ea typeface="Cambria" pitchFamily="34" charset="-122"/>
                <a:cs typeface="Cambria" pitchFamily="34" charset="-120"/>
              </a:rPr>
              <a:t>Viral / TV national</a:t>
            </a:r>
            <a:endParaRPr lang="en-US" sz="1600" dirty="0"/>
          </a:p>
        </p:txBody>
      </p:sp>
      <p:sp>
        <p:nvSpPr>
          <p:cNvPr id="27" name="Text 25"/>
          <p:cNvSpPr/>
          <p:nvPr/>
        </p:nvSpPr>
        <p:spPr>
          <a:xfrm>
            <a:off x="2560320" y="5468112"/>
            <a:ext cx="3840480" cy="292608"/>
          </a:xfrm>
          <a:prstGeom prst="rect">
            <a:avLst/>
          </a:prstGeom>
          <a:noFill/>
          <a:ln/>
        </p:spPr>
        <p:txBody>
          <a:bodyPr wrap="square" rtlCol="0" anchor="ctr"/>
          <a:lstStyle/>
          <a:p>
            <a:pPr indent="0" marL="0">
              <a:buNone/>
            </a:pPr>
            <a:r>
              <a:rPr lang="en-US" sz="1250" b="1" dirty="0">
                <a:solidFill>
                  <a:srgbClr val="8A3A2A"/>
                </a:solidFill>
                <a:latin typeface="Calibri" pitchFamily="34" charset="0"/>
                <a:ea typeface="Calibri" pitchFamily="34" charset="-122"/>
                <a:cs typeface="Calibri" pitchFamily="34" charset="-120"/>
              </a:rPr>
              <a:t>&lt;15%</a:t>
            </a:r>
            <a:endParaRPr lang="en-US" sz="1250" dirty="0"/>
          </a:p>
        </p:txBody>
      </p:sp>
      <p:sp>
        <p:nvSpPr>
          <p:cNvPr id="28" name="Text 26"/>
          <p:cNvSpPr/>
          <p:nvPr/>
        </p:nvSpPr>
        <p:spPr>
          <a:xfrm>
            <a:off x="6583680" y="5084064"/>
            <a:ext cx="4785055" cy="713232"/>
          </a:xfrm>
          <a:prstGeom prst="rect">
            <a:avLst/>
          </a:prstGeom>
          <a:noFill/>
          <a:ln/>
        </p:spPr>
        <p:txBody>
          <a:bodyPr wrap="square" rtlCol="0" anchor="ctr"/>
          <a:lstStyle/>
          <a:p>
            <a:pPr indent="0" marL="0">
              <a:lnSpc>
                <a:spcPct val="110000"/>
              </a:lnSpc>
              <a:buNone/>
            </a:pPr>
            <a:r>
              <a:rPr lang="en-US" sz="1100" dirty="0">
                <a:solidFill>
                  <a:srgbClr val="1A1F26"/>
                </a:solidFill>
                <a:latin typeface="Calibri" pitchFamily="34" charset="0"/>
                <a:ea typeface="Calibri" pitchFamily="34" charset="-122"/>
                <a:cs typeface="Calibri" pitchFamily="34" charset="-120"/>
              </a:rPr>
              <a:t>GMA / Today national booking. Great if it happens; never the plan we bank on.</a:t>
            </a:r>
            <a:endParaRPr lang="en-US" sz="1100" dirty="0"/>
          </a:p>
        </p:txBody>
      </p:sp>
      <p:sp>
        <p:nvSpPr>
          <p:cNvPr id="29" name="Text 27"/>
          <p:cNvSpPr/>
          <p:nvPr/>
        </p:nvSpPr>
        <p:spPr>
          <a:xfrm>
            <a:off x="640080" y="6053328"/>
            <a:ext cx="10911535" cy="502920"/>
          </a:xfrm>
          <a:prstGeom prst="rect">
            <a:avLst/>
          </a:prstGeom>
          <a:noFill/>
          <a:ln/>
        </p:spPr>
        <p:txBody>
          <a:bodyPr wrap="square" rtlCol="0" anchor="ctr"/>
          <a:lstStyle/>
          <a:p>
            <a:pPr indent="0" marL="0">
              <a:lnSpc>
                <a:spcPct val="108000"/>
              </a:lnSpc>
              <a:buNone/>
            </a:pPr>
            <a:r>
              <a:rPr lang="en-US" sz="1050" b="1" dirty="0">
                <a:solidFill>
                  <a:srgbClr val="0C2A43"/>
                </a:solidFill>
                <a:latin typeface="Calibri" pitchFamily="34" charset="0"/>
                <a:ea typeface="Calibri" pitchFamily="34" charset="-122"/>
                <a:cs typeface="Calibri" pitchFamily="34" charset="-120"/>
              </a:rPr>
              <a:t>We are not starting from zero:  </a:t>
            </a:r>
            <a:pPr indent="0" marL="0">
              <a:lnSpc>
                <a:spcPct val="108000"/>
              </a:lnSpc>
              <a:buNone/>
            </a:pPr>
            <a:r>
              <a:rPr lang="en-US" sz="1050" dirty="0">
                <a:solidFill>
                  <a:srgbClr val="1A1F26"/>
                </a:solidFill>
                <a:latin typeface="Calibri" pitchFamily="34" charset="0"/>
                <a:ea typeface="Calibri" pitchFamily="34" charset="-122"/>
                <a:cs typeface="Calibri" pitchFamily="34" charset="-120"/>
              </a:rPr>
              <a:t>eTeacher already has an indexed press trail (TheMarker feature Feb 2026, GlobeNewswire 2020, PR Newswire 2017) — so reporters find a real corporate history, which lifts our odds on every pitch. We bank on the guaranteed + likely tiers; anything Tier-1 or broadcast is upside, not the promise.</a:t>
            </a:r>
            <a:endParaRPr lang="en-US" sz="1050" dirty="0"/>
          </a:p>
        </p:txBody>
      </p:sp>
      <p:sp>
        <p:nvSpPr>
          <p:cNvPr id="30" name="Text 28"/>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86384"/>
            <a:ext cx="10911535" cy="73152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Part 5 — The playbook: one 14-day play, run 4 times</a:t>
            </a:r>
            <a:endParaRPr lang="en-US" sz="2600" dirty="0"/>
          </a:p>
        </p:txBody>
      </p:sp>
      <p:sp>
        <p:nvSpPr>
          <p:cNvPr id="3" name="Text 1"/>
          <p:cNvSpPr/>
          <p:nvPr/>
        </p:nvSpPr>
        <p:spPr>
          <a:xfrm>
            <a:off x="640080" y="457200"/>
            <a:ext cx="10911535"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100" b="1" spc="200" kern="0" dirty="0">
                <a:solidFill>
                  <a:srgbClr val="5C6672"/>
                </a:solidFill>
                <a:latin typeface="Calibri" pitchFamily="34" charset="0"/>
                <a:ea typeface="Calibri" pitchFamily="34" charset="-122"/>
                <a:cs typeface="Calibri" pitchFamily="34" charset="-120"/>
              </a:rPr>
              <a:t>     PART 5 OF 6</a:t>
            </a:r>
            <a:endParaRPr lang="en-US" sz="1100" dirty="0"/>
          </a:p>
        </p:txBody>
      </p:sp>
      <p:sp>
        <p:nvSpPr>
          <p:cNvPr id="4" name="Text 2"/>
          <p:cNvSpPr/>
          <p:nvPr/>
        </p:nvSpPr>
        <p:spPr>
          <a:xfrm>
            <a:off x="640080" y="1536192"/>
            <a:ext cx="10911535" cy="457200"/>
          </a:xfrm>
          <a:prstGeom prst="rect">
            <a:avLst/>
          </a:prstGeom>
          <a:noFill/>
          <a:ln/>
        </p:spPr>
        <p:txBody>
          <a:bodyPr wrap="square" rtlCol="0" anchor="t"/>
          <a:lstStyle/>
          <a:p>
            <a:pPr indent="0" marL="0">
              <a:lnSpc>
                <a:spcPct val="115000"/>
              </a:lnSpc>
              <a:buNone/>
            </a:pPr>
            <a:r>
              <a:rPr lang="en-US" sz="135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350" dirty="0">
                <a:solidFill>
                  <a:srgbClr val="1A1F26"/>
                </a:solidFill>
                <a:latin typeface="Calibri" pitchFamily="34" charset="0"/>
                <a:ea typeface="Calibri" pitchFamily="34" charset="-122"/>
                <a:cs typeface="Calibri" pitchFamily="34" charset="-120"/>
              </a:rPr>
              <a:t>Exactly what happens, day by day, every time a wave goes live.</a:t>
            </a:r>
            <a:endParaRPr lang="en-US" sz="1350" dirty="0"/>
          </a:p>
        </p:txBody>
      </p:sp>
      <p:sp>
        <p:nvSpPr>
          <p:cNvPr id="5" name="Shape 3"/>
          <p:cNvSpPr/>
          <p:nvPr/>
        </p:nvSpPr>
        <p:spPr>
          <a:xfrm>
            <a:off x="640080" y="2286000"/>
            <a:ext cx="2036003" cy="3108960"/>
          </a:xfrm>
          <a:prstGeom prst="roundRect">
            <a:avLst>
              <a:gd name="adj" fmla="val 2695"/>
            </a:avLst>
          </a:prstGeom>
          <a:solidFill>
            <a:srgbClr val="FFFFFF"/>
          </a:solidFill>
          <a:ln w="12700">
            <a:solidFill>
              <a:srgbClr val="D9DDE2"/>
            </a:solidFill>
            <a:prstDash val="solid"/>
          </a:ln>
        </p:spPr>
      </p:sp>
      <p:sp>
        <p:nvSpPr>
          <p:cNvPr id="6" name="Shape 4"/>
          <p:cNvSpPr/>
          <p:nvPr/>
        </p:nvSpPr>
        <p:spPr>
          <a:xfrm>
            <a:off x="640080" y="2286000"/>
            <a:ext cx="2036003" cy="868680"/>
          </a:xfrm>
          <a:prstGeom prst="roundRect">
            <a:avLst>
              <a:gd name="adj" fmla="val 6316"/>
            </a:avLst>
          </a:prstGeom>
          <a:solidFill>
            <a:srgbClr val="0C2A43"/>
          </a:solidFill>
          <a:ln/>
        </p:spPr>
      </p:sp>
      <p:sp>
        <p:nvSpPr>
          <p:cNvPr id="7" name="Text 5"/>
          <p:cNvSpPr/>
          <p:nvPr/>
        </p:nvSpPr>
        <p:spPr>
          <a:xfrm>
            <a:off x="731520" y="239572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DAYS −7 to −1</a:t>
            </a:r>
            <a:endParaRPr lang="en-US" sz="1100" dirty="0"/>
          </a:p>
        </p:txBody>
      </p:sp>
      <p:sp>
        <p:nvSpPr>
          <p:cNvPr id="8" name="Text 6"/>
          <p:cNvSpPr/>
          <p:nvPr/>
        </p:nvSpPr>
        <p:spPr>
          <a:xfrm>
            <a:off x="731520" y="274320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PREP</a:t>
            </a:r>
            <a:endParaRPr lang="en-US" sz="1500" dirty="0"/>
          </a:p>
        </p:txBody>
      </p:sp>
      <p:sp>
        <p:nvSpPr>
          <p:cNvPr id="9" name="Text 7"/>
          <p:cNvSpPr/>
          <p:nvPr/>
        </p:nvSpPr>
        <p:spPr>
          <a:xfrm>
            <a:off x="786384" y="3291840"/>
            <a:ext cx="1743395" cy="201168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Write the release. Build/refresh the reporter list. Line up the free-platform accounts. Get CEO sign-off on quotes.</a:t>
            </a:r>
            <a:endParaRPr lang="en-US" sz="1050" dirty="0"/>
          </a:p>
        </p:txBody>
      </p:sp>
      <p:sp>
        <p:nvSpPr>
          <p:cNvPr id="10" name="Shape 8"/>
          <p:cNvSpPr/>
          <p:nvPr/>
        </p:nvSpPr>
        <p:spPr>
          <a:xfrm>
            <a:off x="2858963" y="2286000"/>
            <a:ext cx="2036003" cy="310896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2286000"/>
            <a:ext cx="2036003" cy="868680"/>
          </a:xfrm>
          <a:prstGeom prst="roundRect">
            <a:avLst>
              <a:gd name="adj" fmla="val 6316"/>
            </a:avLst>
          </a:prstGeom>
          <a:solidFill>
            <a:srgbClr val="0C2A43"/>
          </a:solidFill>
          <a:ln/>
        </p:spPr>
      </p:sp>
      <p:sp>
        <p:nvSpPr>
          <p:cNvPr id="12" name="Text 10"/>
          <p:cNvSpPr/>
          <p:nvPr/>
        </p:nvSpPr>
        <p:spPr>
          <a:xfrm>
            <a:off x="2950403" y="239572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 1</a:t>
            </a:r>
            <a:endParaRPr lang="en-US" sz="1100" dirty="0"/>
          </a:p>
        </p:txBody>
      </p:sp>
      <p:sp>
        <p:nvSpPr>
          <p:cNvPr id="13" name="Text 11"/>
          <p:cNvSpPr/>
          <p:nvPr/>
        </p:nvSpPr>
        <p:spPr>
          <a:xfrm>
            <a:off x="2950403" y="274320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GO LIVE</a:t>
            </a:r>
            <a:endParaRPr lang="en-US" sz="1500" dirty="0"/>
          </a:p>
        </p:txBody>
      </p:sp>
      <p:sp>
        <p:nvSpPr>
          <p:cNvPr id="14" name="Text 12"/>
          <p:cNvSpPr/>
          <p:nvPr/>
        </p:nvSpPr>
        <p:spPr>
          <a:xfrm>
            <a:off x="3005267" y="3291840"/>
            <a:ext cx="1743395" cy="201168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Send over the paid wire (EIN Presswire). Same morning, email the tailored pitches to your target reporters.</a:t>
            </a:r>
            <a:endParaRPr lang="en-US" sz="1050" dirty="0"/>
          </a:p>
        </p:txBody>
      </p:sp>
      <p:sp>
        <p:nvSpPr>
          <p:cNvPr id="15" name="Shape 13"/>
          <p:cNvSpPr/>
          <p:nvPr/>
        </p:nvSpPr>
        <p:spPr>
          <a:xfrm>
            <a:off x="5077846" y="2286000"/>
            <a:ext cx="2036003" cy="3108960"/>
          </a:xfrm>
          <a:prstGeom prst="roundRect">
            <a:avLst>
              <a:gd name="adj" fmla="val 2695"/>
            </a:avLst>
          </a:prstGeom>
          <a:solidFill>
            <a:srgbClr val="FFFFFF"/>
          </a:solidFill>
          <a:ln w="12700">
            <a:solidFill>
              <a:srgbClr val="D9DDE2"/>
            </a:solidFill>
            <a:prstDash val="solid"/>
          </a:ln>
        </p:spPr>
      </p:sp>
      <p:sp>
        <p:nvSpPr>
          <p:cNvPr id="16" name="Shape 14"/>
          <p:cNvSpPr/>
          <p:nvPr/>
        </p:nvSpPr>
        <p:spPr>
          <a:xfrm>
            <a:off x="5077846" y="2286000"/>
            <a:ext cx="2036003" cy="868680"/>
          </a:xfrm>
          <a:prstGeom prst="roundRect">
            <a:avLst>
              <a:gd name="adj" fmla="val 6316"/>
            </a:avLst>
          </a:prstGeom>
          <a:solidFill>
            <a:srgbClr val="0C2A43"/>
          </a:solidFill>
          <a:ln/>
        </p:spPr>
      </p:sp>
      <p:sp>
        <p:nvSpPr>
          <p:cNvPr id="17" name="Text 15"/>
          <p:cNvSpPr/>
          <p:nvPr/>
        </p:nvSpPr>
        <p:spPr>
          <a:xfrm>
            <a:off x="5169286" y="239572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DAYS 1–5</a:t>
            </a:r>
            <a:endParaRPr lang="en-US" sz="1100" dirty="0"/>
          </a:p>
        </p:txBody>
      </p:sp>
      <p:sp>
        <p:nvSpPr>
          <p:cNvPr id="18" name="Text 16"/>
          <p:cNvSpPr/>
          <p:nvPr/>
        </p:nvSpPr>
        <p:spPr>
          <a:xfrm>
            <a:off x="5169286" y="274320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PITCH</a:t>
            </a:r>
            <a:endParaRPr lang="en-US" sz="1500" dirty="0"/>
          </a:p>
        </p:txBody>
      </p:sp>
      <p:sp>
        <p:nvSpPr>
          <p:cNvPr id="19" name="Text 17"/>
          <p:cNvSpPr/>
          <p:nvPr/>
        </p:nvSpPr>
        <p:spPr>
          <a:xfrm>
            <a:off x="5224150" y="3291840"/>
            <a:ext cx="1743395" cy="201168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Work Source of Sources + #journorequest daily. Reply to any journalist request within the hour. Follow up once.</a:t>
            </a:r>
            <a:endParaRPr lang="en-US" sz="1050" dirty="0"/>
          </a:p>
        </p:txBody>
      </p:sp>
      <p:sp>
        <p:nvSpPr>
          <p:cNvPr id="20" name="Shape 18"/>
          <p:cNvSpPr/>
          <p:nvPr/>
        </p:nvSpPr>
        <p:spPr>
          <a:xfrm>
            <a:off x="7296729" y="2286000"/>
            <a:ext cx="2036003" cy="3108960"/>
          </a:xfrm>
          <a:prstGeom prst="roundRect">
            <a:avLst>
              <a:gd name="adj" fmla="val 2695"/>
            </a:avLst>
          </a:prstGeom>
          <a:solidFill>
            <a:srgbClr val="FFFFFF"/>
          </a:solidFill>
          <a:ln w="12700">
            <a:solidFill>
              <a:srgbClr val="D9DDE2"/>
            </a:solidFill>
            <a:prstDash val="solid"/>
          </a:ln>
        </p:spPr>
      </p:sp>
      <p:sp>
        <p:nvSpPr>
          <p:cNvPr id="21" name="Shape 19"/>
          <p:cNvSpPr/>
          <p:nvPr/>
        </p:nvSpPr>
        <p:spPr>
          <a:xfrm>
            <a:off x="7296729" y="2286000"/>
            <a:ext cx="2036003" cy="868680"/>
          </a:xfrm>
          <a:prstGeom prst="roundRect">
            <a:avLst>
              <a:gd name="adj" fmla="val 6316"/>
            </a:avLst>
          </a:prstGeom>
          <a:solidFill>
            <a:srgbClr val="0C2A43"/>
          </a:solidFill>
          <a:ln/>
        </p:spPr>
      </p:sp>
      <p:sp>
        <p:nvSpPr>
          <p:cNvPr id="22" name="Text 20"/>
          <p:cNvSpPr/>
          <p:nvPr/>
        </p:nvSpPr>
        <p:spPr>
          <a:xfrm>
            <a:off x="7388169" y="239572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DAYS 3–10</a:t>
            </a:r>
            <a:endParaRPr lang="en-US" sz="1100" dirty="0"/>
          </a:p>
        </p:txBody>
      </p:sp>
      <p:sp>
        <p:nvSpPr>
          <p:cNvPr id="23" name="Text 21"/>
          <p:cNvSpPr/>
          <p:nvPr/>
        </p:nvSpPr>
        <p:spPr>
          <a:xfrm>
            <a:off x="7388169" y="274320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AMPLIFY</a:t>
            </a:r>
            <a:endParaRPr lang="en-US" sz="1500" dirty="0"/>
          </a:p>
        </p:txBody>
      </p:sp>
      <p:sp>
        <p:nvSpPr>
          <p:cNvPr id="24" name="Text 22"/>
          <p:cNvSpPr/>
          <p:nvPr/>
        </p:nvSpPr>
        <p:spPr>
          <a:xfrm>
            <a:off x="7443033" y="3291840"/>
            <a:ext cx="1743395" cy="201168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Post from Harel’s LinkedIn. Pitch a broadcast/podcast segment (Julie waves). Share every pickup.</a:t>
            </a:r>
            <a:endParaRPr lang="en-US" sz="1050" dirty="0"/>
          </a:p>
        </p:txBody>
      </p:sp>
      <p:sp>
        <p:nvSpPr>
          <p:cNvPr id="25" name="Shape 23"/>
          <p:cNvSpPr/>
          <p:nvPr/>
        </p:nvSpPr>
        <p:spPr>
          <a:xfrm>
            <a:off x="9515612" y="2286000"/>
            <a:ext cx="2036003" cy="3108960"/>
          </a:xfrm>
          <a:prstGeom prst="roundRect">
            <a:avLst>
              <a:gd name="adj" fmla="val 2695"/>
            </a:avLst>
          </a:prstGeom>
          <a:solidFill>
            <a:srgbClr val="FFFFFF"/>
          </a:solidFill>
          <a:ln w="12700">
            <a:solidFill>
              <a:srgbClr val="D9DDE2"/>
            </a:solidFill>
            <a:prstDash val="solid"/>
          </a:ln>
        </p:spPr>
      </p:sp>
      <p:sp>
        <p:nvSpPr>
          <p:cNvPr id="26" name="Shape 24"/>
          <p:cNvSpPr/>
          <p:nvPr/>
        </p:nvSpPr>
        <p:spPr>
          <a:xfrm>
            <a:off x="9515612" y="2286000"/>
            <a:ext cx="2036003" cy="868680"/>
          </a:xfrm>
          <a:prstGeom prst="roundRect">
            <a:avLst>
              <a:gd name="adj" fmla="val 6316"/>
            </a:avLst>
          </a:prstGeom>
          <a:solidFill>
            <a:srgbClr val="0C2A43"/>
          </a:solidFill>
          <a:ln/>
        </p:spPr>
      </p:sp>
      <p:sp>
        <p:nvSpPr>
          <p:cNvPr id="27" name="Text 25"/>
          <p:cNvSpPr/>
          <p:nvPr/>
        </p:nvSpPr>
        <p:spPr>
          <a:xfrm>
            <a:off x="9607052" y="239572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DAYS 10–14</a:t>
            </a:r>
            <a:endParaRPr lang="en-US" sz="1100" dirty="0"/>
          </a:p>
        </p:txBody>
      </p:sp>
      <p:sp>
        <p:nvSpPr>
          <p:cNvPr id="28" name="Text 26"/>
          <p:cNvSpPr/>
          <p:nvPr/>
        </p:nvSpPr>
        <p:spPr>
          <a:xfrm>
            <a:off x="9607052" y="274320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MEASURE + TEE UP</a:t>
            </a:r>
            <a:endParaRPr lang="en-US" sz="1500" dirty="0"/>
          </a:p>
        </p:txBody>
      </p:sp>
      <p:sp>
        <p:nvSpPr>
          <p:cNvPr id="29" name="Text 27"/>
          <p:cNvSpPr/>
          <p:nvPr/>
        </p:nvSpPr>
        <p:spPr>
          <a:xfrm>
            <a:off x="9661916" y="3291840"/>
            <a:ext cx="1743395" cy="201168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Log every placement in a Google Sheet. Note what landed. Start prep for the next wave.</a:t>
            </a:r>
            <a:endParaRPr lang="en-US" sz="1050" dirty="0"/>
          </a:p>
        </p:txBody>
      </p:sp>
      <p:sp>
        <p:nvSpPr>
          <p:cNvPr id="30" name="Text 28"/>
          <p:cNvSpPr/>
          <p:nvPr/>
        </p:nvSpPr>
        <p:spPr>
          <a:xfrm>
            <a:off x="640080" y="5715000"/>
            <a:ext cx="10911535" cy="45720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Waves go live Mon Jul 13 · Thu Jul 30 · Mon Aug 17 · Thu Sep 3 — spaced ~2.5 weeks so each earns coverage before the next.</a:t>
            </a:r>
            <a:endParaRPr lang="en-US" sz="12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640080"/>
            <a:ext cx="10911535"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9AA4AF"/>
                </a:solidFill>
                <a:latin typeface="Calibri" pitchFamily="34" charset="0"/>
                <a:ea typeface="Calibri" pitchFamily="34" charset="-122"/>
                <a:cs typeface="Calibri" pitchFamily="34" charset="-120"/>
              </a:rPr>
              <a:t>     PART 6 OF 6  ·  DO NOW</a:t>
            </a:r>
            <a:endParaRPr lang="en-US" sz="1300" dirty="0"/>
          </a:p>
        </p:txBody>
      </p:sp>
      <p:sp>
        <p:nvSpPr>
          <p:cNvPr id="4" name="Text 2"/>
          <p:cNvSpPr/>
          <p:nvPr/>
        </p:nvSpPr>
        <p:spPr>
          <a:xfrm>
            <a:off x="640080" y="1097280"/>
            <a:ext cx="10911535" cy="82296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Part 6 — The 7 things to finish before Wave 1 goes live</a:t>
            </a:r>
            <a:endParaRPr lang="en-US" sz="2800" dirty="0"/>
          </a:p>
        </p:txBody>
      </p:sp>
      <p:sp>
        <p:nvSpPr>
          <p:cNvPr id="5" name="Shape 3"/>
          <p:cNvSpPr/>
          <p:nvPr/>
        </p:nvSpPr>
        <p:spPr>
          <a:xfrm>
            <a:off x="640080" y="2194560"/>
            <a:ext cx="457200" cy="457200"/>
          </a:xfrm>
          <a:prstGeom prst="ellipse">
            <a:avLst/>
          </a:prstGeom>
          <a:solidFill>
            <a:srgbClr val="C08A2E"/>
          </a:solidFill>
          <a:ln/>
        </p:spPr>
      </p:sp>
      <p:sp>
        <p:nvSpPr>
          <p:cNvPr id="6" name="Text 4"/>
          <p:cNvSpPr/>
          <p:nvPr/>
        </p:nvSpPr>
        <p:spPr>
          <a:xfrm>
            <a:off x="640080" y="2194560"/>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261872" y="2103120"/>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Get quotes approved</a:t>
            </a:r>
            <a:endParaRPr lang="en-US" sz="1400" dirty="0"/>
          </a:p>
        </p:txBody>
      </p:sp>
      <p:sp>
        <p:nvSpPr>
          <p:cNvPr id="8" name="Text 6"/>
          <p:cNvSpPr/>
          <p:nvPr/>
        </p:nvSpPr>
        <p:spPr>
          <a:xfrm>
            <a:off x="1261872" y="2423160"/>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Harel signs off on his quotes (verbatim + one flagged new line each). This is the only true blocker.</a:t>
            </a:r>
            <a:endParaRPr lang="en-US" sz="1050" dirty="0"/>
          </a:p>
        </p:txBody>
      </p:sp>
      <p:sp>
        <p:nvSpPr>
          <p:cNvPr id="9" name="Shape 7"/>
          <p:cNvSpPr/>
          <p:nvPr/>
        </p:nvSpPr>
        <p:spPr>
          <a:xfrm>
            <a:off x="640080" y="3218688"/>
            <a:ext cx="457200" cy="457200"/>
          </a:xfrm>
          <a:prstGeom prst="ellipse">
            <a:avLst/>
          </a:prstGeom>
          <a:solidFill>
            <a:srgbClr val="C08A2E"/>
          </a:solidFill>
          <a:ln/>
        </p:spPr>
      </p:sp>
      <p:sp>
        <p:nvSpPr>
          <p:cNvPr id="10" name="Text 8"/>
          <p:cNvSpPr/>
          <p:nvPr/>
        </p:nvSpPr>
        <p:spPr>
          <a:xfrm>
            <a:off x="640080" y="3218688"/>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2</a:t>
            </a:r>
            <a:endParaRPr lang="en-US" sz="1800" dirty="0"/>
          </a:p>
        </p:txBody>
      </p:sp>
      <p:sp>
        <p:nvSpPr>
          <p:cNvPr id="11" name="Text 9"/>
          <p:cNvSpPr/>
          <p:nvPr/>
        </p:nvSpPr>
        <p:spPr>
          <a:xfrm>
            <a:off x="1261872" y="3127248"/>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Open the free accounts</a:t>
            </a:r>
            <a:endParaRPr lang="en-US" sz="1400" dirty="0"/>
          </a:p>
        </p:txBody>
      </p:sp>
      <p:sp>
        <p:nvSpPr>
          <p:cNvPr id="12" name="Text 10"/>
          <p:cNvSpPr/>
          <p:nvPr/>
        </p:nvSpPr>
        <p:spPr>
          <a:xfrm>
            <a:off x="1261872" y="3447288"/>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Sign up for Source of Sources + Qwoted (free). Set up X/Bluesky columns for #journorequest, #prrequest.</a:t>
            </a:r>
            <a:endParaRPr lang="en-US" sz="1050" dirty="0"/>
          </a:p>
        </p:txBody>
      </p:sp>
      <p:sp>
        <p:nvSpPr>
          <p:cNvPr id="13" name="Shape 11"/>
          <p:cNvSpPr/>
          <p:nvPr/>
        </p:nvSpPr>
        <p:spPr>
          <a:xfrm>
            <a:off x="640080" y="4242816"/>
            <a:ext cx="457200" cy="457200"/>
          </a:xfrm>
          <a:prstGeom prst="ellipse">
            <a:avLst/>
          </a:prstGeom>
          <a:solidFill>
            <a:srgbClr val="C08A2E"/>
          </a:solidFill>
          <a:ln/>
        </p:spPr>
      </p:sp>
      <p:sp>
        <p:nvSpPr>
          <p:cNvPr id="14" name="Text 12"/>
          <p:cNvSpPr/>
          <p:nvPr/>
        </p:nvSpPr>
        <p:spPr>
          <a:xfrm>
            <a:off x="640080" y="4242816"/>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3</a:t>
            </a:r>
            <a:endParaRPr lang="en-US" sz="1800" dirty="0"/>
          </a:p>
        </p:txBody>
      </p:sp>
      <p:sp>
        <p:nvSpPr>
          <p:cNvPr id="15" name="Text 13"/>
          <p:cNvSpPr/>
          <p:nvPr/>
        </p:nvSpPr>
        <p:spPr>
          <a:xfrm>
            <a:off x="1261872" y="4151376"/>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Buy the wire</a:t>
            </a:r>
            <a:endParaRPr lang="en-US" sz="1400" dirty="0"/>
          </a:p>
        </p:txBody>
      </p:sp>
      <p:sp>
        <p:nvSpPr>
          <p:cNvPr id="16" name="Text 14"/>
          <p:cNvSpPr/>
          <p:nvPr/>
        </p:nvSpPr>
        <p:spPr>
          <a:xfrm>
            <a:off x="1261872" y="4471416"/>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Purchase the EIN Presswire 5-pack (~$399). One decision, covers all four waves.</a:t>
            </a:r>
            <a:endParaRPr lang="en-US" sz="1050" dirty="0"/>
          </a:p>
        </p:txBody>
      </p:sp>
      <p:sp>
        <p:nvSpPr>
          <p:cNvPr id="17" name="Shape 15"/>
          <p:cNvSpPr/>
          <p:nvPr/>
        </p:nvSpPr>
        <p:spPr>
          <a:xfrm>
            <a:off x="640080" y="5266944"/>
            <a:ext cx="457200" cy="457200"/>
          </a:xfrm>
          <a:prstGeom prst="ellipse">
            <a:avLst/>
          </a:prstGeom>
          <a:solidFill>
            <a:srgbClr val="C08A2E"/>
          </a:solidFill>
          <a:ln/>
        </p:spPr>
      </p:sp>
      <p:sp>
        <p:nvSpPr>
          <p:cNvPr id="18" name="Text 16"/>
          <p:cNvSpPr/>
          <p:nvPr/>
        </p:nvSpPr>
        <p:spPr>
          <a:xfrm>
            <a:off x="640080" y="5266944"/>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4</a:t>
            </a:r>
            <a:endParaRPr lang="en-US" sz="1800" dirty="0"/>
          </a:p>
        </p:txBody>
      </p:sp>
      <p:sp>
        <p:nvSpPr>
          <p:cNvPr id="19" name="Text 17"/>
          <p:cNvSpPr/>
          <p:nvPr/>
        </p:nvSpPr>
        <p:spPr>
          <a:xfrm>
            <a:off x="1261872" y="5175504"/>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Build the reporter list</a:t>
            </a:r>
            <a:endParaRPr lang="en-US" sz="1400" dirty="0"/>
          </a:p>
        </p:txBody>
      </p:sp>
      <p:sp>
        <p:nvSpPr>
          <p:cNvPr id="20" name="Text 18"/>
          <p:cNvSpPr/>
          <p:nvPr/>
        </p:nvSpPr>
        <p:spPr>
          <a:xfrm>
            <a:off x="1261872" y="5495544"/>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20–30 named journalists who already cover longevity, EdTech, or wellness — US + Israel. Store in a Google Sheet.</a:t>
            </a:r>
            <a:endParaRPr lang="en-US" sz="1050" dirty="0"/>
          </a:p>
        </p:txBody>
      </p:sp>
      <p:sp>
        <p:nvSpPr>
          <p:cNvPr id="21" name="Shape 19"/>
          <p:cNvSpPr/>
          <p:nvPr/>
        </p:nvSpPr>
        <p:spPr>
          <a:xfrm>
            <a:off x="6278728" y="2194560"/>
            <a:ext cx="457200" cy="457200"/>
          </a:xfrm>
          <a:prstGeom prst="ellipse">
            <a:avLst/>
          </a:prstGeom>
          <a:solidFill>
            <a:srgbClr val="C08A2E"/>
          </a:solidFill>
          <a:ln/>
        </p:spPr>
      </p:sp>
      <p:sp>
        <p:nvSpPr>
          <p:cNvPr id="22" name="Text 20"/>
          <p:cNvSpPr/>
          <p:nvPr/>
        </p:nvSpPr>
        <p:spPr>
          <a:xfrm>
            <a:off x="6278728" y="2194560"/>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5</a:t>
            </a:r>
            <a:endParaRPr lang="en-US" sz="1800" dirty="0"/>
          </a:p>
        </p:txBody>
      </p:sp>
      <p:sp>
        <p:nvSpPr>
          <p:cNvPr id="23" name="Text 21"/>
          <p:cNvSpPr/>
          <p:nvPr/>
        </p:nvSpPr>
        <p:spPr>
          <a:xfrm>
            <a:off x="6900520" y="2103120"/>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Finalize the press kit</a:t>
            </a:r>
            <a:endParaRPr lang="en-US" sz="1400" dirty="0"/>
          </a:p>
        </p:txBody>
      </p:sp>
      <p:sp>
        <p:nvSpPr>
          <p:cNvPr id="24" name="Text 22"/>
          <p:cNvSpPr/>
          <p:nvPr/>
        </p:nvSpPr>
        <p:spPr>
          <a:xfrm>
            <a:off x="6900520" y="2423160"/>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Logo, Harel + Julie headshots, 150-word bios, LLA fact sheet, and the live press contact (replace the placeholder).</a:t>
            </a:r>
            <a:endParaRPr lang="en-US" sz="1050" dirty="0"/>
          </a:p>
        </p:txBody>
      </p:sp>
      <p:sp>
        <p:nvSpPr>
          <p:cNvPr id="25" name="Shape 23"/>
          <p:cNvSpPr/>
          <p:nvPr/>
        </p:nvSpPr>
        <p:spPr>
          <a:xfrm>
            <a:off x="6278728" y="3218688"/>
            <a:ext cx="457200" cy="457200"/>
          </a:xfrm>
          <a:prstGeom prst="ellipse">
            <a:avLst/>
          </a:prstGeom>
          <a:solidFill>
            <a:srgbClr val="C08A2E"/>
          </a:solidFill>
          <a:ln/>
        </p:spPr>
      </p:sp>
      <p:sp>
        <p:nvSpPr>
          <p:cNvPr id="26" name="Text 24"/>
          <p:cNvSpPr/>
          <p:nvPr/>
        </p:nvSpPr>
        <p:spPr>
          <a:xfrm>
            <a:off x="6278728" y="3218688"/>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6</a:t>
            </a:r>
            <a:endParaRPr lang="en-US" sz="1800" dirty="0"/>
          </a:p>
        </p:txBody>
      </p:sp>
      <p:sp>
        <p:nvSpPr>
          <p:cNvPr id="27" name="Text 25"/>
          <p:cNvSpPr/>
          <p:nvPr/>
        </p:nvSpPr>
        <p:spPr>
          <a:xfrm>
            <a:off x="6900520" y="3127248"/>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Confirm Julie</a:t>
            </a:r>
            <a:endParaRPr lang="en-US" sz="1400" dirty="0"/>
          </a:p>
        </p:txBody>
      </p:sp>
      <p:sp>
        <p:nvSpPr>
          <p:cNvPr id="28" name="Text 26"/>
          <p:cNvSpPr/>
          <p:nvPr/>
        </p:nvSpPr>
        <p:spPr>
          <a:xfrm>
            <a:off x="6900520" y="3447288"/>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Lock her instructor title + agreement and approve her quotes before Wave 2.</a:t>
            </a:r>
            <a:endParaRPr lang="en-US" sz="1050" dirty="0"/>
          </a:p>
        </p:txBody>
      </p:sp>
      <p:sp>
        <p:nvSpPr>
          <p:cNvPr id="29" name="Shape 27"/>
          <p:cNvSpPr/>
          <p:nvPr/>
        </p:nvSpPr>
        <p:spPr>
          <a:xfrm>
            <a:off x="6278728" y="4242816"/>
            <a:ext cx="457200" cy="457200"/>
          </a:xfrm>
          <a:prstGeom prst="ellipse">
            <a:avLst/>
          </a:prstGeom>
          <a:solidFill>
            <a:srgbClr val="C08A2E"/>
          </a:solidFill>
          <a:ln/>
        </p:spPr>
      </p:sp>
      <p:sp>
        <p:nvSpPr>
          <p:cNvPr id="30" name="Text 28"/>
          <p:cNvSpPr/>
          <p:nvPr/>
        </p:nvSpPr>
        <p:spPr>
          <a:xfrm>
            <a:off x="6278728" y="4242816"/>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7</a:t>
            </a:r>
            <a:endParaRPr lang="en-US" sz="1800" dirty="0"/>
          </a:p>
        </p:txBody>
      </p:sp>
      <p:sp>
        <p:nvSpPr>
          <p:cNvPr id="31" name="Text 29"/>
          <p:cNvSpPr/>
          <p:nvPr/>
        </p:nvSpPr>
        <p:spPr>
          <a:xfrm>
            <a:off x="6900520" y="4151376"/>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Set the tracker</a:t>
            </a:r>
            <a:endParaRPr lang="en-US" sz="1400" dirty="0"/>
          </a:p>
        </p:txBody>
      </p:sp>
      <p:sp>
        <p:nvSpPr>
          <p:cNvPr id="32" name="Text 30"/>
          <p:cNvSpPr/>
          <p:nvPr/>
        </p:nvSpPr>
        <p:spPr>
          <a:xfrm>
            <a:off x="6900520" y="4471416"/>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One Google Sheet: outlet, pitch date, status, link. This is your entire reporting system.</a:t>
            </a:r>
            <a:endParaRPr lang="en-US" sz="105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1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eTeacher Launches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Israel's leading EdTech group brings live, science-backed longevity education to American homes.</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Group Enters the $8 Trillion Longevity Market with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After 25 years and 400,000+ courses delivered to students across nearly 200 countries, the Israeli EdTech veteran launches an 18-week live longevity program — with a glucose monitor shipped to every student.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said Harel Tayeb, CEO of eTeacher Group. “We believe we can bring the world of longevity into every household in the United States and raise healthspan globally.”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We believe we can bring the world of longevity into every household in the United States and raise healthspan globally.”</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Q3. Sentence 2 is the one voice-matched new line, drawn from the user's theme line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Brings Its 25-Year Live-Class Teaching Method to Longevity Life Academy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that taught languages to 400,000+ learners is betting its small-class, “gym for the brain” model can crack the hardest problem in wellness — sticking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AI micro-learning — what CEO Harel Tayeb calls a “gym for the brain.”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Tayeb said. “Longevity is a practice, not a lecture — and that is exactly where our model wins.”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Longevity is a practice, not a lecture — and that is exactly where our model wins.”</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Q4. Sentence 2 is the one voice-matched new line applying the method to longevity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Launches Longevity Life Academy to Serve the Middle of the $8 Trillion Longevity Market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With 70% of its customers already in the US, eTeacher is positioning Longevity Life Academy in the underserved middle of an $8 trillion market, starting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said CEO Harel Tayeb. “Longevity is where that vision meets the largest consumer opportunity of our time.”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Longevity is where that vision meets the largest consumer opportunity of our time.”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Sentences 1–2 are verbatim from TheMarker Labels (1 Feb 2026), Q8. Sentence 3 is the one voice-matched new line tying the vision to longevity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keep the mind and body active and vital in a world where technology may cause cognitive atrophy,” said CEO Harel Tayeb. “Generic health advice ends where personal data begins — so we put a glucose monitor in every student's hands and teach them to build a protocol from their own biology.”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want to keep the mind and body active and vital in a world where technology may cause cognitive atrophy. Generic health advice ends where personal data begins — so we put a glucose monitor in every student's hands and teach them to build a protocol from their own biology.”</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adapts his verbatim “active and vital / cognitive atrophy” language from TheMarker Labels (1 Feb 2026), Q9. Sentence 2 is the one voice-matched new line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Israel's 25-Year-Old eTeacher Group Opens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Tayeb said. “Longevity is the most human expression of that mission.”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Longevity is the most human expression of that mission.”</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 The mid-body “image reinforcement for Israel” phrase is verbatim from Q7.</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Offers an 18-Week Live Longevity Class From $289 a Month, Glucose Monitor Included</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said CEO Harel Tayeb. “Our goal is to simplify and democratize longevity so anyone, whatever their background, can start their own routine.”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Our goal is to simplify and democratize longevity so anyone, whatever their background, can start their own routine.”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Q5. Sentence 2 is the one voice-matched new line incorporating the user's “every household” brief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2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Julie Joins eTeacher's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the single mom who out-aged the billionaires now teaches live for eTeacher.</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JULIE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eTeacher CEO Harel Tayeb. “She is living proof that world-class longevity is about consistent, teachable habits — not spending millions — and that is exactly the school we are building.” Gibson Clark begins teaching with the current enrollment cohort.</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are focused on impact and results, and Julie's results speak for themselves. She is living proof that world-class longevity is about consistent, teachable habits — not spending millions — and that is exactly the school we are building.”</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Q2.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Hires Julie Gibson Clark, Who Out-Aged a $2M-a-Year Biohacker on $12 a Day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CEO Harel Tayeb. “Our whole mission is to democratize what used to be a luxury — and a $12-a-day protocol that beats a $2-million-a-year one is the clearest case we could ask for.”</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are focused on impact and results, and Julie's results speak for themselves. Our whole mission is to democratize what used to be a luxury — and a $12-a-day protocol that beats a $2-million-a-year one is the clearest case we could ask for.”</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Q2.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Single Mom Who Slowed Her Own Aging Joins Longevity Life Academy to Teach American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teacher creates a personal connection, there are no real barriers and learning happens naturally,” added CEO Harel Tayeb. “Julie starts from why, not from numbers — and that is why she will reach people a leaderboard never could.”</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“When the teacher creates a personal connection, there are no real barriers and learning happens naturally. Julie starts from why, not from numbers — and that is why she will reach people a leaderboard never could.”</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Q5.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to Teach the Habits Behind Her 34%-Slower Aging</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Longevity Life Academy Recruits Julie Gibson Clark to Make Longevity Affordable for Mainstream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make accessible content with meaning that will touch the heart and the human core of each person,” added CEO Harel Tayeb.</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want to make accessible content with meaning that will touch the heart and the human core of each person. Julie gives that mission a face — real, relatable, and living proof that a longer, healthier life is within reach for anyone.”</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Joins Longevity Life Academy to Teach Its 18-Week Live Longevity Blueprint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Demonstrates Her $12-a-Day Longevity Routine Live</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3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Hub App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eTeacher's longevity practice, in your pocket — a planned AI tutor and daily rituals, the 'gym for the brain' for healthspan.</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‘professor’ is available 24/7 with reliable information and tools that connect learning to your everyday life,” said CEO Harel Tayeb, describing the app's intent. “The Longevity Hub will be that professor for healthspan — a quarter-hour of light practice with your morning coffee.”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‘professor’ is available 24/7 with reliable information and tools that connect learning to your everyday life. The Longevity Hub will be that professor for healthspan — a quarter-hour of light practice with your morning coffee.”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Q6; the “quarter-hour with your coffee” phrasing echoes Q4.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Planned Longevity Hub App Will Use AI to Turn the Longevity Blueprint Into Daily Habits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said CEO Harel Tayeb. “That same engine — applied to healthspan — is how we plan to make persistence stop being the hard part.”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That same engine — applied to healthspan — is how we plan to make persistence stop being the hard part.”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Q4.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4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Six New Longevity Courses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 is building a full longevity college — not a single course.</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said CEO Harel Tayeb. “Longevity is not one course — it is a lifelong practice, and we are building the school for 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“Our aspiration is to be the leading platform for meaningful and personalized learning for the adult audience. Longevity is not one course — it is a lifelong practice, and we are building the school for it.”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Q9.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Plans Six New Longevity Life Academy Courses in Brain Training, Metabolism, Movement and Biomarkers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said CEO Harel Tayeb. “Longevity Brain will make that explicit — you can train your brain like you train your body, and social connection is one of the strongest longevity levers we have.”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Longevity Brain will make that explicit — you can train your brain like you train your body, and social connection is one of the strongest longevity levers we have.”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adapts his verbatim “active and vital / cognitive atrophy / communities in small groups” language from TheMarker Labels (1 Feb 2026), Q9.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approve quotes this week so Wave 1 wires Monday, July 13 — the full four-wave program then runs about eight weeks, wrapping by early September.</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2026-07-08T04:36:27Z</dcterms:created>
  <dcterms:modified xsi:type="dcterms:W3CDTF">2026-07-08T04:36:27Z</dcterms:modified>
</cp:coreProperties>
</file>