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buzzstream.com/blog/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036003" cy="2468880"/>
          </a:xfrm>
          <a:prstGeom prst="roundRect">
            <a:avLst>
              <a:gd name="adj" fmla="val 3593"/>
            </a:avLst>
          </a:prstGeom>
          <a:solidFill>
            <a:srgbClr val="FFFFFF"/>
          </a:solidFill>
          <a:ln w="12700">
            <a:solidFill>
              <a:srgbClr val="D9DDE2"/>
            </a:solidFill>
            <a:prstDash val="solid"/>
          </a:ln>
        </p:spPr>
      </p:sp>
      <p:sp>
        <p:nvSpPr>
          <p:cNvPr id="6" name="Shape 4"/>
          <p:cNvSpPr/>
          <p:nvPr/>
        </p:nvSpPr>
        <p:spPr>
          <a:xfrm>
            <a:off x="640080" y="2514600"/>
            <a:ext cx="2036003" cy="457200"/>
          </a:xfrm>
          <a:prstGeom prst="roundRect">
            <a:avLst>
              <a:gd name="adj" fmla="val 16000"/>
            </a:avLst>
          </a:prstGeom>
          <a:solidFill>
            <a:srgbClr val="0C2A43"/>
          </a:solidFill>
          <a:ln/>
        </p:spPr>
      </p:sp>
      <p:sp>
        <p:nvSpPr>
          <p:cNvPr id="7" name="Text 5"/>
          <p:cNvSpPr/>
          <p:nvPr/>
        </p:nvSpPr>
        <p:spPr>
          <a:xfrm>
            <a:off x="640080"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1761683"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2858963" y="2514600"/>
            <a:ext cx="2036003" cy="2468880"/>
          </a:xfrm>
          <a:prstGeom prst="roundRect">
            <a:avLst>
              <a:gd name="adj" fmla="val 3593"/>
            </a:avLst>
          </a:prstGeom>
          <a:solidFill>
            <a:srgbClr val="FFFFFF"/>
          </a:solidFill>
          <a:ln w="12700">
            <a:solidFill>
              <a:srgbClr val="D9DDE2"/>
            </a:solidFill>
            <a:prstDash val="solid"/>
          </a:ln>
        </p:spPr>
      </p:sp>
      <p:sp>
        <p:nvSpPr>
          <p:cNvPr id="12" name="Shape 10"/>
          <p:cNvSpPr/>
          <p:nvPr/>
        </p:nvSpPr>
        <p:spPr>
          <a:xfrm>
            <a:off x="2858963" y="2514600"/>
            <a:ext cx="2036003" cy="457200"/>
          </a:xfrm>
          <a:prstGeom prst="roundRect">
            <a:avLst>
              <a:gd name="adj" fmla="val 16000"/>
            </a:avLst>
          </a:prstGeom>
          <a:solidFill>
            <a:srgbClr val="12395C"/>
          </a:solidFill>
          <a:ln/>
        </p:spPr>
      </p:sp>
      <p:sp>
        <p:nvSpPr>
          <p:cNvPr id="13" name="Text 11"/>
          <p:cNvSpPr/>
          <p:nvPr/>
        </p:nvSpPr>
        <p:spPr>
          <a:xfrm>
            <a:off x="2858963"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2996123" y="3108960"/>
            <a:ext cx="1761683"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2996123"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2996123"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5077846" y="2514600"/>
            <a:ext cx="2036003" cy="2468880"/>
          </a:xfrm>
          <a:prstGeom prst="roundRect">
            <a:avLst>
              <a:gd name="adj" fmla="val 3593"/>
            </a:avLst>
          </a:prstGeom>
          <a:solidFill>
            <a:srgbClr val="FFFFFF"/>
          </a:solidFill>
          <a:ln w="12700">
            <a:solidFill>
              <a:srgbClr val="D9DDE2"/>
            </a:solidFill>
            <a:prstDash val="solid"/>
          </a:ln>
        </p:spPr>
      </p:sp>
      <p:sp>
        <p:nvSpPr>
          <p:cNvPr id="18" name="Shape 16"/>
          <p:cNvSpPr/>
          <p:nvPr/>
        </p:nvSpPr>
        <p:spPr>
          <a:xfrm>
            <a:off x="5077846" y="2514600"/>
            <a:ext cx="2036003" cy="457200"/>
          </a:xfrm>
          <a:prstGeom prst="roundRect">
            <a:avLst>
              <a:gd name="adj" fmla="val 16000"/>
            </a:avLst>
          </a:prstGeom>
          <a:solidFill>
            <a:srgbClr val="C08A2E"/>
          </a:solidFill>
          <a:ln/>
        </p:spPr>
      </p:sp>
      <p:sp>
        <p:nvSpPr>
          <p:cNvPr id="19" name="Text 17"/>
          <p:cNvSpPr/>
          <p:nvPr/>
        </p:nvSpPr>
        <p:spPr>
          <a:xfrm>
            <a:off x="5077846"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5215006" y="3108960"/>
            <a:ext cx="1761683"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5215006"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5215006"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7296729" y="2514600"/>
            <a:ext cx="2036003" cy="2468880"/>
          </a:xfrm>
          <a:prstGeom prst="roundRect">
            <a:avLst>
              <a:gd name="adj" fmla="val 3593"/>
            </a:avLst>
          </a:prstGeom>
          <a:solidFill>
            <a:srgbClr val="FFFFFF"/>
          </a:solidFill>
          <a:ln w="12700">
            <a:solidFill>
              <a:srgbClr val="D9DDE2"/>
            </a:solidFill>
            <a:prstDash val="solid"/>
          </a:ln>
        </p:spPr>
      </p:sp>
      <p:sp>
        <p:nvSpPr>
          <p:cNvPr id="24" name="Shape 22"/>
          <p:cNvSpPr/>
          <p:nvPr/>
        </p:nvSpPr>
        <p:spPr>
          <a:xfrm>
            <a:off x="7296729" y="2514600"/>
            <a:ext cx="2036003" cy="457200"/>
          </a:xfrm>
          <a:prstGeom prst="roundRect">
            <a:avLst>
              <a:gd name="adj" fmla="val 16000"/>
            </a:avLst>
          </a:prstGeom>
          <a:solidFill>
            <a:srgbClr val="6E4A12"/>
          </a:solidFill>
          <a:ln/>
        </p:spPr>
      </p:sp>
      <p:sp>
        <p:nvSpPr>
          <p:cNvPr id="25" name="Text 23"/>
          <p:cNvSpPr/>
          <p:nvPr/>
        </p:nvSpPr>
        <p:spPr>
          <a:xfrm>
            <a:off x="7296729"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7433889" y="3108960"/>
            <a:ext cx="1761683"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7433889"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7433889"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9515612" y="2514600"/>
            <a:ext cx="2036003" cy="2468880"/>
          </a:xfrm>
          <a:prstGeom prst="roundRect">
            <a:avLst>
              <a:gd name="adj" fmla="val 3593"/>
            </a:avLst>
          </a:prstGeom>
          <a:solidFill>
            <a:srgbClr val="FFFFFF"/>
          </a:solidFill>
          <a:ln w="12700">
            <a:solidFill>
              <a:srgbClr val="D9DDE2"/>
            </a:solidFill>
            <a:prstDash val="solid"/>
          </a:ln>
        </p:spPr>
      </p:sp>
      <p:sp>
        <p:nvSpPr>
          <p:cNvPr id="30" name="Shape 28"/>
          <p:cNvSpPr/>
          <p:nvPr/>
        </p:nvSpPr>
        <p:spPr>
          <a:xfrm>
            <a:off x="9515612" y="2514600"/>
            <a:ext cx="2036003" cy="457200"/>
          </a:xfrm>
          <a:prstGeom prst="roundRect">
            <a:avLst>
              <a:gd name="adj" fmla="val 16000"/>
            </a:avLst>
          </a:prstGeom>
          <a:solidFill>
            <a:srgbClr val="7A2E1A"/>
          </a:solidFill>
          <a:ln/>
        </p:spPr>
      </p:sp>
      <p:sp>
        <p:nvSpPr>
          <p:cNvPr id="31" name="Text 29"/>
          <p:cNvSpPr/>
          <p:nvPr/>
        </p:nvSpPr>
        <p:spPr>
          <a:xfrm>
            <a:off x="9515612" y="2514600"/>
            <a:ext cx="2036003"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5</a:t>
            </a:r>
            <a:endParaRPr lang="en-US" sz="1300" dirty="0"/>
          </a:p>
        </p:txBody>
      </p:sp>
      <p:sp>
        <p:nvSpPr>
          <p:cNvPr id="32" name="Text 30"/>
          <p:cNvSpPr/>
          <p:nvPr/>
        </p:nvSpPr>
        <p:spPr>
          <a:xfrm>
            <a:off x="9652772" y="3108960"/>
            <a:ext cx="1761683" cy="365760"/>
          </a:xfrm>
          <a:prstGeom prst="rect">
            <a:avLst/>
          </a:prstGeom>
          <a:noFill/>
          <a:ln/>
        </p:spPr>
        <p:txBody>
          <a:bodyPr wrap="square" rtlCol="0" anchor="ctr"/>
          <a:lstStyle/>
          <a:p>
            <a:pPr algn="ctr" indent="0" marL="0">
              <a:buNone/>
            </a:pPr>
            <a:r>
              <a:rPr lang="en-US" sz="1500" b="1" dirty="0">
                <a:solidFill>
                  <a:srgbClr val="7A2E1A"/>
                </a:solidFill>
                <a:latin typeface="Cambria" pitchFamily="34" charset="0"/>
                <a:ea typeface="Cambria" pitchFamily="34" charset="-122"/>
                <a:cs typeface="Cambria" pitchFamily="34" charset="-120"/>
              </a:rPr>
              <a:t>The Reset</a:t>
            </a:r>
            <a:endParaRPr lang="en-US" sz="1500" dirty="0"/>
          </a:p>
        </p:txBody>
      </p:sp>
      <p:sp>
        <p:nvSpPr>
          <p:cNvPr id="33" name="Text 31"/>
          <p:cNvSpPr/>
          <p:nvPr/>
        </p:nvSpPr>
        <p:spPr>
          <a:xfrm>
            <a:off x="9652772" y="3520440"/>
            <a:ext cx="1761683"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Consistency over cost — the affordability message</a:t>
            </a:r>
            <a:endParaRPr lang="en-US" sz="1200" dirty="0"/>
          </a:p>
        </p:txBody>
      </p:sp>
      <p:sp>
        <p:nvSpPr>
          <p:cNvPr id="34" name="Text 32"/>
          <p:cNvSpPr/>
          <p:nvPr/>
        </p:nvSpPr>
        <p:spPr>
          <a:xfrm>
            <a:off x="9652772" y="4526280"/>
            <a:ext cx="1761683"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5 articles</a:t>
            </a:r>
            <a:endParaRPr lang="en-US" sz="1200" dirty="0"/>
          </a:p>
        </p:txBody>
      </p:sp>
      <p:sp>
        <p:nvSpPr>
          <p:cNvPr id="35" name="Shape 33"/>
          <p:cNvSpPr/>
          <p:nvPr/>
        </p:nvSpPr>
        <p:spPr>
          <a:xfrm>
            <a:off x="640080" y="5257800"/>
            <a:ext cx="10911535" cy="822960"/>
          </a:xfrm>
          <a:prstGeom prst="rect">
            <a:avLst/>
          </a:prstGeom>
          <a:solidFill>
            <a:srgbClr val="F2E9D8"/>
          </a:solidFill>
          <a:ln/>
        </p:spPr>
      </p:sp>
      <p:sp>
        <p:nvSpPr>
          <p:cNvPr id="36" name="Text 34"/>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5, a journalist searching “eTeacher longevity” finds a market-entry story, a celebrity signing, a product launch, a curriculum expansion, and a timely, respectful take on longevity's biggest story — a company with momentum, not a one-off announcement.</a:t>
            </a:r>
            <a:endParaRPr lang="en-US" sz="1300" dirty="0"/>
          </a:p>
        </p:txBody>
      </p:sp>
      <p:sp>
        <p:nvSpPr>
          <p:cNvPr id="37" name="Text 35"/>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8" name="Text 36"/>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475488"/>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THE PLAN ON ONE PAGE</a:t>
            </a:r>
            <a:endParaRPr lang="en-US" sz="1500" dirty="0"/>
          </a:p>
        </p:txBody>
      </p:sp>
      <p:sp>
        <p:nvSpPr>
          <p:cNvPr id="4" name="Text 2"/>
          <p:cNvSpPr/>
          <p:nvPr/>
        </p:nvSpPr>
        <p:spPr>
          <a:xfrm>
            <a:off x="640080" y="896112"/>
            <a:ext cx="10911535" cy="64008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we are actually going to do</a:t>
            </a:r>
            <a:endParaRPr lang="en-US" sz="3000" dirty="0"/>
          </a:p>
        </p:txBody>
      </p:sp>
      <p:sp>
        <p:nvSpPr>
          <p:cNvPr id="5" name="Shape 3"/>
          <p:cNvSpPr/>
          <p:nvPr/>
        </p:nvSpPr>
        <p:spPr>
          <a:xfrm>
            <a:off x="640080" y="1700784"/>
            <a:ext cx="10911535" cy="731520"/>
          </a:xfrm>
          <a:prstGeom prst="roundRect">
            <a:avLst>
              <a:gd name="adj" fmla="val 7500"/>
            </a:avLst>
          </a:prstGeom>
          <a:solidFill>
            <a:srgbClr val="12395C"/>
          </a:solidFill>
          <a:ln w="12700">
            <a:solidFill>
              <a:srgbClr val="27506F"/>
            </a:solidFill>
            <a:prstDash val="solid"/>
          </a:ln>
        </p:spPr>
      </p:sp>
      <p:sp>
        <p:nvSpPr>
          <p:cNvPr id="6" name="Text 4"/>
          <p:cNvSpPr/>
          <p:nvPr/>
        </p:nvSpPr>
        <p:spPr>
          <a:xfrm>
            <a:off x="914400" y="1700784"/>
            <a:ext cx="10362895" cy="731520"/>
          </a:xfrm>
          <a:prstGeom prst="rect">
            <a:avLst/>
          </a:prstGeom>
          <a:noFill/>
          <a:ln/>
        </p:spPr>
        <p:txBody>
          <a:bodyPr wrap="square" rtlCol="0" anchor="ctr"/>
          <a:lstStyle/>
          <a:p>
            <a:pPr indent="0" marL="0">
              <a:lnSpc>
                <a:spcPct val="108000"/>
              </a:lnSpc>
              <a:buNone/>
            </a:pPr>
            <a:r>
              <a:rPr lang="en-US" sz="1550" b="1" dirty="0">
                <a:solidFill>
                  <a:srgbClr val="C08A2E"/>
                </a:solidFill>
                <a:latin typeface="Calibri" pitchFamily="34" charset="0"/>
                <a:ea typeface="Calibri" pitchFamily="34" charset="-122"/>
                <a:cs typeface="Calibri" pitchFamily="34" charset="-120"/>
              </a:rPr>
              <a:t>THE GOAL:   </a:t>
            </a:r>
            <a:pPr indent="0" marL="0">
              <a:lnSpc>
                <a:spcPct val="108000"/>
              </a:lnSpc>
              <a:buNone/>
            </a:pPr>
            <a:r>
              <a:rPr lang="en-US" sz="1550" dirty="0">
                <a:solidFill>
                  <a:srgbClr val="DCE3EA"/>
                </a:solidFill>
                <a:latin typeface="Calibri" pitchFamily="34" charset="0"/>
                <a:ea typeface="Calibri" pitchFamily="34" charset="-122"/>
                <a:cs typeface="Calibri" pitchFamily="34" charset="-120"/>
              </a:rPr>
              <a:t>Get Longevity Life Academy real press — 1 guaranteed wire story per wave + 3–6 earned stories over 4 waves, run by one person for under $700.</a:t>
            </a:r>
            <a:endParaRPr lang="en-US" sz="1550" dirty="0"/>
          </a:p>
        </p:txBody>
      </p:sp>
      <p:sp>
        <p:nvSpPr>
          <p:cNvPr id="7" name="Shape 5"/>
          <p:cNvSpPr/>
          <p:nvPr/>
        </p:nvSpPr>
        <p:spPr>
          <a:xfrm>
            <a:off x="640080" y="2697480"/>
            <a:ext cx="1999427" cy="3246120"/>
          </a:xfrm>
          <a:prstGeom prst="roundRect">
            <a:avLst>
              <a:gd name="adj" fmla="val 2744"/>
            </a:avLst>
          </a:prstGeom>
          <a:solidFill>
            <a:srgbClr val="12395C"/>
          </a:solidFill>
          <a:ln w="12700">
            <a:solidFill>
              <a:srgbClr val="27506F"/>
            </a:solidFill>
            <a:prstDash val="solid"/>
          </a:ln>
        </p:spPr>
      </p:sp>
      <p:sp>
        <p:nvSpPr>
          <p:cNvPr id="8" name="Shape 6"/>
          <p:cNvSpPr/>
          <p:nvPr/>
        </p:nvSpPr>
        <p:spPr>
          <a:xfrm>
            <a:off x="640080" y="2697480"/>
            <a:ext cx="1999427" cy="54864"/>
          </a:xfrm>
          <a:prstGeom prst="rect">
            <a:avLst/>
          </a:prstGeom>
          <a:solidFill>
            <a:srgbClr val="C08A2E"/>
          </a:solidFill>
          <a:ln/>
        </p:spPr>
      </p:sp>
      <p:sp>
        <p:nvSpPr>
          <p:cNvPr id="9" name="Text 7"/>
          <p:cNvSpPr/>
          <p:nvPr/>
        </p:nvSpPr>
        <p:spPr>
          <a:xfrm>
            <a:off x="786384"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WHERE</a:t>
            </a:r>
            <a:endParaRPr lang="en-US" sz="1300" dirty="0"/>
          </a:p>
        </p:txBody>
      </p:sp>
      <p:sp>
        <p:nvSpPr>
          <p:cNvPr id="10" name="Text 8"/>
          <p:cNvSpPr/>
          <p:nvPr/>
        </p:nvSpPr>
        <p:spPr>
          <a:xfrm>
            <a:off x="786384"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US + Israel</a:t>
            </a:r>
            <a:endParaRPr lang="en-US" sz="1900" dirty="0"/>
          </a:p>
        </p:txBody>
      </p:sp>
      <p:sp>
        <p:nvSpPr>
          <p:cNvPr id="11" name="Text 9"/>
          <p:cNvSpPr/>
          <p:nvPr/>
        </p:nvSpPr>
        <p:spPr>
          <a:xfrm>
            <a:off x="786384"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Two fronts: US health &amp; consumer press, Israeli business press.</a:t>
            </a:r>
            <a:endParaRPr lang="en-US" sz="1250" dirty="0"/>
          </a:p>
        </p:txBody>
      </p:sp>
      <p:sp>
        <p:nvSpPr>
          <p:cNvPr id="12" name="Shape 10"/>
          <p:cNvSpPr/>
          <p:nvPr/>
        </p:nvSpPr>
        <p:spPr>
          <a:xfrm>
            <a:off x="2868107" y="2697480"/>
            <a:ext cx="1999427" cy="3246120"/>
          </a:xfrm>
          <a:prstGeom prst="roundRect">
            <a:avLst>
              <a:gd name="adj" fmla="val 2744"/>
            </a:avLst>
          </a:prstGeom>
          <a:solidFill>
            <a:srgbClr val="12395C"/>
          </a:solidFill>
          <a:ln w="12700">
            <a:solidFill>
              <a:srgbClr val="27506F"/>
            </a:solidFill>
            <a:prstDash val="solid"/>
          </a:ln>
        </p:spPr>
      </p:sp>
      <p:sp>
        <p:nvSpPr>
          <p:cNvPr id="13" name="Shape 11"/>
          <p:cNvSpPr/>
          <p:nvPr/>
        </p:nvSpPr>
        <p:spPr>
          <a:xfrm>
            <a:off x="2868107" y="2697480"/>
            <a:ext cx="1999427" cy="54864"/>
          </a:xfrm>
          <a:prstGeom prst="rect">
            <a:avLst/>
          </a:prstGeom>
          <a:solidFill>
            <a:srgbClr val="C08A2E"/>
          </a:solidFill>
          <a:ln/>
        </p:spPr>
      </p:sp>
      <p:sp>
        <p:nvSpPr>
          <p:cNvPr id="14" name="Text 12"/>
          <p:cNvSpPr/>
          <p:nvPr/>
        </p:nvSpPr>
        <p:spPr>
          <a:xfrm>
            <a:off x="3014411"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HOW</a:t>
            </a:r>
            <a:endParaRPr lang="en-US" sz="1300" dirty="0"/>
          </a:p>
        </p:txBody>
      </p:sp>
      <p:sp>
        <p:nvSpPr>
          <p:cNvPr id="15" name="Text 13"/>
          <p:cNvSpPr/>
          <p:nvPr/>
        </p:nvSpPr>
        <p:spPr>
          <a:xfrm>
            <a:off x="3014411"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Free + paid</a:t>
            </a:r>
            <a:endParaRPr lang="en-US" sz="1900" dirty="0"/>
          </a:p>
        </p:txBody>
      </p:sp>
      <p:sp>
        <p:nvSpPr>
          <p:cNvPr id="16" name="Text 14"/>
          <p:cNvSpPr/>
          <p:nvPr/>
        </p:nvSpPr>
        <p:spPr>
          <a:xfrm>
            <a:off x="3014411"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Pitch reporters (free) and buy a guaranteed news-wire slot (paid).</a:t>
            </a:r>
            <a:endParaRPr lang="en-US" sz="1250" dirty="0"/>
          </a:p>
        </p:txBody>
      </p:sp>
      <p:sp>
        <p:nvSpPr>
          <p:cNvPr id="17" name="Shape 15"/>
          <p:cNvSpPr/>
          <p:nvPr/>
        </p:nvSpPr>
        <p:spPr>
          <a:xfrm>
            <a:off x="5096134" y="2697480"/>
            <a:ext cx="1999427" cy="3246120"/>
          </a:xfrm>
          <a:prstGeom prst="roundRect">
            <a:avLst>
              <a:gd name="adj" fmla="val 2744"/>
            </a:avLst>
          </a:prstGeom>
          <a:solidFill>
            <a:srgbClr val="12395C"/>
          </a:solidFill>
          <a:ln w="12700">
            <a:solidFill>
              <a:srgbClr val="27506F"/>
            </a:solidFill>
            <a:prstDash val="solid"/>
          </a:ln>
        </p:spPr>
      </p:sp>
      <p:sp>
        <p:nvSpPr>
          <p:cNvPr id="18" name="Shape 16"/>
          <p:cNvSpPr/>
          <p:nvPr/>
        </p:nvSpPr>
        <p:spPr>
          <a:xfrm>
            <a:off x="5096134" y="2697480"/>
            <a:ext cx="1999427" cy="54864"/>
          </a:xfrm>
          <a:prstGeom prst="rect">
            <a:avLst/>
          </a:prstGeom>
          <a:solidFill>
            <a:srgbClr val="C08A2E"/>
          </a:solidFill>
          <a:ln/>
        </p:spPr>
      </p:sp>
      <p:sp>
        <p:nvSpPr>
          <p:cNvPr id="19" name="Text 17"/>
          <p:cNvSpPr/>
          <p:nvPr/>
        </p:nvSpPr>
        <p:spPr>
          <a:xfrm>
            <a:off x="5242438"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COST</a:t>
            </a:r>
            <a:endParaRPr lang="en-US" sz="1300" dirty="0"/>
          </a:p>
        </p:txBody>
      </p:sp>
      <p:sp>
        <p:nvSpPr>
          <p:cNvPr id="20" name="Text 18"/>
          <p:cNvSpPr/>
          <p:nvPr/>
        </p:nvSpPr>
        <p:spPr>
          <a:xfrm>
            <a:off x="5242438"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Under $700</a:t>
            </a:r>
            <a:endParaRPr lang="en-US" sz="1900" dirty="0"/>
          </a:p>
        </p:txBody>
      </p:sp>
      <p:sp>
        <p:nvSpPr>
          <p:cNvPr id="21" name="Text 19"/>
          <p:cNvSpPr/>
          <p:nvPr/>
        </p:nvSpPr>
        <p:spPr>
          <a:xfrm>
            <a:off x="5242438"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Lean plan for all 4 waves. Premium option runs $3.5–5K if wanted.</a:t>
            </a:r>
            <a:endParaRPr lang="en-US" sz="1250" dirty="0"/>
          </a:p>
        </p:txBody>
      </p:sp>
      <p:sp>
        <p:nvSpPr>
          <p:cNvPr id="22" name="Shape 20"/>
          <p:cNvSpPr/>
          <p:nvPr/>
        </p:nvSpPr>
        <p:spPr>
          <a:xfrm>
            <a:off x="7324161" y="2697480"/>
            <a:ext cx="1999427" cy="3246120"/>
          </a:xfrm>
          <a:prstGeom prst="roundRect">
            <a:avLst>
              <a:gd name="adj" fmla="val 2744"/>
            </a:avLst>
          </a:prstGeom>
          <a:solidFill>
            <a:srgbClr val="12395C"/>
          </a:solidFill>
          <a:ln w="12700">
            <a:solidFill>
              <a:srgbClr val="27506F"/>
            </a:solidFill>
            <a:prstDash val="solid"/>
          </a:ln>
        </p:spPr>
      </p:sp>
      <p:sp>
        <p:nvSpPr>
          <p:cNvPr id="23" name="Shape 21"/>
          <p:cNvSpPr/>
          <p:nvPr/>
        </p:nvSpPr>
        <p:spPr>
          <a:xfrm>
            <a:off x="7324161" y="2697480"/>
            <a:ext cx="1999427" cy="54864"/>
          </a:xfrm>
          <a:prstGeom prst="rect">
            <a:avLst/>
          </a:prstGeom>
          <a:solidFill>
            <a:srgbClr val="C08A2E"/>
          </a:solidFill>
          <a:ln/>
        </p:spPr>
      </p:sp>
      <p:sp>
        <p:nvSpPr>
          <p:cNvPr id="24" name="Text 22"/>
          <p:cNvSpPr/>
          <p:nvPr/>
        </p:nvSpPr>
        <p:spPr>
          <a:xfrm>
            <a:off x="7470465"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ODDS</a:t>
            </a:r>
            <a:endParaRPr lang="en-US" sz="1300" dirty="0"/>
          </a:p>
        </p:txBody>
      </p:sp>
      <p:sp>
        <p:nvSpPr>
          <p:cNvPr id="25" name="Text 23"/>
          <p:cNvSpPr/>
          <p:nvPr/>
        </p:nvSpPr>
        <p:spPr>
          <a:xfrm>
            <a:off x="7470465"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1 wire + 3–6 earned</a:t>
            </a:r>
            <a:endParaRPr lang="en-US" sz="1900" dirty="0"/>
          </a:p>
        </p:txBody>
      </p:sp>
      <p:sp>
        <p:nvSpPr>
          <p:cNvPr id="26" name="Text 24"/>
          <p:cNvSpPr/>
          <p:nvPr/>
        </p:nvSpPr>
        <p:spPr>
          <a:xfrm>
            <a:off x="7470465"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Wire pickup is guaranteed; 3–6 earned stories are likely.</a:t>
            </a:r>
            <a:endParaRPr lang="en-US" sz="1250" dirty="0"/>
          </a:p>
        </p:txBody>
      </p:sp>
      <p:sp>
        <p:nvSpPr>
          <p:cNvPr id="27" name="Shape 25"/>
          <p:cNvSpPr/>
          <p:nvPr/>
        </p:nvSpPr>
        <p:spPr>
          <a:xfrm>
            <a:off x="9552188" y="2697480"/>
            <a:ext cx="1999427" cy="3246120"/>
          </a:xfrm>
          <a:prstGeom prst="roundRect">
            <a:avLst>
              <a:gd name="adj" fmla="val 2744"/>
            </a:avLst>
          </a:prstGeom>
          <a:solidFill>
            <a:srgbClr val="12395C"/>
          </a:solidFill>
          <a:ln w="12700">
            <a:solidFill>
              <a:srgbClr val="27506F"/>
            </a:solidFill>
            <a:prstDash val="solid"/>
          </a:ln>
        </p:spPr>
      </p:sp>
      <p:sp>
        <p:nvSpPr>
          <p:cNvPr id="28" name="Shape 26"/>
          <p:cNvSpPr/>
          <p:nvPr/>
        </p:nvSpPr>
        <p:spPr>
          <a:xfrm>
            <a:off x="9552188" y="2697480"/>
            <a:ext cx="1999427" cy="54864"/>
          </a:xfrm>
          <a:prstGeom prst="rect">
            <a:avLst/>
          </a:prstGeom>
          <a:solidFill>
            <a:srgbClr val="C08A2E"/>
          </a:solidFill>
          <a:ln/>
        </p:spPr>
      </p:sp>
      <p:sp>
        <p:nvSpPr>
          <p:cNvPr id="29" name="Text 27"/>
          <p:cNvSpPr/>
          <p:nvPr/>
        </p:nvSpPr>
        <p:spPr>
          <a:xfrm>
            <a:off x="9698492" y="2916936"/>
            <a:ext cx="1706819" cy="27432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WHEN</a:t>
            </a:r>
            <a:endParaRPr lang="en-US" sz="1300" dirty="0"/>
          </a:p>
        </p:txBody>
      </p:sp>
      <p:sp>
        <p:nvSpPr>
          <p:cNvPr id="30" name="Text 28"/>
          <p:cNvSpPr/>
          <p:nvPr/>
        </p:nvSpPr>
        <p:spPr>
          <a:xfrm>
            <a:off x="9698492" y="3246120"/>
            <a:ext cx="1706819" cy="822960"/>
          </a:xfrm>
          <a:prstGeom prst="rect">
            <a:avLst/>
          </a:prstGeom>
          <a:noFill/>
          <a:ln/>
        </p:spPr>
        <p:txBody>
          <a:bodyPr wrap="square" rtlCol="0" anchor="t"/>
          <a:lstStyle/>
          <a:p>
            <a:pPr indent="0" marL="0">
              <a:lnSpc>
                <a:spcPct val="100000"/>
              </a:lnSpc>
              <a:buNone/>
            </a:pPr>
            <a:r>
              <a:rPr lang="en-US" sz="1900" b="1" dirty="0">
                <a:solidFill>
                  <a:srgbClr val="FFFFFF"/>
                </a:solidFill>
                <a:latin typeface="Cambria" pitchFamily="34" charset="0"/>
                <a:ea typeface="Cambria" pitchFamily="34" charset="-122"/>
                <a:cs typeface="Cambria" pitchFamily="34" charset="-120"/>
              </a:rPr>
              <a:t>4 waves, 8 weeks</a:t>
            </a:r>
            <a:endParaRPr lang="en-US" sz="1900" dirty="0"/>
          </a:p>
        </p:txBody>
      </p:sp>
      <p:sp>
        <p:nvSpPr>
          <p:cNvPr id="31" name="Text 29"/>
          <p:cNvSpPr/>
          <p:nvPr/>
        </p:nvSpPr>
        <p:spPr>
          <a:xfrm>
            <a:off x="9698492" y="4114800"/>
            <a:ext cx="1706819" cy="1691640"/>
          </a:xfrm>
          <a:prstGeom prst="rect">
            <a:avLst/>
          </a:prstGeom>
          <a:noFill/>
          <a:ln/>
        </p:spPr>
        <p:txBody>
          <a:bodyPr wrap="square" rtlCol="0" anchor="t"/>
          <a:lstStyle/>
          <a:p>
            <a:pPr indent="0" marL="0">
              <a:lnSpc>
                <a:spcPct val="120000"/>
              </a:lnSpc>
              <a:buNone/>
            </a:pPr>
            <a:r>
              <a:rPr lang="en-US" sz="1250" dirty="0">
                <a:solidFill>
                  <a:srgbClr val="C9D3DD"/>
                </a:solidFill>
                <a:latin typeface="Calibri" pitchFamily="34" charset="0"/>
                <a:ea typeface="Calibri" pitchFamily="34" charset="-122"/>
                <a:cs typeface="Calibri" pitchFamily="34" charset="-120"/>
              </a:rPr>
              <a:t>Jul 13 · Jul 30 · Aug 17 · Sep 3, ~2.5 weeks apart.</a:t>
            </a:r>
            <a:endParaRPr lang="en-US" sz="1250" dirty="0"/>
          </a:p>
        </p:txBody>
      </p:sp>
      <p:sp>
        <p:nvSpPr>
          <p:cNvPr id="32" name="Text 30"/>
          <p:cNvSpPr/>
          <p:nvPr/>
        </p:nvSpPr>
        <p:spPr>
          <a:xfrm>
            <a:off x="640080" y="6144768"/>
            <a:ext cx="10911535" cy="320040"/>
          </a:xfrm>
          <a:prstGeom prst="rect">
            <a:avLst/>
          </a:prstGeom>
          <a:noFill/>
          <a:ln/>
        </p:spPr>
        <p:txBody>
          <a:bodyPr wrap="square" rtlCol="0" anchor="ctr"/>
          <a:lstStyle/>
          <a:p>
            <a:pPr indent="0" marL="0">
              <a:buNone/>
            </a:pPr>
            <a:r>
              <a:rPr lang="en-US" sz="1250" i="1" dirty="0">
                <a:solidFill>
                  <a:srgbClr val="9AA4AF"/>
                </a:solidFill>
                <a:latin typeface="Calibri" pitchFamily="34" charset="0"/>
                <a:ea typeface="Calibri" pitchFamily="34" charset="-122"/>
                <a:cs typeface="Calibri" pitchFamily="34" charset="-120"/>
              </a:rPr>
              <a:t>The next 5 slides each go one level deeper: where, how, cost, odds, and what to do this week.</a:t>
            </a:r>
            <a:endParaRPr lang="en-US" sz="125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Where we go: two press pushes at once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2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Which countries, which readers, and which publications we aim at.</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UNITED STATES  —  our biggest market</a:t>
            </a:r>
            <a:endParaRPr lang="en-US" sz="1600" dirty="0"/>
          </a:p>
        </p:txBody>
      </p:sp>
      <p:sp>
        <p:nvSpPr>
          <p:cNvPr id="8" name="Text 6"/>
          <p:cNvSpPr/>
          <p:nvPr/>
        </p:nvSpPr>
        <p:spPr>
          <a:xfrm>
            <a:off x="896112"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About 70% of eTeacher customers are American. This is where sign-ups and growth happen.</a:t>
            </a:r>
            <a:endParaRPr lang="en-US" sz="1350" dirty="0"/>
          </a:p>
        </p:txBody>
      </p:sp>
      <p:sp>
        <p:nvSpPr>
          <p:cNvPr id="9" name="Text 7"/>
          <p:cNvSpPr/>
          <p:nvPr/>
        </p:nvSpPr>
        <p:spPr>
          <a:xfrm>
            <a:off x="896112" y="3694176"/>
            <a:ext cx="4760824" cy="713232"/>
          </a:xfrm>
          <a:prstGeom prst="rect">
            <a:avLst/>
          </a:prstGeom>
          <a:noFill/>
          <a:ln/>
        </p:spPr>
        <p:txBody>
          <a:bodyPr wrap="square" rtlCol="0" anchor="t"/>
          <a:lstStyle/>
          <a:p>
            <a:pPr indent="0" marL="0">
              <a:lnSpc>
                <a:spcPct val="114000"/>
              </a:lnSpc>
              <a:buNone/>
            </a:pPr>
            <a:r>
              <a:rPr lang="en-US" sz="1300" i="1" dirty="0">
                <a:solidFill>
                  <a:srgbClr val="0C2A43"/>
                </a:solidFill>
                <a:latin typeface="Calibri" pitchFamily="34" charset="0"/>
                <a:ea typeface="Calibri" pitchFamily="34" charset="-122"/>
                <a:cs typeface="Calibri" pitchFamily="34" charset="-120"/>
              </a:rPr>
              <a:t>THE STORY: health &amp; consumer. “Julie — the mom who out-scored a billionaire — joins an affordable longevity school.”</a:t>
            </a:r>
            <a:endParaRPr lang="en-US" sz="1300" dirty="0"/>
          </a:p>
        </p:txBody>
      </p:sp>
      <p:sp>
        <p:nvSpPr>
          <p:cNvPr id="10" name="Text 8"/>
          <p:cNvSpPr/>
          <p:nvPr/>
        </p:nvSpPr>
        <p:spPr>
          <a:xfrm>
            <a:off x="896112"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1" name="Text 9"/>
          <p:cNvSpPr/>
          <p:nvPr/>
        </p:nvSpPr>
        <p:spPr>
          <a:xfrm>
            <a:off x="896112"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People, Today, Well+Good, Business Insider</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Fox News Health, GMA, local morning TV</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Longevity.Technology, Fierce Healthcare</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EdSurge, TechCrunch (product angle)</a:t>
            </a:r>
            <a:endParaRPr lang="en-US" sz="1250" dirty="0"/>
          </a:p>
        </p:txBody>
      </p:sp>
      <p:sp>
        <p:nvSpPr>
          <p:cNvPr id="12" name="Text 10"/>
          <p:cNvSpPr/>
          <p:nvPr/>
        </p:nvSpPr>
        <p:spPr>
          <a:xfrm>
            <a:off x="896112" y="5687568"/>
            <a:ext cx="4760824" cy="329184"/>
          </a:xfrm>
          <a:prstGeom prst="rect">
            <a:avLst/>
          </a:prstGeom>
          <a:noFill/>
          <a:ln/>
        </p:spPr>
        <p:txBody>
          <a:bodyPr wrap="square" rtlCol="0" anchor="ctr"/>
          <a:lstStyle/>
          <a:p>
            <a:pPr indent="0" marL="0">
              <a:buNone/>
            </a:pPr>
            <a:r>
              <a:rPr lang="en-US" sz="1300" b="1" dirty="0">
                <a:solidFill>
                  <a:srgbClr val="0C2A43"/>
                </a:solidFill>
                <a:latin typeface="Calibri" pitchFamily="34" charset="0"/>
                <a:ea typeface="Calibri" pitchFamily="34" charset="-122"/>
                <a:cs typeface="Calibri" pitchFamily="34" charset="-120"/>
              </a:rPr>
              <a:t>TARGET: 2–4 US press stories + one TV segment</a:t>
            </a:r>
            <a:endParaRPr lang="en-US" sz="1300" dirty="0"/>
          </a:p>
        </p:txBody>
      </p:sp>
      <p:sp>
        <p:nvSpPr>
          <p:cNvPr id="13" name="Shape 11"/>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14" name="Shape 12"/>
          <p:cNvSpPr/>
          <p:nvPr/>
        </p:nvSpPr>
        <p:spPr>
          <a:xfrm>
            <a:off x="6278728" y="2286000"/>
            <a:ext cx="5272888" cy="603504"/>
          </a:xfrm>
          <a:prstGeom prst="rect">
            <a:avLst/>
          </a:prstGeom>
          <a:solidFill>
            <a:srgbClr val="6E4A12"/>
          </a:solidFill>
          <a:ln/>
        </p:spPr>
      </p:sp>
      <p:sp>
        <p:nvSpPr>
          <p:cNvPr id="15" name="Text 13"/>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ISRAEL  —  our home country</a:t>
            </a:r>
            <a:endParaRPr lang="en-US" sz="1600" dirty="0"/>
          </a:p>
        </p:txBody>
      </p:sp>
      <p:sp>
        <p:nvSpPr>
          <p:cNvPr id="16" name="Text 14"/>
          <p:cNvSpPr/>
          <p:nvPr/>
        </p:nvSpPr>
        <p:spPr>
          <a:xfrm>
            <a:off x="6534760"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eTeacher is a 25-year-old Israeli company that press already know and have covered before.</a:t>
            </a:r>
            <a:endParaRPr lang="en-US" sz="1350" dirty="0"/>
          </a:p>
        </p:txBody>
      </p:sp>
      <p:sp>
        <p:nvSpPr>
          <p:cNvPr id="17" name="Text 15"/>
          <p:cNvSpPr/>
          <p:nvPr/>
        </p:nvSpPr>
        <p:spPr>
          <a:xfrm>
            <a:off x="6534760" y="3694176"/>
            <a:ext cx="4760824" cy="713232"/>
          </a:xfrm>
          <a:prstGeom prst="rect">
            <a:avLst/>
          </a:prstGeom>
          <a:noFill/>
          <a:ln/>
        </p:spPr>
        <p:txBody>
          <a:bodyPr wrap="square" rtlCol="0" anchor="t"/>
          <a:lstStyle/>
          <a:p>
            <a:pPr indent="0" marL="0">
              <a:lnSpc>
                <a:spcPct val="114000"/>
              </a:lnSpc>
              <a:buNone/>
            </a:pPr>
            <a:r>
              <a:rPr lang="en-US" sz="1300" i="1" dirty="0">
                <a:solidFill>
                  <a:srgbClr val="6E4A12"/>
                </a:solidFill>
                <a:latin typeface="Calibri" pitchFamily="34" charset="0"/>
                <a:ea typeface="Calibri" pitchFamily="34" charset="-122"/>
                <a:cs typeface="Calibri" pitchFamily="34" charset="-120"/>
              </a:rPr>
              <a:t>THE STORY: business &amp; national pride. “Veteran Israeli EdTech enters the $8T global longevity market.”</a:t>
            </a:r>
            <a:endParaRPr lang="en-US" sz="1300" dirty="0"/>
          </a:p>
        </p:txBody>
      </p:sp>
      <p:sp>
        <p:nvSpPr>
          <p:cNvPr id="18" name="Text 16"/>
          <p:cNvSpPr/>
          <p:nvPr/>
        </p:nvSpPr>
        <p:spPr>
          <a:xfrm>
            <a:off x="6534760"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9" name="Text 17"/>
          <p:cNvSpPr/>
          <p:nvPr/>
        </p:nvSpPr>
        <p:spPr>
          <a:xfrm>
            <a:off x="6534760"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TheMarker, Globes, Calcalist</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Geektime, CTech (tech press)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Ynet, Mako lifestyle &amp; health desks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IVC, startup-nation newsletters</a:t>
            </a:r>
            <a:endParaRPr lang="en-US" sz="1250" dirty="0"/>
          </a:p>
        </p:txBody>
      </p:sp>
      <p:sp>
        <p:nvSpPr>
          <p:cNvPr id="20" name="Text 18"/>
          <p:cNvSpPr/>
          <p:nvPr/>
        </p:nvSpPr>
        <p:spPr>
          <a:xfrm>
            <a:off x="6534760" y="5687568"/>
            <a:ext cx="4760824" cy="329184"/>
          </a:xfrm>
          <a:prstGeom prst="rect">
            <a:avLst/>
          </a:prstGeom>
          <a:noFill/>
          <a:ln/>
        </p:spPr>
        <p:txBody>
          <a:bodyPr wrap="square" rtlCol="0" anchor="ctr"/>
          <a:lstStyle/>
          <a:p>
            <a:pPr indent="0" marL="0">
              <a:buNone/>
            </a:pPr>
            <a:r>
              <a:rPr lang="en-US" sz="1300" b="1" dirty="0">
                <a:solidFill>
                  <a:srgbClr val="6E4A12"/>
                </a:solidFill>
                <a:latin typeface="Calibri" pitchFamily="34" charset="0"/>
                <a:ea typeface="Calibri" pitchFamily="34" charset="-122"/>
                <a:cs typeface="Calibri" pitchFamily="34" charset="-120"/>
              </a:rPr>
              <a:t>TARGET: 1–2 Israeli business features</a:t>
            </a:r>
            <a:endParaRPr lang="en-US" sz="130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How we get covered: free work + one paid wire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3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two levers — free reporter outreach, plus a paid wire that guarantees one story per wave.</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FREE  —  earned coverage ($0)</a:t>
            </a:r>
            <a:endParaRPr lang="en-US" sz="1600" dirty="0"/>
          </a:p>
        </p:txBody>
      </p:sp>
      <p:sp>
        <p:nvSpPr>
          <p:cNvPr id="8" name="Text 6"/>
          <p:cNvSpPr/>
          <p:nvPr/>
        </p:nvSpPr>
        <p:spPr>
          <a:xfrm>
            <a:off x="896112" y="310896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Pitch reporters directly</a:t>
            </a:r>
            <a:endParaRPr lang="en-US" sz="1350" dirty="0"/>
          </a:p>
        </p:txBody>
      </p:sp>
      <p:sp>
        <p:nvSpPr>
          <p:cNvPr id="9" name="Text 7"/>
          <p:cNvSpPr/>
          <p:nvPr/>
        </p:nvSpPr>
        <p:spPr>
          <a:xfrm>
            <a:off x="896112" y="336499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Email a tailored story to reporters who already cover longevity / online learning.</a:t>
            </a:r>
            <a:endParaRPr lang="en-US" sz="1150" dirty="0"/>
          </a:p>
        </p:txBody>
      </p:sp>
      <p:sp>
        <p:nvSpPr>
          <p:cNvPr id="10" name="Text 8"/>
          <p:cNvSpPr/>
          <p:nvPr/>
        </p:nvSpPr>
        <p:spPr>
          <a:xfrm>
            <a:off x="4312768" y="3127248"/>
            <a:ext cx="1371600" cy="457200"/>
          </a:xfrm>
          <a:prstGeom prst="rect">
            <a:avLst/>
          </a:prstGeom>
          <a:noFill/>
          <a:ln/>
        </p:spPr>
        <p:txBody>
          <a:bodyPr wrap="square" rtlCol="0" anchor="t"/>
          <a:lstStyle/>
          <a:p>
            <a:pPr algn="r" indent="0" marL="0">
              <a:lnSpc>
                <a:spcPct val="105000"/>
              </a:lnSpc>
              <a:buNone/>
            </a:pPr>
            <a:r>
              <a:rPr lang="en-US" sz="1100" b="1" dirty="0">
                <a:solidFill>
                  <a:srgbClr val="437A22"/>
                </a:solidFill>
                <a:latin typeface="Calibri" pitchFamily="34" charset="0"/>
                <a:ea typeface="Calibri" pitchFamily="34" charset="-122"/>
                <a:cs typeface="Calibri" pitchFamily="34" charset="-120"/>
              </a:rPr>
              <a:t>Best odds — 40–60%</a:t>
            </a:r>
            <a:endParaRPr lang="en-US" sz="1100" dirty="0"/>
          </a:p>
        </p:txBody>
      </p:sp>
      <p:sp>
        <p:nvSpPr>
          <p:cNvPr id="11" name="Text 9"/>
          <p:cNvSpPr/>
          <p:nvPr/>
        </p:nvSpPr>
        <p:spPr>
          <a:xfrm>
            <a:off x="896112" y="384048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Answer reporter requests</a:t>
            </a:r>
            <a:endParaRPr lang="en-US" sz="1350" dirty="0"/>
          </a:p>
        </p:txBody>
      </p:sp>
      <p:sp>
        <p:nvSpPr>
          <p:cNvPr id="12" name="Text 10"/>
          <p:cNvSpPr/>
          <p:nvPr/>
        </p:nvSpPr>
        <p:spPr>
          <a:xfrm>
            <a:off x="896112" y="409651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Reply fast as the expert when reporters ask for sources (free daily lists).</a:t>
            </a:r>
            <a:endParaRPr lang="en-US" sz="1150" dirty="0"/>
          </a:p>
        </p:txBody>
      </p:sp>
      <p:sp>
        <p:nvSpPr>
          <p:cNvPr id="13" name="Text 11"/>
          <p:cNvSpPr/>
          <p:nvPr/>
        </p:nvSpPr>
        <p:spPr>
          <a:xfrm>
            <a:off x="4312768" y="3858768"/>
            <a:ext cx="1371600" cy="457200"/>
          </a:xfrm>
          <a:prstGeom prst="rect">
            <a:avLst/>
          </a:prstGeom>
          <a:noFill/>
          <a:ln/>
        </p:spPr>
        <p:txBody>
          <a:bodyPr wrap="square" rtlCol="0" anchor="t"/>
          <a:lstStyle/>
          <a:p>
            <a:pPr algn="r" indent="0" marL="0">
              <a:lnSpc>
                <a:spcPct val="105000"/>
              </a:lnSpc>
              <a:buNone/>
            </a:pPr>
            <a:r>
              <a:rPr lang="en-US" sz="1100" b="1" dirty="0">
                <a:solidFill>
                  <a:srgbClr val="437A22"/>
                </a:solidFill>
                <a:latin typeface="Calibri" pitchFamily="34" charset="0"/>
                <a:ea typeface="Calibri" pitchFamily="34" charset="-122"/>
                <a:cs typeface="Calibri" pitchFamily="34" charset="-120"/>
              </a:rPr>
              <a:t>Good — quotes &amp; mentions</a:t>
            </a:r>
            <a:endParaRPr lang="en-US" sz="1100" dirty="0"/>
          </a:p>
        </p:txBody>
      </p:sp>
      <p:sp>
        <p:nvSpPr>
          <p:cNvPr id="14" name="Text 12"/>
          <p:cNvSpPr/>
          <p:nvPr/>
        </p:nvSpPr>
        <p:spPr>
          <a:xfrm>
            <a:off x="896112" y="457200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Watch reporter hashtags on X</a:t>
            </a:r>
            <a:endParaRPr lang="en-US" sz="1350" dirty="0"/>
          </a:p>
        </p:txBody>
      </p:sp>
      <p:sp>
        <p:nvSpPr>
          <p:cNvPr id="15" name="Text 13"/>
          <p:cNvSpPr/>
          <p:nvPr/>
        </p:nvSpPr>
        <p:spPr>
          <a:xfrm>
            <a:off x="896112" y="482803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Reply within the hour when reporters post asking for sources.</a:t>
            </a:r>
            <a:endParaRPr lang="en-US" sz="1150" dirty="0"/>
          </a:p>
        </p:txBody>
      </p:sp>
      <p:sp>
        <p:nvSpPr>
          <p:cNvPr id="16" name="Text 14"/>
          <p:cNvSpPr/>
          <p:nvPr/>
        </p:nvSpPr>
        <p:spPr>
          <a:xfrm>
            <a:off x="4312768" y="4590288"/>
            <a:ext cx="1371600" cy="457200"/>
          </a:xfrm>
          <a:prstGeom prst="rect">
            <a:avLst/>
          </a:prstGeom>
          <a:noFill/>
          <a:ln/>
        </p:spPr>
        <p:txBody>
          <a:bodyPr wrap="square" rtlCol="0" anchor="t"/>
          <a:lstStyle/>
          <a:p>
            <a:pPr algn="r" indent="0" marL="0">
              <a:lnSpc>
                <a:spcPct val="105000"/>
              </a:lnSpc>
              <a:buNone/>
            </a:pPr>
            <a:r>
              <a:rPr lang="en-US" sz="1100" b="1" dirty="0">
                <a:solidFill>
                  <a:srgbClr val="B07A16"/>
                </a:solidFill>
                <a:latin typeface="Calibri" pitchFamily="34" charset="0"/>
                <a:ea typeface="Calibri" pitchFamily="34" charset="-122"/>
                <a:cs typeface="Calibri" pitchFamily="34" charset="-120"/>
              </a:rPr>
              <a:t>Moderate</a:t>
            </a:r>
            <a:endParaRPr lang="en-US" sz="1100" dirty="0"/>
          </a:p>
        </p:txBody>
      </p:sp>
      <p:sp>
        <p:nvSpPr>
          <p:cNvPr id="17" name="Text 15"/>
          <p:cNvSpPr/>
          <p:nvPr/>
        </p:nvSpPr>
        <p:spPr>
          <a:xfrm>
            <a:off x="896112" y="5303520"/>
            <a:ext cx="4760824" cy="256032"/>
          </a:xfrm>
          <a:prstGeom prst="rect">
            <a:avLst/>
          </a:prstGeom>
          <a:noFill/>
          <a:ln/>
        </p:spPr>
        <p:txBody>
          <a:bodyPr wrap="square" rtlCol="0" anchor="ctr"/>
          <a:lstStyle/>
          <a:p>
            <a:pPr indent="0" marL="0">
              <a:buNone/>
            </a:pPr>
            <a:r>
              <a:rPr lang="en-US" sz="1350" b="1" dirty="0">
                <a:solidFill>
                  <a:srgbClr val="0C2A43"/>
                </a:solidFill>
                <a:latin typeface="Cambria" pitchFamily="34" charset="0"/>
                <a:ea typeface="Cambria" pitchFamily="34" charset="-122"/>
                <a:cs typeface="Cambria" pitchFamily="34" charset="-120"/>
              </a:rPr>
              <a:t>Free wire + our own channels</a:t>
            </a:r>
            <a:endParaRPr lang="en-US" sz="1350" dirty="0"/>
          </a:p>
        </p:txBody>
      </p:sp>
      <p:sp>
        <p:nvSpPr>
          <p:cNvPr id="18" name="Text 16"/>
          <p:cNvSpPr/>
          <p:nvPr/>
        </p:nvSpPr>
        <p:spPr>
          <a:xfrm>
            <a:off x="896112" y="5559552"/>
            <a:ext cx="3444088" cy="457200"/>
          </a:xfrm>
          <a:prstGeom prst="rect">
            <a:avLst/>
          </a:prstGeom>
          <a:noFill/>
          <a:ln/>
        </p:spPr>
        <p:txBody>
          <a:bodyPr wrap="square" rtlCol="0" anchor="t"/>
          <a:lstStyle/>
          <a:p>
            <a:pPr indent="0" marL="0">
              <a:lnSpc>
                <a:spcPct val="108000"/>
              </a:lnSpc>
              <a:buNone/>
            </a:pPr>
            <a:r>
              <a:rPr lang="en-US" sz="1150" dirty="0">
                <a:solidFill>
                  <a:srgbClr val="1A1F26"/>
                </a:solidFill>
                <a:latin typeface="Calibri" pitchFamily="34" charset="0"/>
                <a:ea typeface="Calibri" pitchFamily="34" charset="-122"/>
                <a:cs typeface="Calibri" pitchFamily="34" charset="-120"/>
              </a:rPr>
              <a:t>Free press-release posting + Harel posting on his own LinkedIn.</a:t>
            </a:r>
            <a:endParaRPr lang="en-US" sz="1150" dirty="0"/>
          </a:p>
        </p:txBody>
      </p:sp>
      <p:sp>
        <p:nvSpPr>
          <p:cNvPr id="19" name="Text 17"/>
          <p:cNvSpPr/>
          <p:nvPr/>
        </p:nvSpPr>
        <p:spPr>
          <a:xfrm>
            <a:off x="4312768" y="5321808"/>
            <a:ext cx="1371600" cy="457200"/>
          </a:xfrm>
          <a:prstGeom prst="rect">
            <a:avLst/>
          </a:prstGeom>
          <a:noFill/>
          <a:ln/>
        </p:spPr>
        <p:txBody>
          <a:bodyPr wrap="square" rtlCol="0" anchor="t"/>
          <a:lstStyle/>
          <a:p>
            <a:pPr algn="r" indent="0" marL="0">
              <a:lnSpc>
                <a:spcPct val="105000"/>
              </a:lnSpc>
              <a:buNone/>
            </a:pPr>
            <a:r>
              <a:rPr lang="en-US" sz="1100" b="1" dirty="0">
                <a:solidFill>
                  <a:srgbClr val="B07A16"/>
                </a:solidFill>
                <a:latin typeface="Calibri" pitchFamily="34" charset="0"/>
                <a:ea typeface="Calibri" pitchFamily="34" charset="-122"/>
                <a:cs typeface="Calibri" pitchFamily="34" charset="-120"/>
              </a:rPr>
              <a:t>Low reach, builds a trail</a:t>
            </a:r>
            <a:endParaRPr lang="en-US" sz="1100" dirty="0"/>
          </a:p>
        </p:txBody>
      </p:sp>
      <p:sp>
        <p:nvSpPr>
          <p:cNvPr id="20" name="Shape 18"/>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21" name="Shape 19"/>
          <p:cNvSpPr/>
          <p:nvPr/>
        </p:nvSpPr>
        <p:spPr>
          <a:xfrm>
            <a:off x="6278728" y="2286000"/>
            <a:ext cx="5272888" cy="603504"/>
          </a:xfrm>
          <a:prstGeom prst="rect">
            <a:avLst/>
          </a:prstGeom>
          <a:solidFill>
            <a:srgbClr val="6E4A12"/>
          </a:solidFill>
          <a:ln/>
        </p:spPr>
      </p:sp>
      <p:sp>
        <p:nvSpPr>
          <p:cNvPr id="22" name="Text 20"/>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PAID  —  guaranteed pickup</a:t>
            </a:r>
            <a:endParaRPr lang="en-US" sz="1600" dirty="0"/>
          </a:p>
        </p:txBody>
      </p:sp>
      <p:sp>
        <p:nvSpPr>
          <p:cNvPr id="23" name="Text 21"/>
          <p:cNvSpPr/>
          <p:nvPr/>
        </p:nvSpPr>
        <p:spPr>
          <a:xfrm>
            <a:off x="6534760" y="310896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EIN Presswire</a:t>
            </a:r>
            <a:pPr indent="0" marL="0">
              <a:buNone/>
            </a:pPr>
            <a:r>
              <a:rPr lang="en-US" sz="1150" b="1" dirty="0">
                <a:solidFill>
                  <a:srgbClr val="5C6672"/>
                </a:solidFill>
                <a:latin typeface="Calibri" pitchFamily="34" charset="0"/>
                <a:ea typeface="Calibri" pitchFamily="34" charset="-122"/>
                <a:cs typeface="Calibri" pitchFamily="34" charset="-120"/>
              </a:rPr>
              <a:t>   $100–150 (~$80 in a 5-pack)</a:t>
            </a:r>
            <a:endParaRPr lang="en-US" sz="1350" dirty="0"/>
          </a:p>
        </p:txBody>
      </p:sp>
      <p:sp>
        <p:nvSpPr>
          <p:cNvPr id="24" name="Text 22"/>
          <p:cNvSpPr/>
          <p:nvPr/>
        </p:nvSpPr>
        <p:spPr>
          <a:xfrm>
            <a:off x="6534760" y="340156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Our workhorse. 200+ countries, AP News, Google News. Runs every wave.</a:t>
            </a:r>
            <a:endParaRPr lang="en-US" sz="1200" dirty="0"/>
          </a:p>
        </p:txBody>
      </p:sp>
      <p:sp>
        <p:nvSpPr>
          <p:cNvPr id="25" name="Text 23"/>
          <p:cNvSpPr/>
          <p:nvPr/>
        </p:nvSpPr>
        <p:spPr>
          <a:xfrm>
            <a:off x="6534760" y="406908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PR Newswire</a:t>
            </a:r>
            <a:pPr indent="0" marL="0">
              <a:buNone/>
            </a:pPr>
            <a:r>
              <a:rPr lang="en-US" sz="1150" b="1" dirty="0">
                <a:solidFill>
                  <a:srgbClr val="5C6672"/>
                </a:solidFill>
                <a:latin typeface="Calibri" pitchFamily="34" charset="0"/>
                <a:ea typeface="Calibri" pitchFamily="34" charset="-122"/>
                <a:cs typeface="Calibri" pitchFamily="34" charset="-120"/>
              </a:rPr>
              <a:t>   $2,000–3,000+</a:t>
            </a:r>
            <a:endParaRPr lang="en-US" sz="1350" dirty="0"/>
          </a:p>
        </p:txBody>
      </p:sp>
      <p:sp>
        <p:nvSpPr>
          <p:cNvPr id="26" name="Text 24"/>
          <p:cNvSpPr/>
          <p:nvPr/>
        </p:nvSpPr>
        <p:spPr>
          <a:xfrm>
            <a:off x="6534760" y="436168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The big-name wire. Add for Wave 1 only if the CEO wants the premium dateline.</a:t>
            </a:r>
            <a:endParaRPr lang="en-US" sz="1200" dirty="0"/>
          </a:p>
        </p:txBody>
      </p:sp>
      <p:sp>
        <p:nvSpPr>
          <p:cNvPr id="27" name="Text 25"/>
          <p:cNvSpPr/>
          <p:nvPr/>
        </p:nvSpPr>
        <p:spPr>
          <a:xfrm>
            <a:off x="6534760" y="5029200"/>
            <a:ext cx="4760824" cy="274320"/>
          </a:xfrm>
          <a:prstGeom prst="rect">
            <a:avLst/>
          </a:prstGeom>
          <a:noFill/>
          <a:ln/>
        </p:spPr>
        <p:txBody>
          <a:bodyPr wrap="square" rtlCol="0" anchor="ctr"/>
          <a:lstStyle/>
          <a:p>
            <a:pPr indent="0" marL="0">
              <a:buNone/>
            </a:pPr>
            <a:r>
              <a:rPr lang="en-US" sz="1350" b="1" dirty="0">
                <a:solidFill>
                  <a:srgbClr val="6E4A12"/>
                </a:solidFill>
                <a:latin typeface="Cambria" pitchFamily="34" charset="0"/>
                <a:ea typeface="Cambria" pitchFamily="34" charset="-122"/>
                <a:cs typeface="Cambria" pitchFamily="34" charset="-120"/>
              </a:rPr>
              <a:t>Newswire / GlobeNewswire</a:t>
            </a:r>
            <a:pPr indent="0" marL="0">
              <a:buNone/>
            </a:pPr>
            <a:r>
              <a:rPr lang="en-US" sz="1150" b="1" dirty="0">
                <a:solidFill>
                  <a:srgbClr val="5C6672"/>
                </a:solidFill>
                <a:latin typeface="Calibri" pitchFamily="34" charset="0"/>
                <a:ea typeface="Calibri" pitchFamily="34" charset="-122"/>
                <a:cs typeface="Calibri" pitchFamily="34" charset="-120"/>
              </a:rPr>
              <a:t>   $299–1,200</a:t>
            </a:r>
            <a:endParaRPr lang="en-US" sz="1350" dirty="0"/>
          </a:p>
        </p:txBody>
      </p:sp>
      <p:sp>
        <p:nvSpPr>
          <p:cNvPr id="28" name="Text 26"/>
          <p:cNvSpPr/>
          <p:nvPr/>
        </p:nvSpPr>
        <p:spPr>
          <a:xfrm>
            <a:off x="6534760" y="5321808"/>
            <a:ext cx="4760824" cy="548640"/>
          </a:xfrm>
          <a:prstGeom prst="rect">
            <a:avLst/>
          </a:prstGeom>
          <a:noFill/>
          <a:ln/>
        </p:spPr>
        <p:txBody>
          <a:bodyPr wrap="square" rtlCol="0" anchor="t"/>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Solid mid-tier alternatives; we’ve used GlobeNewswire before (2020).</a:t>
            </a:r>
            <a:endParaRPr lang="en-US" sz="1200" dirty="0"/>
          </a:p>
        </p:txBody>
      </p:sp>
      <p:sp>
        <p:nvSpPr>
          <p:cNvPr id="29" name="Text 27"/>
          <p:cNvSpPr/>
          <p:nvPr/>
        </p:nvSpPr>
        <p:spPr>
          <a:xfrm>
            <a:off x="640080" y="6172200"/>
            <a:ext cx="10911535" cy="320040"/>
          </a:xfrm>
          <a:prstGeom prst="rect">
            <a:avLst/>
          </a:prstGeom>
          <a:noFill/>
          <a:ln/>
        </p:spPr>
        <p:txBody>
          <a:bodyPr wrap="square" rtlCol="0" anchor="ctr"/>
          <a:lstStyle/>
          <a:p>
            <a:pPr indent="0" marL="0">
              <a:buNone/>
            </a:pPr>
            <a:r>
              <a:rPr lang="en-US" sz="1250" b="1" dirty="0">
                <a:solidFill>
                  <a:srgbClr val="0C2A43"/>
                </a:solidFill>
                <a:latin typeface="Calibri" pitchFamily="34" charset="0"/>
                <a:ea typeface="Calibri" pitchFamily="34" charset="-122"/>
                <a:cs typeface="Calibri" pitchFamily="34" charset="-120"/>
              </a:rPr>
              <a:t>The paid wire guarantees one story lands every wave; free outreach is where the real, credible coverage comes from.</a:t>
            </a:r>
            <a:endParaRPr lang="en-US" sz="12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BuzzStream (HARO alternatives)</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What it costs: lean vs. premium</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4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total spend across all four waves — and what the extra money buys.</a:t>
            </a:r>
            <a:endParaRPr lang="en-US" sz="1500" dirty="0"/>
          </a:p>
        </p:txBody>
      </p:sp>
      <p:sp>
        <p:nvSpPr>
          <p:cNvPr id="5" name="Shape 3"/>
          <p:cNvSpPr/>
          <p:nvPr/>
        </p:nvSpPr>
        <p:spPr>
          <a:xfrm>
            <a:off x="640080" y="2240280"/>
            <a:ext cx="5272888" cy="3429000"/>
          </a:xfrm>
          <a:prstGeom prst="roundRect">
            <a:avLst>
              <a:gd name="adj" fmla="val 1600"/>
            </a:avLst>
          </a:prstGeom>
          <a:solidFill>
            <a:srgbClr val="FFFFFF"/>
          </a:solidFill>
          <a:ln w="12700">
            <a:solidFill>
              <a:srgbClr val="D9DDE2"/>
            </a:solidFill>
            <a:prstDash val="solid"/>
          </a:ln>
        </p:spPr>
      </p:sp>
      <p:sp>
        <p:nvSpPr>
          <p:cNvPr id="6" name="Shape 4"/>
          <p:cNvSpPr/>
          <p:nvPr/>
        </p:nvSpPr>
        <p:spPr>
          <a:xfrm>
            <a:off x="640080" y="2240280"/>
            <a:ext cx="5272888" cy="502920"/>
          </a:xfrm>
          <a:prstGeom prst="rect">
            <a:avLst/>
          </a:prstGeom>
          <a:solidFill>
            <a:srgbClr val="0C2A43"/>
          </a:solidFill>
          <a:ln/>
        </p:spPr>
      </p:sp>
      <p:sp>
        <p:nvSpPr>
          <p:cNvPr id="7" name="Text 5"/>
          <p:cNvSpPr/>
          <p:nvPr/>
        </p:nvSpPr>
        <p:spPr>
          <a:xfrm>
            <a:off x="868680"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what we recommend</a:t>
            </a:r>
            <a:endParaRPr lang="en-US" sz="1350" dirty="0"/>
          </a:p>
        </p:txBody>
      </p:sp>
      <p:sp>
        <p:nvSpPr>
          <p:cNvPr id="8" name="Text 6"/>
          <p:cNvSpPr/>
          <p:nvPr/>
        </p:nvSpPr>
        <p:spPr>
          <a:xfrm>
            <a:off x="868680" y="2843784"/>
            <a:ext cx="4815688" cy="640080"/>
          </a:xfrm>
          <a:prstGeom prst="rect">
            <a:avLst/>
          </a:prstGeom>
          <a:noFill/>
          <a:ln/>
        </p:spPr>
        <p:txBody>
          <a:bodyPr wrap="square" rtlCol="0" anchor="ctr"/>
          <a:lstStyle/>
          <a:p>
            <a:pPr indent="0" marL="0">
              <a:buNone/>
            </a:pPr>
            <a:r>
              <a:rPr lang="en-US" sz="4000" b="1" dirty="0">
                <a:solidFill>
                  <a:srgbClr val="0C2A43"/>
                </a:solidFill>
                <a:latin typeface="Cambria" pitchFamily="34" charset="0"/>
                <a:ea typeface="Cambria" pitchFamily="34" charset="-122"/>
                <a:cs typeface="Cambria" pitchFamily="34" charset="-120"/>
              </a:rPr>
              <a:t>~$450–$700</a:t>
            </a:r>
            <a:endParaRPr lang="en-US" sz="4000" dirty="0"/>
          </a:p>
        </p:txBody>
      </p:sp>
      <p:sp>
        <p:nvSpPr>
          <p:cNvPr id="9" name="Text 7"/>
          <p:cNvSpPr/>
          <p:nvPr/>
        </p:nvSpPr>
        <p:spPr>
          <a:xfrm>
            <a:off x="868680"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a:t>
            </a:r>
            <a:endParaRPr lang="en-US" sz="1300" dirty="0"/>
          </a:p>
        </p:txBody>
      </p:sp>
      <p:sp>
        <p:nvSpPr>
          <p:cNvPr id="10" name="Text 8"/>
          <p:cNvSpPr/>
          <p:nvPr/>
        </p:nvSpPr>
        <p:spPr>
          <a:xfrm>
            <a:off x="868680"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5-pack (all 4 waves)</a:t>
            </a:r>
            <a:endParaRPr lang="en-US" sz="1250" dirty="0"/>
          </a:p>
        </p:txBody>
      </p:sp>
      <p:sp>
        <p:nvSpPr>
          <p:cNvPr id="11" name="Text 9"/>
          <p:cNvSpPr/>
          <p:nvPr/>
        </p:nvSpPr>
        <p:spPr>
          <a:xfrm>
            <a:off x="4495648"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$399</a:t>
            </a:r>
            <a:endParaRPr lang="en-US" sz="1250" dirty="0"/>
          </a:p>
        </p:txBody>
      </p:sp>
      <p:sp>
        <p:nvSpPr>
          <p:cNvPr id="12" name="Text 10"/>
          <p:cNvSpPr/>
          <p:nvPr/>
        </p:nvSpPr>
        <p:spPr>
          <a:xfrm>
            <a:off x="868680"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 press tactics (reporter pitching)</a:t>
            </a:r>
            <a:endParaRPr lang="en-US" sz="1250" dirty="0"/>
          </a:p>
        </p:txBody>
      </p:sp>
      <p:sp>
        <p:nvSpPr>
          <p:cNvPr id="13" name="Text 11"/>
          <p:cNvSpPr/>
          <p:nvPr/>
        </p:nvSpPr>
        <p:spPr>
          <a:xfrm>
            <a:off x="4495648"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4" name="Text 12"/>
          <p:cNvSpPr/>
          <p:nvPr/>
        </p:nvSpPr>
        <p:spPr>
          <a:xfrm>
            <a:off x="868680"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Optional: headshot / logo cleanup</a:t>
            </a:r>
            <a:endParaRPr lang="en-US" sz="1250" dirty="0"/>
          </a:p>
        </p:txBody>
      </p:sp>
      <p:sp>
        <p:nvSpPr>
          <p:cNvPr id="15" name="Text 13"/>
          <p:cNvSpPr/>
          <p:nvPr/>
        </p:nvSpPr>
        <p:spPr>
          <a:xfrm>
            <a:off x="4495648"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$0–$150</a:t>
            </a:r>
            <a:endParaRPr lang="en-US" sz="1250" dirty="0"/>
          </a:p>
        </p:txBody>
      </p:sp>
      <p:sp>
        <p:nvSpPr>
          <p:cNvPr id="16" name="Text 14"/>
          <p:cNvSpPr/>
          <p:nvPr/>
        </p:nvSpPr>
        <p:spPr>
          <a:xfrm>
            <a:off x="868680"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Our own channels (LinkedIn, website)</a:t>
            </a:r>
            <a:endParaRPr lang="en-US" sz="1250" dirty="0"/>
          </a:p>
        </p:txBody>
      </p:sp>
      <p:sp>
        <p:nvSpPr>
          <p:cNvPr id="17" name="Text 15"/>
          <p:cNvSpPr/>
          <p:nvPr/>
        </p:nvSpPr>
        <p:spPr>
          <a:xfrm>
            <a:off x="4495648"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8" name="Text 16"/>
          <p:cNvSpPr/>
          <p:nvPr/>
        </p:nvSpPr>
        <p:spPr>
          <a:xfrm>
            <a:off x="868680"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Enough for a real, credible, 4-wave launch run by one person.</a:t>
            </a:r>
            <a:endParaRPr lang="en-US" sz="1150" dirty="0"/>
          </a:p>
        </p:txBody>
      </p:sp>
      <p:sp>
        <p:nvSpPr>
          <p:cNvPr id="19" name="Shape 17"/>
          <p:cNvSpPr/>
          <p:nvPr/>
        </p:nvSpPr>
        <p:spPr>
          <a:xfrm>
            <a:off x="6278728" y="2240280"/>
            <a:ext cx="5272888" cy="3429000"/>
          </a:xfrm>
          <a:prstGeom prst="roundRect">
            <a:avLst>
              <a:gd name="adj" fmla="val 1600"/>
            </a:avLst>
          </a:prstGeom>
          <a:solidFill>
            <a:srgbClr val="FFFFFF"/>
          </a:solidFill>
          <a:ln w="12700">
            <a:solidFill>
              <a:srgbClr val="D9DDE2"/>
            </a:solidFill>
            <a:prstDash val="solid"/>
          </a:ln>
        </p:spPr>
      </p:sp>
      <p:sp>
        <p:nvSpPr>
          <p:cNvPr id="20" name="Shape 18"/>
          <p:cNvSpPr/>
          <p:nvPr/>
        </p:nvSpPr>
        <p:spPr>
          <a:xfrm>
            <a:off x="6278728" y="2240280"/>
            <a:ext cx="5272888" cy="502920"/>
          </a:xfrm>
          <a:prstGeom prst="rect">
            <a:avLst/>
          </a:prstGeom>
          <a:solidFill>
            <a:srgbClr val="6E4A12"/>
          </a:solidFill>
          <a:ln/>
        </p:spPr>
      </p:sp>
      <p:sp>
        <p:nvSpPr>
          <p:cNvPr id="21" name="Text 19"/>
          <p:cNvSpPr/>
          <p:nvPr/>
        </p:nvSpPr>
        <p:spPr>
          <a:xfrm>
            <a:off x="6507328"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optional upgrade</a:t>
            </a:r>
            <a:endParaRPr lang="en-US" sz="1350" dirty="0"/>
          </a:p>
        </p:txBody>
      </p:sp>
      <p:sp>
        <p:nvSpPr>
          <p:cNvPr id="22" name="Text 20"/>
          <p:cNvSpPr/>
          <p:nvPr/>
        </p:nvSpPr>
        <p:spPr>
          <a:xfrm>
            <a:off x="6507328" y="2843784"/>
            <a:ext cx="4815688" cy="640080"/>
          </a:xfrm>
          <a:prstGeom prst="rect">
            <a:avLst/>
          </a:prstGeom>
          <a:noFill/>
          <a:ln/>
        </p:spPr>
        <p:txBody>
          <a:bodyPr wrap="square" rtlCol="0" anchor="ctr"/>
          <a:lstStyle/>
          <a:p>
            <a:pPr indent="0" marL="0">
              <a:buNone/>
            </a:pPr>
            <a:r>
              <a:rPr lang="en-US" sz="4000" b="1" dirty="0">
                <a:solidFill>
                  <a:srgbClr val="6E4A12"/>
                </a:solidFill>
                <a:latin typeface="Cambria" pitchFamily="34" charset="0"/>
                <a:ea typeface="Cambria" pitchFamily="34" charset="-122"/>
                <a:cs typeface="Cambria" pitchFamily="34" charset="-120"/>
              </a:rPr>
              <a:t>~$3,500–$5,000</a:t>
            </a:r>
            <a:endParaRPr lang="en-US" sz="4000" dirty="0"/>
          </a:p>
        </p:txBody>
      </p:sp>
      <p:sp>
        <p:nvSpPr>
          <p:cNvPr id="23" name="Text 21"/>
          <p:cNvSpPr/>
          <p:nvPr/>
        </p:nvSpPr>
        <p:spPr>
          <a:xfrm>
            <a:off x="6507328"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a:t>
            </a:r>
            <a:endParaRPr lang="en-US" sz="1300" dirty="0"/>
          </a:p>
        </p:txBody>
      </p:sp>
      <p:sp>
        <p:nvSpPr>
          <p:cNvPr id="24" name="Text 22"/>
          <p:cNvSpPr/>
          <p:nvPr/>
        </p:nvSpPr>
        <p:spPr>
          <a:xfrm>
            <a:off x="6507328"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PR Newswire national (Wave 1)</a:t>
            </a:r>
            <a:endParaRPr lang="en-US" sz="1250" dirty="0"/>
          </a:p>
        </p:txBody>
      </p:sp>
      <p:sp>
        <p:nvSpPr>
          <p:cNvPr id="25" name="Text 23"/>
          <p:cNvSpPr/>
          <p:nvPr/>
        </p:nvSpPr>
        <p:spPr>
          <a:xfrm>
            <a:off x="10134295"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$2,000–$3,000</a:t>
            </a:r>
            <a:endParaRPr lang="en-US" sz="1250" dirty="0"/>
          </a:p>
        </p:txBody>
      </p:sp>
      <p:sp>
        <p:nvSpPr>
          <p:cNvPr id="26" name="Text 24"/>
          <p:cNvSpPr/>
          <p:nvPr/>
        </p:nvSpPr>
        <p:spPr>
          <a:xfrm>
            <a:off x="6507328"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(Waves 2–4)</a:t>
            </a:r>
            <a:endParaRPr lang="en-US" sz="1250" dirty="0"/>
          </a:p>
        </p:txBody>
      </p:sp>
      <p:sp>
        <p:nvSpPr>
          <p:cNvPr id="27" name="Text 25"/>
          <p:cNvSpPr/>
          <p:nvPr/>
        </p:nvSpPr>
        <p:spPr>
          <a:xfrm>
            <a:off x="10134295"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~$240</a:t>
            </a:r>
            <a:endParaRPr lang="en-US" sz="1250" dirty="0"/>
          </a:p>
        </p:txBody>
      </p:sp>
      <p:sp>
        <p:nvSpPr>
          <p:cNvPr id="28" name="Text 26"/>
          <p:cNvSpPr/>
          <p:nvPr/>
        </p:nvSpPr>
        <p:spPr>
          <a:xfrm>
            <a:off x="6507328"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Qwoted paid (3 mo)</a:t>
            </a:r>
            <a:endParaRPr lang="en-US" sz="1250" dirty="0"/>
          </a:p>
        </p:txBody>
      </p:sp>
      <p:sp>
        <p:nvSpPr>
          <p:cNvPr id="29" name="Text 27"/>
          <p:cNvSpPr/>
          <p:nvPr/>
        </p:nvSpPr>
        <p:spPr>
          <a:xfrm>
            <a:off x="10134295"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~$300</a:t>
            </a:r>
            <a:endParaRPr lang="en-US" sz="1250" dirty="0"/>
          </a:p>
        </p:txBody>
      </p:sp>
      <p:sp>
        <p:nvSpPr>
          <p:cNvPr id="30" name="Text 28"/>
          <p:cNvSpPr/>
          <p:nvPr/>
        </p:nvSpPr>
        <p:spPr>
          <a:xfrm>
            <a:off x="6507328"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Freelance reporter-list / pitch help</a:t>
            </a:r>
            <a:endParaRPr lang="en-US" sz="1250" dirty="0"/>
          </a:p>
        </p:txBody>
      </p:sp>
      <p:sp>
        <p:nvSpPr>
          <p:cNvPr id="31" name="Text 29"/>
          <p:cNvSpPr/>
          <p:nvPr/>
        </p:nvSpPr>
        <p:spPr>
          <a:xfrm>
            <a:off x="10134295"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$500–$1,500</a:t>
            </a:r>
            <a:endParaRPr lang="en-US" sz="1250" dirty="0"/>
          </a:p>
        </p:txBody>
      </p:sp>
      <p:sp>
        <p:nvSpPr>
          <p:cNvPr id="32" name="Text 30"/>
          <p:cNvSpPr/>
          <p:nvPr/>
        </p:nvSpPr>
        <p:spPr>
          <a:xfrm>
            <a:off x="6507328"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Only if the CEO wants the big-name wire on the launch.</a:t>
            </a:r>
            <a:endParaRPr lang="en-US" sz="1150" dirty="0"/>
          </a:p>
        </p:txBody>
      </p:sp>
      <p:sp>
        <p:nvSpPr>
          <p:cNvPr id="33" name="Text 31"/>
          <p:cNvSpPr/>
          <p:nvPr/>
        </p:nvSpPr>
        <p:spPr>
          <a:xfrm>
            <a:off x="640080" y="5897880"/>
            <a:ext cx="10911535" cy="457200"/>
          </a:xfrm>
          <a:prstGeom prst="rect">
            <a:avLst/>
          </a:prstGeom>
          <a:noFill/>
          <a:ln/>
        </p:spPr>
        <p:txBody>
          <a:bodyPr wrap="square" rtlCol="0" anchor="ctr"/>
          <a:lstStyle/>
          <a:p>
            <a:pPr indent="0" marL="0">
              <a:lnSpc>
                <a:spcPct val="110000"/>
              </a:lnSpc>
              <a:buNone/>
            </a:pPr>
            <a:r>
              <a:rPr lang="en-US" sz="1350" b="1" dirty="0">
                <a:solidFill>
                  <a:srgbClr val="0C2A43"/>
                </a:solidFill>
                <a:latin typeface="Calibri" pitchFamily="34" charset="0"/>
                <a:ea typeface="Calibri" pitchFamily="34" charset="-122"/>
                <a:cs typeface="Calibri" pitchFamily="34" charset="-120"/>
              </a:rPr>
              <a:t>Bottom line: a serious four-wave launch is realistic for under $700. Spending more buys credibility and saves time — it does not buy certainty.</a:t>
            </a:r>
            <a:endParaRPr lang="en-US" sz="1350" dirty="0"/>
          </a:p>
        </p:txBody>
      </p:sp>
      <p:sp>
        <p:nvSpPr>
          <p:cNvPr id="34" name="Text 32"/>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2026</a:t>
            </a:r>
            <a:endParaRPr lang="en-US" sz="8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The odds: guaranteed, likely, possible, long shot</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5C6672"/>
                </a:solidFill>
                <a:latin typeface="Calibri" pitchFamily="34" charset="0"/>
                <a:ea typeface="Calibri" pitchFamily="34" charset="-122"/>
                <a:cs typeface="Calibri" pitchFamily="34" charset="-120"/>
              </a:rPr>
              <a:t>   ·   5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IN PLAIN TERMS: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What this plan will realistically deliver — stated honestly, no hype.</a:t>
            </a:r>
            <a:endParaRPr lang="en-US" sz="1500" dirty="0"/>
          </a:p>
        </p:txBody>
      </p:sp>
      <p:sp>
        <p:nvSpPr>
          <p:cNvPr id="5" name="Shape 3"/>
          <p:cNvSpPr/>
          <p:nvPr/>
        </p:nvSpPr>
        <p:spPr>
          <a:xfrm>
            <a:off x="640080" y="2212848"/>
            <a:ext cx="10911535" cy="822960"/>
          </a:xfrm>
          <a:prstGeom prst="roundRect">
            <a:avLst>
              <a:gd name="adj" fmla="val 5556"/>
            </a:avLst>
          </a:prstGeom>
          <a:solidFill>
            <a:srgbClr val="FFFFFF"/>
          </a:solidFill>
          <a:ln w="12700">
            <a:solidFill>
              <a:srgbClr val="D9DDE2"/>
            </a:solidFill>
            <a:prstDash val="solid"/>
          </a:ln>
        </p:spPr>
      </p:sp>
      <p:sp>
        <p:nvSpPr>
          <p:cNvPr id="6" name="Shape 4"/>
          <p:cNvSpPr/>
          <p:nvPr/>
        </p:nvSpPr>
        <p:spPr>
          <a:xfrm>
            <a:off x="640080" y="2212848"/>
            <a:ext cx="1783080" cy="822960"/>
          </a:xfrm>
          <a:prstGeom prst="roundRect">
            <a:avLst>
              <a:gd name="adj" fmla="val 5556"/>
            </a:avLst>
          </a:prstGeom>
          <a:solidFill>
            <a:srgbClr val="437A22"/>
          </a:solidFill>
          <a:ln/>
        </p:spPr>
      </p:sp>
      <p:sp>
        <p:nvSpPr>
          <p:cNvPr id="7" name="Text 5"/>
          <p:cNvSpPr/>
          <p:nvPr/>
        </p:nvSpPr>
        <p:spPr>
          <a:xfrm>
            <a:off x="640080" y="2212848"/>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GUARANTEED</a:t>
            </a:r>
            <a:endParaRPr lang="en-US" sz="1400" dirty="0"/>
          </a:p>
        </p:txBody>
      </p:sp>
      <p:sp>
        <p:nvSpPr>
          <p:cNvPr id="8" name="Text 6"/>
          <p:cNvSpPr/>
          <p:nvPr/>
        </p:nvSpPr>
        <p:spPr>
          <a:xfrm>
            <a:off x="2651760" y="2304288"/>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Paid wire pickup</a:t>
            </a:r>
            <a:endParaRPr lang="en-US" sz="1700" dirty="0"/>
          </a:p>
        </p:txBody>
      </p:sp>
      <p:sp>
        <p:nvSpPr>
          <p:cNvPr id="9" name="Text 7"/>
          <p:cNvSpPr/>
          <p:nvPr/>
        </p:nvSpPr>
        <p:spPr>
          <a:xfrm>
            <a:off x="2651760" y="2670048"/>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100%</a:t>
            </a:r>
            <a:endParaRPr lang="en-US" sz="1350" dirty="0"/>
          </a:p>
        </p:txBody>
      </p:sp>
      <p:sp>
        <p:nvSpPr>
          <p:cNvPr id="10" name="Text 8"/>
          <p:cNvSpPr/>
          <p:nvPr/>
        </p:nvSpPr>
        <p:spPr>
          <a:xfrm>
            <a:off x="6675120" y="2286000"/>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200" dirty="0"/>
          </a:p>
        </p:txBody>
      </p:sp>
      <p:sp>
        <p:nvSpPr>
          <p:cNvPr id="11" name="Shape 9"/>
          <p:cNvSpPr/>
          <p:nvPr/>
        </p:nvSpPr>
        <p:spPr>
          <a:xfrm>
            <a:off x="640080" y="3145536"/>
            <a:ext cx="10911535" cy="822960"/>
          </a:xfrm>
          <a:prstGeom prst="roundRect">
            <a:avLst>
              <a:gd name="adj" fmla="val 5556"/>
            </a:avLst>
          </a:prstGeom>
          <a:solidFill>
            <a:srgbClr val="FFFFFF"/>
          </a:solidFill>
          <a:ln w="12700">
            <a:solidFill>
              <a:srgbClr val="D9DDE2"/>
            </a:solidFill>
            <a:prstDash val="solid"/>
          </a:ln>
        </p:spPr>
      </p:sp>
      <p:sp>
        <p:nvSpPr>
          <p:cNvPr id="12" name="Shape 10"/>
          <p:cNvSpPr/>
          <p:nvPr/>
        </p:nvSpPr>
        <p:spPr>
          <a:xfrm>
            <a:off x="640080" y="3145536"/>
            <a:ext cx="1783080" cy="822960"/>
          </a:xfrm>
          <a:prstGeom prst="roundRect">
            <a:avLst>
              <a:gd name="adj" fmla="val 5556"/>
            </a:avLst>
          </a:prstGeom>
          <a:solidFill>
            <a:srgbClr val="437A22"/>
          </a:solidFill>
          <a:ln/>
        </p:spPr>
      </p:sp>
      <p:sp>
        <p:nvSpPr>
          <p:cNvPr id="13" name="Text 11"/>
          <p:cNvSpPr/>
          <p:nvPr/>
        </p:nvSpPr>
        <p:spPr>
          <a:xfrm>
            <a:off x="640080" y="3145536"/>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LIKELY</a:t>
            </a:r>
            <a:endParaRPr lang="en-US" sz="1400" dirty="0"/>
          </a:p>
        </p:txBody>
      </p:sp>
      <p:sp>
        <p:nvSpPr>
          <p:cNvPr id="14" name="Text 12"/>
          <p:cNvSpPr/>
          <p:nvPr/>
        </p:nvSpPr>
        <p:spPr>
          <a:xfrm>
            <a:off x="2651760" y="3236976"/>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A few earned pickups</a:t>
            </a:r>
            <a:endParaRPr lang="en-US" sz="1700" dirty="0"/>
          </a:p>
        </p:txBody>
      </p:sp>
      <p:sp>
        <p:nvSpPr>
          <p:cNvPr id="15" name="Text 13"/>
          <p:cNvSpPr/>
          <p:nvPr/>
        </p:nvSpPr>
        <p:spPr>
          <a:xfrm>
            <a:off x="2651760" y="3602736"/>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60–80% chance of ≥3</a:t>
            </a:r>
            <a:endParaRPr lang="en-US" sz="1350" dirty="0"/>
          </a:p>
        </p:txBody>
      </p:sp>
      <p:sp>
        <p:nvSpPr>
          <p:cNvPr id="16" name="Text 14"/>
          <p:cNvSpPr/>
          <p:nvPr/>
        </p:nvSpPr>
        <p:spPr>
          <a:xfrm>
            <a:off x="6675120" y="3218688"/>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200" dirty="0"/>
          </a:p>
        </p:txBody>
      </p:sp>
      <p:sp>
        <p:nvSpPr>
          <p:cNvPr id="17" name="Shape 15"/>
          <p:cNvSpPr/>
          <p:nvPr/>
        </p:nvSpPr>
        <p:spPr>
          <a:xfrm>
            <a:off x="640080" y="4078224"/>
            <a:ext cx="10911535" cy="822960"/>
          </a:xfrm>
          <a:prstGeom prst="roundRect">
            <a:avLst>
              <a:gd name="adj" fmla="val 5556"/>
            </a:avLst>
          </a:prstGeom>
          <a:solidFill>
            <a:srgbClr val="FFFFFF"/>
          </a:solidFill>
          <a:ln w="12700">
            <a:solidFill>
              <a:srgbClr val="D9DDE2"/>
            </a:solidFill>
            <a:prstDash val="solid"/>
          </a:ln>
        </p:spPr>
      </p:sp>
      <p:sp>
        <p:nvSpPr>
          <p:cNvPr id="18" name="Shape 16"/>
          <p:cNvSpPr/>
          <p:nvPr/>
        </p:nvSpPr>
        <p:spPr>
          <a:xfrm>
            <a:off x="640080" y="4078224"/>
            <a:ext cx="1783080" cy="822960"/>
          </a:xfrm>
          <a:prstGeom prst="roundRect">
            <a:avLst>
              <a:gd name="adj" fmla="val 5556"/>
            </a:avLst>
          </a:prstGeom>
          <a:solidFill>
            <a:srgbClr val="B07A16"/>
          </a:solidFill>
          <a:ln/>
        </p:spPr>
      </p:sp>
      <p:sp>
        <p:nvSpPr>
          <p:cNvPr id="19" name="Text 17"/>
          <p:cNvSpPr/>
          <p:nvPr/>
        </p:nvSpPr>
        <p:spPr>
          <a:xfrm>
            <a:off x="640080" y="4078224"/>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POSSIBLE</a:t>
            </a:r>
            <a:endParaRPr lang="en-US" sz="1400" dirty="0"/>
          </a:p>
        </p:txBody>
      </p:sp>
      <p:sp>
        <p:nvSpPr>
          <p:cNvPr id="20" name="Text 18"/>
          <p:cNvSpPr/>
          <p:nvPr/>
        </p:nvSpPr>
        <p:spPr>
          <a:xfrm>
            <a:off x="2651760" y="4169664"/>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One Tier-1 name</a:t>
            </a:r>
            <a:endParaRPr lang="en-US" sz="1700" dirty="0"/>
          </a:p>
        </p:txBody>
      </p:sp>
      <p:sp>
        <p:nvSpPr>
          <p:cNvPr id="21" name="Text 19"/>
          <p:cNvSpPr/>
          <p:nvPr/>
        </p:nvSpPr>
        <p:spPr>
          <a:xfrm>
            <a:off x="2651760" y="4535424"/>
            <a:ext cx="3840480" cy="292608"/>
          </a:xfrm>
          <a:prstGeom prst="rect">
            <a:avLst/>
          </a:prstGeom>
          <a:noFill/>
          <a:ln/>
        </p:spPr>
        <p:txBody>
          <a:bodyPr wrap="square" rtlCol="0" anchor="ctr"/>
          <a:lstStyle/>
          <a:p>
            <a:pPr indent="0" marL="0">
              <a:buNone/>
            </a:pPr>
            <a:r>
              <a:rPr lang="en-US" sz="1350" b="1" dirty="0">
                <a:solidFill>
                  <a:srgbClr val="B07A16"/>
                </a:solidFill>
                <a:latin typeface="Calibri" pitchFamily="34" charset="0"/>
                <a:ea typeface="Calibri" pitchFamily="34" charset="-122"/>
                <a:cs typeface="Calibri" pitchFamily="34" charset="-120"/>
              </a:rPr>
              <a:t>20–35%</a:t>
            </a:r>
            <a:endParaRPr lang="en-US" sz="1350" dirty="0"/>
          </a:p>
        </p:txBody>
      </p:sp>
      <p:sp>
        <p:nvSpPr>
          <p:cNvPr id="22" name="Text 20"/>
          <p:cNvSpPr/>
          <p:nvPr/>
        </p:nvSpPr>
        <p:spPr>
          <a:xfrm>
            <a:off x="6675120" y="4151376"/>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200" dirty="0"/>
          </a:p>
        </p:txBody>
      </p:sp>
      <p:sp>
        <p:nvSpPr>
          <p:cNvPr id="23" name="Shape 21"/>
          <p:cNvSpPr/>
          <p:nvPr/>
        </p:nvSpPr>
        <p:spPr>
          <a:xfrm>
            <a:off x="640080" y="5010912"/>
            <a:ext cx="10911535" cy="822960"/>
          </a:xfrm>
          <a:prstGeom prst="roundRect">
            <a:avLst>
              <a:gd name="adj" fmla="val 5556"/>
            </a:avLst>
          </a:prstGeom>
          <a:solidFill>
            <a:srgbClr val="FFFFFF"/>
          </a:solidFill>
          <a:ln w="12700">
            <a:solidFill>
              <a:srgbClr val="D9DDE2"/>
            </a:solidFill>
            <a:prstDash val="solid"/>
          </a:ln>
        </p:spPr>
      </p:sp>
      <p:sp>
        <p:nvSpPr>
          <p:cNvPr id="24" name="Shape 22"/>
          <p:cNvSpPr/>
          <p:nvPr/>
        </p:nvSpPr>
        <p:spPr>
          <a:xfrm>
            <a:off x="640080" y="5010912"/>
            <a:ext cx="1783080" cy="822960"/>
          </a:xfrm>
          <a:prstGeom prst="roundRect">
            <a:avLst>
              <a:gd name="adj" fmla="val 5556"/>
            </a:avLst>
          </a:prstGeom>
          <a:solidFill>
            <a:srgbClr val="8A3A2A"/>
          </a:solidFill>
          <a:ln/>
        </p:spPr>
      </p:sp>
      <p:sp>
        <p:nvSpPr>
          <p:cNvPr id="25" name="Text 23"/>
          <p:cNvSpPr/>
          <p:nvPr/>
        </p:nvSpPr>
        <p:spPr>
          <a:xfrm>
            <a:off x="640080" y="5010912"/>
            <a:ext cx="178308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LONG SHOT</a:t>
            </a:r>
            <a:endParaRPr lang="en-US" sz="1400" dirty="0"/>
          </a:p>
        </p:txBody>
      </p:sp>
      <p:sp>
        <p:nvSpPr>
          <p:cNvPr id="26" name="Text 24"/>
          <p:cNvSpPr/>
          <p:nvPr/>
        </p:nvSpPr>
        <p:spPr>
          <a:xfrm>
            <a:off x="2651760" y="5102352"/>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Viral / TV national</a:t>
            </a:r>
            <a:endParaRPr lang="en-US" sz="1700" dirty="0"/>
          </a:p>
        </p:txBody>
      </p:sp>
      <p:sp>
        <p:nvSpPr>
          <p:cNvPr id="27" name="Text 25"/>
          <p:cNvSpPr/>
          <p:nvPr/>
        </p:nvSpPr>
        <p:spPr>
          <a:xfrm>
            <a:off x="2651760" y="5468112"/>
            <a:ext cx="3840480" cy="292608"/>
          </a:xfrm>
          <a:prstGeom prst="rect">
            <a:avLst/>
          </a:prstGeom>
          <a:noFill/>
          <a:ln/>
        </p:spPr>
        <p:txBody>
          <a:bodyPr wrap="square" rtlCol="0" anchor="ctr"/>
          <a:lstStyle/>
          <a:p>
            <a:pPr indent="0" marL="0">
              <a:buNone/>
            </a:pPr>
            <a:r>
              <a:rPr lang="en-US" sz="1350" b="1" dirty="0">
                <a:solidFill>
                  <a:srgbClr val="8A3A2A"/>
                </a:solidFill>
                <a:latin typeface="Calibri" pitchFamily="34" charset="0"/>
                <a:ea typeface="Calibri" pitchFamily="34" charset="-122"/>
                <a:cs typeface="Calibri" pitchFamily="34" charset="-120"/>
              </a:rPr>
              <a:t>&lt;15%</a:t>
            </a:r>
            <a:endParaRPr lang="en-US" sz="1350" dirty="0"/>
          </a:p>
        </p:txBody>
      </p:sp>
      <p:sp>
        <p:nvSpPr>
          <p:cNvPr id="28" name="Text 26"/>
          <p:cNvSpPr/>
          <p:nvPr/>
        </p:nvSpPr>
        <p:spPr>
          <a:xfrm>
            <a:off x="6675120" y="5084064"/>
            <a:ext cx="469361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200" dirty="0"/>
          </a:p>
        </p:txBody>
      </p:sp>
      <p:sp>
        <p:nvSpPr>
          <p:cNvPr id="29" name="Text 27"/>
          <p:cNvSpPr/>
          <p:nvPr/>
        </p:nvSpPr>
        <p:spPr>
          <a:xfrm>
            <a:off x="640080" y="6053328"/>
            <a:ext cx="10911535" cy="502920"/>
          </a:xfrm>
          <a:prstGeom prst="rect">
            <a:avLst/>
          </a:prstGeom>
          <a:noFill/>
          <a:ln/>
        </p:spPr>
        <p:txBody>
          <a:bodyPr wrap="square" rtlCol="0" anchor="ctr"/>
          <a:lstStyle/>
          <a:p>
            <a:pPr indent="0" marL="0">
              <a:lnSpc>
                <a:spcPct val="110000"/>
              </a:lnSpc>
              <a:buNone/>
            </a:pPr>
            <a:r>
              <a:rPr lang="en-US" sz="1150" b="1" dirty="0">
                <a:solidFill>
                  <a:srgbClr val="0C2A43"/>
                </a:solidFill>
                <a:latin typeface="Calibri" pitchFamily="34" charset="0"/>
                <a:ea typeface="Calibri" pitchFamily="34" charset="-122"/>
                <a:cs typeface="Calibri" pitchFamily="34" charset="-120"/>
              </a:rPr>
              <a:t>We are not starting from zero:  </a:t>
            </a:r>
            <a:pPr indent="0" marL="0">
              <a:lnSpc>
                <a:spcPct val="110000"/>
              </a:lnSpc>
              <a:buNone/>
            </a:pPr>
            <a:r>
              <a:rPr lang="en-US" sz="1150" dirty="0">
                <a:solidFill>
                  <a:srgbClr val="1A1F26"/>
                </a:solidFill>
                <a:latin typeface="Calibri" pitchFamily="34" charset="0"/>
                <a:ea typeface="Calibri" pitchFamily="34" charset="-122"/>
                <a:cs typeface="Calibri" pitchFamily="34" charset="-120"/>
              </a:rPr>
              <a:t>eTeacher already has an indexed press trail (TheMarker feature Feb 2026, GlobeNewswire 2020, PR Newswire 2017) — so reporters find a real corporate history, which lifts our odds on every pitch. We bank on guaranteed + likely; anything above is upside, not the promise.</a:t>
            </a:r>
            <a:endParaRPr lang="en-US" sz="11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21792"/>
            <a:ext cx="10911535"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PLAN</a:t>
            </a:r>
            <a:pPr indent="0" marL="0">
              <a:buNone/>
            </a:pPr>
            <a:r>
              <a:rPr lang="en-US" sz="1300" b="1" spc="200" kern="0" dirty="0">
                <a:solidFill>
                  <a:srgbClr val="9AA4AF"/>
                </a:solidFill>
                <a:latin typeface="Calibri" pitchFamily="34" charset="0"/>
                <a:ea typeface="Calibri" pitchFamily="34" charset="-122"/>
                <a:cs typeface="Calibri" pitchFamily="34" charset="-120"/>
              </a:rPr>
              <a:t>   ·   6 OF 6   ·   DO THIS WEEK</a:t>
            </a:r>
            <a:endParaRPr lang="en-US" sz="1300" dirty="0"/>
          </a:p>
        </p:txBody>
      </p:sp>
      <p:sp>
        <p:nvSpPr>
          <p:cNvPr id="4" name="Text 2"/>
          <p:cNvSpPr/>
          <p:nvPr/>
        </p:nvSpPr>
        <p:spPr>
          <a:xfrm>
            <a:off x="640080" y="1060704"/>
            <a:ext cx="10911535"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The 7 things to finish before Wave 1 goes live</a:t>
            </a:r>
            <a:endParaRPr lang="en-US" sz="3000" dirty="0"/>
          </a:p>
        </p:txBody>
      </p:sp>
      <p:sp>
        <p:nvSpPr>
          <p:cNvPr id="5" name="Shape 3"/>
          <p:cNvSpPr/>
          <p:nvPr/>
        </p:nvSpPr>
        <p:spPr>
          <a:xfrm>
            <a:off x="640080" y="2148840"/>
            <a:ext cx="493776" cy="493776"/>
          </a:xfrm>
          <a:prstGeom prst="ellipse">
            <a:avLst/>
          </a:prstGeom>
          <a:solidFill>
            <a:srgbClr val="C08A2E"/>
          </a:solidFill>
          <a:ln/>
        </p:spPr>
      </p:sp>
      <p:sp>
        <p:nvSpPr>
          <p:cNvPr id="6" name="Text 4"/>
          <p:cNvSpPr/>
          <p:nvPr/>
        </p:nvSpPr>
        <p:spPr>
          <a:xfrm>
            <a:off x="640080"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316736"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Get quotes approved</a:t>
            </a:r>
            <a:endParaRPr lang="en-US" sz="1600" dirty="0"/>
          </a:p>
        </p:txBody>
      </p:sp>
      <p:sp>
        <p:nvSpPr>
          <p:cNvPr id="8" name="Text 6"/>
          <p:cNvSpPr/>
          <p:nvPr/>
        </p:nvSpPr>
        <p:spPr>
          <a:xfrm>
            <a:off x="1316736"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200" dirty="0"/>
          </a:p>
        </p:txBody>
      </p:sp>
      <p:sp>
        <p:nvSpPr>
          <p:cNvPr id="9" name="Shape 7"/>
          <p:cNvSpPr/>
          <p:nvPr/>
        </p:nvSpPr>
        <p:spPr>
          <a:xfrm>
            <a:off x="640080" y="3209544"/>
            <a:ext cx="493776" cy="493776"/>
          </a:xfrm>
          <a:prstGeom prst="ellipse">
            <a:avLst/>
          </a:prstGeom>
          <a:solidFill>
            <a:srgbClr val="C08A2E"/>
          </a:solidFill>
          <a:ln/>
        </p:spPr>
      </p:sp>
      <p:sp>
        <p:nvSpPr>
          <p:cNvPr id="10" name="Text 8"/>
          <p:cNvSpPr/>
          <p:nvPr/>
        </p:nvSpPr>
        <p:spPr>
          <a:xfrm>
            <a:off x="640080"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316736"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Open the free accounts</a:t>
            </a:r>
            <a:endParaRPr lang="en-US" sz="1600" dirty="0"/>
          </a:p>
        </p:txBody>
      </p:sp>
      <p:sp>
        <p:nvSpPr>
          <p:cNvPr id="12" name="Text 10"/>
          <p:cNvSpPr/>
          <p:nvPr/>
        </p:nvSpPr>
        <p:spPr>
          <a:xfrm>
            <a:off x="1316736"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Sign up for the free reporter-request services (Source of Sources, Qwoted). Set up X columns for the reporter hashtags.</a:t>
            </a:r>
            <a:endParaRPr lang="en-US" sz="1200" dirty="0"/>
          </a:p>
        </p:txBody>
      </p:sp>
      <p:sp>
        <p:nvSpPr>
          <p:cNvPr id="13" name="Shape 11"/>
          <p:cNvSpPr/>
          <p:nvPr/>
        </p:nvSpPr>
        <p:spPr>
          <a:xfrm>
            <a:off x="640080" y="4270248"/>
            <a:ext cx="493776" cy="493776"/>
          </a:xfrm>
          <a:prstGeom prst="ellipse">
            <a:avLst/>
          </a:prstGeom>
          <a:solidFill>
            <a:srgbClr val="C08A2E"/>
          </a:solidFill>
          <a:ln/>
        </p:spPr>
      </p:sp>
      <p:sp>
        <p:nvSpPr>
          <p:cNvPr id="14" name="Text 12"/>
          <p:cNvSpPr/>
          <p:nvPr/>
        </p:nvSpPr>
        <p:spPr>
          <a:xfrm>
            <a:off x="640080"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316736"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Buy the wire</a:t>
            </a:r>
            <a:endParaRPr lang="en-US" sz="1600" dirty="0"/>
          </a:p>
        </p:txBody>
      </p:sp>
      <p:sp>
        <p:nvSpPr>
          <p:cNvPr id="16" name="Text 14"/>
          <p:cNvSpPr/>
          <p:nvPr/>
        </p:nvSpPr>
        <p:spPr>
          <a:xfrm>
            <a:off x="1316736"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200" dirty="0"/>
          </a:p>
        </p:txBody>
      </p:sp>
      <p:sp>
        <p:nvSpPr>
          <p:cNvPr id="17" name="Shape 15"/>
          <p:cNvSpPr/>
          <p:nvPr/>
        </p:nvSpPr>
        <p:spPr>
          <a:xfrm>
            <a:off x="640080" y="5330952"/>
            <a:ext cx="493776" cy="493776"/>
          </a:xfrm>
          <a:prstGeom prst="ellipse">
            <a:avLst/>
          </a:prstGeom>
          <a:solidFill>
            <a:srgbClr val="C08A2E"/>
          </a:solidFill>
          <a:ln/>
        </p:spPr>
      </p:sp>
      <p:sp>
        <p:nvSpPr>
          <p:cNvPr id="18" name="Text 16"/>
          <p:cNvSpPr/>
          <p:nvPr/>
        </p:nvSpPr>
        <p:spPr>
          <a:xfrm>
            <a:off x="640080" y="5330952"/>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1316736" y="5239512"/>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Build the reporter list</a:t>
            </a:r>
            <a:endParaRPr lang="en-US" sz="1600" dirty="0"/>
          </a:p>
        </p:txBody>
      </p:sp>
      <p:sp>
        <p:nvSpPr>
          <p:cNvPr id="20" name="Text 18"/>
          <p:cNvSpPr/>
          <p:nvPr/>
        </p:nvSpPr>
        <p:spPr>
          <a:xfrm>
            <a:off x="1316736" y="5596128"/>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200" dirty="0"/>
          </a:p>
        </p:txBody>
      </p:sp>
      <p:sp>
        <p:nvSpPr>
          <p:cNvPr id="21" name="Shape 19"/>
          <p:cNvSpPr/>
          <p:nvPr/>
        </p:nvSpPr>
        <p:spPr>
          <a:xfrm>
            <a:off x="6278728" y="2148840"/>
            <a:ext cx="493776" cy="493776"/>
          </a:xfrm>
          <a:prstGeom prst="ellipse">
            <a:avLst/>
          </a:prstGeom>
          <a:solidFill>
            <a:srgbClr val="C08A2E"/>
          </a:solidFill>
          <a:ln/>
        </p:spPr>
      </p:sp>
      <p:sp>
        <p:nvSpPr>
          <p:cNvPr id="22" name="Text 20"/>
          <p:cNvSpPr/>
          <p:nvPr/>
        </p:nvSpPr>
        <p:spPr>
          <a:xfrm>
            <a:off x="6278728"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6955384"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Finalize the press kit</a:t>
            </a:r>
            <a:endParaRPr lang="en-US" sz="1600" dirty="0"/>
          </a:p>
        </p:txBody>
      </p:sp>
      <p:sp>
        <p:nvSpPr>
          <p:cNvPr id="24" name="Text 22"/>
          <p:cNvSpPr/>
          <p:nvPr/>
        </p:nvSpPr>
        <p:spPr>
          <a:xfrm>
            <a:off x="6955384"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200" dirty="0"/>
          </a:p>
        </p:txBody>
      </p:sp>
      <p:sp>
        <p:nvSpPr>
          <p:cNvPr id="25" name="Shape 23"/>
          <p:cNvSpPr/>
          <p:nvPr/>
        </p:nvSpPr>
        <p:spPr>
          <a:xfrm>
            <a:off x="6278728" y="3209544"/>
            <a:ext cx="493776" cy="493776"/>
          </a:xfrm>
          <a:prstGeom prst="ellipse">
            <a:avLst/>
          </a:prstGeom>
          <a:solidFill>
            <a:srgbClr val="C08A2E"/>
          </a:solidFill>
          <a:ln/>
        </p:spPr>
      </p:sp>
      <p:sp>
        <p:nvSpPr>
          <p:cNvPr id="26" name="Text 24"/>
          <p:cNvSpPr/>
          <p:nvPr/>
        </p:nvSpPr>
        <p:spPr>
          <a:xfrm>
            <a:off x="6278728"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6955384"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Confirm Julie</a:t>
            </a:r>
            <a:endParaRPr lang="en-US" sz="1600" dirty="0"/>
          </a:p>
        </p:txBody>
      </p:sp>
      <p:sp>
        <p:nvSpPr>
          <p:cNvPr id="28" name="Text 26"/>
          <p:cNvSpPr/>
          <p:nvPr/>
        </p:nvSpPr>
        <p:spPr>
          <a:xfrm>
            <a:off x="6955384"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200" dirty="0"/>
          </a:p>
        </p:txBody>
      </p:sp>
      <p:sp>
        <p:nvSpPr>
          <p:cNvPr id="29" name="Shape 27"/>
          <p:cNvSpPr/>
          <p:nvPr/>
        </p:nvSpPr>
        <p:spPr>
          <a:xfrm>
            <a:off x="6278728" y="4270248"/>
            <a:ext cx="493776" cy="493776"/>
          </a:xfrm>
          <a:prstGeom prst="ellipse">
            <a:avLst/>
          </a:prstGeom>
          <a:solidFill>
            <a:srgbClr val="C08A2E"/>
          </a:solidFill>
          <a:ln/>
        </p:spPr>
      </p:sp>
      <p:sp>
        <p:nvSpPr>
          <p:cNvPr id="30" name="Text 28"/>
          <p:cNvSpPr/>
          <p:nvPr/>
        </p:nvSpPr>
        <p:spPr>
          <a:xfrm>
            <a:off x="6278728"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7</a:t>
            </a:r>
            <a:endParaRPr lang="en-US" sz="2000" dirty="0"/>
          </a:p>
        </p:txBody>
      </p:sp>
      <p:sp>
        <p:nvSpPr>
          <p:cNvPr id="31" name="Text 29"/>
          <p:cNvSpPr/>
          <p:nvPr/>
        </p:nvSpPr>
        <p:spPr>
          <a:xfrm>
            <a:off x="6955384"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Set the tracker</a:t>
            </a:r>
            <a:endParaRPr lang="en-US" sz="1600" dirty="0"/>
          </a:p>
        </p:txBody>
      </p:sp>
      <p:sp>
        <p:nvSpPr>
          <p:cNvPr id="32" name="Text 30"/>
          <p:cNvSpPr/>
          <p:nvPr/>
        </p:nvSpPr>
        <p:spPr>
          <a:xfrm>
            <a:off x="6955384"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20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Launches Longevity Life Academy — an 18-Week Live Course That Ships a Glucose Monitor to Every Student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across nearly 200 countries, the Israeli education company opens its fifth online school — an 18-week live longevity program, with a continuous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twenty-five years we have taught one thing well: real people learn from real teachers, live, in small groups,” said Harel Tayeb, CEO of eTeacher Group. “We are now pointing that method at the question that matters most — how to add healthy years to a life. Longevity has been sold as a luxury. We intend to make it a habit anyone can keep.”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“For twenty-five years we have taught one thing well: real people learn from real teachers, live, in small groups. We are now pointing that method at the question that matters most — how to add healthy years to a life. Longevity has been sold as a luxury. We intend to make it a habit anyone can keep.”</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Written fresh in his voice; deliberately does NOT reuse any of his published TheMarker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Brings Its 25-Year Live-Class Teaching Method to Longevity Life Academy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live-teaching model can crack the hardest problem in wellness — actually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practice between classes.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“Information about living longer is everywhere and almost no one follows through,” Tayeb said. “The hard part was never the science — it was staying with it. Our whole model exists to solve that: a live teacher, a small class, and a small step you actually take before the next session.”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“Information about living longer is everywhere and almost no one follows through. The hard part was never the science — it was staying with it. Our whole model exists to solve that: a live teacher, a small class, and a small step you actually take before the next session.”</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‘gym for the brain’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Targets the Middle of the $8 Trillion Longevity Market — From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positions Longevity Life Academy between costly clinics and free advice —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market today has two doors: a clinic that costs a fortune, or a feed full of advice no one checked,” said CEO Harel Tayeb. “Most families are locked out of both. We built the door in the middle — the same rigor, taught live, at a price a household can plan around.”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longevity market today has two doors: a clinic that costs a fortune, or a feed full of advice no one checked. Most families are locked out of both. We built the door in the middle — the same rigor, taught live, at a price a household can plan around.”</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‘Wiz of edtech’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“Generic advice tells everyone the same thing. Your body doesn't work that way,” said CEO Harel Tayeb. “That is why every student learns from their own data — we ship a glucose monitor to their door and teach them to read what their own biology is telling them, then build one protocol that fits their life.”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“Generic advice tells everyone the same thing. Your body doesn't work that way. That is why every student learns from their own data — we ship a glucose monitor to their door and teach them to read what their own biology is telling them, then build one protocol that fits their life.”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‘cognitive atrophy’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Israel's 25-Year-Old eTeacher Group Opens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is an Israeli method, taught to learners in nearly two hundred countries. We are proud of that — quietly,” Tayeb said. “What we care about is whether a person in Ohio or Osaka finishes the course healthier and more capable than they started. Longevity is the most human subject we have ever taught, and it deserves our best work.”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“This is an Israeli method, taught to learners in nearly two hundred countries. We are proud of that — quietly. What we care about is whether a person in Ohio or Osaka finishes the course healthier and more capable than they started. Longevity is the most human subject we have ever taught, and it deserves our best work.”</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the mid-body ‘image reinforcement for Israel’ phrase remains verbatim from TheMarker Q7.</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Offers an 18-Week Live Longevity Class From $289 a Month, Glucose Monitor Included</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longer, stronger life should not depend on your bank balance,” said CEO Harel Tayeb. “Our promise is simple: show up for a live class each week, take one honest step, and let it compound. That is how ordinary people build extraordinary health — not with a fortune, but with a routine that finally sticks.”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longer, stronger life should not depend on your bank balance. Our promise is simple: show up for a live class each week, take one honest step, and let it compound. That is how ordinary people build extraordinary health — not with a fortune, but with a routine that finally sticks.”</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measure ourselves by results, and Julie's results are impossible to argue with,” said eTeacher CEO Harel Tayeb. “She proved what we teach every day — that world-class health is built from consistent, learnable habits, not from a millionaire's budget. Having her teach it live is exactly the school we set out to build.” Gibson Clark begins teaching with the current enrollment cohort.</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measure ourselves by results, and Julie's results are impossible to argue with. She proved what we teach every day — that world-class health is built from consistent, learnable habits, not from a millionaire's budget. Having her teach it live is exactly the school we set out to build.”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Hires Julie Gibson Clark, Who Out-Aged a $2M-a-Year Biohacker on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twelve-dollar-a-day routine that outperforms a two-million-dollar one is the whole thesis of our school in a single fact,” said CEO Harel Tayeb. “We don't sell shortcuts. We teach the fundamentals, in a room with a real instructor, until they become who you are.”</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“A twelve-dollar-a-day routine that outperforms a two-million-dollar one is the whole thesis of our school in a single fact. We don't sell shortcuts. We teach the fundamentals, in a room with a real instructor, until they become who you are.”</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Single Mom Who Slowed Her Own Aging Joins Longevity Life Academy to Teach American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best learning always starts with a personal reason, not a number on a chart,” added CEO Harel Tayeb. “Julie begins with why someone wants more years — then teaches the how. That is precisely why she will reach people a leaderboard never could.”</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“The best learning always starts with a personal reason, not a number on a chart. Julie begins with why someone wants more years — then teaches the how. That is precisely why she will reach people a leaderboard never could.”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to Teach the Habits Behind Her 34%-Slower Aging</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Longevity Life Academy Recruits Julie Gibson Clark to Make Longevity Affordable for Mainstream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teach with meaning — content that reaches the human core of a person, not just their calendar,” added CEO Harel Tayeb. “Julie gives that mission a face: real, humble, and living proof that a longer, healthier life is within reach for anyone willing to practice it.”</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want to teach with meaning — content that reaches the human core of a person, not just their calendar. Julie gives that mission a face: real, humble, and living proof that a longer, healthier life is within reach for anyone willing to practice it.”</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Joins Longevity Life Academy to Teach Its 18-Week Live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Demonstrates Her $12-a-Day Longevity Routine Live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weekly class changes what you know. A daily habit changes who you are,” said CEO Harel Tayeb, describing the app's intent. “The Hub we are building will live in that daily space — a few quiet minutes each morning that keep your protocol alive between classes. It is on our roadmap, and we will only ship it when it earns a place in someone's real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weekly class changes what you know. A daily habit changes who you are. The Hub we are building will live in that daily space — a few quiet minutes each morning that keep your protocol alive between classes. It is on our roadmap, and we will only ship it when it earns a place in someone's real routine.”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‘professor available 24/7’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Planned Longevity Hub App Will Use AI to Turn the Longevity Blueprint Into Daily Habits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adult learning, the enemy is not ignorance — it is the day you skip, and then the week,” said CEO Harel Tayeb. “We are designing the Hub's AI to notice that moment and gently pull you back, using your own glucose and sleep data so the nudge means something. That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adult learning, the enemy is not ignorance — it is the day you skip, and then the week. We are designing the Hub's AI to notice that moment and gently pull you back, using your own glucose and sleep data so the nudge means something. That is how we plan to make persistence stop being the hard part.”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‘gym for the brain’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“One course can change a season. A school can change a life,” said CEO Harel Tayeb. “We are not adding classes to a catalog — we are building a place a person can keep coming back to as their body and their goals change over the decades. Longevity is a lifelong practice, and it deserves a lifelong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“One course can change a season. A school can change a life. We are not adding classes to a catalog — we are building a place a person can keep coming back to as their body and their goals change over the decades. Longevity is a lifelong practice, and it deserves a lifelong school.”</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published lines.</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Plans Six New Longevity Life Academy Courses in Brain Training, Metabolism, Movement and Biomarkers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spend billions keeping the body young and almost nothing keeping the mind and our relationships strong,” said CEO Harel Tayeb. “Longevity Brain will treat memory, focus, and human connection as things you can train — because a long life you can't fully feel or share is only half the goal.”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spend billions keeping the body young and almost nothing keeping the mind and our relationships strong. Longevity Brain will treat memory, focus, and human connection as things you can train — because a long life you can't fully feel or share is only half the goal.”</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Fresh in his voice; does NOT reuse the published ‘cognitive atrophy’ line.</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7A2E1A"/>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5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Reset: Consistency Over Cost</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You don't need $2 million a year to live longer — you need a live teacher, a small class, and habits that stick.</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5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5.1   ·   </a:t>
            </a:r>
            <a:pPr indent="0" marL="0">
              <a:buNone/>
            </a:pPr>
            <a:r>
              <a:rPr lang="en-US" sz="1050" b="1" spc="150" kern="0" dirty="0">
                <a:solidFill>
                  <a:srgbClr val="5C6672"/>
                </a:solidFill>
                <a:latin typeface="Calibri" pitchFamily="34" charset="0"/>
                <a:ea typeface="Calibri" pitchFamily="34" charset="-122"/>
                <a:cs typeface="Calibri" pitchFamily="34" charset="-120"/>
              </a:rPr>
              <a:t>REACTIVE NEWS PEG — THE AFFORDABILITY CONTRAST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Business Insider / Fortune Well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You Don't Need $2 Million a Year to Live Longer — Longevity Life Academy Teaches the Habits That Actually Stick, From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As the world's most-watched biohacker faces an incurable diagnosis, eTeacher's Longevity Life Academy makes its case: healthspan is built through consistent, learnable habits — taught live — not through spending most people could never match.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This month, biohacker Bryan Johnson disclosed that he has been diagnosed with autoimmune gastritis, an incurable condition he says medicine can only manage. His candor deserves respect; illness spares no one, however carefully they live. But the moment also sharpens a question millions are now asking: if the most expensive longevity routine on earth can't guarantee an outcome, what should the rest of us actually do?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Life Academy, the fifth online school of 25-year education company eTeacher Group, was built for exactly that question. Its answer is not a bigger budget — it is a better teacher. The academy's 18-week live course turns healthy-aging science into one personalized protocol a student can keep for life, taught in small groups of 8–15 by named instructors, and grounded in each student's own body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contrast the company points to is not a person — it is a philosophy. Johnson reportedly spends roughly $2 million a year. Longevity Life Academy starts at $289 a month and ships every US student an Abbott Lingo continuous glucose monitor before Lesson 5, so the science is personal from the start.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argues the evidence for its approach is already public. Julie Gibson Clark, a 56-year-old single mother from Phoenix, held the number-two spot in the Rejuvenation Olympics for more than a year — ahead of Johnson — on a routine costing roughly $12 a day. Consistency, taught well, beat spending.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wish Bryan Johnson a full recovery, and we respect how openly he shares what he learns,” said Harel Tayeb, CEO of eTeacher Group. “But his news carries a lesson for everyone: a healthy life was never something you could buy in bulk. It is built one taught, repeated habit at a time — and that is something we can put within reach of an ordinary household.”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Life Academy is enrolling now from $289 per month, with additional courses planned for the year ahead.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wish Bryan Johnson a full recovery, and we respect how openly he shares what he learns. But his news carries a lesson for everyone: a healthy life was never something you could buy in bulk. It is built one taught, repeated habit at a time — and that is something we can put within reach of an ordinary household.”</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Leads with genuine respect/goodwill toward Johnson (no mockery), then pivots to LLA's affordability + consistency message. Verify comfort with naming him directly.</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5.2   ·   </a:t>
            </a:r>
            <a:pPr indent="0" marL="0">
              <a:buNone/>
            </a:pPr>
            <a:r>
              <a:rPr lang="en-US" sz="1050" b="1" spc="150" kern="0" dirty="0">
                <a:solidFill>
                  <a:srgbClr val="5C6672"/>
                </a:solidFill>
                <a:latin typeface="Calibri" pitchFamily="34" charset="0"/>
                <a:ea typeface="Calibri" pitchFamily="34" charset="-122"/>
                <a:cs typeface="Calibri" pitchFamily="34" charset="-120"/>
              </a:rPr>
              <a:t>EARLY DETECTION / KNOW-YOUR-OWN-DATA (HEALTH-DESK,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Fortune Well / Healthline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Teaches Students to Read Their Own Biomarkers Early — So They Catch What Silent Conditions Hide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Bryan Johnson's autoimmune gastritis went undetected for years despite intensive monitoring. Longevity Life Academy is built on a simpler premise: teach ordinary people to read their own body data, consistently, before problems compound.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One detail in Bryan Johnson's recent disclosure resonated with clinicians: even with elite monitoring, his autoimmune gastritis stayed hidden for years, surfacing only after persistent low iron was finally investigated. If a condition can hide from the world's most-tracked body, the case for teaching everyone to read their own data grows stronger, not weaker.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is the founding premise of Longevity Life Academy, the fifth online school of 25-year education company eTeacher Group. The academy does not promise to out-spend disease. It teaches students to understand their own biomarkers — glucose, sleep, movement, and the numbers on their own lab reports — so they become active participants in their health rather than passive patients.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Every US student receives an Abbott Lingo continuous glucose monitor before Lesson 5, and the 18-week live curriculum builds the habit of asking what one's own body is signaling. Instruction happens in small groups of 8–15, led by named faculty, so questions get real answers in real time.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is careful about its lane: it is education, not diagnosis, and it encourages students to work with their physicians. Its contribution is literacy — the daily, teachable skill of noticing change early, which even the most expensive protocols can't outsource.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“Bryan Johnson's experience is a reminder that no one is exempt, and that early awareness matters more than any single gadget,” said CEO Harel Tayeb. “We don't teach people to fear their bodies. We teach them to read them — calmly, consistently, and early enough to act.”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“Bryan Johnson's experience is a reminder that no one is exempt, and that early awareness matters more than any single gadget. We don't teach people to fear their bodies. We teach them to read them — calmly, consistently, and early enough to act.”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Respectful framing; positions LLA as education/literacy, not diagnosis (important liability guardrail).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5.3   ·   </a:t>
            </a:r>
            <a:pPr indent="0" marL="0">
              <a:buNone/>
            </a:pPr>
            <a:r>
              <a:rPr lang="en-US" sz="1050" b="1" spc="150" kern="0" dirty="0">
                <a:solidFill>
                  <a:srgbClr val="5C6672"/>
                </a:solidFill>
                <a:latin typeface="Calibri" pitchFamily="34" charset="0"/>
                <a:ea typeface="Calibri" pitchFamily="34" charset="-122"/>
                <a:cs typeface="Calibri" pitchFamily="34" charset="-120"/>
              </a:rPr>
              <a:t>THE JULIE CONTRAST — $12 A DAY VS $2M A YEAR (PROOF,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People / Yahoo Life / Today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A $12-a-Day Routine Ranked Ahead of a $2-Million-a-Year One — Longevity Life Academy Teaches the Habits Behind It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student-turned-instructor Julie Gibson Clark once ranked second in the Rejuvenation Olympics — ahead of Bryan Johnson — on a fraction of the budget. As Johnson faces a hard diagnosis, her story shows what consistency can do.</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longevity conversation is at an inflection point. Bryan Johnson, its most famous figure, recently shared that he has an incurable autoimmune condition — a sobering reminder that spending is not the same as certainty. Longevity Life Academy, eTeacher Group's fifth online school, offers a quieter counter-story that predates the news.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Julie Gibson Clark, a 56-year-old single mother and former structural engineer from Phoenix, held the number-two position in the Rejuvenation Olympics for more than a year — ranking ahead of Johnson — while spending roughly $12 a day. Her DunedinPACE score of 0.665 indicated a pace of aging roughly a third slower than expected. She did it with sleep, nutrition, movement, and stress habits, kept consistently.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is precisely what Longevity Life Academy teaches, and why the company brought Julie in as an instructor. The academy's 18-week live course, taught in groups of 8–15 with an Abbott Lingo glucose monitor shipped to every US student, turns the fundamentals she lives by into a protocol any motivated adult can learn and keep.</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point is not to diminish anyone's journey — Johnson's data-sharing has advanced the whole field. It is to show that the levers that matter most are affordable and learnable, and that a good teacher may matter more than a big budget.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“Julie proved something we build our whole school around: the fundamentals, done consistently, are extraordinarily powerful — and they don't require a fortune,” said CEO Harel Tayeb. “That is not a knock on anyone spending more. It is an invitation to everyone who assumed this was out of reach.”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“Julie proved something we build our whole school around: the fundamentals, done consistently, are extraordinarily powerful — and they don't require a fortune. That is not a knock on anyone spending more. It is an invitation to everyone who assumed this was out of reach.”</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Julie's #2 ranking kept PAST-tense ('held'). Respectful toward Johnson.</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5.4   ·   </a:t>
            </a:r>
            <a:pPr indent="0" marL="0">
              <a:buNone/>
            </a:pPr>
            <a:r>
              <a:rPr lang="en-US" sz="1050" b="1" spc="150" kern="0" dirty="0">
                <a:solidFill>
                  <a:srgbClr val="5C6672"/>
                </a:solidFill>
                <a:latin typeface="Calibri" pitchFamily="34" charset="0"/>
                <a:ea typeface="Calibri" pitchFamily="34" charset="-122"/>
                <a:cs typeface="Calibri" pitchFamily="34" charset="-120"/>
              </a:rPr>
              <a:t>LONGEVITY FOR EVERYONE / ACCESSIBILITY (OP-ED STYLE,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Newsweek / USA Today opinion / Fast Company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Shouldn't Depend on Your Bank Balance — Longevity Life Academy Puts Science-Backed Healthy Aging Within Reach for $289 a Month</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biohacking headlines make longevity look like a billionaire's hobby. eTeacher's Longevity Life Academy exists to prove the opposite — that the science is teachable, and the habits are affordable.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Every few months, longevity returns to the headlines through a single extraordinary figure and an extraordinary budget. The latest news — Bryan Johnson's disclosure of an incurable autoimmune condition — is a human moment first, and we wish him well. It is also a chance to correct a widespread misconception: that living longer is a game only the wealthy can play.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Life Academy, the fifth online school of 25-year education company eTeacher Group, is built on the opposite conviction. The science of healthy aging — sleep, nutrition, movement, stress, and personal biomarkers — is not proprietary to the rich. What most people lack is not money; it is a teacher, a structure, and the support to stay consistent.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academy's flagship 18-week course delivers all three: live sessions with named instructors, small cohorts of 8–15, and an Abbott Lingo continuous glucose monitor shipped to every US student before Lesson 5 — all starting at $289 a month. It is the same live-teaching method eTeacher has used to deliver 400,000+ courses across nearly 200 countries, now aimed at healthspan.</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is not about competing with anyone's regimen. It is about widening the door — taking the parts of longevity science that genuinely work for ordinary people and teaching them in a way that sticks.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longer, stronger life should not depend on your bank balance,” said CEO Harel Tayeb. “The billionaires can afford to experiment. Our job is to take what is proven, teach it live, and make it something a working family can actually follow.”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“A longer, stronger life should not depend on your bank balance. The billionaires can afford to experiment. Our job is to take what is proven, teach it live, and make it something a working family can actually follow.”</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'Billionaires can afford to experiment' is pointed but not disrespectful to Johnson personally — confirm tone comfort.</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7A2E1A"/>
                </a:solidFill>
                <a:latin typeface="Calibri" pitchFamily="34" charset="0"/>
                <a:ea typeface="Calibri" pitchFamily="34" charset="-122"/>
                <a:cs typeface="Calibri" pitchFamily="34" charset="-120"/>
              </a:rPr>
              <a:t>ARTICLE 5.5   ·   </a:t>
            </a:r>
            <a:pPr indent="0" marL="0">
              <a:buNone/>
            </a:pPr>
            <a:r>
              <a:rPr lang="en-US" sz="1050" b="1" spc="150" kern="0" dirty="0">
                <a:solidFill>
                  <a:srgbClr val="5C6672"/>
                </a:solidFill>
                <a:latin typeface="Calibri" pitchFamily="34" charset="0"/>
                <a:ea typeface="Calibri" pitchFamily="34" charset="-122"/>
                <a:cs typeface="Calibri" pitchFamily="34" charset="-120"/>
              </a:rPr>
              <a:t>LIVE TEACHING VS SOLO BIOHACKING (METHOD STORY, RESPECTFUL)</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7A2E1A"/>
                </a:solidFill>
                <a:latin typeface="Calibri" pitchFamily="34" charset="0"/>
                <a:ea typeface="Calibri" pitchFamily="34" charset="-122"/>
                <a:cs typeface="Calibri" pitchFamily="34" charset="-120"/>
              </a:rPr>
              <a:t>EdSurge / Fast Company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Bets on Live Teachers, Not Solo Experiments — Because Habits Stick When Someone Teaches You</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most famous longevity story is a solo experiment run at enormous cost. eTeacher's Longevity Life Academy is the opposite model: live teachers, small classes, and a structure built so ordinary people actually stay the course.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Bryan Johnson's Blueprint is the defining image of modern longevity: one person, a large team, and a vast budget, self-experimenting in public. His openness has taught the field a great deal, and his recent autoimmune-gastritis diagnosis is a reminder of how hard the work is even at that scale. But it also raises a practical question for everyone else: what model works when you don't have a lab and millions to spend?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Group's answer, delivered through its fifth online school, Longevity Life Academy, is decades old and deceptively simple: people learn best from teachers, live, in small groups. Where solo biohacking asks individuals to self-direct, LLA provides a weekly live anchor session, an expert instructor, a cohort of 8–15 peers, and short daily practice — the structure that turns intentions into habits.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applies the same method behind eTeacher's 400,000+ courses to healthspan. Each 18-week program pairs live instruction with personal data — an Abbott Lingo continuous glucose monitor ships to every US student before Lesson 5 — so lessons are grounded in the student's own body, guided by a real teacher rather than a lonely feed of tips.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company's thesis is that persistence, not information, is the scarce resource in wellness — and that persistence is a social act. A teacher who knows your name and a small class that expects you back do what a dashboard alone cannot.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hardest part of living longer isn't knowing what to do — it's doing it next week, and the week after,” said CEO Harel Tayeb. “That is why we put a real teacher in the room. You can experiment alone, or you can be taught, supported, and expected back. We built our whole school on the second 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Life Academy is enrolling now from $289 per month.</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hardest part of living longer isn't knowing what to do — it's doing it next week, and the week after. That is why we put a real teacher in the room. You can experiment alone, or you can be taught, supported, and expected back. We built our whole school on the second one.”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NET-NEW CEO statement — flagged for Harel's approval. Contrasts LLA's live-teaching method with solo biohacking without disparaging Johnson personally.</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five-wave program then runs about nine weeks, wrapping by mid-September.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2026-07-08T10:45:50Z</dcterms:created>
  <dcterms:modified xsi:type="dcterms:W3CDTF">2026-07-08T10:45:50Z</dcterms:modified>
</cp:coreProperties>
</file>